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6858000" type="screen4x3"/>
  <p:notesSz cx="6881813" cy="9296400"/>
  <p:embeddedFontLst>
    <p:embeddedFont>
      <p:font typeface="Tahoma" panose="020B0604030504040204" pitchFamily="34" charset="0"/>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688">
          <p15:clr>
            <a:srgbClr val="A4A3A4"/>
          </p15:clr>
        </p15:guide>
        <p15:guide id="2" pos="576">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ha1t+1SqDuOknzrl1XUaghjRP9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1308" y="72"/>
      </p:cViewPr>
      <p:guideLst>
        <p:guide orient="horz" pos="2688"/>
        <p:guide pos="576"/>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7564" cy="46004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200"/>
              <a:buFont typeface="Times New Roman"/>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R="0" lvl="3"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R="0" lvl="4"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32688" y="0"/>
            <a:ext cx="2947564" cy="46004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1200"/>
              <a:buFont typeface="Times New Roman"/>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R="0" lvl="3"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R="0" lvl="4"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07064" y="4449219"/>
            <a:ext cx="5066125" cy="414358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2030"/>
            <a:ext cx="2947564" cy="461636"/>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200"/>
              <a:buFont typeface="Times New Roman"/>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R="0" lvl="3"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4pPr>
            <a:lvl5pPr marR="0" lvl="4"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4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4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4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4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32688" y="8822030"/>
            <a:ext cx="2947564" cy="461636"/>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Times New Roman"/>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9" name="Google Shape;69;p1: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7" name="Google Shape;77;p2: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txBox="1">
            <a:spLocks noGrp="1"/>
          </p:cNvSpPr>
          <p:nvPr>
            <p:ph type="sldNum" idx="12"/>
          </p:nvPr>
        </p:nvSpPr>
        <p:spPr>
          <a:xfrm>
            <a:off x="3932688" y="8822030"/>
            <a:ext cx="2947564" cy="461636"/>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Times New Roman"/>
              <a:buNone/>
            </a:pPr>
            <a:fld id="{00000000-1234-1234-1234-123412341234}" type="slidenum">
              <a:rPr lang="en-US"/>
              <a:t>3</a:t>
            </a:fld>
            <a:endParaRPr/>
          </a:p>
        </p:txBody>
      </p:sp>
      <p:sp>
        <p:nvSpPr>
          <p:cNvPr id="84" name="Google Shape;84;p3: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 name="Google Shape;85;p3:notes"/>
          <p:cNvSpPr txBox="1">
            <a:spLocks noGrp="1"/>
          </p:cNvSpPr>
          <p:nvPr>
            <p:ph type="body" idx="1"/>
          </p:nvPr>
        </p:nvSpPr>
        <p:spPr>
          <a:xfrm>
            <a:off x="902790" y="4427891"/>
            <a:ext cx="4962267" cy="419324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2" name="Google Shape;92;p4: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9" name="Google Shape;99;p5: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7" name="Google Shape;107;p6: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7: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4" name="Google Shape;114;p7: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2" name="Google Shape;122;p8: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9" name="Google Shape;129;p9: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6" name="Google Shape;136;p10: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11: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3" name="Google Shape;143;p11: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0" name="Google Shape;150;p12: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3: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8" name="Google Shape;158;p13: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66" name="Google Shape;166;p14:notes"/>
          <p:cNvSpPr txBox="1">
            <a:spLocks noGrp="1"/>
          </p:cNvSpPr>
          <p:nvPr>
            <p:ph type="body" idx="1"/>
          </p:nvPr>
        </p:nvSpPr>
        <p:spPr>
          <a:xfrm>
            <a:off x="907064" y="4449219"/>
            <a:ext cx="5066125" cy="414358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LAN – CTR will be provided access to the F2F share drive.  All files, documents, maps, etc. will be stored on this drive.  No CD deliverable will be provided at the end of the contract.  CTRs MUST utilize the Government provided computers and all files stored as noted.</a:t>
            </a:r>
            <a:endParaRPr/>
          </a:p>
        </p:txBody>
      </p:sp>
      <p:sp>
        <p:nvSpPr>
          <p:cNvPr id="167" name="Google Shape;167;p14:notes"/>
          <p:cNvSpPr txBox="1">
            <a:spLocks noGrp="1"/>
          </p:cNvSpPr>
          <p:nvPr>
            <p:ph type="sldNum" idx="12"/>
          </p:nvPr>
        </p:nvSpPr>
        <p:spPr>
          <a:xfrm>
            <a:off x="3932688" y="8822030"/>
            <a:ext cx="2947564" cy="461636"/>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Times New Roman"/>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4" name="Google Shape;174;p15: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6: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 name="Google Shape;181;p16: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7: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8" name="Google Shape;188;p17: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8: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5" name="Google Shape;195;p18: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9: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2" name="Google Shape;202;p19: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0: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9" name="Google Shape;209;p20: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1: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6" name="Google Shape;216;p21: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2: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3" name="Google Shape;223;p22: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3: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0" name="Google Shape;230;p23: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4: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7" name="Google Shape;237;p24: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5: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4" name="Google Shape;244;p25: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26: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1" name="Google Shape;251;p26: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7: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8" name="Google Shape;258;p27: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8: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5" name="Google Shape;265;p28: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9: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2" name="Google Shape;272;p29: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0: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9" name="Google Shape;279;p30: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1: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6" name="Google Shape;286;p31: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2: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3" name="Google Shape;293;p32: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33: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00" name="Google Shape;300;p33:notes"/>
          <p:cNvSpPr txBox="1">
            <a:spLocks noGrp="1"/>
          </p:cNvSpPr>
          <p:nvPr>
            <p:ph type="body" idx="1"/>
          </p:nvPr>
        </p:nvSpPr>
        <p:spPr>
          <a:xfrm>
            <a:off x="907064" y="4449219"/>
            <a:ext cx="5066125" cy="414358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a:t>SLD 45 operates utilizing several exemptions defined by FDEP.  Compliance with exemptions is equivalent if not harder than permit compliance. </a:t>
            </a:r>
            <a:endParaRPr/>
          </a:p>
        </p:txBody>
      </p:sp>
      <p:sp>
        <p:nvSpPr>
          <p:cNvPr id="301" name="Google Shape;301;p33:notes"/>
          <p:cNvSpPr txBox="1">
            <a:spLocks noGrp="1"/>
          </p:cNvSpPr>
          <p:nvPr>
            <p:ph type="sldNum" idx="12"/>
          </p:nvPr>
        </p:nvSpPr>
        <p:spPr>
          <a:xfrm>
            <a:off x="3932688" y="8822030"/>
            <a:ext cx="2947564" cy="461636"/>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Times New Roman"/>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4: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8" name="Google Shape;308;p34: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5: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15" name="Google Shape;315;p35:notes"/>
          <p:cNvSpPr txBox="1">
            <a:spLocks noGrp="1"/>
          </p:cNvSpPr>
          <p:nvPr>
            <p:ph type="body" idx="1"/>
          </p:nvPr>
        </p:nvSpPr>
        <p:spPr>
          <a:xfrm>
            <a:off x="907064" y="4449219"/>
            <a:ext cx="5066125" cy="414358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35:notes"/>
          <p:cNvSpPr txBox="1">
            <a:spLocks noGrp="1"/>
          </p:cNvSpPr>
          <p:nvPr>
            <p:ph type="sldNum" idx="12"/>
          </p:nvPr>
        </p:nvSpPr>
        <p:spPr>
          <a:xfrm>
            <a:off x="3932688" y="8822030"/>
            <a:ext cx="2947564" cy="461636"/>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Times New Roman"/>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6: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3" name="Google Shape;323;p36: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7: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0" name="Google Shape;330;p37: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8: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7" name="Google Shape;337;p38: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9: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4" name="Google Shape;344;p39: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0: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1" name="Google Shape;351;p40: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41: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9" name="Google Shape;359;p41: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2:notes"/>
          <p:cNvSpPr txBox="1">
            <a:spLocks noGrp="1"/>
          </p:cNvSpPr>
          <p:nvPr>
            <p:ph type="body" idx="1"/>
          </p:nvPr>
        </p:nvSpPr>
        <p:spPr>
          <a:xfrm>
            <a:off x="907064" y="4449219"/>
            <a:ext cx="5066125" cy="414358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7" name="Google Shape;367;p42:notes"/>
          <p:cNvSpPr>
            <a:spLocks noGrp="1" noRot="1" noChangeAspect="1"/>
          </p:cNvSpPr>
          <p:nvPr>
            <p:ph type="sldImg" idx="2"/>
          </p:nvPr>
        </p:nvSpPr>
        <p:spPr>
          <a:xfrm>
            <a:off x="1089025" y="690563"/>
            <a:ext cx="4703763" cy="35290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6"/>
        <p:cNvGrpSpPr/>
        <p:nvPr/>
      </p:nvGrpSpPr>
      <p:grpSpPr>
        <a:xfrm>
          <a:off x="0" y="0"/>
          <a:ext cx="0" cy="0"/>
          <a:chOff x="0" y="0"/>
          <a:chExt cx="0" cy="0"/>
        </a:xfrm>
      </p:grpSpPr>
      <p:cxnSp>
        <p:nvCxnSpPr>
          <p:cNvPr id="17" name="Google Shape;17;p44"/>
          <p:cNvCxnSpPr/>
          <p:nvPr/>
        </p:nvCxnSpPr>
        <p:spPr>
          <a:xfrm>
            <a:off x="381000" y="6388100"/>
            <a:ext cx="8382000" cy="0"/>
          </a:xfrm>
          <a:prstGeom prst="straightConnector1">
            <a:avLst/>
          </a:prstGeom>
          <a:noFill/>
          <a:ln w="57150" cap="flat" cmpd="sng">
            <a:solidFill>
              <a:srgbClr val="1A1596"/>
            </a:solidFill>
            <a:prstDash val="solid"/>
            <a:round/>
            <a:headEnd type="none" w="med" len="med"/>
            <a:tailEnd type="none" w="med" len="med"/>
          </a:ln>
        </p:spPr>
      </p:cxnSp>
      <p:sp>
        <p:nvSpPr>
          <p:cNvPr id="18" name="Google Shape;18;p44"/>
          <p:cNvSpPr txBox="1">
            <a:spLocks noGrp="1"/>
          </p:cNvSpPr>
          <p:nvPr>
            <p:ph type="body" idx="1"/>
          </p:nvPr>
        </p:nvSpPr>
        <p:spPr>
          <a:xfrm>
            <a:off x="4598987" y="4465638"/>
            <a:ext cx="4314353" cy="1144587"/>
          </a:xfrm>
          <a:prstGeom prst="rect">
            <a:avLst/>
          </a:prstGeom>
          <a:noFill/>
          <a:ln>
            <a:noFill/>
          </a:ln>
        </p:spPr>
        <p:txBody>
          <a:bodyPr spcFirstLastPara="1" wrap="square" lIns="91425" tIns="45700" rIns="91425" bIns="45700" anchor="t" anchorCtr="0">
            <a:noAutofit/>
          </a:bodyPr>
          <a:lstStyle>
            <a:lvl1pPr marL="457200" lvl="0" indent="-228600" algn="ctr">
              <a:spcBef>
                <a:spcPts val="560"/>
              </a:spcBef>
              <a:spcAft>
                <a:spcPts val="0"/>
              </a:spcAft>
              <a:buClr>
                <a:schemeClr val="dk1"/>
              </a:buClr>
              <a:buSzPts val="2800"/>
              <a:buFont typeface="Arial"/>
              <a:buNone/>
              <a:defRPr b="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 name="Google Shape;19;p44"/>
          <p:cNvSpPr txBox="1">
            <a:spLocks noGrp="1"/>
          </p:cNvSpPr>
          <p:nvPr>
            <p:ph type="body" idx="2"/>
          </p:nvPr>
        </p:nvSpPr>
        <p:spPr>
          <a:xfrm>
            <a:off x="4678363" y="1836738"/>
            <a:ext cx="4218502" cy="2125662"/>
          </a:xfrm>
          <a:prstGeom prst="rect">
            <a:avLst/>
          </a:prstGeom>
          <a:noFill/>
          <a:ln>
            <a:noFill/>
          </a:ln>
        </p:spPr>
        <p:txBody>
          <a:bodyPr spcFirstLastPara="1" wrap="square" lIns="91425" tIns="45700" rIns="91425" bIns="45700" anchor="t" anchorCtr="0">
            <a:noAutofit/>
          </a:bodyPr>
          <a:lstStyle>
            <a:lvl1pPr marL="457200" lvl="0" indent="-228600" algn="ctr">
              <a:spcBef>
                <a:spcPts val="880"/>
              </a:spcBef>
              <a:spcAft>
                <a:spcPts val="0"/>
              </a:spcAft>
              <a:buClr>
                <a:schemeClr val="dk1"/>
              </a:buClr>
              <a:buSzPts val="4400"/>
              <a:buFont typeface="Arial"/>
              <a:buNone/>
              <a:defRPr sz="44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20" name="Google Shape;20;p44"/>
          <p:cNvCxnSpPr/>
          <p:nvPr/>
        </p:nvCxnSpPr>
        <p:spPr>
          <a:xfrm>
            <a:off x="381000" y="1079500"/>
            <a:ext cx="8382000" cy="0"/>
          </a:xfrm>
          <a:prstGeom prst="straightConnector1">
            <a:avLst/>
          </a:prstGeom>
          <a:noFill/>
          <a:ln w="57150" cap="flat" cmpd="sng">
            <a:solidFill>
              <a:srgbClr val="1A1596"/>
            </a:solidFill>
            <a:prstDash val="solid"/>
            <a:round/>
            <a:headEnd type="none" w="med" len="med"/>
            <a:tailEnd type="none" w="med" len="med"/>
          </a:ln>
        </p:spPr>
      </p:cxnSp>
      <p:pic>
        <p:nvPicPr>
          <p:cNvPr id="21" name="Google Shape;21;p44" descr="C:\Users\1061378037A\Desktop\Shield_AFIMSC_jpg.jpg"/>
          <p:cNvPicPr preferRelativeResize="0"/>
          <p:nvPr/>
        </p:nvPicPr>
        <p:blipFill rotWithShape="1">
          <a:blip r:embed="rId2">
            <a:alphaModFix/>
          </a:blip>
          <a:srcRect/>
          <a:stretch/>
        </p:blipFill>
        <p:spPr>
          <a:xfrm>
            <a:off x="543852" y="1600200"/>
            <a:ext cx="4111335" cy="4059591"/>
          </a:xfrm>
          <a:prstGeom prst="rect">
            <a:avLst/>
          </a:prstGeom>
          <a:noFill/>
          <a:ln>
            <a:noFill/>
          </a:ln>
        </p:spPr>
      </p:pic>
      <p:sp>
        <p:nvSpPr>
          <p:cNvPr id="22" name="Google Shape;22;p44"/>
          <p:cNvSpPr/>
          <p:nvPr/>
        </p:nvSpPr>
        <p:spPr>
          <a:xfrm>
            <a:off x="0" y="404526"/>
            <a:ext cx="9144000" cy="600164"/>
          </a:xfrm>
          <a:prstGeom prst="rect">
            <a:avLst/>
          </a:prstGeom>
          <a:noFill/>
          <a:ln>
            <a:noFill/>
          </a:ln>
          <a:effectLst>
            <a:outerShdw dist="35560" dir="2700000" algn="ctr" rotWithShape="0">
              <a:srgbClr val="C0C0C0">
                <a:alpha val="50196"/>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300"/>
              <a:buFont typeface="Tahoma"/>
              <a:buNone/>
            </a:pPr>
            <a:r>
              <a:rPr lang="en-US" sz="3300" b="1" i="0" u="none" strike="noStrike" cap="none">
                <a:solidFill>
                  <a:schemeClr val="dk1"/>
                </a:solidFill>
                <a:latin typeface="Tahoma"/>
                <a:ea typeface="Tahoma"/>
                <a:cs typeface="Tahoma"/>
                <a:sym typeface="Tahoma"/>
              </a:rPr>
              <a:t>Air Force Civil Engineer Center</a:t>
            </a:r>
            <a:endParaRPr/>
          </a:p>
        </p:txBody>
      </p:sp>
      <p:sp>
        <p:nvSpPr>
          <p:cNvPr id="23" name="Google Shape;23;p44"/>
          <p:cNvSpPr txBox="1"/>
          <p:nvPr/>
        </p:nvSpPr>
        <p:spPr>
          <a:xfrm>
            <a:off x="381000" y="6477490"/>
            <a:ext cx="8382000" cy="3365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600"/>
              <a:buFont typeface="Tahoma"/>
              <a:buNone/>
            </a:pPr>
            <a:r>
              <a:rPr lang="en-US" sz="1600" b="1" i="1" u="none" strike="noStrike" cap="none">
                <a:solidFill>
                  <a:schemeClr val="dk1"/>
                </a:solidFill>
                <a:latin typeface="Tahoma"/>
                <a:ea typeface="Tahoma"/>
                <a:cs typeface="Tahoma"/>
                <a:sym typeface="Tahoma"/>
              </a:rPr>
              <a:t>Battle Ready…Built Right!</a:t>
            </a:r>
            <a:endParaRPr sz="1600" b="1" i="1" u="none" strike="noStrike" cap="none">
              <a:solidFill>
                <a:schemeClr val="dk1"/>
              </a:solidFill>
              <a:latin typeface="Tahoma"/>
              <a:ea typeface="Tahoma"/>
              <a:cs typeface="Tahoma"/>
              <a:sym typeface="Tahoma"/>
            </a:endParaRPr>
          </a:p>
        </p:txBody>
      </p:sp>
      <p:pic>
        <p:nvPicPr>
          <p:cNvPr id="24" name="Google Shape;24;p44"/>
          <p:cNvPicPr preferRelativeResize="0"/>
          <p:nvPr/>
        </p:nvPicPr>
        <p:blipFill rotWithShape="1">
          <a:blip r:embed="rId3">
            <a:alphaModFix/>
          </a:blip>
          <a:srcRect/>
          <a:stretch/>
        </p:blipFill>
        <p:spPr>
          <a:xfrm>
            <a:off x="543852" y="1600200"/>
            <a:ext cx="4111335" cy="41148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5"/>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27" name="Google Shape;27;p45"/>
          <p:cNvSpPr txBox="1">
            <a:spLocks noGrp="1"/>
          </p:cNvSpPr>
          <p:nvPr>
            <p:ph type="body" idx="1"/>
          </p:nvPr>
        </p:nvSpPr>
        <p:spPr>
          <a:xfrm>
            <a:off x="304800" y="1216025"/>
            <a:ext cx="8534400" cy="35877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5"/>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ustom -- Section Divider2">
  <p:cSld name="Custom -- Section Divider2">
    <p:spTree>
      <p:nvGrpSpPr>
        <p:cNvPr id="1" name="Shape 29"/>
        <p:cNvGrpSpPr/>
        <p:nvPr/>
      </p:nvGrpSpPr>
      <p:grpSpPr>
        <a:xfrm>
          <a:off x="0" y="0"/>
          <a:ext cx="0" cy="0"/>
          <a:chOff x="0" y="0"/>
          <a:chExt cx="0" cy="0"/>
        </a:xfrm>
      </p:grpSpPr>
      <p:sp>
        <p:nvSpPr>
          <p:cNvPr id="30" name="Google Shape;30;p46"/>
          <p:cNvSpPr txBox="1">
            <a:spLocks noGrp="1"/>
          </p:cNvSpPr>
          <p:nvPr>
            <p:ph type="body" idx="1"/>
          </p:nvPr>
        </p:nvSpPr>
        <p:spPr>
          <a:xfrm>
            <a:off x="1000125" y="4051301"/>
            <a:ext cx="7880350" cy="454024"/>
          </a:xfrm>
          <a:prstGeom prst="rect">
            <a:avLst/>
          </a:prstGeom>
          <a:noFill/>
          <a:ln>
            <a:noFill/>
          </a:ln>
        </p:spPr>
        <p:txBody>
          <a:bodyPr spcFirstLastPara="1" wrap="square" lIns="91425" tIns="45700" rIns="91425" bIns="45700" anchor="t" anchorCtr="0">
            <a:noAutofit/>
          </a:bodyPr>
          <a:lstStyle>
            <a:lvl1pPr marL="457200" lvl="0" indent="-228600" algn="l">
              <a:spcBef>
                <a:spcPts val="400"/>
              </a:spcBef>
              <a:spcAft>
                <a:spcPts val="0"/>
              </a:spcAft>
              <a:buClr>
                <a:srgbClr val="7F7F7F"/>
              </a:buClr>
              <a:buSzPts val="2000"/>
              <a:buFont typeface="Arial"/>
              <a:buNone/>
              <a:defRPr sz="2000">
                <a:solidFill>
                  <a:srgbClr val="7F7F7F"/>
                </a:solidFill>
              </a:defRPr>
            </a:lvl1pPr>
            <a:lvl2pPr marL="914400" lvl="1" indent="-228600" algn="l">
              <a:spcBef>
                <a:spcPts val="360"/>
              </a:spcBef>
              <a:spcAft>
                <a:spcPts val="0"/>
              </a:spcAft>
              <a:buClr>
                <a:srgbClr val="888888"/>
              </a:buClr>
              <a:buSzPts val="1800"/>
              <a:buFont typeface="Arial"/>
              <a:buNone/>
              <a:defRPr sz="1800">
                <a:solidFill>
                  <a:srgbClr val="888888"/>
                </a:solidFill>
              </a:defRPr>
            </a:lvl2pPr>
            <a:lvl3pPr marL="1371600" lvl="2" indent="-228600" algn="l">
              <a:spcBef>
                <a:spcPts val="320"/>
              </a:spcBef>
              <a:spcAft>
                <a:spcPts val="0"/>
              </a:spcAft>
              <a:buClr>
                <a:srgbClr val="888888"/>
              </a:buClr>
              <a:buSzPts val="1600"/>
              <a:buFont typeface="Arial"/>
              <a:buNone/>
              <a:defRPr sz="1600">
                <a:solidFill>
                  <a:srgbClr val="888888"/>
                </a:solidFill>
              </a:defRPr>
            </a:lvl3pPr>
            <a:lvl4pPr marL="1828800" lvl="3" indent="-228600" algn="l">
              <a:spcBef>
                <a:spcPts val="280"/>
              </a:spcBef>
              <a:spcAft>
                <a:spcPts val="0"/>
              </a:spcAft>
              <a:buClr>
                <a:srgbClr val="888888"/>
              </a:buClr>
              <a:buSzPts val="1400"/>
              <a:buFont typeface="Arial"/>
              <a:buNone/>
              <a:defRPr sz="1400">
                <a:solidFill>
                  <a:srgbClr val="888888"/>
                </a:solidFill>
              </a:defRPr>
            </a:lvl4pPr>
            <a:lvl5pPr marL="2286000" lvl="4" indent="-228600" algn="l">
              <a:spcBef>
                <a:spcPts val="280"/>
              </a:spcBef>
              <a:spcAft>
                <a:spcPts val="0"/>
              </a:spcAft>
              <a:buClr>
                <a:srgbClr val="888888"/>
              </a:buClr>
              <a:buSzPts val="1400"/>
              <a:buFont typeface="Arial"/>
              <a:buNone/>
              <a:defRPr sz="1400">
                <a:solidFill>
                  <a:srgbClr val="888888"/>
                </a:solidFill>
              </a:defRPr>
            </a:lvl5pPr>
            <a:lvl6pPr marL="2743200" lvl="5" indent="-228600" algn="l">
              <a:spcBef>
                <a:spcPts val="280"/>
              </a:spcBef>
              <a:spcAft>
                <a:spcPts val="0"/>
              </a:spcAft>
              <a:buClr>
                <a:srgbClr val="888888"/>
              </a:buClr>
              <a:buSzPts val="1400"/>
              <a:buFont typeface="Arial"/>
              <a:buNone/>
              <a:defRPr sz="1400">
                <a:solidFill>
                  <a:srgbClr val="888888"/>
                </a:solidFill>
              </a:defRPr>
            </a:lvl6pPr>
            <a:lvl7pPr marL="3200400" lvl="6" indent="-228600" algn="l">
              <a:spcBef>
                <a:spcPts val="280"/>
              </a:spcBef>
              <a:spcAft>
                <a:spcPts val="0"/>
              </a:spcAft>
              <a:buClr>
                <a:srgbClr val="888888"/>
              </a:buClr>
              <a:buSzPts val="1400"/>
              <a:buFont typeface="Arial"/>
              <a:buNone/>
              <a:defRPr sz="1400">
                <a:solidFill>
                  <a:srgbClr val="888888"/>
                </a:solidFill>
              </a:defRPr>
            </a:lvl7pPr>
            <a:lvl8pPr marL="3657600" lvl="7" indent="-228600" algn="l">
              <a:spcBef>
                <a:spcPts val="280"/>
              </a:spcBef>
              <a:spcAft>
                <a:spcPts val="0"/>
              </a:spcAft>
              <a:buClr>
                <a:srgbClr val="888888"/>
              </a:buClr>
              <a:buSzPts val="1400"/>
              <a:buFont typeface="Arial"/>
              <a:buNone/>
              <a:defRPr sz="1400">
                <a:solidFill>
                  <a:srgbClr val="888888"/>
                </a:solidFill>
              </a:defRPr>
            </a:lvl8pPr>
            <a:lvl9pPr marL="4114800" lvl="8" indent="-228600" algn="l">
              <a:spcBef>
                <a:spcPts val="280"/>
              </a:spcBef>
              <a:spcAft>
                <a:spcPts val="0"/>
              </a:spcAft>
              <a:buClr>
                <a:srgbClr val="888888"/>
              </a:buClr>
              <a:buSzPts val="1400"/>
              <a:buFont typeface="Arial"/>
              <a:buNone/>
              <a:defRPr sz="1400">
                <a:solidFill>
                  <a:srgbClr val="888888"/>
                </a:solidFill>
              </a:defRPr>
            </a:lvl9pPr>
          </a:lstStyle>
          <a:p>
            <a:endParaRPr/>
          </a:p>
        </p:txBody>
      </p:sp>
      <p:sp>
        <p:nvSpPr>
          <p:cNvPr id="31" name="Google Shape;31;p46"/>
          <p:cNvSpPr txBox="1">
            <a:spLocks noGrp="1"/>
          </p:cNvSpPr>
          <p:nvPr>
            <p:ph type="title"/>
          </p:nvPr>
        </p:nvSpPr>
        <p:spPr>
          <a:xfrm>
            <a:off x="1651" y="2805113"/>
            <a:ext cx="8878824" cy="1143000"/>
          </a:xfrm>
          <a:prstGeom prst="rect">
            <a:avLst/>
          </a:prstGeom>
          <a:solidFill>
            <a:schemeClr val="accent6"/>
          </a:solidFill>
          <a:ln>
            <a:noFill/>
          </a:ln>
        </p:spPr>
        <p:txBody>
          <a:bodyPr spcFirstLastPara="1" wrap="square" lIns="91425" tIns="45700" rIns="91425" bIns="45700" anchor="b" anchorCtr="0">
            <a:noAutofit/>
          </a:bodyPr>
          <a:lstStyle>
            <a:lvl1pPr lvl="0" algn="l">
              <a:spcBef>
                <a:spcPts val="0"/>
              </a:spcBef>
              <a:spcAft>
                <a:spcPts val="0"/>
              </a:spcAft>
              <a:buSzPts val="1400"/>
              <a:buNone/>
              <a:defRPr sz="3600" b="1" cap="none">
                <a:solidFill>
                  <a:schemeClr val="lt1"/>
                </a:solidFill>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32" name="Google Shape;32;p46"/>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riefing END" type="blank">
  <p:cSld name="BLANK">
    <p:spTree>
      <p:nvGrpSpPr>
        <p:cNvPr id="1" name="Shape 33"/>
        <p:cNvGrpSpPr/>
        <p:nvPr/>
      </p:nvGrpSpPr>
      <p:grpSpPr>
        <a:xfrm>
          <a:off x="0" y="0"/>
          <a:ext cx="0" cy="0"/>
          <a:chOff x="0" y="0"/>
          <a:chExt cx="0" cy="0"/>
        </a:xfrm>
      </p:grpSpPr>
      <p:pic>
        <p:nvPicPr>
          <p:cNvPr id="34" name="Google Shape;34;p47" descr="C:\Users\1061378037A\Desktop\Shield_AFIMSC_jpg.jpg"/>
          <p:cNvPicPr preferRelativeResize="0"/>
          <p:nvPr/>
        </p:nvPicPr>
        <p:blipFill rotWithShape="1">
          <a:blip r:embed="rId2">
            <a:alphaModFix/>
          </a:blip>
          <a:srcRect/>
          <a:stretch/>
        </p:blipFill>
        <p:spPr>
          <a:xfrm>
            <a:off x="2546363" y="1480931"/>
            <a:ext cx="4111335" cy="4059591"/>
          </a:xfrm>
          <a:prstGeom prst="rect">
            <a:avLst/>
          </a:prstGeom>
          <a:noFill/>
          <a:ln>
            <a:noFill/>
          </a:ln>
        </p:spPr>
      </p:pic>
      <p:pic>
        <p:nvPicPr>
          <p:cNvPr id="35" name="Google Shape;35;p47"/>
          <p:cNvPicPr preferRelativeResize="0"/>
          <p:nvPr/>
        </p:nvPicPr>
        <p:blipFill rotWithShape="1">
          <a:blip r:embed="rId3">
            <a:alphaModFix/>
          </a:blip>
          <a:srcRect/>
          <a:stretch/>
        </p:blipFill>
        <p:spPr>
          <a:xfrm>
            <a:off x="2530370" y="1485618"/>
            <a:ext cx="4229808" cy="419538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48"/>
          <p:cNvSpPr txBox="1">
            <a:spLocks noGrp="1"/>
          </p:cNvSpPr>
          <p:nvPr>
            <p:ph type="title"/>
          </p:nvPr>
        </p:nvSpPr>
        <p:spPr>
          <a:xfrm>
            <a:off x="938676" y="76200"/>
            <a:ext cx="7209443"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38" name="Google Shape;38;p48"/>
          <p:cNvSpPr txBox="1">
            <a:spLocks noGrp="1"/>
          </p:cNvSpPr>
          <p:nvPr>
            <p:ph type="body" idx="1"/>
          </p:nvPr>
        </p:nvSpPr>
        <p:spPr>
          <a:xfrm>
            <a:off x="381000" y="1216025"/>
            <a:ext cx="4191000" cy="358775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39" name="Google Shape;39;p48"/>
          <p:cNvSpPr txBox="1">
            <a:spLocks noGrp="1"/>
          </p:cNvSpPr>
          <p:nvPr>
            <p:ph type="body" idx="2"/>
          </p:nvPr>
        </p:nvSpPr>
        <p:spPr>
          <a:xfrm>
            <a:off x="4724400" y="1216025"/>
            <a:ext cx="4191000" cy="358775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Arial"/>
              <a:buChar char="•"/>
              <a:defRPr sz="2800"/>
            </a:lvl1pPr>
            <a:lvl2pPr marL="914400" lvl="1" indent="-381000" algn="l">
              <a:spcBef>
                <a:spcPts val="480"/>
              </a:spcBef>
              <a:spcAft>
                <a:spcPts val="0"/>
              </a:spcAft>
              <a:buClr>
                <a:schemeClr val="dk1"/>
              </a:buClr>
              <a:buSzPts val="2400"/>
              <a:buFont typeface="Arial"/>
              <a:buChar char="–"/>
              <a:defRPr sz="2400"/>
            </a:lvl2pPr>
            <a:lvl3pPr marL="1371600" lvl="2" indent="-355600" algn="l">
              <a:spcBef>
                <a:spcPts val="400"/>
              </a:spcBef>
              <a:spcAft>
                <a:spcPts val="0"/>
              </a:spcAft>
              <a:buClr>
                <a:schemeClr val="dk1"/>
              </a:buClr>
              <a:buSzPts val="2000"/>
              <a:buFont typeface="Arial"/>
              <a:buChar char="•"/>
              <a:defRPr sz="2000"/>
            </a:lvl3pPr>
            <a:lvl4pPr marL="1828800" lvl="3" indent="-342900" algn="l">
              <a:spcBef>
                <a:spcPts val="360"/>
              </a:spcBef>
              <a:spcAft>
                <a:spcPts val="0"/>
              </a:spcAft>
              <a:buClr>
                <a:schemeClr val="dk1"/>
              </a:buClr>
              <a:buSzPts val="1800"/>
              <a:buFont typeface="Arial"/>
              <a:buChar char="–"/>
              <a:defRPr sz="1800"/>
            </a:lvl4pPr>
            <a:lvl5pPr marL="2286000" lvl="4" indent="-342900" algn="l">
              <a:spcBef>
                <a:spcPts val="360"/>
              </a:spcBef>
              <a:spcAft>
                <a:spcPts val="0"/>
              </a:spcAft>
              <a:buClr>
                <a:schemeClr val="dk1"/>
              </a:buClr>
              <a:buSzPts val="1800"/>
              <a:buFont typeface="Arial"/>
              <a:buChar char="»"/>
              <a:defRPr sz="1800"/>
            </a:lvl5pPr>
            <a:lvl6pPr marL="2743200" lvl="5" indent="-342900" algn="l">
              <a:spcBef>
                <a:spcPts val="360"/>
              </a:spcBef>
              <a:spcAft>
                <a:spcPts val="0"/>
              </a:spcAft>
              <a:buClr>
                <a:schemeClr val="dk1"/>
              </a:buClr>
              <a:buSzPts val="1800"/>
              <a:buFont typeface="Arial"/>
              <a:buChar char="»"/>
              <a:defRPr sz="1800"/>
            </a:lvl6pPr>
            <a:lvl7pPr marL="3200400" lvl="6" indent="-342900" algn="l">
              <a:spcBef>
                <a:spcPts val="360"/>
              </a:spcBef>
              <a:spcAft>
                <a:spcPts val="0"/>
              </a:spcAft>
              <a:buClr>
                <a:schemeClr val="dk1"/>
              </a:buClr>
              <a:buSzPts val="1800"/>
              <a:buFont typeface="Arial"/>
              <a:buChar char="»"/>
              <a:defRPr sz="1800"/>
            </a:lvl7pPr>
            <a:lvl8pPr marL="3657600" lvl="7" indent="-342900" algn="l">
              <a:spcBef>
                <a:spcPts val="360"/>
              </a:spcBef>
              <a:spcAft>
                <a:spcPts val="0"/>
              </a:spcAft>
              <a:buClr>
                <a:schemeClr val="dk1"/>
              </a:buClr>
              <a:buSzPts val="1800"/>
              <a:buFont typeface="Arial"/>
              <a:buChar char="»"/>
              <a:defRPr sz="1800"/>
            </a:lvl8pPr>
            <a:lvl9pPr marL="4114800" lvl="8" indent="-342900" algn="l">
              <a:spcBef>
                <a:spcPts val="360"/>
              </a:spcBef>
              <a:spcAft>
                <a:spcPts val="0"/>
              </a:spcAft>
              <a:buClr>
                <a:schemeClr val="dk1"/>
              </a:buClr>
              <a:buSzPts val="1800"/>
              <a:buFont typeface="Arial"/>
              <a:buChar char="»"/>
              <a:defRPr sz="1800"/>
            </a:lvl9pPr>
          </a:lstStyle>
          <a:p>
            <a:endParaRPr/>
          </a:p>
        </p:txBody>
      </p:sp>
      <p:sp>
        <p:nvSpPr>
          <p:cNvPr id="40" name="Google Shape;40;p48"/>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49"/>
          <p:cNvSpPr txBox="1">
            <a:spLocks noGrp="1"/>
          </p:cNvSpPr>
          <p:nvPr>
            <p:ph type="title"/>
          </p:nvPr>
        </p:nvSpPr>
        <p:spPr>
          <a:xfrm>
            <a:off x="1143000" y="274638"/>
            <a:ext cx="7074568" cy="82023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43" name="Google Shape;43;p4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4" name="Google Shape;44;p4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5" name="Google Shape;45;p4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Arial"/>
              <a:buNone/>
              <a:defRPr sz="2400" b="1"/>
            </a:lvl1pPr>
            <a:lvl2pPr marL="914400" lvl="1" indent="-228600" algn="l">
              <a:spcBef>
                <a:spcPts val="400"/>
              </a:spcBef>
              <a:spcAft>
                <a:spcPts val="0"/>
              </a:spcAft>
              <a:buClr>
                <a:schemeClr val="dk1"/>
              </a:buClr>
              <a:buSzPts val="2000"/>
              <a:buFont typeface="Arial"/>
              <a:buNone/>
              <a:defRPr sz="2000" b="1"/>
            </a:lvl2pPr>
            <a:lvl3pPr marL="1371600" lvl="2" indent="-228600" algn="l">
              <a:spcBef>
                <a:spcPts val="360"/>
              </a:spcBef>
              <a:spcAft>
                <a:spcPts val="0"/>
              </a:spcAft>
              <a:buClr>
                <a:schemeClr val="dk1"/>
              </a:buClr>
              <a:buSzPts val="1800"/>
              <a:buFont typeface="Arial"/>
              <a:buNone/>
              <a:defRPr sz="1800" b="1"/>
            </a:lvl3pPr>
            <a:lvl4pPr marL="1828800" lvl="3" indent="-228600" algn="l">
              <a:spcBef>
                <a:spcPts val="320"/>
              </a:spcBef>
              <a:spcAft>
                <a:spcPts val="0"/>
              </a:spcAft>
              <a:buClr>
                <a:schemeClr val="dk1"/>
              </a:buClr>
              <a:buSzPts val="1600"/>
              <a:buFont typeface="Arial"/>
              <a:buNone/>
              <a:defRPr sz="1600" b="1"/>
            </a:lvl4pPr>
            <a:lvl5pPr marL="2286000" lvl="4" indent="-228600" algn="l">
              <a:spcBef>
                <a:spcPts val="320"/>
              </a:spcBef>
              <a:spcAft>
                <a:spcPts val="0"/>
              </a:spcAft>
              <a:buClr>
                <a:schemeClr val="dk1"/>
              </a:buClr>
              <a:buSzPts val="1600"/>
              <a:buFont typeface="Arial"/>
              <a:buNone/>
              <a:defRPr sz="1600" b="1"/>
            </a:lvl5pPr>
            <a:lvl6pPr marL="2743200" lvl="5" indent="-228600" algn="l">
              <a:spcBef>
                <a:spcPts val="320"/>
              </a:spcBef>
              <a:spcAft>
                <a:spcPts val="0"/>
              </a:spcAft>
              <a:buClr>
                <a:schemeClr val="dk1"/>
              </a:buClr>
              <a:buSzPts val="1600"/>
              <a:buFont typeface="Arial"/>
              <a:buNone/>
              <a:defRPr sz="1600" b="1"/>
            </a:lvl6pPr>
            <a:lvl7pPr marL="3200400" lvl="6" indent="-228600" algn="l">
              <a:spcBef>
                <a:spcPts val="320"/>
              </a:spcBef>
              <a:spcAft>
                <a:spcPts val="0"/>
              </a:spcAft>
              <a:buClr>
                <a:schemeClr val="dk1"/>
              </a:buClr>
              <a:buSzPts val="1600"/>
              <a:buFont typeface="Arial"/>
              <a:buNone/>
              <a:defRPr sz="1600" b="1"/>
            </a:lvl7pPr>
            <a:lvl8pPr marL="3657600" lvl="7" indent="-228600" algn="l">
              <a:spcBef>
                <a:spcPts val="320"/>
              </a:spcBef>
              <a:spcAft>
                <a:spcPts val="0"/>
              </a:spcAft>
              <a:buClr>
                <a:schemeClr val="dk1"/>
              </a:buClr>
              <a:buSzPts val="1600"/>
              <a:buFont typeface="Arial"/>
              <a:buNone/>
              <a:defRPr sz="1600" b="1"/>
            </a:lvl8pPr>
            <a:lvl9pPr marL="4114800" lvl="8" indent="-228600" algn="l">
              <a:spcBef>
                <a:spcPts val="320"/>
              </a:spcBef>
              <a:spcAft>
                <a:spcPts val="0"/>
              </a:spcAft>
              <a:buClr>
                <a:schemeClr val="dk1"/>
              </a:buClr>
              <a:buSzPts val="1600"/>
              <a:buFont typeface="Arial"/>
              <a:buNone/>
              <a:defRPr sz="1600" b="1"/>
            </a:lvl9pPr>
          </a:lstStyle>
          <a:p>
            <a:endParaRPr/>
          </a:p>
        </p:txBody>
      </p:sp>
      <p:sp>
        <p:nvSpPr>
          <p:cNvPr id="46" name="Google Shape;46;p4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Arial"/>
              <a:buChar char="•"/>
              <a:defRPr sz="2400"/>
            </a:lvl1pPr>
            <a:lvl2pPr marL="914400" lvl="1" indent="-355600" algn="l">
              <a:spcBef>
                <a:spcPts val="400"/>
              </a:spcBef>
              <a:spcAft>
                <a:spcPts val="0"/>
              </a:spcAft>
              <a:buClr>
                <a:schemeClr val="dk1"/>
              </a:buClr>
              <a:buSzPts val="2000"/>
              <a:buFont typeface="Arial"/>
              <a:buChar char="–"/>
              <a:defRPr sz="2000"/>
            </a:lvl2pPr>
            <a:lvl3pPr marL="1371600" lvl="2" indent="-342900" algn="l">
              <a:spcBef>
                <a:spcPts val="360"/>
              </a:spcBef>
              <a:spcAft>
                <a:spcPts val="0"/>
              </a:spcAft>
              <a:buClr>
                <a:schemeClr val="dk1"/>
              </a:buClr>
              <a:buSzPts val="1800"/>
              <a:buFont typeface="Arial"/>
              <a:buChar char="•"/>
              <a:defRPr sz="1800"/>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47" name="Google Shape;47;p49"/>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50"/>
          <p:cNvSpPr txBox="1">
            <a:spLocks noGrp="1"/>
          </p:cNvSpPr>
          <p:nvPr>
            <p:ph type="title"/>
          </p:nvPr>
        </p:nvSpPr>
        <p:spPr>
          <a:xfrm>
            <a:off x="938676" y="76200"/>
            <a:ext cx="7209443"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50" name="Google Shape;50;p50"/>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1"/>
        <p:cNvGrpSpPr/>
        <p:nvPr/>
      </p:nvGrpSpPr>
      <p:grpSpPr>
        <a:xfrm>
          <a:off x="0" y="0"/>
          <a:ext cx="0" cy="0"/>
          <a:chOff x="0" y="0"/>
          <a:chExt cx="0" cy="0"/>
        </a:xfrm>
      </p:grpSpPr>
      <p:sp>
        <p:nvSpPr>
          <p:cNvPr id="52" name="Google Shape;52;p51"/>
          <p:cNvSpPr txBox="1">
            <a:spLocks noGrp="1"/>
          </p:cNvSpPr>
          <p:nvPr>
            <p:ph type="title"/>
          </p:nvPr>
        </p:nvSpPr>
        <p:spPr>
          <a:xfrm>
            <a:off x="457200" y="1091226"/>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53" name="Google Shape;53;p51"/>
          <p:cNvSpPr txBox="1">
            <a:spLocks noGrp="1"/>
          </p:cNvSpPr>
          <p:nvPr>
            <p:ph type="body" idx="1"/>
          </p:nvPr>
        </p:nvSpPr>
        <p:spPr>
          <a:xfrm>
            <a:off x="3575050" y="1091226"/>
            <a:ext cx="5111750" cy="5562237"/>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Arial"/>
              <a:buChar char="•"/>
              <a:defRPr sz="3200"/>
            </a:lvl1pPr>
            <a:lvl2pPr marL="914400" lvl="1" indent="-406400" algn="l">
              <a:spcBef>
                <a:spcPts val="560"/>
              </a:spcBef>
              <a:spcAft>
                <a:spcPts val="0"/>
              </a:spcAft>
              <a:buClr>
                <a:schemeClr val="dk1"/>
              </a:buClr>
              <a:buSzPts val="2800"/>
              <a:buFont typeface="Arial"/>
              <a:buChar char="–"/>
              <a:defRPr sz="2800"/>
            </a:lvl2pPr>
            <a:lvl3pPr marL="1371600" lvl="2" indent="-381000" algn="l">
              <a:spcBef>
                <a:spcPts val="480"/>
              </a:spcBef>
              <a:spcAft>
                <a:spcPts val="0"/>
              </a:spcAft>
              <a:buClr>
                <a:schemeClr val="dk1"/>
              </a:buClr>
              <a:buSzPts val="2400"/>
              <a:buFont typeface="Arial"/>
              <a:buChar char="•"/>
              <a:defRPr sz="2400"/>
            </a:lvl3pPr>
            <a:lvl4pPr marL="1828800" lvl="3" indent="-355600" algn="l">
              <a:spcBef>
                <a:spcPts val="400"/>
              </a:spcBef>
              <a:spcAft>
                <a:spcPts val="0"/>
              </a:spcAft>
              <a:buClr>
                <a:schemeClr val="dk1"/>
              </a:buClr>
              <a:buSzPts val="2000"/>
              <a:buFont typeface="Arial"/>
              <a:buChar char="–"/>
              <a:defRPr sz="2000"/>
            </a:lvl4pPr>
            <a:lvl5pPr marL="2286000" lvl="4" indent="-355600" algn="l">
              <a:spcBef>
                <a:spcPts val="400"/>
              </a:spcBef>
              <a:spcAft>
                <a:spcPts val="0"/>
              </a:spcAft>
              <a:buClr>
                <a:schemeClr val="dk1"/>
              </a:buClr>
              <a:buSzPts val="2000"/>
              <a:buFont typeface="Arial"/>
              <a:buChar char="»"/>
              <a:defRPr sz="2000"/>
            </a:lvl5pPr>
            <a:lvl6pPr marL="2743200" lvl="5" indent="-355600" algn="l">
              <a:spcBef>
                <a:spcPts val="400"/>
              </a:spcBef>
              <a:spcAft>
                <a:spcPts val="0"/>
              </a:spcAft>
              <a:buClr>
                <a:schemeClr val="dk1"/>
              </a:buClr>
              <a:buSzPts val="2000"/>
              <a:buFont typeface="Arial"/>
              <a:buChar char="»"/>
              <a:defRPr sz="2000"/>
            </a:lvl6pPr>
            <a:lvl7pPr marL="3200400" lvl="6" indent="-355600" algn="l">
              <a:spcBef>
                <a:spcPts val="400"/>
              </a:spcBef>
              <a:spcAft>
                <a:spcPts val="0"/>
              </a:spcAft>
              <a:buClr>
                <a:schemeClr val="dk1"/>
              </a:buClr>
              <a:buSzPts val="2000"/>
              <a:buFont typeface="Arial"/>
              <a:buChar char="»"/>
              <a:defRPr sz="2000"/>
            </a:lvl7pPr>
            <a:lvl8pPr marL="3657600" lvl="7" indent="-355600" algn="l">
              <a:spcBef>
                <a:spcPts val="400"/>
              </a:spcBef>
              <a:spcAft>
                <a:spcPts val="0"/>
              </a:spcAft>
              <a:buClr>
                <a:schemeClr val="dk1"/>
              </a:buClr>
              <a:buSzPts val="2000"/>
              <a:buFont typeface="Arial"/>
              <a:buChar char="»"/>
              <a:defRPr sz="2000"/>
            </a:lvl8pPr>
            <a:lvl9pPr marL="4114800" lvl="8" indent="-355600" algn="l">
              <a:spcBef>
                <a:spcPts val="400"/>
              </a:spcBef>
              <a:spcAft>
                <a:spcPts val="0"/>
              </a:spcAft>
              <a:buClr>
                <a:schemeClr val="dk1"/>
              </a:buClr>
              <a:buSzPts val="2000"/>
              <a:buFont typeface="Arial"/>
              <a:buChar char="»"/>
              <a:defRPr sz="2000"/>
            </a:lvl9pPr>
          </a:lstStyle>
          <a:p>
            <a:endParaRPr/>
          </a:p>
        </p:txBody>
      </p:sp>
      <p:sp>
        <p:nvSpPr>
          <p:cNvPr id="54" name="Google Shape;54;p51"/>
          <p:cNvSpPr txBox="1">
            <a:spLocks noGrp="1"/>
          </p:cNvSpPr>
          <p:nvPr>
            <p:ph type="body" idx="2"/>
          </p:nvPr>
        </p:nvSpPr>
        <p:spPr>
          <a:xfrm>
            <a:off x="457200" y="2253276"/>
            <a:ext cx="3008313" cy="4352061"/>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55" name="Google Shape;55;p51"/>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
        <p:cNvGrpSpPr/>
        <p:nvPr/>
      </p:nvGrpSpPr>
      <p:grpSpPr>
        <a:xfrm>
          <a:off x="0" y="0"/>
          <a:ext cx="0" cy="0"/>
          <a:chOff x="0" y="0"/>
          <a:chExt cx="0" cy="0"/>
        </a:xfrm>
      </p:grpSpPr>
      <p:sp>
        <p:nvSpPr>
          <p:cNvPr id="57" name="Google Shape;57;p52"/>
          <p:cNvSpPr txBox="1">
            <a:spLocks noGrp="1"/>
          </p:cNvSpPr>
          <p:nvPr>
            <p:ph type="title"/>
          </p:nvPr>
        </p:nvSpPr>
        <p:spPr>
          <a:xfrm>
            <a:off x="1792288" y="5317976"/>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58" name="Google Shape;58;p52"/>
          <p:cNvSpPr>
            <a:spLocks noGrp="1"/>
          </p:cNvSpPr>
          <p:nvPr>
            <p:ph type="pic" idx="2"/>
          </p:nvPr>
        </p:nvSpPr>
        <p:spPr>
          <a:xfrm>
            <a:off x="1792288" y="1130151"/>
            <a:ext cx="5486400" cy="4114800"/>
          </a:xfrm>
          <a:prstGeom prst="rect">
            <a:avLst/>
          </a:prstGeom>
          <a:noFill/>
          <a:ln>
            <a:noFill/>
          </a:ln>
        </p:spPr>
      </p:sp>
      <p:sp>
        <p:nvSpPr>
          <p:cNvPr id="59" name="Google Shape;59;p52"/>
          <p:cNvSpPr txBox="1">
            <a:spLocks noGrp="1"/>
          </p:cNvSpPr>
          <p:nvPr>
            <p:ph type="body" idx="1"/>
          </p:nvPr>
        </p:nvSpPr>
        <p:spPr>
          <a:xfrm>
            <a:off x="1792288" y="5884714"/>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Arial"/>
              <a:buNone/>
              <a:defRPr sz="1400"/>
            </a:lvl1pPr>
            <a:lvl2pPr marL="914400" lvl="1" indent="-228600" algn="l">
              <a:spcBef>
                <a:spcPts val="240"/>
              </a:spcBef>
              <a:spcAft>
                <a:spcPts val="0"/>
              </a:spcAft>
              <a:buClr>
                <a:schemeClr val="dk1"/>
              </a:buClr>
              <a:buSzPts val="1200"/>
              <a:buFont typeface="Arial"/>
              <a:buNone/>
              <a:defRPr sz="1200"/>
            </a:lvl2pPr>
            <a:lvl3pPr marL="1371600" lvl="2" indent="-228600" algn="l">
              <a:spcBef>
                <a:spcPts val="200"/>
              </a:spcBef>
              <a:spcAft>
                <a:spcPts val="0"/>
              </a:spcAft>
              <a:buClr>
                <a:schemeClr val="dk1"/>
              </a:buClr>
              <a:buSzPts val="1000"/>
              <a:buFont typeface="Arial"/>
              <a:buNone/>
              <a:defRPr sz="1000"/>
            </a:lvl3pPr>
            <a:lvl4pPr marL="1828800" lvl="3" indent="-228600" algn="l">
              <a:spcBef>
                <a:spcPts val="180"/>
              </a:spcBef>
              <a:spcAft>
                <a:spcPts val="0"/>
              </a:spcAft>
              <a:buClr>
                <a:schemeClr val="dk1"/>
              </a:buClr>
              <a:buSzPts val="900"/>
              <a:buFont typeface="Arial"/>
              <a:buNone/>
              <a:defRPr sz="900"/>
            </a:lvl4pPr>
            <a:lvl5pPr marL="2286000" lvl="4" indent="-228600" algn="l">
              <a:spcBef>
                <a:spcPts val="180"/>
              </a:spcBef>
              <a:spcAft>
                <a:spcPts val="0"/>
              </a:spcAft>
              <a:buClr>
                <a:schemeClr val="dk1"/>
              </a:buClr>
              <a:buSzPts val="900"/>
              <a:buFont typeface="Arial"/>
              <a:buNone/>
              <a:defRPr sz="900"/>
            </a:lvl5pPr>
            <a:lvl6pPr marL="2743200" lvl="5" indent="-228600" algn="l">
              <a:spcBef>
                <a:spcPts val="180"/>
              </a:spcBef>
              <a:spcAft>
                <a:spcPts val="0"/>
              </a:spcAft>
              <a:buClr>
                <a:schemeClr val="dk1"/>
              </a:buClr>
              <a:buSzPts val="900"/>
              <a:buFont typeface="Arial"/>
              <a:buNone/>
              <a:defRPr sz="900"/>
            </a:lvl6pPr>
            <a:lvl7pPr marL="3200400" lvl="6" indent="-228600" algn="l">
              <a:spcBef>
                <a:spcPts val="180"/>
              </a:spcBef>
              <a:spcAft>
                <a:spcPts val="0"/>
              </a:spcAft>
              <a:buClr>
                <a:schemeClr val="dk1"/>
              </a:buClr>
              <a:buSzPts val="900"/>
              <a:buFont typeface="Arial"/>
              <a:buNone/>
              <a:defRPr sz="900"/>
            </a:lvl7pPr>
            <a:lvl8pPr marL="3657600" lvl="7" indent="-228600" algn="l">
              <a:spcBef>
                <a:spcPts val="180"/>
              </a:spcBef>
              <a:spcAft>
                <a:spcPts val="0"/>
              </a:spcAft>
              <a:buClr>
                <a:schemeClr val="dk1"/>
              </a:buClr>
              <a:buSzPts val="900"/>
              <a:buFont typeface="Arial"/>
              <a:buNone/>
              <a:defRPr sz="900"/>
            </a:lvl8pPr>
            <a:lvl9pPr marL="4114800" lvl="8" indent="-228600" algn="l">
              <a:spcBef>
                <a:spcPts val="180"/>
              </a:spcBef>
              <a:spcAft>
                <a:spcPts val="0"/>
              </a:spcAft>
              <a:buClr>
                <a:schemeClr val="dk1"/>
              </a:buClr>
              <a:buSzPts val="900"/>
              <a:buFont typeface="Arial"/>
              <a:buNone/>
              <a:defRPr sz="900"/>
            </a:lvl9pPr>
          </a:lstStyle>
          <a:p>
            <a:endParaRPr/>
          </a:p>
        </p:txBody>
      </p:sp>
      <p:sp>
        <p:nvSpPr>
          <p:cNvPr id="60" name="Google Shape;60;p52"/>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type="objOnly">
  <p:cSld name="OBJECT_ONLY">
    <p:spTree>
      <p:nvGrpSpPr>
        <p:cNvPr id="1" name="Shape 61"/>
        <p:cNvGrpSpPr/>
        <p:nvPr/>
      </p:nvGrpSpPr>
      <p:grpSpPr>
        <a:xfrm>
          <a:off x="0" y="0"/>
          <a:ext cx="0" cy="0"/>
          <a:chOff x="0" y="0"/>
          <a:chExt cx="0" cy="0"/>
        </a:xfrm>
      </p:grpSpPr>
      <p:sp>
        <p:nvSpPr>
          <p:cNvPr id="62" name="Google Shape;62;p53"/>
          <p:cNvSpPr txBox="1">
            <a:spLocks noGrp="1"/>
          </p:cNvSpPr>
          <p:nvPr>
            <p:ph type="body" idx="1"/>
          </p:nvPr>
        </p:nvSpPr>
        <p:spPr>
          <a:xfrm>
            <a:off x="393032" y="1231232"/>
            <a:ext cx="8534400" cy="472757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53"/>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4"/>
        <p:cNvGrpSpPr/>
        <p:nvPr/>
      </p:nvGrpSpPr>
      <p:grpSpPr>
        <a:xfrm>
          <a:off x="0" y="0"/>
          <a:ext cx="0" cy="0"/>
          <a:chOff x="0" y="0"/>
          <a:chExt cx="0" cy="0"/>
        </a:xfrm>
      </p:grpSpPr>
      <p:sp>
        <p:nvSpPr>
          <p:cNvPr id="65" name="Google Shape;65;p54"/>
          <p:cNvSpPr txBox="1">
            <a:spLocks noGrp="1"/>
          </p:cNvSpPr>
          <p:nvPr>
            <p:ph type="title"/>
          </p:nvPr>
        </p:nvSpPr>
        <p:spPr>
          <a:xfrm>
            <a:off x="986588" y="274638"/>
            <a:ext cx="7206917" cy="820236"/>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Tree>
  </p:cSld>
  <p:clrMapOvr>
    <a:masterClrMapping/>
  </p:clrMapOvr>
  <p:transition>
    <p:split orient="ver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6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43"/>
          <p:cNvSpPr txBox="1">
            <a:spLocks noGrp="1"/>
          </p:cNvSpPr>
          <p:nvPr>
            <p:ph type="title"/>
          </p:nvPr>
        </p:nvSpPr>
        <p:spPr>
          <a:xfrm>
            <a:off x="938676" y="76200"/>
            <a:ext cx="7209443" cy="914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1" i="0" u="none" strike="noStrike" cap="none">
                <a:solidFill>
                  <a:schemeClr val="dk2"/>
                </a:solidFill>
                <a:latin typeface="Arial"/>
                <a:ea typeface="Arial"/>
                <a:cs typeface="Arial"/>
                <a:sym typeface="Arial"/>
              </a:defRPr>
            </a:lvl1pPr>
            <a:lvl2pPr marR="0" lvl="1" algn="r" rtl="0">
              <a:spcBef>
                <a:spcPts val="0"/>
              </a:spcBef>
              <a:spcAft>
                <a:spcPts val="0"/>
              </a:spcAft>
              <a:buSzPts val="1400"/>
              <a:buNone/>
              <a:defRPr sz="3600" b="1" i="0" u="none" strike="noStrike" cap="none">
                <a:solidFill>
                  <a:schemeClr val="dk2"/>
                </a:solidFill>
                <a:latin typeface="Arial"/>
                <a:ea typeface="Arial"/>
                <a:cs typeface="Arial"/>
                <a:sym typeface="Arial"/>
              </a:defRPr>
            </a:lvl2pPr>
            <a:lvl3pPr marR="0" lvl="2" algn="r" rtl="0">
              <a:spcBef>
                <a:spcPts val="0"/>
              </a:spcBef>
              <a:spcAft>
                <a:spcPts val="0"/>
              </a:spcAft>
              <a:buSzPts val="1400"/>
              <a:buNone/>
              <a:defRPr sz="3600" b="1" i="0" u="none" strike="noStrike" cap="none">
                <a:solidFill>
                  <a:schemeClr val="dk2"/>
                </a:solidFill>
                <a:latin typeface="Arial"/>
                <a:ea typeface="Arial"/>
                <a:cs typeface="Arial"/>
                <a:sym typeface="Arial"/>
              </a:defRPr>
            </a:lvl3pPr>
            <a:lvl4pPr marR="0" lvl="3" algn="r" rtl="0">
              <a:spcBef>
                <a:spcPts val="0"/>
              </a:spcBef>
              <a:spcAft>
                <a:spcPts val="0"/>
              </a:spcAft>
              <a:buSzPts val="1400"/>
              <a:buNone/>
              <a:defRPr sz="3600" b="1" i="0" u="none" strike="noStrike" cap="none">
                <a:solidFill>
                  <a:schemeClr val="dk2"/>
                </a:solidFill>
                <a:latin typeface="Arial"/>
                <a:ea typeface="Arial"/>
                <a:cs typeface="Arial"/>
                <a:sym typeface="Arial"/>
              </a:defRPr>
            </a:lvl4pPr>
            <a:lvl5pPr marR="0" lvl="4" algn="r" rtl="0">
              <a:spcBef>
                <a:spcPts val="0"/>
              </a:spcBef>
              <a:spcAft>
                <a:spcPts val="0"/>
              </a:spcAft>
              <a:buSzPts val="1400"/>
              <a:buNone/>
              <a:defRPr sz="3600" b="1" i="0" u="none" strike="noStrike" cap="none">
                <a:solidFill>
                  <a:schemeClr val="dk2"/>
                </a:solidFill>
                <a:latin typeface="Arial"/>
                <a:ea typeface="Arial"/>
                <a:cs typeface="Arial"/>
                <a:sym typeface="Arial"/>
              </a:defRPr>
            </a:lvl5pPr>
            <a:lvl6pPr marR="0" lvl="5" algn="r" rtl="0">
              <a:spcBef>
                <a:spcPts val="0"/>
              </a:spcBef>
              <a:spcAft>
                <a:spcPts val="0"/>
              </a:spcAft>
              <a:buSzPts val="1400"/>
              <a:buNone/>
              <a:defRPr sz="3600" b="1" i="0" u="none" strike="noStrike" cap="none">
                <a:solidFill>
                  <a:schemeClr val="dk2"/>
                </a:solidFill>
                <a:latin typeface="Arial"/>
                <a:ea typeface="Arial"/>
                <a:cs typeface="Arial"/>
                <a:sym typeface="Arial"/>
              </a:defRPr>
            </a:lvl6pPr>
            <a:lvl7pPr marR="0" lvl="6" algn="r" rtl="0">
              <a:spcBef>
                <a:spcPts val="0"/>
              </a:spcBef>
              <a:spcAft>
                <a:spcPts val="0"/>
              </a:spcAft>
              <a:buSzPts val="1400"/>
              <a:buNone/>
              <a:defRPr sz="3600" b="1" i="0" u="none" strike="noStrike" cap="none">
                <a:solidFill>
                  <a:schemeClr val="dk2"/>
                </a:solidFill>
                <a:latin typeface="Arial"/>
                <a:ea typeface="Arial"/>
                <a:cs typeface="Arial"/>
                <a:sym typeface="Arial"/>
              </a:defRPr>
            </a:lvl7pPr>
            <a:lvl8pPr marR="0" lvl="7" algn="r" rtl="0">
              <a:spcBef>
                <a:spcPts val="0"/>
              </a:spcBef>
              <a:spcAft>
                <a:spcPts val="0"/>
              </a:spcAft>
              <a:buSzPts val="1400"/>
              <a:buNone/>
              <a:defRPr sz="3600" b="1" i="0" u="none" strike="noStrike" cap="none">
                <a:solidFill>
                  <a:schemeClr val="dk2"/>
                </a:solidFill>
                <a:latin typeface="Arial"/>
                <a:ea typeface="Arial"/>
                <a:cs typeface="Arial"/>
                <a:sym typeface="Arial"/>
              </a:defRPr>
            </a:lvl8pPr>
            <a:lvl9pPr marR="0" lvl="8" algn="r" rtl="0">
              <a:spcBef>
                <a:spcPts val="0"/>
              </a:spcBef>
              <a:spcAft>
                <a:spcPts val="0"/>
              </a:spcAft>
              <a:buSzPts val="1400"/>
              <a:buNone/>
              <a:defRPr sz="3600" b="1" i="0" u="none" strike="noStrike" cap="none">
                <a:solidFill>
                  <a:schemeClr val="dk2"/>
                </a:solidFill>
                <a:latin typeface="Arial"/>
                <a:ea typeface="Arial"/>
                <a:cs typeface="Arial"/>
                <a:sym typeface="Arial"/>
              </a:defRPr>
            </a:lvl9pPr>
          </a:lstStyle>
          <a:p>
            <a:endParaRPr/>
          </a:p>
        </p:txBody>
      </p:sp>
      <p:sp>
        <p:nvSpPr>
          <p:cNvPr id="12" name="Google Shape;12;p43"/>
          <p:cNvSpPr txBox="1">
            <a:spLocks noGrp="1"/>
          </p:cNvSpPr>
          <p:nvPr>
            <p:ph type="body" idx="1"/>
          </p:nvPr>
        </p:nvSpPr>
        <p:spPr>
          <a:xfrm>
            <a:off x="304800" y="1216025"/>
            <a:ext cx="8534400" cy="358775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1"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1"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cxnSp>
        <p:nvCxnSpPr>
          <p:cNvPr id="13" name="Google Shape;13;p43"/>
          <p:cNvCxnSpPr/>
          <p:nvPr/>
        </p:nvCxnSpPr>
        <p:spPr>
          <a:xfrm>
            <a:off x="381000" y="1080263"/>
            <a:ext cx="8382000" cy="0"/>
          </a:xfrm>
          <a:prstGeom prst="straightConnector1">
            <a:avLst/>
          </a:prstGeom>
          <a:noFill/>
          <a:ln w="57150" cap="flat" cmpd="sng">
            <a:solidFill>
              <a:srgbClr val="1A1596"/>
            </a:solidFill>
            <a:prstDash val="solid"/>
            <a:round/>
            <a:headEnd type="none" w="med" len="med"/>
            <a:tailEnd type="none" w="med" len="med"/>
          </a:ln>
        </p:spPr>
      </p:cxnSp>
      <p:pic>
        <p:nvPicPr>
          <p:cNvPr id="14" name="Google Shape;14;p43" descr="C:\Users\1061378037A\Desktop\Shield_AFIMSC_jpg.jpg"/>
          <p:cNvPicPr preferRelativeResize="0"/>
          <p:nvPr/>
        </p:nvPicPr>
        <p:blipFill rotWithShape="1">
          <a:blip r:embed="rId14">
            <a:alphaModFix/>
          </a:blip>
          <a:srcRect/>
          <a:stretch/>
        </p:blipFill>
        <p:spPr>
          <a:xfrm>
            <a:off x="31380" y="94627"/>
            <a:ext cx="904176" cy="892797"/>
          </a:xfrm>
          <a:prstGeom prst="rect">
            <a:avLst/>
          </a:prstGeom>
          <a:noFill/>
          <a:ln>
            <a:noFill/>
          </a:ln>
        </p:spPr>
      </p:pic>
      <p:pic>
        <p:nvPicPr>
          <p:cNvPr id="15" name="Google Shape;15;p43"/>
          <p:cNvPicPr preferRelativeResize="0"/>
          <p:nvPr/>
        </p:nvPicPr>
        <p:blipFill rotWithShape="1">
          <a:blip r:embed="rId15">
            <a:alphaModFix/>
          </a:blip>
          <a:srcRect/>
          <a:stretch/>
        </p:blipFill>
        <p:spPr>
          <a:xfrm>
            <a:off x="8229413" y="94627"/>
            <a:ext cx="914397" cy="9069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mailto:scott.flash@us.af.mi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mailto:mark.dixon.5@us.af.mi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
          <p:cNvSpPr txBox="1">
            <a:spLocks noGrp="1"/>
          </p:cNvSpPr>
          <p:nvPr>
            <p:ph type="body" idx="1"/>
          </p:nvPr>
        </p:nvSpPr>
        <p:spPr>
          <a:xfrm>
            <a:off x="4630487" y="4070101"/>
            <a:ext cx="4314300" cy="1144500"/>
          </a:xfrm>
          <a:prstGeom prst="rect">
            <a:avLst/>
          </a:prstGeom>
          <a:noFill/>
          <a:ln>
            <a:noFill/>
          </a:ln>
        </p:spPr>
        <p:txBody>
          <a:bodyPr spcFirstLastPara="1" wrap="square" lIns="91425" tIns="45700" rIns="91425" bIns="45700" anchor="t" anchorCtr="0">
            <a:noAutofit/>
          </a:bodyPr>
          <a:lstStyle/>
          <a:p>
            <a:pPr marL="0" lvl="0" indent="0" algn="ctr" rtl="0">
              <a:spcBef>
                <a:spcPts val="480"/>
              </a:spcBef>
              <a:spcAft>
                <a:spcPts val="0"/>
              </a:spcAft>
              <a:buClr>
                <a:schemeClr val="dk1"/>
              </a:buClr>
              <a:buSzPts val="2400"/>
              <a:buFont typeface="Arial"/>
              <a:buNone/>
            </a:pPr>
            <a:r>
              <a:rPr lang="en-US" sz="2400" dirty="0"/>
              <a:t>06 – 07 MAY 2026</a:t>
            </a:r>
            <a:endParaRPr sz="2400" dirty="0"/>
          </a:p>
          <a:p>
            <a:pPr marL="0" lvl="0" indent="0" algn="ctr" rtl="0">
              <a:spcBef>
                <a:spcPts val="480"/>
              </a:spcBef>
              <a:spcAft>
                <a:spcPts val="0"/>
              </a:spcAft>
              <a:buClr>
                <a:schemeClr val="dk1"/>
              </a:buClr>
              <a:buSzPts val="2400"/>
              <a:buFont typeface="Arial"/>
              <a:buNone/>
            </a:pPr>
            <a:r>
              <a:rPr lang="en-US" sz="2400" dirty="0"/>
              <a:t>Time: 8:00am EST</a:t>
            </a:r>
            <a:endParaRPr sz="2400" dirty="0"/>
          </a:p>
        </p:txBody>
      </p:sp>
      <p:sp>
        <p:nvSpPr>
          <p:cNvPr id="72" name="Google Shape;72;p1"/>
          <p:cNvSpPr txBox="1">
            <a:spLocks noGrp="1"/>
          </p:cNvSpPr>
          <p:nvPr>
            <p:ph type="body" idx="2"/>
          </p:nvPr>
        </p:nvSpPr>
        <p:spPr>
          <a:xfrm>
            <a:off x="4678363" y="1836738"/>
            <a:ext cx="4218502" cy="2125662"/>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Arial"/>
              <a:buNone/>
            </a:pPr>
            <a:r>
              <a:rPr lang="en-US" sz="4000"/>
              <a:t>AFCEC/CZQE F2F Site Visit</a:t>
            </a:r>
            <a:endParaRPr/>
          </a:p>
          <a:p>
            <a:pPr marL="0" lvl="0" indent="0" algn="ctr" rtl="0">
              <a:spcBef>
                <a:spcPts val="880"/>
              </a:spcBef>
              <a:spcAft>
                <a:spcPts val="0"/>
              </a:spcAft>
              <a:buClr>
                <a:schemeClr val="dk1"/>
              </a:buClr>
              <a:buSzPts val="4400"/>
              <a:buFont typeface="Arial"/>
              <a:buNone/>
            </a:pPr>
            <a:endParaRPr/>
          </a:p>
        </p:txBody>
      </p:sp>
      <p:sp>
        <p:nvSpPr>
          <p:cNvPr id="73" name="Google Shape;73;p1"/>
          <p:cNvSpPr txBox="1">
            <a:spLocks noGrp="1"/>
          </p:cNvSpPr>
          <p:nvPr>
            <p:ph type="sldNum" idx="4294967295"/>
          </p:nvPr>
        </p:nvSpPr>
        <p:spPr>
          <a:xfrm>
            <a:off x="7010400" y="6519863"/>
            <a:ext cx="2133600" cy="47625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a:t>
            </a:fld>
            <a:endParaRPr/>
          </a:p>
        </p:txBody>
      </p:sp>
      <p:sp>
        <p:nvSpPr>
          <p:cNvPr id="74" name="Google Shape;74;p1"/>
          <p:cNvSpPr txBox="1"/>
          <p:nvPr/>
        </p:nvSpPr>
        <p:spPr>
          <a:xfrm>
            <a:off x="4970776" y="5547144"/>
            <a:ext cx="4173224" cy="57447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400"/>
              <a:buFont typeface="Arial"/>
              <a:buNone/>
            </a:pPr>
            <a:r>
              <a:rPr lang="en-US" sz="1400" b="1" i="0" u="none" strike="noStrike" cap="none" dirty="0">
                <a:solidFill>
                  <a:schemeClr val="dk1"/>
                </a:solidFill>
                <a:latin typeface="Arial"/>
                <a:ea typeface="Arial"/>
                <a:cs typeface="Arial"/>
                <a:sym typeface="Arial"/>
              </a:rPr>
              <a:t>AFCEC/CZAE</a:t>
            </a:r>
            <a:endParaRPr dirty="0"/>
          </a:p>
          <a:p>
            <a:pPr marL="0" marR="0" lvl="0" indent="0" algn="ctr" rtl="0">
              <a:spcBef>
                <a:spcPts val="360"/>
              </a:spcBef>
              <a:spcAft>
                <a:spcPts val="0"/>
              </a:spcAft>
              <a:buClr>
                <a:schemeClr val="dk1"/>
              </a:buClr>
              <a:buSzPts val="1400"/>
              <a:buFont typeface="Arial"/>
              <a:buNone/>
            </a:pPr>
            <a:r>
              <a:rPr lang="en-US" sz="1400" b="1" i="0" u="none" strike="noStrike" cap="none" dirty="0">
                <a:solidFill>
                  <a:schemeClr val="dk1"/>
                </a:solidFill>
                <a:latin typeface="Arial"/>
                <a:ea typeface="Arial"/>
                <a:cs typeface="Arial"/>
                <a:sym typeface="Arial"/>
              </a:rPr>
              <a:t>East Acquisitions Support </a:t>
            </a:r>
            <a:r>
              <a:rPr lang="en-US" b="1" dirty="0">
                <a:solidFill>
                  <a:schemeClr val="dk1"/>
                </a:solidFill>
              </a:rPr>
              <a:t>Branch</a:t>
            </a:r>
            <a:endParaRPr b="1"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2"/>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Purpose of the Site Visit</a:t>
            </a:r>
            <a:endParaRPr/>
          </a:p>
        </p:txBody>
      </p:sp>
      <p:sp>
        <p:nvSpPr>
          <p:cNvPr id="80" name="Google Shape;80;p2"/>
          <p:cNvSpPr txBox="1">
            <a:spLocks noGrp="1"/>
          </p:cNvSpPr>
          <p:nvPr>
            <p:ph type="body" idx="1"/>
          </p:nvPr>
        </p:nvSpPr>
        <p:spPr>
          <a:xfrm>
            <a:off x="304800" y="2470632"/>
            <a:ext cx="8534400" cy="1916737"/>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2400"/>
              <a:buFont typeface="Arial"/>
              <a:buNone/>
            </a:pPr>
            <a:r>
              <a:rPr lang="en-US" sz="2400" i="1"/>
              <a:t>Provide a forum for vendor(s) to view the installations, site conditions, and example locations, as well as develop questions to assist the AF in clarifying scope requirements.</a:t>
            </a:r>
            <a:endParaRPr/>
          </a:p>
          <a:p>
            <a:pPr marL="342900" lvl="0" indent="-165100" algn="ctr" rtl="0">
              <a:spcBef>
                <a:spcPts val="560"/>
              </a:spcBef>
              <a:spcAft>
                <a:spcPts val="0"/>
              </a:spcAft>
              <a:buClr>
                <a:schemeClr val="dk1"/>
              </a:buClr>
              <a:buSzPts val="2800"/>
              <a:buFont typeface="Arial"/>
              <a:buNone/>
            </a:pPr>
            <a:endParaRPr i="1"/>
          </a:p>
        </p:txBody>
      </p:sp>
      <p:sp>
        <p:nvSpPr>
          <p:cNvPr id="81" name="Google Shape;81;p2"/>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3"/>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 Overview of Schedule</a:t>
            </a:r>
            <a:endParaRPr/>
          </a:p>
        </p:txBody>
      </p:sp>
      <p:sp>
        <p:nvSpPr>
          <p:cNvPr id="88" name="Google Shape;88;p3"/>
          <p:cNvSpPr txBox="1">
            <a:spLocks noGrp="1"/>
          </p:cNvSpPr>
          <p:nvPr>
            <p:ph type="body" idx="1"/>
          </p:nvPr>
        </p:nvSpPr>
        <p:spPr>
          <a:xfrm>
            <a:off x="304800" y="1216025"/>
            <a:ext cx="8534400" cy="514458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Acquisition Overview</a:t>
            </a:r>
            <a:endParaRPr/>
          </a:p>
          <a:p>
            <a:pPr marL="742950" lvl="1" indent="-285750" algn="l" rtl="0">
              <a:spcBef>
                <a:spcPts val="480"/>
              </a:spcBef>
              <a:spcAft>
                <a:spcPts val="0"/>
              </a:spcAft>
              <a:buClr>
                <a:schemeClr val="dk1"/>
              </a:buClr>
              <a:buSzPts val="2400"/>
              <a:buFont typeface="Arial"/>
              <a:buChar char="•"/>
            </a:pPr>
            <a:r>
              <a:rPr lang="en-US"/>
              <a:t>Introductions</a:t>
            </a:r>
            <a:endParaRPr/>
          </a:p>
          <a:p>
            <a:pPr marL="742950" lvl="1" indent="-285750" algn="l" rtl="0">
              <a:spcBef>
                <a:spcPts val="480"/>
              </a:spcBef>
              <a:spcAft>
                <a:spcPts val="0"/>
              </a:spcAft>
              <a:buClr>
                <a:schemeClr val="dk1"/>
              </a:buClr>
              <a:buSzPts val="2400"/>
              <a:buFont typeface="Arial"/>
              <a:buChar char="•"/>
            </a:pPr>
            <a:r>
              <a:rPr lang="en-US"/>
              <a:t>Type of Acquisition</a:t>
            </a:r>
            <a:endParaRPr/>
          </a:p>
          <a:p>
            <a:pPr marL="742950" lvl="1" indent="-285750" algn="l" rtl="0">
              <a:spcBef>
                <a:spcPts val="480"/>
              </a:spcBef>
              <a:spcAft>
                <a:spcPts val="0"/>
              </a:spcAft>
              <a:buClr>
                <a:schemeClr val="dk1"/>
              </a:buClr>
              <a:buSzPts val="2400"/>
              <a:buFont typeface="Arial"/>
              <a:buChar char="•"/>
            </a:pPr>
            <a:r>
              <a:rPr lang="en-US"/>
              <a:t>Ground Rules</a:t>
            </a:r>
            <a:endParaRPr/>
          </a:p>
          <a:p>
            <a:pPr marL="742950" lvl="1" indent="-285750" algn="l" rtl="0">
              <a:spcBef>
                <a:spcPts val="480"/>
              </a:spcBef>
              <a:spcAft>
                <a:spcPts val="0"/>
              </a:spcAft>
              <a:buClr>
                <a:schemeClr val="dk1"/>
              </a:buClr>
              <a:buSzPts val="2400"/>
              <a:buFont typeface="Arial"/>
              <a:buChar char="•"/>
            </a:pPr>
            <a:r>
              <a:rPr lang="en-US"/>
              <a:t>Acquisition Timeline</a:t>
            </a:r>
            <a:endParaRPr/>
          </a:p>
          <a:p>
            <a:pPr marL="342900" lvl="0" indent="-342900" algn="l" rtl="0">
              <a:spcBef>
                <a:spcPts val="480"/>
              </a:spcBef>
              <a:spcAft>
                <a:spcPts val="0"/>
              </a:spcAft>
              <a:buClr>
                <a:schemeClr val="dk1"/>
              </a:buClr>
              <a:buSzPts val="2400"/>
              <a:buFont typeface="Arial"/>
              <a:buChar char="•"/>
            </a:pPr>
            <a:r>
              <a:rPr lang="en-US" sz="2400"/>
              <a:t>Installation Overview</a:t>
            </a:r>
            <a:endParaRPr sz="2400"/>
          </a:p>
          <a:p>
            <a:pPr marL="742950" lvl="1" indent="-285750" algn="l" rtl="0">
              <a:spcBef>
                <a:spcPts val="480"/>
              </a:spcBef>
              <a:spcAft>
                <a:spcPts val="0"/>
              </a:spcAft>
              <a:buClr>
                <a:schemeClr val="dk1"/>
              </a:buClr>
              <a:buSzPts val="2400"/>
              <a:buFont typeface="Arial"/>
              <a:buChar char="•"/>
            </a:pPr>
            <a:r>
              <a:rPr lang="en-US"/>
              <a:t>Introductions</a:t>
            </a:r>
            <a:endParaRPr/>
          </a:p>
          <a:p>
            <a:pPr marL="742950" lvl="1" indent="-285750" algn="l" rtl="0">
              <a:spcBef>
                <a:spcPts val="480"/>
              </a:spcBef>
              <a:spcAft>
                <a:spcPts val="0"/>
              </a:spcAft>
              <a:buClr>
                <a:schemeClr val="dk1"/>
              </a:buClr>
              <a:buSzPts val="2400"/>
              <a:buFont typeface="Arial"/>
              <a:buChar char="•"/>
            </a:pPr>
            <a:r>
              <a:rPr lang="en-US"/>
              <a:t>Installation Facts</a:t>
            </a:r>
            <a:endParaRPr/>
          </a:p>
          <a:p>
            <a:pPr marL="742950" lvl="1" indent="-285750" algn="l" rtl="0">
              <a:spcBef>
                <a:spcPts val="480"/>
              </a:spcBef>
              <a:spcAft>
                <a:spcPts val="0"/>
              </a:spcAft>
              <a:buClr>
                <a:schemeClr val="dk1"/>
              </a:buClr>
              <a:buSzPts val="2400"/>
              <a:buFont typeface="Arial"/>
              <a:buChar char="•"/>
            </a:pPr>
            <a:r>
              <a:rPr lang="en-US"/>
              <a:t>Environmental Program Areas</a:t>
            </a:r>
            <a:endParaRPr/>
          </a:p>
          <a:p>
            <a:pPr marL="742950" lvl="1" indent="-285750" algn="l" rtl="0">
              <a:spcBef>
                <a:spcPts val="480"/>
              </a:spcBef>
              <a:spcAft>
                <a:spcPts val="0"/>
              </a:spcAft>
              <a:buClr>
                <a:schemeClr val="dk1"/>
              </a:buClr>
              <a:buSzPts val="2400"/>
              <a:buFont typeface="Arial"/>
              <a:buChar char="•"/>
            </a:pPr>
            <a:r>
              <a:rPr lang="en-US"/>
              <a:t>Unique Considerations</a:t>
            </a:r>
            <a:endParaRPr/>
          </a:p>
          <a:p>
            <a:pPr marL="342900" lvl="0" indent="-342900" algn="l" rtl="0">
              <a:spcBef>
                <a:spcPts val="480"/>
              </a:spcBef>
              <a:spcAft>
                <a:spcPts val="0"/>
              </a:spcAft>
              <a:buClr>
                <a:schemeClr val="dk1"/>
              </a:buClr>
              <a:buSzPts val="2400"/>
              <a:buFont typeface="Arial"/>
              <a:buChar char="•"/>
            </a:pPr>
            <a:r>
              <a:rPr lang="en-US" sz="2400"/>
              <a:t>Site Tour</a:t>
            </a:r>
            <a:endParaRPr/>
          </a:p>
          <a:p>
            <a:pPr marL="342900" lvl="0" indent="-165100" algn="l" rtl="0">
              <a:spcBef>
                <a:spcPts val="560"/>
              </a:spcBef>
              <a:spcAft>
                <a:spcPts val="0"/>
              </a:spcAft>
              <a:buClr>
                <a:schemeClr val="dk1"/>
              </a:buClr>
              <a:buSzPts val="2800"/>
              <a:buFont typeface="Arial"/>
              <a:buNone/>
            </a:pPr>
            <a:endParaRPr/>
          </a:p>
        </p:txBody>
      </p:sp>
      <p:sp>
        <p:nvSpPr>
          <p:cNvPr id="89" name="Google Shape;89;p3"/>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4"/>
          <p:cNvSpPr txBox="1">
            <a:spLocks noGrp="1"/>
          </p:cNvSpPr>
          <p:nvPr>
            <p:ph type="body" idx="1"/>
          </p:nvPr>
        </p:nvSpPr>
        <p:spPr>
          <a:xfrm>
            <a:off x="631825" y="1921049"/>
            <a:ext cx="7880350" cy="45988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Font typeface="Arial"/>
              <a:buNone/>
            </a:pPr>
            <a:r>
              <a:rPr lang="en-US" sz="2400" dirty="0">
                <a:solidFill>
                  <a:schemeClr val="dk1"/>
                </a:solidFill>
              </a:rPr>
              <a:t>Any changes will be incorporated by formal amendment to the Request for Proposal (RFP)</a:t>
            </a:r>
            <a:endParaRPr dirty="0"/>
          </a:p>
          <a:p>
            <a:pPr marL="742950" lvl="1" indent="-285750" algn="l" rtl="0">
              <a:spcBef>
                <a:spcPts val="480"/>
              </a:spcBef>
              <a:spcAft>
                <a:spcPts val="0"/>
              </a:spcAft>
              <a:buClr>
                <a:schemeClr val="dk1"/>
              </a:buClr>
              <a:buSzPts val="2400"/>
              <a:buFont typeface="Arial"/>
              <a:buChar char="•"/>
            </a:pPr>
            <a:r>
              <a:rPr lang="en-US" sz="2400" dirty="0">
                <a:solidFill>
                  <a:schemeClr val="dk1"/>
                </a:solidFill>
              </a:rPr>
              <a:t>Amendments will be posted to </a:t>
            </a:r>
            <a:r>
              <a:rPr lang="en-US" sz="2400" dirty="0" err="1">
                <a:solidFill>
                  <a:schemeClr val="dk1"/>
                </a:solidFill>
              </a:rPr>
              <a:t>SAM.Gov</a:t>
            </a:r>
            <a:endParaRPr dirty="0"/>
          </a:p>
          <a:p>
            <a:pPr marL="742950" lvl="1" indent="-285750" algn="l" rtl="0">
              <a:spcBef>
                <a:spcPts val="480"/>
              </a:spcBef>
              <a:spcAft>
                <a:spcPts val="0"/>
              </a:spcAft>
              <a:buClr>
                <a:schemeClr val="dk1"/>
              </a:buClr>
              <a:buSzPts val="2400"/>
              <a:buFont typeface="Arial"/>
              <a:buChar char="•"/>
            </a:pPr>
            <a:r>
              <a:rPr lang="en-US" sz="2400" dirty="0">
                <a:solidFill>
                  <a:schemeClr val="dk1"/>
                </a:solidFill>
              </a:rPr>
              <a:t>Unless the formal solicitation is amended, it remains unchanged as a result of this conference</a:t>
            </a:r>
            <a:endParaRPr dirty="0"/>
          </a:p>
          <a:p>
            <a:pPr marL="0" lvl="0" indent="0" algn="l" rtl="0">
              <a:spcBef>
                <a:spcPts val="480"/>
              </a:spcBef>
              <a:spcAft>
                <a:spcPts val="0"/>
              </a:spcAft>
              <a:buClr>
                <a:schemeClr val="dk1"/>
              </a:buClr>
              <a:buSzPts val="2400"/>
              <a:buFont typeface="Arial"/>
              <a:buNone/>
            </a:pPr>
            <a:r>
              <a:rPr lang="en-US" sz="2400" dirty="0">
                <a:solidFill>
                  <a:schemeClr val="dk1"/>
                </a:solidFill>
              </a:rPr>
              <a:t>Pre-proposal conference minutes, presentation, attendees and questions/answers will be made available on </a:t>
            </a:r>
            <a:r>
              <a:rPr lang="en-US" sz="2400" dirty="0" err="1">
                <a:solidFill>
                  <a:schemeClr val="dk1"/>
                </a:solidFill>
              </a:rPr>
              <a:t>SAM.Gov</a:t>
            </a:r>
            <a:endParaRPr dirty="0"/>
          </a:p>
        </p:txBody>
      </p:sp>
      <p:sp>
        <p:nvSpPr>
          <p:cNvPr id="95" name="Google Shape;95;p4"/>
          <p:cNvSpPr txBox="1">
            <a:spLocks noGrp="1"/>
          </p:cNvSpPr>
          <p:nvPr>
            <p:ph type="title"/>
          </p:nvPr>
        </p:nvSpPr>
        <p:spPr>
          <a:xfrm>
            <a:off x="132588" y="564330"/>
            <a:ext cx="8878824" cy="1143000"/>
          </a:xfrm>
          <a:prstGeom prst="rect">
            <a:avLst/>
          </a:prstGeom>
          <a:solidFill>
            <a:schemeClr val="accent6"/>
          </a:solidFill>
          <a:ln>
            <a:noFill/>
          </a:ln>
        </p:spPr>
        <p:txBody>
          <a:bodyPr spcFirstLastPara="1" wrap="square" lIns="91425" tIns="45700" rIns="91425" bIns="45700" anchor="b" anchorCtr="0">
            <a:noAutofit/>
          </a:bodyPr>
          <a:lstStyle/>
          <a:p>
            <a:pPr marL="914400" lvl="0" indent="0" algn="l" rtl="0">
              <a:spcBef>
                <a:spcPts val="0"/>
              </a:spcBef>
              <a:spcAft>
                <a:spcPts val="0"/>
              </a:spcAft>
              <a:buNone/>
            </a:pPr>
            <a:r>
              <a:rPr lang="en-US"/>
              <a:t>Acquisition Overview</a:t>
            </a:r>
            <a:endParaRPr/>
          </a:p>
        </p:txBody>
      </p:sp>
      <p:sp>
        <p:nvSpPr>
          <p:cNvPr id="96" name="Google Shape;96;p4"/>
          <p:cNvSpPr txBox="1">
            <a:spLocks noGrp="1"/>
          </p:cNvSpPr>
          <p:nvPr>
            <p:ph type="sldNum" idx="4294967295"/>
          </p:nvPr>
        </p:nvSpPr>
        <p:spPr>
          <a:xfrm>
            <a:off x="8075613" y="6519863"/>
            <a:ext cx="1068387"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5"/>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Acquisition Team</a:t>
            </a:r>
            <a:br>
              <a:rPr lang="en-US"/>
            </a:br>
            <a:r>
              <a:rPr lang="en-US"/>
              <a:t>Introductions</a:t>
            </a:r>
            <a:endParaRPr/>
          </a:p>
        </p:txBody>
      </p:sp>
      <p:sp>
        <p:nvSpPr>
          <p:cNvPr id="102" name="Google Shape;102;p5"/>
          <p:cNvSpPr txBox="1">
            <a:spLocks noGrp="1"/>
          </p:cNvSpPr>
          <p:nvPr>
            <p:ph type="body" idx="1"/>
          </p:nvPr>
        </p:nvSpPr>
        <p:spPr>
          <a:xfrm>
            <a:off x="304800" y="1216025"/>
            <a:ext cx="8534400" cy="453163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DAF</a:t>
            </a:r>
            <a:endParaRPr/>
          </a:p>
          <a:p>
            <a:pPr marL="742950" lvl="1" indent="-285750" algn="l" rtl="0">
              <a:spcBef>
                <a:spcPts val="480"/>
              </a:spcBef>
              <a:spcAft>
                <a:spcPts val="0"/>
              </a:spcAft>
              <a:buClr>
                <a:schemeClr val="dk1"/>
              </a:buClr>
              <a:buSzPts val="2400"/>
              <a:buFont typeface="Arial"/>
              <a:buChar char="•"/>
            </a:pPr>
            <a:r>
              <a:rPr lang="en-US"/>
              <a:t>Contracting Officer’s Representative (COR): </a:t>
            </a:r>
            <a:endParaRPr/>
          </a:p>
          <a:p>
            <a:pPr marL="457200" lvl="1" indent="0" algn="l" rtl="0">
              <a:spcBef>
                <a:spcPts val="480"/>
              </a:spcBef>
              <a:spcAft>
                <a:spcPts val="0"/>
              </a:spcAft>
              <a:buClr>
                <a:schemeClr val="dk1"/>
              </a:buClr>
              <a:buSzPts val="2400"/>
              <a:buFont typeface="Arial"/>
              <a:buNone/>
            </a:pPr>
            <a:r>
              <a:rPr lang="en-US"/>
              <a:t>	Scott Flash, </a:t>
            </a:r>
            <a:r>
              <a:rPr lang="en-US" u="sng">
                <a:solidFill>
                  <a:schemeClr val="hlink"/>
                </a:solidFill>
                <a:hlinkClick r:id="rId3"/>
              </a:rPr>
              <a:t>scott.flash@us.af.mil</a:t>
            </a:r>
            <a:endParaRPr/>
          </a:p>
          <a:p>
            <a:pPr marL="742950" lvl="1" indent="-285750" algn="l" rtl="0">
              <a:spcBef>
                <a:spcPts val="480"/>
              </a:spcBef>
              <a:spcAft>
                <a:spcPts val="0"/>
              </a:spcAft>
              <a:buClr>
                <a:schemeClr val="dk1"/>
              </a:buClr>
              <a:buSzPts val="2400"/>
              <a:buFont typeface="Arial"/>
              <a:buChar char="•"/>
            </a:pPr>
            <a:r>
              <a:rPr lang="en-US"/>
              <a:t>Technical Program Manager (TPM):</a:t>
            </a:r>
            <a:endParaRPr/>
          </a:p>
          <a:p>
            <a:pPr marL="457200" lvl="1" indent="0" algn="l" rtl="0">
              <a:spcBef>
                <a:spcPts val="480"/>
              </a:spcBef>
              <a:spcAft>
                <a:spcPts val="0"/>
              </a:spcAft>
              <a:buClr>
                <a:schemeClr val="dk1"/>
              </a:buClr>
              <a:buSzPts val="2400"/>
              <a:buFont typeface="Arial"/>
              <a:buNone/>
            </a:pPr>
            <a:r>
              <a:rPr lang="en-US"/>
              <a:t>	Mark Dixon, </a:t>
            </a:r>
            <a:r>
              <a:rPr lang="en-US" u="sng">
                <a:solidFill>
                  <a:schemeClr val="hlink"/>
                </a:solidFill>
                <a:hlinkClick r:id="rId4"/>
              </a:rPr>
              <a:t>mark.dixon.5@us.af.mil</a:t>
            </a:r>
            <a:endParaRPr/>
          </a:p>
          <a:p>
            <a:pPr marL="342900" lvl="0" indent="-342900" algn="l" rtl="0">
              <a:spcBef>
                <a:spcPts val="480"/>
              </a:spcBef>
              <a:spcAft>
                <a:spcPts val="0"/>
              </a:spcAft>
              <a:buClr>
                <a:schemeClr val="dk1"/>
              </a:buClr>
              <a:buSzPts val="2400"/>
              <a:buFont typeface="Arial"/>
              <a:buChar char="•"/>
            </a:pPr>
            <a:r>
              <a:rPr lang="en-US" sz="2400"/>
              <a:t>GSA</a:t>
            </a:r>
            <a:endParaRPr/>
          </a:p>
          <a:p>
            <a:pPr marL="742950" lvl="1" indent="-285750" algn="l" rtl="0">
              <a:spcBef>
                <a:spcPts val="480"/>
              </a:spcBef>
              <a:spcAft>
                <a:spcPts val="0"/>
              </a:spcAft>
              <a:buClr>
                <a:schemeClr val="dk1"/>
              </a:buClr>
              <a:buSzPts val="2400"/>
              <a:buFont typeface="Arial"/>
              <a:buChar char="•"/>
            </a:pPr>
            <a:r>
              <a:rPr lang="en-US"/>
              <a:t>Contracting Officer (KO): Clyde Gardner</a:t>
            </a:r>
            <a:endParaRPr/>
          </a:p>
          <a:p>
            <a:pPr marL="742950" lvl="1" indent="-285750" algn="l" rtl="0">
              <a:spcBef>
                <a:spcPts val="480"/>
              </a:spcBef>
              <a:spcAft>
                <a:spcPts val="0"/>
              </a:spcAft>
              <a:buClr>
                <a:schemeClr val="dk1"/>
              </a:buClr>
              <a:buSzPts val="2400"/>
              <a:buFont typeface="Arial"/>
              <a:buChar char="•"/>
            </a:pPr>
            <a:r>
              <a:rPr lang="en-US"/>
              <a:t>Project Manager: Patricia (Pat) Hammons</a:t>
            </a:r>
            <a:endParaRPr/>
          </a:p>
          <a:p>
            <a:pPr marL="742950" lvl="1" indent="-285750" algn="l" rtl="0">
              <a:spcBef>
                <a:spcPts val="480"/>
              </a:spcBef>
              <a:spcAft>
                <a:spcPts val="0"/>
              </a:spcAft>
              <a:buClr>
                <a:schemeClr val="dk1"/>
              </a:buClr>
              <a:buSzPts val="2400"/>
              <a:buFont typeface="Arial"/>
              <a:buChar char="•"/>
            </a:pPr>
            <a:r>
              <a:rPr lang="en-US"/>
              <a:t>Contract Specialist:  Jada Morrow</a:t>
            </a:r>
            <a:endParaRPr/>
          </a:p>
        </p:txBody>
      </p:sp>
      <p:sp>
        <p:nvSpPr>
          <p:cNvPr id="103" name="Google Shape;103;p5"/>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5</a:t>
            </a:fld>
            <a:endParaRPr/>
          </a:p>
        </p:txBody>
      </p:sp>
      <p:sp>
        <p:nvSpPr>
          <p:cNvPr id="104" name="Google Shape;104;p5"/>
          <p:cNvSpPr txBox="1"/>
          <p:nvPr/>
        </p:nvSpPr>
        <p:spPr>
          <a:xfrm>
            <a:off x="0" y="5969285"/>
            <a:ext cx="9143999" cy="461665"/>
          </a:xfrm>
          <a:prstGeom prst="rect">
            <a:avLst/>
          </a:prstGeom>
          <a:solidFill>
            <a:schemeClr val="accent2"/>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Arial"/>
              <a:buNone/>
            </a:pPr>
            <a:r>
              <a:rPr lang="en-US" sz="2400" b="1" i="0" u="none" strike="noStrike" cap="none" dirty="0">
                <a:solidFill>
                  <a:schemeClr val="lt1"/>
                </a:solidFill>
                <a:latin typeface="Arial"/>
                <a:ea typeface="Arial"/>
                <a:cs typeface="Arial"/>
                <a:sym typeface="Arial"/>
              </a:rPr>
              <a:t>Only the KO has authority to bind government contractually</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6"/>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Acquisition Overview</a:t>
            </a:r>
            <a:endParaRPr/>
          </a:p>
        </p:txBody>
      </p:sp>
      <p:sp>
        <p:nvSpPr>
          <p:cNvPr id="110" name="Google Shape;110;p6"/>
          <p:cNvSpPr txBox="1">
            <a:spLocks noGrp="1"/>
          </p:cNvSpPr>
          <p:nvPr>
            <p:ph type="body" idx="1"/>
          </p:nvPr>
        </p:nvSpPr>
        <p:spPr>
          <a:xfrm>
            <a:off x="304800" y="1216024"/>
            <a:ext cx="8534400" cy="4380907"/>
          </a:xfrm>
          <a:prstGeom prst="rect">
            <a:avLst/>
          </a:prstGeom>
          <a:noFill/>
          <a:ln>
            <a:noFill/>
          </a:ln>
        </p:spPr>
        <p:txBody>
          <a:bodyPr spcFirstLastPara="1" wrap="square" lIns="91425" tIns="45700" rIns="91425" bIns="45700" anchor="t" anchorCtr="0">
            <a:noAutofit/>
          </a:bodyPr>
          <a:lstStyle/>
          <a:p>
            <a:pPr marL="342900" lvl="0" indent="-190500" algn="l" rtl="0">
              <a:spcBef>
                <a:spcPts val="0"/>
              </a:spcBef>
              <a:spcAft>
                <a:spcPts val="0"/>
              </a:spcAft>
              <a:buClr>
                <a:schemeClr val="dk1"/>
              </a:buClr>
              <a:buSzPts val="2400"/>
              <a:buFont typeface="Arial"/>
              <a:buNone/>
            </a:pPr>
            <a:endParaRPr sz="2400" dirty="0"/>
          </a:p>
          <a:p>
            <a:pPr marL="342900" lvl="0" indent="-342900" algn="l" rtl="0">
              <a:spcBef>
                <a:spcPts val="480"/>
              </a:spcBef>
              <a:spcAft>
                <a:spcPts val="0"/>
              </a:spcAft>
              <a:buClr>
                <a:schemeClr val="dk1"/>
              </a:buClr>
              <a:buSzPts val="2400"/>
              <a:buFont typeface="Arial"/>
              <a:buChar char="•"/>
            </a:pPr>
            <a:r>
              <a:rPr lang="en-US" sz="2400" dirty="0"/>
              <a:t>Contract Title: F2F Environmental Services for SLD45 &amp; APAFR</a:t>
            </a:r>
            <a:endParaRPr dirty="0"/>
          </a:p>
          <a:p>
            <a:pPr marL="342900" lvl="0" indent="-342900" algn="l" rtl="0">
              <a:spcBef>
                <a:spcPts val="480"/>
              </a:spcBef>
              <a:spcAft>
                <a:spcPts val="0"/>
              </a:spcAft>
              <a:buClr>
                <a:schemeClr val="dk1"/>
              </a:buClr>
              <a:buSzPts val="2400"/>
              <a:buFont typeface="Arial"/>
              <a:buChar char="•"/>
            </a:pPr>
            <a:r>
              <a:rPr lang="en-US" sz="2400" dirty="0"/>
              <a:t>Contract Vehicle: MAS 8a Competitive, SIN 541620 </a:t>
            </a:r>
            <a:endParaRPr dirty="0"/>
          </a:p>
          <a:p>
            <a:pPr marL="742950" lvl="1" indent="-285750" algn="l" rtl="0">
              <a:spcBef>
                <a:spcPts val="480"/>
              </a:spcBef>
              <a:spcAft>
                <a:spcPts val="0"/>
              </a:spcAft>
              <a:buClr>
                <a:schemeClr val="dk1"/>
              </a:buClr>
              <a:buSzPts val="2400"/>
              <a:buFont typeface="Arial"/>
              <a:buChar char="–"/>
            </a:pPr>
            <a:r>
              <a:rPr lang="en-US" dirty="0"/>
              <a:t>7600A-GT&amp;C-A2511-057-047-086084</a:t>
            </a:r>
            <a:endParaRPr dirty="0"/>
          </a:p>
          <a:p>
            <a:pPr marL="742950" lvl="1" indent="-285750" algn="l" rtl="0">
              <a:spcBef>
                <a:spcPts val="480"/>
              </a:spcBef>
              <a:spcAft>
                <a:spcPts val="0"/>
              </a:spcAft>
              <a:buClr>
                <a:schemeClr val="dk1"/>
              </a:buClr>
              <a:buSzPts val="2400"/>
              <a:buFont typeface="Arial"/>
              <a:buChar char="–"/>
            </a:pPr>
            <a:r>
              <a:rPr lang="en-US" dirty="0"/>
              <a:t>Acquisition ID#: 47QFWA26K0005</a:t>
            </a:r>
            <a:endParaRPr dirty="0"/>
          </a:p>
          <a:p>
            <a:pPr marL="742950" lvl="1" indent="-285750" algn="l" rtl="0">
              <a:spcBef>
                <a:spcPts val="480"/>
              </a:spcBef>
              <a:spcAft>
                <a:spcPts val="0"/>
              </a:spcAft>
              <a:buClr>
                <a:schemeClr val="dk1"/>
              </a:buClr>
              <a:buSzPts val="2400"/>
              <a:buFont typeface="Arial"/>
              <a:buChar char="–"/>
            </a:pPr>
            <a:r>
              <a:rPr lang="en-US" dirty="0"/>
              <a:t>Solicitation#: 47QFWA26Q0005</a:t>
            </a:r>
            <a:endParaRPr dirty="0"/>
          </a:p>
          <a:p>
            <a:pPr marL="342900" lvl="0" indent="-342900" algn="l" rtl="0">
              <a:spcBef>
                <a:spcPts val="480"/>
              </a:spcBef>
              <a:spcAft>
                <a:spcPts val="0"/>
              </a:spcAft>
              <a:buClr>
                <a:schemeClr val="dk1"/>
              </a:buClr>
              <a:buSzPts val="2400"/>
              <a:buFont typeface="Arial"/>
              <a:buChar char="•"/>
            </a:pPr>
            <a:r>
              <a:rPr lang="en-US" sz="2400" dirty="0"/>
              <a:t>Contract Type: Tasks-FFP; Travel &amp; MES-T&amp;M</a:t>
            </a:r>
            <a:endParaRPr dirty="0"/>
          </a:p>
          <a:p>
            <a:pPr marL="342900" lvl="0" indent="-342900" algn="l" rtl="0">
              <a:spcBef>
                <a:spcPts val="480"/>
              </a:spcBef>
              <a:spcAft>
                <a:spcPts val="0"/>
              </a:spcAft>
              <a:buClr>
                <a:schemeClr val="dk1"/>
              </a:buClr>
              <a:buSzPts val="2400"/>
              <a:buFont typeface="Arial"/>
              <a:buChar char="•"/>
            </a:pPr>
            <a:r>
              <a:rPr lang="en-US" sz="2400" dirty="0"/>
              <a:t>Period of Performance: 8-month Base Year (BY) + </a:t>
            </a:r>
          </a:p>
          <a:p>
            <a:pPr marL="0" lvl="0" indent="0" algn="l" rtl="0">
              <a:spcBef>
                <a:spcPts val="480"/>
              </a:spcBef>
              <a:spcAft>
                <a:spcPts val="0"/>
              </a:spcAft>
              <a:buClr>
                <a:schemeClr val="dk1"/>
              </a:buClr>
              <a:buSzPts val="2400"/>
              <a:buNone/>
            </a:pPr>
            <a:r>
              <a:rPr lang="en-US" sz="2400" dirty="0"/>
              <a:t>    Four 12-month Option Years (OY)</a:t>
            </a:r>
            <a:endParaRPr dirty="0"/>
          </a:p>
        </p:txBody>
      </p:sp>
      <p:sp>
        <p:nvSpPr>
          <p:cNvPr id="111" name="Google Shape;111;p6"/>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7"/>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Ground Rules for Site Visit</a:t>
            </a:r>
            <a:endParaRPr/>
          </a:p>
        </p:txBody>
      </p:sp>
      <p:sp>
        <p:nvSpPr>
          <p:cNvPr id="117" name="Google Shape;117;p7"/>
          <p:cNvSpPr txBox="1">
            <a:spLocks noGrp="1"/>
          </p:cNvSpPr>
          <p:nvPr>
            <p:ph type="body" idx="1"/>
          </p:nvPr>
        </p:nvSpPr>
        <p:spPr>
          <a:xfrm>
            <a:off x="304800" y="1216024"/>
            <a:ext cx="8534400" cy="420003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Attendance at site visit is based on company’s decision to participate </a:t>
            </a:r>
            <a:endParaRPr/>
          </a:p>
          <a:p>
            <a:pPr marL="342900" lvl="0" indent="-342900" algn="l" rtl="0">
              <a:spcBef>
                <a:spcPts val="480"/>
              </a:spcBef>
              <a:spcAft>
                <a:spcPts val="0"/>
              </a:spcAft>
              <a:buClr>
                <a:schemeClr val="dk1"/>
              </a:buClr>
              <a:buSzPts val="2400"/>
              <a:buFont typeface="Arial"/>
              <a:buChar char="•"/>
            </a:pPr>
            <a:r>
              <a:rPr lang="en-US" sz="2400"/>
              <a:t>Government will not provide reimbursement for site visit</a:t>
            </a:r>
            <a:endParaRPr/>
          </a:p>
          <a:p>
            <a:pPr marL="342900" lvl="0" indent="-342900" algn="l" rtl="0">
              <a:spcBef>
                <a:spcPts val="480"/>
              </a:spcBef>
              <a:spcAft>
                <a:spcPts val="0"/>
              </a:spcAft>
              <a:buClr>
                <a:schemeClr val="dk1"/>
              </a:buClr>
              <a:buSzPts val="2400"/>
              <a:buFont typeface="Arial"/>
              <a:buChar char="•"/>
            </a:pPr>
            <a:r>
              <a:rPr lang="en-US" sz="2400"/>
              <a:t>Offeror shall not contact any AFCEC or Base personnel</a:t>
            </a:r>
            <a:endParaRPr/>
          </a:p>
          <a:p>
            <a:pPr marL="342900" lvl="0" indent="-342900" algn="l" rtl="0">
              <a:spcBef>
                <a:spcPts val="480"/>
              </a:spcBef>
              <a:spcAft>
                <a:spcPts val="0"/>
              </a:spcAft>
              <a:buClr>
                <a:schemeClr val="dk1"/>
              </a:buClr>
              <a:buSzPts val="2400"/>
              <a:buFont typeface="Arial"/>
              <a:buChar char="•"/>
            </a:pPr>
            <a:r>
              <a:rPr lang="en-US" sz="2400"/>
              <a:t>Offeror shall not contact regulatory agencies </a:t>
            </a:r>
            <a:endParaRPr/>
          </a:p>
          <a:p>
            <a:pPr marL="342900" lvl="0" indent="-190500" algn="l" rtl="0">
              <a:spcBef>
                <a:spcPts val="480"/>
              </a:spcBef>
              <a:spcAft>
                <a:spcPts val="0"/>
              </a:spcAft>
              <a:buClr>
                <a:schemeClr val="dk1"/>
              </a:buClr>
              <a:buSzPts val="2400"/>
              <a:buFont typeface="Arial"/>
              <a:buNone/>
            </a:pPr>
            <a:endParaRPr sz="2400"/>
          </a:p>
          <a:p>
            <a:pPr marL="342900" lvl="0" indent="-165100" algn="l" rtl="0">
              <a:spcBef>
                <a:spcPts val="560"/>
              </a:spcBef>
              <a:spcAft>
                <a:spcPts val="0"/>
              </a:spcAft>
              <a:buClr>
                <a:schemeClr val="dk1"/>
              </a:buClr>
              <a:buSzPts val="2800"/>
              <a:buFont typeface="Arial"/>
              <a:buNone/>
            </a:pPr>
            <a:endParaRPr/>
          </a:p>
        </p:txBody>
      </p:sp>
      <p:sp>
        <p:nvSpPr>
          <p:cNvPr id="118" name="Google Shape;118;p7"/>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7</a:t>
            </a:fld>
            <a:endParaRPr/>
          </a:p>
        </p:txBody>
      </p:sp>
      <p:sp>
        <p:nvSpPr>
          <p:cNvPr id="119" name="Google Shape;119;p7"/>
          <p:cNvSpPr txBox="1"/>
          <p:nvPr/>
        </p:nvSpPr>
        <p:spPr>
          <a:xfrm>
            <a:off x="0" y="5969285"/>
            <a:ext cx="9143999" cy="461665"/>
          </a:xfrm>
          <a:prstGeom prst="rect">
            <a:avLst/>
          </a:prstGeom>
          <a:solidFill>
            <a:schemeClr val="accent2"/>
          </a:solid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400"/>
              <a:buFont typeface="Arial"/>
              <a:buNone/>
            </a:pPr>
            <a:r>
              <a:rPr lang="en-US" sz="2400" b="1" i="0" u="none" strike="noStrike" cap="none" dirty="0">
                <a:solidFill>
                  <a:schemeClr val="lt1"/>
                </a:solidFill>
                <a:latin typeface="Arial"/>
                <a:ea typeface="Arial"/>
                <a:cs typeface="Arial"/>
                <a:sym typeface="Arial"/>
              </a:rPr>
              <a:t>All communication MUST be through the GSA KO/PM</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8"/>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Ground Rules for Site Visit</a:t>
            </a:r>
            <a:endParaRPr/>
          </a:p>
        </p:txBody>
      </p:sp>
      <p:sp>
        <p:nvSpPr>
          <p:cNvPr id="125" name="Google Shape;125;p8"/>
          <p:cNvSpPr txBox="1">
            <a:spLocks noGrp="1"/>
          </p:cNvSpPr>
          <p:nvPr>
            <p:ph type="body" idx="1"/>
          </p:nvPr>
        </p:nvSpPr>
        <p:spPr>
          <a:xfrm>
            <a:off x="304800" y="1216025"/>
            <a:ext cx="8534400" cy="530383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dirty="0"/>
              <a:t>All Technical or Contractual questions resulting from this site visit must be submitted per the Contracting Officer’s instructions in the solicitation.</a:t>
            </a:r>
            <a:endParaRPr dirty="0"/>
          </a:p>
          <a:p>
            <a:pPr marL="342900" lvl="0" indent="-342900" algn="l" rtl="0">
              <a:spcBef>
                <a:spcPts val="480"/>
              </a:spcBef>
              <a:spcAft>
                <a:spcPts val="0"/>
              </a:spcAft>
              <a:buClr>
                <a:schemeClr val="dk1"/>
              </a:buClr>
              <a:buSzPts val="2400"/>
              <a:buFont typeface="Arial"/>
              <a:buChar char="•"/>
            </a:pPr>
            <a:r>
              <a:rPr lang="en-US" sz="2400" dirty="0"/>
              <a:t>No questions will be asked or answered during the site visit.</a:t>
            </a:r>
            <a:endParaRPr dirty="0"/>
          </a:p>
          <a:p>
            <a:pPr marL="342900" lvl="0" indent="-342900" algn="l" rtl="0">
              <a:spcBef>
                <a:spcPts val="480"/>
              </a:spcBef>
              <a:spcAft>
                <a:spcPts val="0"/>
              </a:spcAft>
              <a:buClr>
                <a:schemeClr val="dk1"/>
              </a:buClr>
              <a:buSzPts val="2400"/>
              <a:buFont typeface="Arial"/>
              <a:buChar char="•"/>
            </a:pPr>
            <a:r>
              <a:rPr lang="en-US" sz="2400" dirty="0"/>
              <a:t>If questions are asked/answered orally, the vendor takes a risk in relying on that response rather than receiving the response in writing.</a:t>
            </a:r>
            <a:endParaRPr dirty="0"/>
          </a:p>
          <a:p>
            <a:pPr marL="342900" lvl="0" indent="-342900" algn="l" rtl="0">
              <a:spcBef>
                <a:spcPts val="480"/>
              </a:spcBef>
              <a:spcAft>
                <a:spcPts val="0"/>
              </a:spcAft>
              <a:buClr>
                <a:schemeClr val="dk1"/>
              </a:buClr>
              <a:buSzPts val="2400"/>
              <a:buFont typeface="Arial"/>
              <a:buChar char="•"/>
            </a:pPr>
            <a:r>
              <a:rPr lang="en-US" sz="2400" dirty="0"/>
              <a:t>Written responses to questions shall take precedence over information given verbally during the site visit.</a:t>
            </a:r>
          </a:p>
          <a:p>
            <a:pPr marL="342900" lvl="0" indent="-342900" algn="l" rtl="0">
              <a:spcBef>
                <a:spcPts val="480"/>
              </a:spcBef>
              <a:spcAft>
                <a:spcPts val="0"/>
              </a:spcAft>
              <a:buClr>
                <a:schemeClr val="dk1"/>
              </a:buClr>
              <a:buSzPts val="2400"/>
              <a:buFont typeface="Arial"/>
              <a:buChar char="•"/>
            </a:pPr>
            <a:r>
              <a:rPr lang="en-US" sz="2400" dirty="0"/>
              <a:t>No photos are allowed during the site visit.</a:t>
            </a:r>
            <a:endParaRPr dirty="0"/>
          </a:p>
        </p:txBody>
      </p:sp>
      <p:sp>
        <p:nvSpPr>
          <p:cNvPr id="126" name="Google Shape;126;p8"/>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9"/>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Overview of PWS</a:t>
            </a:r>
            <a:br>
              <a:rPr lang="en-US"/>
            </a:br>
            <a:r>
              <a:rPr lang="en-US" sz="2400"/>
              <a:t>General</a:t>
            </a:r>
            <a:endParaRPr/>
          </a:p>
        </p:txBody>
      </p:sp>
      <p:sp>
        <p:nvSpPr>
          <p:cNvPr id="132" name="Google Shape;132;p9"/>
          <p:cNvSpPr txBox="1">
            <a:spLocks noGrp="1"/>
          </p:cNvSpPr>
          <p:nvPr>
            <p:ph type="body" idx="1"/>
          </p:nvPr>
        </p:nvSpPr>
        <p:spPr>
          <a:xfrm>
            <a:off x="304800" y="1216025"/>
            <a:ext cx="8534400" cy="530383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Arial"/>
              <a:buChar char="•"/>
            </a:pPr>
            <a:r>
              <a:rPr lang="en-US" sz="2400" dirty="0"/>
              <a:t>Includes support for five (05) geographically separate installations with four (4) satellite radar locations in Florida (one state)</a:t>
            </a:r>
            <a:endParaRPr dirty="0"/>
          </a:p>
          <a:p>
            <a:pPr marL="342900" lvl="0" indent="-342900" algn="l" rtl="0">
              <a:spcBef>
                <a:spcPts val="480"/>
              </a:spcBef>
              <a:spcAft>
                <a:spcPts val="0"/>
              </a:spcAft>
              <a:buClr>
                <a:schemeClr val="dk1"/>
              </a:buClr>
              <a:buSzPts val="2400"/>
              <a:buFont typeface="Arial"/>
              <a:buChar char="•"/>
            </a:pPr>
            <a:r>
              <a:rPr lang="en-US" sz="2400" dirty="0"/>
              <a:t>Scope encompasses the full range of methods, technologies, and supporting activities necessary to conduct environmental operations and services</a:t>
            </a:r>
            <a:endParaRPr dirty="0"/>
          </a:p>
          <a:p>
            <a:pPr marL="342900" lvl="0" indent="-342900" algn="l" rtl="0">
              <a:spcBef>
                <a:spcPts val="480"/>
              </a:spcBef>
              <a:spcAft>
                <a:spcPts val="0"/>
              </a:spcAft>
              <a:buClr>
                <a:schemeClr val="dk1"/>
              </a:buClr>
              <a:buSzPts val="2400"/>
              <a:buFont typeface="Arial"/>
              <a:buChar char="•"/>
            </a:pPr>
            <a:r>
              <a:rPr lang="en-US" sz="2400" dirty="0"/>
              <a:t>Contractor shall furnish the personnel, services, equipment, tools, materials, vehicles, supervision, and other requirements necessary to perform work unless otherwise noted</a:t>
            </a:r>
            <a:endParaRPr dirty="0"/>
          </a:p>
          <a:p>
            <a:pPr marL="742950" lvl="1" indent="-285750" algn="l" rtl="0">
              <a:spcBef>
                <a:spcPts val="480"/>
              </a:spcBef>
              <a:spcAft>
                <a:spcPts val="0"/>
              </a:spcAft>
              <a:buClr>
                <a:schemeClr val="dk1"/>
              </a:buClr>
              <a:buSzPts val="2400"/>
              <a:buFont typeface="Arial"/>
              <a:buChar char="–"/>
            </a:pPr>
            <a:r>
              <a:rPr lang="en-US" dirty="0"/>
              <a:t>i.e., government furnished supplies, forklift, etc.</a:t>
            </a:r>
            <a:endParaRPr dirty="0"/>
          </a:p>
          <a:p>
            <a:pPr marL="342900" lvl="0" indent="-342900" algn="l" rtl="0">
              <a:spcBef>
                <a:spcPts val="480"/>
              </a:spcBef>
              <a:spcAft>
                <a:spcPts val="0"/>
              </a:spcAft>
              <a:buClr>
                <a:schemeClr val="dk1"/>
              </a:buClr>
              <a:buSzPts val="2400"/>
              <a:buFont typeface="Arial"/>
              <a:buChar char="•"/>
            </a:pPr>
            <a:r>
              <a:rPr lang="en-US" sz="2400" dirty="0"/>
              <a:t>PWS requirements apply to each applicable installations, unless otherwise identified</a:t>
            </a:r>
            <a:endParaRPr dirty="0"/>
          </a:p>
          <a:p>
            <a:pPr marL="342900" lvl="0" indent="-165100" algn="l" rtl="0">
              <a:spcBef>
                <a:spcPts val="560"/>
              </a:spcBef>
              <a:spcAft>
                <a:spcPts val="0"/>
              </a:spcAft>
              <a:buClr>
                <a:schemeClr val="dk1"/>
              </a:buClr>
              <a:buSzPts val="2800"/>
              <a:buFont typeface="Arial"/>
              <a:buNone/>
            </a:pPr>
            <a:endParaRPr dirty="0"/>
          </a:p>
        </p:txBody>
      </p:sp>
      <p:sp>
        <p:nvSpPr>
          <p:cNvPr id="133" name="Google Shape;133;p9"/>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0"/>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Overview of PWS</a:t>
            </a:r>
            <a:br>
              <a:rPr lang="en-US"/>
            </a:br>
            <a:r>
              <a:rPr lang="en-US" sz="2400"/>
              <a:t>Table 1 Requirements</a:t>
            </a:r>
            <a:endParaRPr/>
          </a:p>
        </p:txBody>
      </p:sp>
      <p:sp>
        <p:nvSpPr>
          <p:cNvPr id="139" name="Google Shape;139;p10"/>
          <p:cNvSpPr txBox="1">
            <a:spLocks noGrp="1"/>
          </p:cNvSpPr>
          <p:nvPr>
            <p:ph type="body" idx="1"/>
          </p:nvPr>
        </p:nvSpPr>
        <p:spPr>
          <a:xfrm>
            <a:off x="304800" y="1216025"/>
            <a:ext cx="8534400" cy="3587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dirty="0"/>
              <a:t>Table 1 summarizes requirements by Basic and Optional requirements</a:t>
            </a:r>
            <a:endParaRPr dirty="0"/>
          </a:p>
          <a:p>
            <a:pPr marL="742950" lvl="1" indent="-285750" algn="l" rtl="0">
              <a:spcBef>
                <a:spcPts val="400"/>
              </a:spcBef>
              <a:spcAft>
                <a:spcPts val="0"/>
              </a:spcAft>
              <a:buClr>
                <a:schemeClr val="dk1"/>
              </a:buClr>
              <a:buSzPts val="2000"/>
              <a:buFont typeface="Arial"/>
              <a:buChar char="•"/>
            </a:pPr>
            <a:r>
              <a:rPr lang="en-US" sz="2000" dirty="0"/>
              <a:t>Basic requirements are included in each year for the installation identified </a:t>
            </a:r>
            <a:endParaRPr dirty="0"/>
          </a:p>
          <a:p>
            <a:pPr marL="742950" lvl="1" indent="-285750" algn="l" rtl="0">
              <a:spcBef>
                <a:spcPts val="400"/>
              </a:spcBef>
              <a:spcAft>
                <a:spcPts val="0"/>
              </a:spcAft>
              <a:buClr>
                <a:schemeClr val="dk1"/>
              </a:buClr>
              <a:buSzPts val="2000"/>
              <a:buFont typeface="Arial"/>
              <a:buChar char="•"/>
            </a:pPr>
            <a:r>
              <a:rPr lang="en-US" sz="2000" dirty="0"/>
              <a:t>Optional requirements may be exercised in the year identified for the installation, as determined by bona fide need / funding and as executed via modification </a:t>
            </a:r>
            <a:endParaRPr dirty="0"/>
          </a:p>
          <a:p>
            <a:pPr marL="742950" lvl="1" indent="-285750" algn="l" rtl="0">
              <a:spcBef>
                <a:spcPts val="400"/>
              </a:spcBef>
              <a:spcAft>
                <a:spcPts val="0"/>
              </a:spcAft>
              <a:buClr>
                <a:srgbClr val="FF0000"/>
              </a:buClr>
              <a:buSzPts val="2000"/>
              <a:buFont typeface="Arial"/>
              <a:buChar char="•"/>
            </a:pPr>
            <a:r>
              <a:rPr lang="en-US" sz="2000" dirty="0">
                <a:solidFill>
                  <a:srgbClr val="FF0000"/>
                </a:solidFill>
              </a:rPr>
              <a:t>Table 1 is also presented in Attachment 4 of the PWS organized by installation indicating basic or option for each year</a:t>
            </a:r>
            <a:endParaRPr dirty="0"/>
          </a:p>
          <a:p>
            <a:pPr marL="342900" lvl="0" indent="-165100" algn="l" rtl="0">
              <a:spcBef>
                <a:spcPts val="560"/>
              </a:spcBef>
              <a:spcAft>
                <a:spcPts val="0"/>
              </a:spcAft>
              <a:buClr>
                <a:schemeClr val="dk1"/>
              </a:buClr>
              <a:buSzPts val="2800"/>
              <a:buFont typeface="Arial"/>
              <a:buNone/>
            </a:pPr>
            <a:endParaRPr dirty="0"/>
          </a:p>
        </p:txBody>
      </p:sp>
      <p:sp>
        <p:nvSpPr>
          <p:cNvPr id="140" name="Google Shape;140;p10"/>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1"/>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PWS References</a:t>
            </a:r>
            <a:endParaRPr/>
          </a:p>
        </p:txBody>
      </p:sp>
      <p:sp>
        <p:nvSpPr>
          <p:cNvPr id="146" name="Google Shape;146;p11"/>
          <p:cNvSpPr txBox="1">
            <a:spLocks noGrp="1"/>
          </p:cNvSpPr>
          <p:nvPr>
            <p:ph type="body" idx="1"/>
          </p:nvPr>
        </p:nvSpPr>
        <p:spPr>
          <a:xfrm>
            <a:off x="304800" y="1216025"/>
            <a:ext cx="8534400" cy="5303838"/>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Font typeface="Arial"/>
              <a:buChar char="•"/>
            </a:pPr>
            <a:r>
              <a:rPr lang="en-US" dirty="0"/>
              <a:t>Task Requirements (Section 1.8-1.18.3 of the PWS)</a:t>
            </a:r>
            <a:endParaRPr dirty="0"/>
          </a:p>
          <a:p>
            <a:pPr marL="342900" lvl="0" indent="-342900" algn="l" rtl="0">
              <a:spcBef>
                <a:spcPts val="434"/>
              </a:spcBef>
              <a:spcAft>
                <a:spcPts val="0"/>
              </a:spcAft>
              <a:buClr>
                <a:schemeClr val="dk1"/>
              </a:buClr>
              <a:buSzPct val="100000"/>
              <a:buFont typeface="Arial"/>
              <a:buChar char="•"/>
            </a:pPr>
            <a:r>
              <a:rPr lang="en-US" dirty="0"/>
              <a:t>Contract Data Requirements List (CDRLs) Deliverables</a:t>
            </a:r>
            <a:endParaRPr dirty="0"/>
          </a:p>
          <a:p>
            <a:pPr marL="742950" lvl="1" indent="-285750" algn="l" rtl="0">
              <a:spcBef>
                <a:spcPts val="372"/>
              </a:spcBef>
              <a:spcAft>
                <a:spcPts val="0"/>
              </a:spcAft>
              <a:buClr>
                <a:schemeClr val="dk1"/>
              </a:buClr>
              <a:buSzPct val="100000"/>
              <a:buFont typeface="Arial"/>
              <a:buChar char="•"/>
            </a:pPr>
            <a:r>
              <a:rPr lang="en-US" dirty="0"/>
              <a:t>Distribution to AFCEC (COR and/or Base PM)</a:t>
            </a:r>
            <a:endParaRPr dirty="0"/>
          </a:p>
          <a:p>
            <a:pPr marL="742950" lvl="1" indent="-285782" algn="l" rtl="0">
              <a:spcBef>
                <a:spcPts val="387"/>
              </a:spcBef>
              <a:spcAft>
                <a:spcPts val="0"/>
              </a:spcAft>
              <a:buClr>
                <a:schemeClr val="dk1"/>
              </a:buClr>
              <a:buSzPct val="100000"/>
              <a:buFont typeface="Arial"/>
              <a:buChar char="•"/>
            </a:pPr>
            <a:r>
              <a:rPr lang="en-US" sz="2500" dirty="0"/>
              <a:t>Primary Format is electronic unless specified hard copy </a:t>
            </a:r>
            <a:r>
              <a:rPr lang="en-US" sz="2500" dirty="0" err="1"/>
              <a:t>eMail</a:t>
            </a:r>
            <a:r>
              <a:rPr lang="en-US" sz="2500" dirty="0"/>
              <a:t>, CD, or Files Transfer Program/</a:t>
            </a:r>
            <a:r>
              <a:rPr lang="en-US" sz="2500" dirty="0" err="1"/>
              <a:t>eDASH</a:t>
            </a:r>
            <a:r>
              <a:rPr lang="en-US" sz="2500" dirty="0"/>
              <a:t> acceptable</a:t>
            </a:r>
            <a:endParaRPr dirty="0"/>
          </a:p>
          <a:p>
            <a:pPr marL="742950" lvl="1" indent="-285782" algn="l" rtl="0">
              <a:spcBef>
                <a:spcPts val="387"/>
              </a:spcBef>
              <a:spcAft>
                <a:spcPts val="0"/>
              </a:spcAft>
              <a:buClr>
                <a:schemeClr val="dk1"/>
              </a:buClr>
              <a:buSzPct val="100000"/>
              <a:buFont typeface="Arial"/>
              <a:buChar char="•"/>
            </a:pPr>
            <a:r>
              <a:rPr lang="en-US" sz="2500" dirty="0"/>
              <a:t>Format:  1) IAW Standardized Format; 2) Coordinated w/PM</a:t>
            </a:r>
            <a:endParaRPr dirty="0"/>
          </a:p>
          <a:p>
            <a:pPr marL="742950" lvl="1" indent="-285782" algn="l" rtl="0">
              <a:spcBef>
                <a:spcPts val="387"/>
              </a:spcBef>
              <a:spcAft>
                <a:spcPts val="0"/>
              </a:spcAft>
              <a:buClr>
                <a:schemeClr val="dk1"/>
              </a:buClr>
              <a:buSzPct val="100000"/>
              <a:buFont typeface="Arial"/>
              <a:buChar char="•"/>
            </a:pPr>
            <a:r>
              <a:rPr lang="en-US" sz="2500" dirty="0"/>
              <a:t>Submit all required deliverables/reports through ASSIST</a:t>
            </a:r>
            <a:endParaRPr dirty="0"/>
          </a:p>
          <a:p>
            <a:pPr marL="342900" lvl="0" indent="-342900" algn="l" rtl="0">
              <a:spcBef>
                <a:spcPts val="434"/>
              </a:spcBef>
              <a:spcAft>
                <a:spcPts val="0"/>
              </a:spcAft>
              <a:buClr>
                <a:schemeClr val="dk1"/>
              </a:buClr>
              <a:buSzPct val="100000"/>
              <a:buFont typeface="Arial"/>
              <a:buChar char="•"/>
            </a:pPr>
            <a:r>
              <a:rPr lang="en-US" dirty="0"/>
              <a:t>Supporting Documents (List on </a:t>
            </a:r>
            <a:r>
              <a:rPr lang="en-US" dirty="0" err="1"/>
              <a:t>Attch</a:t>
            </a:r>
            <a:r>
              <a:rPr lang="en-US" dirty="0"/>
              <a:t> C)</a:t>
            </a:r>
            <a:endParaRPr dirty="0"/>
          </a:p>
          <a:p>
            <a:pPr marL="742950" lvl="1" indent="-285782" algn="l" rtl="0">
              <a:spcBef>
                <a:spcPts val="387"/>
              </a:spcBef>
              <a:spcAft>
                <a:spcPts val="0"/>
              </a:spcAft>
              <a:buClr>
                <a:schemeClr val="dk1"/>
              </a:buClr>
              <a:buSzPct val="100000"/>
              <a:buFont typeface="Arial"/>
              <a:buChar char="•"/>
            </a:pPr>
            <a:r>
              <a:rPr lang="en-US" sz="2500" dirty="0"/>
              <a:t>Program Requirements, Permit Requirements, Sampling Requirements, Deadlines, Formatting, etc.</a:t>
            </a:r>
            <a:endParaRPr dirty="0"/>
          </a:p>
          <a:p>
            <a:pPr marL="742950" lvl="1" indent="-285750" algn="l" rtl="0">
              <a:spcBef>
                <a:spcPts val="372"/>
              </a:spcBef>
              <a:spcAft>
                <a:spcPts val="0"/>
              </a:spcAft>
              <a:buClr>
                <a:schemeClr val="dk1"/>
              </a:buClr>
              <a:buSzPct val="100000"/>
              <a:buFont typeface="Arial"/>
              <a:buChar char="•"/>
            </a:pPr>
            <a:r>
              <a:rPr lang="en-US" dirty="0"/>
              <a:t>Available electronically (no hard copy)</a:t>
            </a:r>
            <a:endParaRPr dirty="0"/>
          </a:p>
          <a:p>
            <a:pPr marL="342900" lvl="0" indent="-342900" algn="l" rtl="0">
              <a:spcBef>
                <a:spcPts val="434"/>
              </a:spcBef>
              <a:spcAft>
                <a:spcPts val="0"/>
              </a:spcAft>
              <a:buClr>
                <a:schemeClr val="dk1"/>
              </a:buClr>
              <a:buSzPct val="100000"/>
              <a:buFont typeface="Arial"/>
              <a:buChar char="•"/>
            </a:pPr>
            <a:r>
              <a:rPr lang="en-US" dirty="0"/>
              <a:t>Program Details (</a:t>
            </a:r>
            <a:r>
              <a:rPr lang="en-US" dirty="0" err="1"/>
              <a:t>Attch</a:t>
            </a:r>
            <a:r>
              <a:rPr lang="en-US" dirty="0"/>
              <a:t> D)</a:t>
            </a:r>
            <a:endParaRPr dirty="0"/>
          </a:p>
          <a:p>
            <a:pPr marL="742950" lvl="1" indent="-285750" algn="l" rtl="0">
              <a:spcBef>
                <a:spcPts val="372"/>
              </a:spcBef>
              <a:spcAft>
                <a:spcPts val="0"/>
              </a:spcAft>
              <a:buClr>
                <a:schemeClr val="dk1"/>
              </a:buClr>
              <a:buSzPct val="100000"/>
              <a:buFont typeface="Arial"/>
              <a:buChar char="•"/>
            </a:pPr>
            <a:r>
              <a:rPr lang="en-US" dirty="0"/>
              <a:t>HW/HM, ESAM, Air Quality, Water Quality, Solid Waste, EMS, POL, Toxics, Public Notification, Plans/Permits</a:t>
            </a:r>
            <a:endParaRPr dirty="0"/>
          </a:p>
          <a:p>
            <a:pPr marL="742950" lvl="1" indent="-285750" algn="l" rtl="0">
              <a:spcBef>
                <a:spcPts val="372"/>
              </a:spcBef>
              <a:spcAft>
                <a:spcPts val="0"/>
              </a:spcAft>
              <a:buClr>
                <a:schemeClr val="dk1"/>
              </a:buClr>
              <a:buSzPct val="100000"/>
              <a:buFont typeface="Arial"/>
              <a:buChar char="•"/>
            </a:pPr>
            <a:r>
              <a:rPr lang="en-US" dirty="0"/>
              <a:t>Contains historical averages to be used as reference only and includes relevant Government Furnished Equipment</a:t>
            </a:r>
            <a:endParaRPr dirty="0"/>
          </a:p>
          <a:p>
            <a:pPr marL="342900" lvl="0" indent="-342900" algn="l" rtl="0">
              <a:spcBef>
                <a:spcPts val="434"/>
              </a:spcBef>
              <a:spcAft>
                <a:spcPts val="0"/>
              </a:spcAft>
              <a:buClr>
                <a:schemeClr val="dk1"/>
              </a:buClr>
              <a:buSzPct val="100000"/>
              <a:buFont typeface="Arial"/>
              <a:buChar char="•"/>
            </a:pPr>
            <a:r>
              <a:rPr lang="en-US" dirty="0"/>
              <a:t>Additional References:  GIS Maps</a:t>
            </a:r>
            <a:endParaRPr dirty="0"/>
          </a:p>
          <a:p>
            <a:pPr marL="342900" lvl="0" indent="-205105" algn="l" rtl="0">
              <a:spcBef>
                <a:spcPts val="434"/>
              </a:spcBef>
              <a:spcAft>
                <a:spcPts val="0"/>
              </a:spcAft>
              <a:buClr>
                <a:schemeClr val="dk1"/>
              </a:buClr>
              <a:buSzPct val="100000"/>
              <a:buFont typeface="Arial"/>
              <a:buNone/>
            </a:pPr>
            <a:endParaRPr dirty="0"/>
          </a:p>
        </p:txBody>
      </p:sp>
      <p:sp>
        <p:nvSpPr>
          <p:cNvPr id="147" name="Google Shape;147;p11"/>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2"/>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Acquisition Timeline</a:t>
            </a:r>
            <a:endParaRPr/>
          </a:p>
        </p:txBody>
      </p:sp>
      <p:sp>
        <p:nvSpPr>
          <p:cNvPr id="153" name="Google Shape;153;p12"/>
          <p:cNvSpPr txBox="1">
            <a:spLocks noGrp="1"/>
          </p:cNvSpPr>
          <p:nvPr>
            <p:ph type="body" idx="1"/>
          </p:nvPr>
        </p:nvSpPr>
        <p:spPr>
          <a:xfrm>
            <a:off x="304800" y="1216025"/>
            <a:ext cx="8534400" cy="35877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a:p>
            <a:pPr marL="342900" lvl="0" indent="-342900" algn="l" rtl="0">
              <a:spcBef>
                <a:spcPts val="480"/>
              </a:spcBef>
              <a:spcAft>
                <a:spcPts val="0"/>
              </a:spcAft>
              <a:buClr>
                <a:schemeClr val="dk1"/>
              </a:buClr>
              <a:buSzPts val="2400"/>
              <a:buFont typeface="Arial"/>
              <a:buChar char="•"/>
            </a:pPr>
            <a:r>
              <a:rPr lang="en-US" sz="2400" dirty="0"/>
              <a:t>Site Visit: 06 - 07 May 2026 (Time: 8:00 am EST)</a:t>
            </a:r>
            <a:endParaRPr dirty="0"/>
          </a:p>
          <a:p>
            <a:pPr marL="342900">
              <a:spcBef>
                <a:spcPts val="480"/>
              </a:spcBef>
              <a:buSzPts val="2400"/>
            </a:pPr>
            <a:r>
              <a:rPr lang="en-US" sz="2400" dirty="0"/>
              <a:t>Vendor Questions Due: 14 May 2026</a:t>
            </a:r>
            <a:endParaRPr sz="2400" dirty="0"/>
          </a:p>
          <a:p>
            <a:pPr marL="342900">
              <a:spcBef>
                <a:spcPts val="480"/>
              </a:spcBef>
              <a:buSzPts val="2400"/>
            </a:pPr>
            <a:r>
              <a:rPr lang="en-US" sz="2400" dirty="0"/>
              <a:t>Anticipated Government Response: 04 Jun 2026</a:t>
            </a:r>
            <a:endParaRPr sz="2400" dirty="0"/>
          </a:p>
          <a:p>
            <a:pPr marL="342900">
              <a:spcBef>
                <a:spcPts val="480"/>
              </a:spcBef>
              <a:buSzPts val="2400"/>
            </a:pPr>
            <a:r>
              <a:rPr lang="en-US" sz="2400" dirty="0"/>
              <a:t>Anticipated RFQ Posting: 11 Jun 2026</a:t>
            </a:r>
            <a:endParaRPr sz="2400" dirty="0"/>
          </a:p>
          <a:p>
            <a:pPr marL="342900">
              <a:spcBef>
                <a:spcPts val="480"/>
              </a:spcBef>
              <a:buSzPts val="2400"/>
            </a:pPr>
            <a:r>
              <a:rPr lang="en-US" sz="2400" dirty="0"/>
              <a:t>RFQ Closing Date: 10 Jul 2026</a:t>
            </a:r>
            <a:endParaRPr sz="2400" dirty="0"/>
          </a:p>
          <a:p>
            <a:pPr marL="342900">
              <a:spcBef>
                <a:spcPts val="480"/>
              </a:spcBef>
              <a:buSzPts val="2400"/>
            </a:pPr>
            <a:r>
              <a:rPr lang="en-US" sz="2400" dirty="0"/>
              <a:t>Estimated Award Date: 10 Aug 2026</a:t>
            </a:r>
          </a:p>
          <a:p>
            <a:pPr marL="342900">
              <a:spcBef>
                <a:spcPts val="480"/>
              </a:spcBef>
              <a:buSzPts val="2400"/>
            </a:pPr>
            <a:r>
              <a:rPr lang="en-US" sz="2400" dirty="0" err="1"/>
              <a:t>PoP</a:t>
            </a:r>
            <a:r>
              <a:rPr lang="en-US" sz="2400" dirty="0"/>
              <a:t> Start Date: 01 Sep 2026</a:t>
            </a:r>
            <a:endParaRPr sz="2400" dirty="0"/>
          </a:p>
          <a:p>
            <a:pPr marL="342900" lvl="0" indent="-165100" algn="l" rtl="0">
              <a:spcBef>
                <a:spcPts val="560"/>
              </a:spcBef>
              <a:spcAft>
                <a:spcPts val="0"/>
              </a:spcAft>
              <a:buClr>
                <a:schemeClr val="dk1"/>
              </a:buClr>
              <a:buSzPts val="2800"/>
              <a:buFont typeface="Arial"/>
              <a:buNone/>
            </a:pPr>
            <a:endParaRPr dirty="0"/>
          </a:p>
        </p:txBody>
      </p:sp>
      <p:sp>
        <p:nvSpPr>
          <p:cNvPr id="154" name="Google Shape;154;p12"/>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12</a:t>
            </a:fld>
            <a:endParaRPr/>
          </a:p>
        </p:txBody>
      </p:sp>
      <p:sp>
        <p:nvSpPr>
          <p:cNvPr id="155" name="Google Shape;155;p12"/>
          <p:cNvSpPr txBox="1"/>
          <p:nvPr/>
        </p:nvSpPr>
        <p:spPr>
          <a:xfrm>
            <a:off x="0" y="5969285"/>
            <a:ext cx="9143999" cy="830997"/>
          </a:xfrm>
          <a:prstGeom prst="rect">
            <a:avLst/>
          </a:prstGeom>
          <a:solidFill>
            <a:schemeClr val="accent2"/>
          </a:solidFill>
          <a:ln>
            <a:noFill/>
          </a:ln>
        </p:spPr>
        <p:txBody>
          <a:bodyPr spcFirstLastPara="1" wrap="square" lIns="91425" tIns="45700" rIns="91425" bIns="45700" anchor="t" anchorCtr="0">
            <a:spAutoFit/>
          </a:bodyPr>
          <a:lstStyle/>
          <a:p>
            <a:pPr marL="0" marR="0" lvl="1" indent="0" algn="ctr" rtl="0">
              <a:spcBef>
                <a:spcPts val="0"/>
              </a:spcBef>
              <a:spcAft>
                <a:spcPts val="0"/>
              </a:spcAft>
              <a:buClr>
                <a:schemeClr val="lt1"/>
              </a:buClr>
              <a:buSzPts val="2400"/>
              <a:buFont typeface="Arial"/>
              <a:buNone/>
            </a:pPr>
            <a:r>
              <a:rPr lang="en-US" sz="2400" b="1" i="0" u="none" strike="noStrike" cap="none">
                <a:solidFill>
                  <a:schemeClr val="lt1"/>
                </a:solidFill>
                <a:latin typeface="Arial"/>
                <a:ea typeface="Arial"/>
                <a:cs typeface="Arial"/>
                <a:sym typeface="Arial"/>
              </a:rPr>
              <a:t>Any Requests for Information after the required Due date</a:t>
            </a:r>
            <a:br>
              <a:rPr lang="en-US" sz="2400" b="1" i="0" u="none" strike="noStrike" cap="none">
                <a:solidFill>
                  <a:schemeClr val="lt1"/>
                </a:solidFill>
                <a:latin typeface="Arial"/>
                <a:ea typeface="Arial"/>
                <a:cs typeface="Arial"/>
                <a:sym typeface="Arial"/>
              </a:rPr>
            </a:br>
            <a:r>
              <a:rPr lang="en-US" sz="2400" b="1" i="0" u="none" strike="noStrike" cap="none">
                <a:solidFill>
                  <a:schemeClr val="lt1"/>
                </a:solidFill>
                <a:latin typeface="Arial"/>
                <a:ea typeface="Arial"/>
                <a:cs typeface="Arial"/>
                <a:sym typeface="Arial"/>
              </a:rPr>
              <a:t>and time WILL NOT be accepted. No Exceptions.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3"/>
          <p:cNvSpPr txBox="1">
            <a:spLocks noGrp="1"/>
          </p:cNvSpPr>
          <p:nvPr>
            <p:ph type="body" idx="1"/>
          </p:nvPr>
        </p:nvSpPr>
        <p:spPr>
          <a:xfrm>
            <a:off x="631825" y="1659792"/>
            <a:ext cx="7880350" cy="47008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7F7F7F"/>
              </a:buClr>
              <a:buSzPts val="1200"/>
              <a:buFont typeface="Arial"/>
              <a:buNone/>
            </a:pPr>
            <a:endParaRPr sz="1200" b="0">
              <a:solidFill>
                <a:srgbClr val="FFFFFF"/>
              </a:solidFill>
              <a:highlight>
                <a:srgbClr val="131314"/>
              </a:highlight>
            </a:endParaRPr>
          </a:p>
          <a:p>
            <a:pPr marL="0" lvl="0" indent="0" algn="l" rtl="0">
              <a:spcBef>
                <a:spcPts val="480"/>
              </a:spcBef>
              <a:spcAft>
                <a:spcPts val="0"/>
              </a:spcAft>
              <a:buClr>
                <a:srgbClr val="7F7F7F"/>
              </a:buClr>
              <a:buSzPts val="2400"/>
              <a:buFont typeface="Arial"/>
              <a:buNone/>
            </a:pPr>
            <a:endParaRPr sz="2400">
              <a:solidFill>
                <a:schemeClr val="dk1"/>
              </a:solidFill>
            </a:endParaRPr>
          </a:p>
        </p:txBody>
      </p:sp>
      <p:sp>
        <p:nvSpPr>
          <p:cNvPr id="161" name="Google Shape;161;p13"/>
          <p:cNvSpPr txBox="1">
            <a:spLocks noGrp="1"/>
          </p:cNvSpPr>
          <p:nvPr>
            <p:ph type="title"/>
          </p:nvPr>
        </p:nvSpPr>
        <p:spPr>
          <a:xfrm>
            <a:off x="132588" y="152348"/>
            <a:ext cx="8878824" cy="1143000"/>
          </a:xfrm>
          <a:prstGeom prst="rect">
            <a:avLst/>
          </a:prstGeom>
          <a:solidFill>
            <a:schemeClr val="accent6"/>
          </a:solidFill>
          <a:ln>
            <a:noFill/>
          </a:ln>
        </p:spPr>
        <p:txBody>
          <a:bodyPr spcFirstLastPara="1" wrap="square" lIns="91425" tIns="45700" rIns="91425" bIns="45700" anchor="b" anchorCtr="0">
            <a:noAutofit/>
          </a:bodyPr>
          <a:lstStyle/>
          <a:p>
            <a:pPr marL="914400" lvl="0" indent="0" algn="l" rtl="0">
              <a:spcBef>
                <a:spcPts val="0"/>
              </a:spcBef>
              <a:spcAft>
                <a:spcPts val="0"/>
              </a:spcAft>
              <a:buNone/>
            </a:pPr>
            <a:r>
              <a:rPr lang="en-US"/>
              <a:t>Installation Overview</a:t>
            </a:r>
            <a:endParaRPr/>
          </a:p>
        </p:txBody>
      </p:sp>
      <p:sp>
        <p:nvSpPr>
          <p:cNvPr id="162" name="Google Shape;162;p13"/>
          <p:cNvSpPr txBox="1">
            <a:spLocks noGrp="1"/>
          </p:cNvSpPr>
          <p:nvPr>
            <p:ph type="sldNum" idx="4294967295"/>
          </p:nvPr>
        </p:nvSpPr>
        <p:spPr>
          <a:xfrm>
            <a:off x="8075613" y="6519863"/>
            <a:ext cx="1068387"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13</a:t>
            </a:fld>
            <a:endParaRPr/>
          </a:p>
        </p:txBody>
      </p:sp>
      <p:sp>
        <p:nvSpPr>
          <p:cNvPr id="163" name="Google Shape;163;p13"/>
          <p:cNvSpPr txBox="1"/>
          <p:nvPr/>
        </p:nvSpPr>
        <p:spPr>
          <a:xfrm>
            <a:off x="396910" y="1454604"/>
            <a:ext cx="8350180" cy="508107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This solicitation outlines the requirements for comprehensive Fence-to-Fence Environmental Service Support across multiple Department of Air Force (DAF) installations and associated facilities in Florida.</a:t>
            </a:r>
            <a:endParaRPr/>
          </a:p>
          <a:p>
            <a:pPr marL="0" marR="0" lvl="0" indent="0" algn="l" rtl="0">
              <a:lnSpc>
                <a:spcPct val="115000"/>
              </a:lnSpc>
              <a:spcBef>
                <a:spcPts val="128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Locations Included:</a:t>
            </a:r>
            <a:endParaRPr/>
          </a:p>
          <a:p>
            <a:pPr marL="342900" marR="0" lvl="0" indent="-342900" algn="l" rtl="0">
              <a:spcBef>
                <a:spcPts val="800"/>
              </a:spcBef>
              <a:spcAft>
                <a:spcPts val="0"/>
              </a:spcAft>
              <a:buClr>
                <a:schemeClr val="dk1"/>
              </a:buClr>
              <a:buSzPts val="1000"/>
              <a:buFont typeface="Noto Sans Symbols"/>
              <a:buChar char="∙"/>
            </a:pPr>
            <a:r>
              <a:rPr lang="en-US" sz="2000" b="1" i="0" u="none" strike="noStrike" cap="none">
                <a:solidFill>
                  <a:schemeClr val="dk1"/>
                </a:solidFill>
                <a:latin typeface="Arial"/>
                <a:ea typeface="Arial"/>
                <a:cs typeface="Arial"/>
                <a:sym typeface="Arial"/>
              </a:rPr>
              <a:t>Patrick Space Force Base (PSFB)</a:t>
            </a:r>
            <a:endParaRPr/>
          </a:p>
          <a:p>
            <a:pPr marL="342900" marR="0" lvl="0" indent="-342900" algn="l" rtl="0">
              <a:spcBef>
                <a:spcPts val="0"/>
              </a:spcBef>
              <a:spcAft>
                <a:spcPts val="0"/>
              </a:spcAft>
              <a:buClr>
                <a:schemeClr val="dk1"/>
              </a:buClr>
              <a:buSzPts val="1000"/>
              <a:buFont typeface="Noto Sans Symbols"/>
              <a:buChar char="∙"/>
            </a:pPr>
            <a:r>
              <a:rPr lang="en-US" sz="2000" b="1" i="0" u="none" strike="noStrike" cap="none">
                <a:solidFill>
                  <a:schemeClr val="dk1"/>
                </a:solidFill>
                <a:latin typeface="Arial"/>
                <a:ea typeface="Arial"/>
                <a:cs typeface="Arial"/>
                <a:sym typeface="Arial"/>
              </a:rPr>
              <a:t>Cape Canaveral Space Force Station (CCSFS)</a:t>
            </a:r>
            <a:endParaRPr/>
          </a:p>
          <a:p>
            <a:pPr marL="342900" marR="0" lvl="0" indent="-342900" algn="l" rtl="0">
              <a:spcBef>
                <a:spcPts val="0"/>
              </a:spcBef>
              <a:spcAft>
                <a:spcPts val="0"/>
              </a:spcAft>
              <a:buClr>
                <a:schemeClr val="dk1"/>
              </a:buClr>
              <a:buSzPts val="1000"/>
              <a:buFont typeface="Noto Sans Symbols"/>
              <a:buChar char="∙"/>
            </a:pPr>
            <a:r>
              <a:rPr lang="en-US" sz="2000" b="1" i="0" u="none" strike="noStrike" cap="none">
                <a:solidFill>
                  <a:schemeClr val="dk1"/>
                </a:solidFill>
                <a:latin typeface="Arial"/>
                <a:ea typeface="Arial"/>
                <a:cs typeface="Arial"/>
                <a:sym typeface="Arial"/>
              </a:rPr>
              <a:t>Jonathan Dickinson Missile Tracking Annex (JDMTA)</a:t>
            </a:r>
            <a:endParaRPr/>
          </a:p>
          <a:p>
            <a:pPr marL="342900" marR="0" lvl="0" indent="-342900" algn="l" rtl="0">
              <a:spcBef>
                <a:spcPts val="0"/>
              </a:spcBef>
              <a:spcAft>
                <a:spcPts val="0"/>
              </a:spcAft>
              <a:buClr>
                <a:schemeClr val="dk1"/>
              </a:buClr>
              <a:buSzPts val="1000"/>
              <a:buFont typeface="Noto Sans Symbols"/>
              <a:buChar char="∙"/>
            </a:pPr>
            <a:r>
              <a:rPr lang="en-US" sz="2000" b="1" i="0" u="none" strike="noStrike" cap="none">
                <a:solidFill>
                  <a:schemeClr val="dk1"/>
                </a:solidFill>
                <a:latin typeface="Arial"/>
                <a:ea typeface="Arial"/>
                <a:cs typeface="Arial"/>
                <a:sym typeface="Arial"/>
              </a:rPr>
              <a:t>Malabar Transmitter Annex (MTA)</a:t>
            </a:r>
            <a:endParaRPr/>
          </a:p>
          <a:p>
            <a:pPr marL="342900" marR="0" lvl="0" indent="-342900" algn="l" rtl="0">
              <a:spcBef>
                <a:spcPts val="0"/>
              </a:spcBef>
              <a:spcAft>
                <a:spcPts val="0"/>
              </a:spcAft>
              <a:buClr>
                <a:schemeClr val="dk1"/>
              </a:buClr>
              <a:buSzPts val="1000"/>
              <a:buFont typeface="Noto Sans Symbols"/>
              <a:buChar char="∙"/>
            </a:pPr>
            <a:r>
              <a:rPr lang="en-US" sz="2000" b="1" i="0" u="none" strike="noStrike" cap="none">
                <a:solidFill>
                  <a:schemeClr val="dk1"/>
                </a:solidFill>
                <a:latin typeface="Arial"/>
                <a:ea typeface="Arial"/>
                <a:cs typeface="Arial"/>
                <a:sym typeface="Arial"/>
              </a:rPr>
              <a:t>Satellites: KARS Park, Tel IV, Shiloh, and Cocoa Doppler</a:t>
            </a:r>
            <a:endParaRPr/>
          </a:p>
          <a:p>
            <a:pPr marL="342900" marR="0" lvl="0" indent="-342900" algn="l" rtl="0">
              <a:spcBef>
                <a:spcPts val="0"/>
              </a:spcBef>
              <a:spcAft>
                <a:spcPts val="0"/>
              </a:spcAft>
              <a:buClr>
                <a:schemeClr val="dk1"/>
              </a:buClr>
              <a:buSzPts val="1000"/>
              <a:buFont typeface="Noto Sans Symbols"/>
              <a:buChar char="∙"/>
            </a:pPr>
            <a:r>
              <a:rPr lang="en-US" sz="2000" b="1" i="0" u="none" strike="noStrike" cap="none">
                <a:solidFill>
                  <a:schemeClr val="dk1"/>
                </a:solidFill>
                <a:latin typeface="Arial"/>
                <a:ea typeface="Arial"/>
                <a:cs typeface="Arial"/>
                <a:sym typeface="Arial"/>
              </a:rPr>
              <a:t>Avon Park Air Force Range (APAFR)</a:t>
            </a:r>
            <a:endParaRPr/>
          </a:p>
          <a:p>
            <a:pPr marL="0" marR="0" lvl="0" indent="0" algn="l" rtl="0">
              <a:lnSpc>
                <a:spcPct val="115000"/>
              </a:lnSpc>
              <a:spcBef>
                <a:spcPts val="40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  PSFB, CCSFS, JDMTA, and MTA will be collectively referred to as Space Launch Delta 45 (SLD 45).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4"/>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Discussion</a:t>
            </a:r>
            <a:endParaRPr/>
          </a:p>
        </p:txBody>
      </p:sp>
      <p:sp>
        <p:nvSpPr>
          <p:cNvPr id="170" name="Google Shape;170;p14"/>
          <p:cNvSpPr txBox="1">
            <a:spLocks noGrp="1"/>
          </p:cNvSpPr>
          <p:nvPr>
            <p:ph type="body" idx="1"/>
          </p:nvPr>
        </p:nvSpPr>
        <p:spPr>
          <a:xfrm>
            <a:off x="304800" y="1216025"/>
            <a:ext cx="8534400" cy="530383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Installation Facts (next slides)</a:t>
            </a:r>
            <a:endParaRPr/>
          </a:p>
          <a:p>
            <a:pPr marL="342900" lvl="0" indent="-342900" algn="l" rtl="0">
              <a:spcBef>
                <a:spcPts val="480"/>
              </a:spcBef>
              <a:spcAft>
                <a:spcPts val="0"/>
              </a:spcAft>
              <a:buClr>
                <a:schemeClr val="dk1"/>
              </a:buClr>
              <a:buSzPts val="2400"/>
              <a:buFont typeface="Arial"/>
              <a:buChar char="•"/>
            </a:pPr>
            <a:r>
              <a:rPr lang="en-US" sz="2400"/>
              <a:t>Infrastructure</a:t>
            </a:r>
            <a:endParaRPr/>
          </a:p>
          <a:p>
            <a:pPr marL="742950" lvl="1" indent="-285750" algn="l" rtl="0">
              <a:spcBef>
                <a:spcPts val="480"/>
              </a:spcBef>
              <a:spcAft>
                <a:spcPts val="0"/>
              </a:spcAft>
              <a:buClr>
                <a:schemeClr val="dk1"/>
              </a:buClr>
              <a:buSzPts val="2400"/>
              <a:buFont typeface="Arial"/>
              <a:buChar char="•"/>
            </a:pPr>
            <a:r>
              <a:rPr lang="en-US"/>
              <a:t>Base Access (DBIDS, CAC)</a:t>
            </a:r>
            <a:endParaRPr/>
          </a:p>
          <a:p>
            <a:pPr marL="742950" lvl="1" indent="-285750" algn="l" rtl="0">
              <a:spcBef>
                <a:spcPts val="480"/>
              </a:spcBef>
              <a:spcAft>
                <a:spcPts val="0"/>
              </a:spcAft>
              <a:buClr>
                <a:schemeClr val="dk1"/>
              </a:buClr>
              <a:buSzPts val="2400"/>
              <a:buFont typeface="Arial"/>
              <a:buChar char="•"/>
            </a:pPr>
            <a:r>
              <a:rPr lang="en-US"/>
              <a:t>Communications</a:t>
            </a:r>
            <a:endParaRPr/>
          </a:p>
          <a:p>
            <a:pPr marL="742950" lvl="1" indent="-285750" algn="l" rtl="0">
              <a:spcBef>
                <a:spcPts val="480"/>
              </a:spcBef>
              <a:spcAft>
                <a:spcPts val="0"/>
              </a:spcAft>
              <a:buClr>
                <a:schemeClr val="dk1"/>
              </a:buClr>
              <a:buSzPts val="2400"/>
              <a:buFont typeface="Arial"/>
              <a:buChar char="•"/>
            </a:pPr>
            <a:r>
              <a:rPr lang="en-US"/>
              <a:t>Data Systems (EESOH-MIS, APIMS, eDASH, LAN)</a:t>
            </a:r>
            <a:endParaRPr/>
          </a:p>
          <a:p>
            <a:pPr marL="342900" lvl="0" indent="-342900" algn="l" rtl="0">
              <a:spcBef>
                <a:spcPts val="480"/>
              </a:spcBef>
              <a:spcAft>
                <a:spcPts val="0"/>
              </a:spcAft>
              <a:buClr>
                <a:schemeClr val="dk1"/>
              </a:buClr>
              <a:buSzPts val="2400"/>
              <a:buFont typeface="Arial"/>
              <a:buChar char="•"/>
            </a:pPr>
            <a:r>
              <a:rPr lang="en-US" sz="2400"/>
              <a:t>Program Review (PWS Requirements)</a:t>
            </a:r>
            <a:endParaRPr/>
          </a:p>
          <a:p>
            <a:pPr marL="742950" lvl="1" indent="-285750" algn="l" rtl="0">
              <a:spcBef>
                <a:spcPts val="480"/>
              </a:spcBef>
              <a:spcAft>
                <a:spcPts val="0"/>
              </a:spcAft>
              <a:buClr>
                <a:schemeClr val="dk1"/>
              </a:buClr>
              <a:buSzPts val="2400"/>
              <a:buFont typeface="Arial"/>
              <a:buChar char="•"/>
            </a:pPr>
            <a:r>
              <a:rPr lang="en-US"/>
              <a:t>HW/HM, Env Sampling, Air Quality, Water Quality, Solid Waste, EMS,  POL and Toxics</a:t>
            </a:r>
            <a:r>
              <a:rPr lang="en-US">
                <a:solidFill>
                  <a:srgbClr val="FF0000"/>
                </a:solidFill>
              </a:rPr>
              <a:t> </a:t>
            </a:r>
            <a:endParaRPr/>
          </a:p>
          <a:p>
            <a:pPr marL="342900" lvl="1" indent="-342900" algn="l" rtl="0">
              <a:spcBef>
                <a:spcPts val="480"/>
              </a:spcBef>
              <a:spcAft>
                <a:spcPts val="0"/>
              </a:spcAft>
              <a:buClr>
                <a:schemeClr val="dk1"/>
              </a:buClr>
              <a:buSzPts val="2400"/>
              <a:buFont typeface="Arial"/>
              <a:buChar char="•"/>
            </a:pPr>
            <a:r>
              <a:rPr lang="en-US"/>
              <a:t>Unique Considerations</a:t>
            </a:r>
            <a:endParaRPr/>
          </a:p>
          <a:p>
            <a:pPr marL="742950" lvl="1" indent="-285750" algn="l" rtl="0">
              <a:spcBef>
                <a:spcPts val="480"/>
              </a:spcBef>
              <a:spcAft>
                <a:spcPts val="0"/>
              </a:spcAft>
              <a:buClr>
                <a:schemeClr val="dk1"/>
              </a:buClr>
              <a:buSzPts val="2400"/>
              <a:buFont typeface="Arial"/>
              <a:buChar char="•"/>
            </a:pPr>
            <a:r>
              <a:rPr lang="en-US"/>
              <a:t>CCSFS and the other GSUs are a GOCO. CTR will be the day-to-day on-site MPM for ENV compliance oversight.   </a:t>
            </a:r>
            <a:endParaRPr/>
          </a:p>
          <a:p>
            <a:pPr marL="0" lvl="0" indent="0" algn="l" rtl="0">
              <a:spcBef>
                <a:spcPts val="560"/>
              </a:spcBef>
              <a:spcAft>
                <a:spcPts val="0"/>
              </a:spcAft>
              <a:buClr>
                <a:schemeClr val="dk1"/>
              </a:buClr>
              <a:buSzPts val="2800"/>
              <a:buFont typeface="Arial"/>
              <a:buNone/>
            </a:pPr>
            <a:endParaRPr/>
          </a:p>
        </p:txBody>
      </p:sp>
      <p:sp>
        <p:nvSpPr>
          <p:cNvPr id="171" name="Google Shape;171;p14"/>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5"/>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Installation Facts – (PSFB)</a:t>
            </a:r>
            <a:endParaRPr/>
          </a:p>
        </p:txBody>
      </p:sp>
      <p:sp>
        <p:nvSpPr>
          <p:cNvPr id="177" name="Google Shape;177;p15"/>
          <p:cNvSpPr txBox="1">
            <a:spLocks noGrp="1"/>
          </p:cNvSpPr>
          <p:nvPr>
            <p:ph type="body" idx="1"/>
          </p:nvPr>
        </p:nvSpPr>
        <p:spPr>
          <a:xfrm>
            <a:off x="304800" y="1216025"/>
            <a:ext cx="8534400" cy="497376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MAJCOM: United States Space Force (USSF) </a:t>
            </a:r>
            <a:endParaRPr/>
          </a:p>
          <a:p>
            <a:pPr marL="342900" lvl="0" indent="-342900" algn="l" rtl="0">
              <a:spcBef>
                <a:spcPts val="480"/>
              </a:spcBef>
              <a:spcAft>
                <a:spcPts val="0"/>
              </a:spcAft>
              <a:buClr>
                <a:schemeClr val="dk1"/>
              </a:buClr>
              <a:buSzPts val="2400"/>
              <a:buFont typeface="Arial"/>
              <a:buChar char="•"/>
            </a:pPr>
            <a:r>
              <a:rPr lang="en-US" sz="2400"/>
              <a:t>Host Unit: Space Launch Delta 45 (SLD45)</a:t>
            </a:r>
            <a:endParaRPr/>
          </a:p>
          <a:p>
            <a:pPr marL="342900" lvl="0" indent="-342900" algn="l" rtl="0">
              <a:spcBef>
                <a:spcPts val="480"/>
              </a:spcBef>
              <a:spcAft>
                <a:spcPts val="0"/>
              </a:spcAft>
              <a:buClr>
                <a:schemeClr val="dk1"/>
              </a:buClr>
              <a:buSzPts val="2400"/>
              <a:buFont typeface="Arial"/>
              <a:buChar char="•"/>
            </a:pPr>
            <a:r>
              <a:rPr lang="en-US" sz="2400"/>
              <a:t>Wings: AFRC 920</a:t>
            </a:r>
            <a:r>
              <a:rPr lang="en-US" sz="2400" baseline="30000"/>
              <a:t>th</a:t>
            </a:r>
            <a:r>
              <a:rPr lang="en-US" sz="2400"/>
              <a:t> Rescue Wing</a:t>
            </a:r>
            <a:endParaRPr/>
          </a:p>
          <a:p>
            <a:pPr marL="342900" lvl="0" indent="-342900" algn="l" rtl="0">
              <a:spcBef>
                <a:spcPts val="480"/>
              </a:spcBef>
              <a:spcAft>
                <a:spcPts val="0"/>
              </a:spcAft>
              <a:buClr>
                <a:schemeClr val="dk1"/>
              </a:buClr>
              <a:buSzPts val="2400"/>
              <a:buFont typeface="Arial"/>
              <a:buChar char="•"/>
            </a:pPr>
            <a:r>
              <a:rPr lang="en-US" sz="2400"/>
              <a:t>Major Tenants: AFTAC, Space and Missile System Center, DOS, NASA, FAA, DEOMI, Joint Stars Test Force</a:t>
            </a:r>
            <a:endParaRPr/>
          </a:p>
          <a:p>
            <a:pPr marL="342900" lvl="0" indent="-342900" algn="l" rtl="0">
              <a:spcBef>
                <a:spcPts val="480"/>
              </a:spcBef>
              <a:spcAft>
                <a:spcPts val="0"/>
              </a:spcAft>
              <a:buClr>
                <a:schemeClr val="dk1"/>
              </a:buClr>
              <a:buSzPts val="2400"/>
              <a:buFont typeface="Arial"/>
              <a:buChar char="•"/>
            </a:pPr>
            <a:r>
              <a:rPr lang="en-US" sz="2400"/>
              <a:t>Mission: Processing and launching of gov’t and commercial satellites from CCSFS.  SLD45 is the final authority for all launches on the Eastern Range </a:t>
            </a:r>
            <a:endParaRPr/>
          </a:p>
          <a:p>
            <a:pPr marL="342900" lvl="0" indent="-342900" algn="l" rtl="0">
              <a:spcBef>
                <a:spcPts val="480"/>
              </a:spcBef>
              <a:spcAft>
                <a:spcPts val="0"/>
              </a:spcAft>
              <a:buClr>
                <a:schemeClr val="dk1"/>
              </a:buClr>
              <a:buSzPts val="2400"/>
              <a:buFont typeface="Arial"/>
              <a:buChar char="•"/>
            </a:pPr>
            <a:r>
              <a:rPr lang="en-US" sz="2400"/>
              <a:t>Size: 2,002 acres </a:t>
            </a:r>
            <a:endParaRPr/>
          </a:p>
          <a:p>
            <a:pPr marL="342900" lvl="0" indent="-342900" algn="l" rtl="0">
              <a:spcBef>
                <a:spcPts val="480"/>
              </a:spcBef>
              <a:spcAft>
                <a:spcPts val="0"/>
              </a:spcAft>
              <a:buClr>
                <a:schemeClr val="dk1"/>
              </a:buClr>
              <a:buSzPts val="2400"/>
              <a:buFont typeface="Arial"/>
              <a:buChar char="•"/>
            </a:pPr>
            <a:r>
              <a:rPr lang="en-US" sz="2400"/>
              <a:t>Runway(s): 2 (Runways: 9,003 feet and 3,992 feet long)</a:t>
            </a:r>
            <a:endParaRPr/>
          </a:p>
        </p:txBody>
      </p:sp>
      <p:sp>
        <p:nvSpPr>
          <p:cNvPr id="178" name="Google Shape;178;p15"/>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6"/>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Installation Facts – (CCSFS)</a:t>
            </a:r>
            <a:endParaRPr/>
          </a:p>
        </p:txBody>
      </p:sp>
      <p:sp>
        <p:nvSpPr>
          <p:cNvPr id="184" name="Google Shape;184;p16"/>
          <p:cNvSpPr txBox="1">
            <a:spLocks noGrp="1"/>
          </p:cNvSpPr>
          <p:nvPr>
            <p:ph type="body" idx="1"/>
          </p:nvPr>
        </p:nvSpPr>
        <p:spPr>
          <a:xfrm>
            <a:off x="304800" y="1216025"/>
            <a:ext cx="8534400" cy="530383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MAJCOM: United States Space Force (USSF) </a:t>
            </a:r>
            <a:endParaRPr/>
          </a:p>
          <a:p>
            <a:pPr marL="342900" lvl="0" indent="-342900" algn="l" rtl="0">
              <a:spcBef>
                <a:spcPts val="480"/>
              </a:spcBef>
              <a:spcAft>
                <a:spcPts val="0"/>
              </a:spcAft>
              <a:buClr>
                <a:schemeClr val="dk1"/>
              </a:buClr>
              <a:buSzPts val="2400"/>
              <a:buFont typeface="Arial"/>
              <a:buChar char="•"/>
            </a:pPr>
            <a:r>
              <a:rPr lang="en-US" sz="2400"/>
              <a:t>Host Unit: Space Launch Delta 45 (SLD45)</a:t>
            </a:r>
            <a:endParaRPr/>
          </a:p>
          <a:p>
            <a:pPr marL="342900" lvl="0" indent="-342900" algn="l" rtl="0">
              <a:spcBef>
                <a:spcPts val="480"/>
              </a:spcBef>
              <a:spcAft>
                <a:spcPts val="0"/>
              </a:spcAft>
              <a:buClr>
                <a:schemeClr val="dk1"/>
              </a:buClr>
              <a:buSzPts val="2400"/>
              <a:buFont typeface="Arial"/>
              <a:buChar char="•"/>
            </a:pPr>
            <a:r>
              <a:rPr lang="en-US" sz="2400"/>
              <a:t>Wings: AFRC 920</a:t>
            </a:r>
            <a:r>
              <a:rPr lang="en-US" sz="2400" baseline="30000"/>
              <a:t>th</a:t>
            </a:r>
            <a:r>
              <a:rPr lang="en-US" sz="2400"/>
              <a:t> Rescue Wing</a:t>
            </a:r>
            <a:endParaRPr/>
          </a:p>
          <a:p>
            <a:pPr marL="342900" lvl="0" indent="-342900" algn="l" rtl="0">
              <a:spcBef>
                <a:spcPts val="480"/>
              </a:spcBef>
              <a:spcAft>
                <a:spcPts val="0"/>
              </a:spcAft>
              <a:buClr>
                <a:schemeClr val="dk1"/>
              </a:buClr>
              <a:buSzPts val="2400"/>
              <a:buFont typeface="Arial"/>
              <a:buChar char="•"/>
            </a:pPr>
            <a:r>
              <a:rPr lang="en-US" sz="2400"/>
              <a:t>Major Tenants: NASA, NOTU, NRO, Aerospace Fuels Laboratory, Military Sealift Command, Military Surface Deployment and Distribution Command, United Launch Alliance, SpaceX, Blue Origin, Relativity Space and Stoke Space</a:t>
            </a:r>
            <a:endParaRPr/>
          </a:p>
          <a:p>
            <a:pPr marL="342900" lvl="0" indent="-342900" algn="l" rtl="0">
              <a:spcBef>
                <a:spcPts val="480"/>
              </a:spcBef>
              <a:spcAft>
                <a:spcPts val="0"/>
              </a:spcAft>
              <a:buClr>
                <a:schemeClr val="dk1"/>
              </a:buClr>
              <a:buSzPts val="2400"/>
              <a:buFont typeface="Arial"/>
              <a:buChar char="•"/>
            </a:pPr>
            <a:r>
              <a:rPr lang="en-US" sz="2400"/>
              <a:t>Mission: Processing and launching of gov’t and commercial satellites from CCSFS.  SLD45 is the final authority for all launches on the Eastern Range </a:t>
            </a:r>
            <a:endParaRPr/>
          </a:p>
          <a:p>
            <a:pPr marL="342900" lvl="0" indent="-342900" algn="l" rtl="0">
              <a:spcBef>
                <a:spcPts val="480"/>
              </a:spcBef>
              <a:spcAft>
                <a:spcPts val="0"/>
              </a:spcAft>
              <a:buClr>
                <a:schemeClr val="dk1"/>
              </a:buClr>
              <a:buSzPts val="2400"/>
              <a:buFont typeface="Arial"/>
              <a:buChar char="•"/>
            </a:pPr>
            <a:r>
              <a:rPr lang="en-US" sz="2400"/>
              <a:t>Size: 15,800 acres </a:t>
            </a:r>
            <a:endParaRPr/>
          </a:p>
          <a:p>
            <a:pPr marL="342900" lvl="0" indent="-342900" algn="l" rtl="0">
              <a:spcBef>
                <a:spcPts val="480"/>
              </a:spcBef>
              <a:spcAft>
                <a:spcPts val="0"/>
              </a:spcAft>
              <a:buClr>
                <a:schemeClr val="dk1"/>
              </a:buClr>
              <a:buSzPts val="2400"/>
              <a:buFont typeface="Arial"/>
              <a:buChar char="•"/>
            </a:pPr>
            <a:r>
              <a:rPr lang="en-US" sz="2400"/>
              <a:t>Runway(s): 1 (Runway: 10,000 feet long)</a:t>
            </a:r>
            <a:endParaRPr/>
          </a:p>
        </p:txBody>
      </p:sp>
      <p:sp>
        <p:nvSpPr>
          <p:cNvPr id="185" name="Google Shape;185;p16"/>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Installation Facts – (APAFR)</a:t>
            </a:r>
            <a:endParaRPr/>
          </a:p>
        </p:txBody>
      </p:sp>
      <p:sp>
        <p:nvSpPr>
          <p:cNvPr id="191" name="Google Shape;191;p17"/>
          <p:cNvSpPr txBox="1">
            <a:spLocks noGrp="1"/>
          </p:cNvSpPr>
          <p:nvPr>
            <p:ph type="body" idx="1"/>
          </p:nvPr>
        </p:nvSpPr>
        <p:spPr>
          <a:xfrm>
            <a:off x="304800" y="1216025"/>
            <a:ext cx="8534400" cy="530383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MAJCOM: Air Combat Command</a:t>
            </a:r>
            <a:endParaRPr/>
          </a:p>
          <a:p>
            <a:pPr marL="342900" lvl="0" indent="-342900" algn="l" rtl="0">
              <a:spcBef>
                <a:spcPts val="480"/>
              </a:spcBef>
              <a:spcAft>
                <a:spcPts val="0"/>
              </a:spcAft>
              <a:buClr>
                <a:schemeClr val="dk1"/>
              </a:buClr>
              <a:buSzPts val="2400"/>
              <a:buFont typeface="Arial"/>
              <a:buChar char="•"/>
            </a:pPr>
            <a:r>
              <a:rPr lang="en-US" sz="2400"/>
              <a:t>Host Unit: Moody Air Force Base </a:t>
            </a:r>
            <a:endParaRPr/>
          </a:p>
          <a:p>
            <a:pPr marL="342900" lvl="0" indent="-342900" algn="l" rtl="0">
              <a:spcBef>
                <a:spcPts val="480"/>
              </a:spcBef>
              <a:spcAft>
                <a:spcPts val="0"/>
              </a:spcAft>
              <a:buClr>
                <a:schemeClr val="dk1"/>
              </a:buClr>
              <a:buSzPts val="2400"/>
              <a:buFont typeface="Arial"/>
              <a:buChar char="•"/>
            </a:pPr>
            <a:r>
              <a:rPr lang="en-US" sz="2400"/>
              <a:t>Wings: 23 WG</a:t>
            </a:r>
            <a:endParaRPr/>
          </a:p>
          <a:p>
            <a:pPr marL="342900" lvl="0" indent="-342900" algn="l" rtl="0">
              <a:spcBef>
                <a:spcPts val="480"/>
              </a:spcBef>
              <a:spcAft>
                <a:spcPts val="0"/>
              </a:spcAft>
              <a:buClr>
                <a:schemeClr val="dk1"/>
              </a:buClr>
              <a:buSzPts val="2400"/>
              <a:buFont typeface="Arial"/>
              <a:buChar char="•"/>
            </a:pPr>
            <a:r>
              <a:rPr lang="en-US" sz="2400"/>
              <a:t>Major Tenants: Florida National Guard</a:t>
            </a:r>
            <a:endParaRPr/>
          </a:p>
          <a:p>
            <a:pPr marL="342900" lvl="0" indent="-342900" algn="l" rtl="0">
              <a:spcBef>
                <a:spcPts val="480"/>
              </a:spcBef>
              <a:spcAft>
                <a:spcPts val="0"/>
              </a:spcAft>
              <a:buClr>
                <a:schemeClr val="dk1"/>
              </a:buClr>
              <a:buSzPts val="2400"/>
              <a:buFont typeface="Arial"/>
              <a:buChar char="•"/>
            </a:pPr>
            <a:r>
              <a:rPr lang="en-US" sz="2400"/>
              <a:t>Mission: Provide a sustainable world class training complex focused on advanced, realistic and relevant training for joint, interagency and multinational partners excelling in air ground integration and Agile Combat Employment </a:t>
            </a:r>
            <a:endParaRPr/>
          </a:p>
          <a:p>
            <a:pPr marL="342900" lvl="0" indent="-342900" algn="l" rtl="0">
              <a:spcBef>
                <a:spcPts val="480"/>
              </a:spcBef>
              <a:spcAft>
                <a:spcPts val="0"/>
              </a:spcAft>
              <a:buClr>
                <a:schemeClr val="dk1"/>
              </a:buClr>
              <a:buSzPts val="2400"/>
              <a:buFont typeface="Arial"/>
              <a:buChar char="•"/>
            </a:pPr>
            <a:r>
              <a:rPr lang="en-US" sz="2400"/>
              <a:t>Size: 106,074 acres </a:t>
            </a:r>
            <a:endParaRPr/>
          </a:p>
          <a:p>
            <a:pPr marL="342900" lvl="0" indent="-342900" algn="l" rtl="0">
              <a:spcBef>
                <a:spcPts val="480"/>
              </a:spcBef>
              <a:spcAft>
                <a:spcPts val="0"/>
              </a:spcAft>
              <a:buClr>
                <a:schemeClr val="dk1"/>
              </a:buClr>
              <a:buSzPts val="2400"/>
              <a:buFont typeface="Arial"/>
              <a:buChar char="•"/>
            </a:pPr>
            <a:r>
              <a:rPr lang="en-US" sz="2400"/>
              <a:t>Runway(s): 1 (Runway: 8,000 feet long)</a:t>
            </a:r>
            <a:endParaRPr/>
          </a:p>
        </p:txBody>
      </p:sp>
      <p:sp>
        <p:nvSpPr>
          <p:cNvPr id="192" name="Google Shape;192;p17"/>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8"/>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Base Access – PSFB</a:t>
            </a:r>
            <a:endParaRPr/>
          </a:p>
        </p:txBody>
      </p:sp>
      <p:sp>
        <p:nvSpPr>
          <p:cNvPr id="198" name="Google Shape;198;p18"/>
          <p:cNvSpPr txBox="1">
            <a:spLocks noGrp="1"/>
          </p:cNvSpPr>
          <p:nvPr>
            <p:ph type="body" idx="1"/>
          </p:nvPr>
        </p:nvSpPr>
        <p:spPr>
          <a:xfrm>
            <a:off x="304800" y="1216024"/>
            <a:ext cx="8534400" cy="426032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Gates: PSFB East Gate</a:t>
            </a:r>
            <a:endParaRPr/>
          </a:p>
          <a:p>
            <a:pPr marL="342900" lvl="0" indent="-342900" algn="l" rtl="0">
              <a:spcBef>
                <a:spcPts val="480"/>
              </a:spcBef>
              <a:spcAft>
                <a:spcPts val="0"/>
              </a:spcAft>
              <a:buClr>
                <a:schemeClr val="dk1"/>
              </a:buClr>
              <a:buSzPts val="2400"/>
              <a:buFont typeface="Arial"/>
              <a:buChar char="•"/>
            </a:pPr>
            <a:r>
              <a:rPr lang="en-US" sz="2400"/>
              <a:t>Operating Hours: 24 / 7</a:t>
            </a:r>
            <a:endParaRPr/>
          </a:p>
          <a:p>
            <a:pPr marL="342900" lvl="0" indent="-342900" algn="l" rtl="0">
              <a:spcBef>
                <a:spcPts val="480"/>
              </a:spcBef>
              <a:spcAft>
                <a:spcPts val="0"/>
              </a:spcAft>
              <a:buClr>
                <a:schemeClr val="dk1"/>
              </a:buClr>
              <a:buSzPts val="2400"/>
              <a:buFont typeface="Arial"/>
              <a:buChar char="•"/>
            </a:pPr>
            <a:r>
              <a:rPr lang="en-US" sz="2400"/>
              <a:t>Essential Activities: Authorized DoD ID card holders can escort passengers in their vehicle. EVERY passenger 18+ must show a REAL ID–compliant ID at the gate. This ensures 100% verification of all personnel entering the installation. All individuals entering Patrick SFB must be U.S. citizens and meet federal access standards</a:t>
            </a:r>
            <a:endParaRPr/>
          </a:p>
          <a:p>
            <a:pPr marL="342900" lvl="0" indent="-342900" algn="l" rtl="0">
              <a:spcBef>
                <a:spcPts val="480"/>
              </a:spcBef>
              <a:spcAft>
                <a:spcPts val="0"/>
              </a:spcAft>
              <a:buClr>
                <a:schemeClr val="dk1"/>
              </a:buClr>
              <a:buSzPts val="2400"/>
              <a:buFont typeface="Arial"/>
              <a:buChar char="•"/>
            </a:pPr>
            <a:r>
              <a:rPr lang="en-US" sz="2400"/>
              <a:t>Visitor Center: 0730-1630 (321) 494-0427</a:t>
            </a:r>
            <a:endParaRPr/>
          </a:p>
          <a:p>
            <a:pPr marL="342900" lvl="0" indent="-165100" algn="l" rtl="0">
              <a:spcBef>
                <a:spcPts val="560"/>
              </a:spcBef>
              <a:spcAft>
                <a:spcPts val="0"/>
              </a:spcAft>
              <a:buClr>
                <a:schemeClr val="dk1"/>
              </a:buClr>
              <a:buSzPts val="2800"/>
              <a:buFont typeface="Arial"/>
              <a:buNone/>
            </a:pPr>
            <a:endParaRPr/>
          </a:p>
        </p:txBody>
      </p:sp>
      <p:sp>
        <p:nvSpPr>
          <p:cNvPr id="199" name="Google Shape;199;p18"/>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9"/>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Base Access – CCSFS</a:t>
            </a:r>
            <a:endParaRPr/>
          </a:p>
        </p:txBody>
      </p:sp>
      <p:sp>
        <p:nvSpPr>
          <p:cNvPr id="205" name="Google Shape;205;p19"/>
          <p:cNvSpPr txBox="1">
            <a:spLocks noGrp="1"/>
          </p:cNvSpPr>
          <p:nvPr>
            <p:ph type="body" idx="1"/>
          </p:nvPr>
        </p:nvSpPr>
        <p:spPr>
          <a:xfrm>
            <a:off x="304800" y="1216024"/>
            <a:ext cx="8534400" cy="426032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Gates: CCSFS Main Gate</a:t>
            </a:r>
            <a:endParaRPr/>
          </a:p>
          <a:p>
            <a:pPr marL="342900" lvl="0" indent="-342900" algn="l" rtl="0">
              <a:spcBef>
                <a:spcPts val="480"/>
              </a:spcBef>
              <a:spcAft>
                <a:spcPts val="0"/>
              </a:spcAft>
              <a:buClr>
                <a:schemeClr val="dk1"/>
              </a:buClr>
              <a:buSzPts val="2400"/>
              <a:buFont typeface="Arial"/>
              <a:buChar char="•"/>
            </a:pPr>
            <a:r>
              <a:rPr lang="en-US" sz="2400"/>
              <a:t>Operating Hours: 24 / 7</a:t>
            </a:r>
            <a:endParaRPr/>
          </a:p>
          <a:p>
            <a:pPr marL="342900" lvl="0" indent="-342900" algn="l" rtl="0">
              <a:spcBef>
                <a:spcPts val="480"/>
              </a:spcBef>
              <a:spcAft>
                <a:spcPts val="0"/>
              </a:spcAft>
              <a:buClr>
                <a:schemeClr val="dk1"/>
              </a:buClr>
              <a:buSzPts val="2400"/>
              <a:buFont typeface="Arial"/>
              <a:buChar char="•"/>
            </a:pPr>
            <a:r>
              <a:rPr lang="en-US" sz="2400"/>
              <a:t>Essential Activities: Authorized DoD ID card holders CANNOT escort passengers in their vehicle. EVERY passenger 18+ must show a compliant ID at the gate. This ensures 100% verification of all personnel entering the installation. All individuals entering CCSFS must be U.S. citizens and meet federal access standards</a:t>
            </a:r>
            <a:endParaRPr/>
          </a:p>
          <a:p>
            <a:pPr marL="342900" lvl="0" indent="-342900" algn="l" rtl="0">
              <a:spcBef>
                <a:spcPts val="480"/>
              </a:spcBef>
              <a:spcAft>
                <a:spcPts val="0"/>
              </a:spcAft>
              <a:buClr>
                <a:schemeClr val="dk1"/>
              </a:buClr>
              <a:buSzPts val="2400"/>
              <a:buFont typeface="Arial"/>
              <a:buChar char="•"/>
            </a:pPr>
            <a:r>
              <a:rPr lang="en-US" sz="2400"/>
              <a:t>Visitor Center: 0730-1630 (321) 853-5261</a:t>
            </a:r>
            <a:endParaRPr/>
          </a:p>
          <a:p>
            <a:pPr marL="342900" lvl="0" indent="-165100" algn="l" rtl="0">
              <a:spcBef>
                <a:spcPts val="560"/>
              </a:spcBef>
              <a:spcAft>
                <a:spcPts val="0"/>
              </a:spcAft>
              <a:buClr>
                <a:schemeClr val="dk1"/>
              </a:buClr>
              <a:buSzPts val="2800"/>
              <a:buFont typeface="Arial"/>
              <a:buNone/>
            </a:pPr>
            <a:endParaRPr/>
          </a:p>
        </p:txBody>
      </p:sp>
      <p:sp>
        <p:nvSpPr>
          <p:cNvPr id="206" name="Google Shape;206;p19"/>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0"/>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Base Access – APAFR</a:t>
            </a:r>
            <a:endParaRPr/>
          </a:p>
        </p:txBody>
      </p:sp>
      <p:sp>
        <p:nvSpPr>
          <p:cNvPr id="212" name="Google Shape;212;p20"/>
          <p:cNvSpPr txBox="1">
            <a:spLocks noGrp="1"/>
          </p:cNvSpPr>
          <p:nvPr>
            <p:ph type="body" idx="1"/>
          </p:nvPr>
        </p:nvSpPr>
        <p:spPr>
          <a:xfrm>
            <a:off x="304800" y="1216024"/>
            <a:ext cx="8534400" cy="4260327"/>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Gates: APAFR Park Entry Gate 29 – Code Required</a:t>
            </a:r>
            <a:endParaRPr/>
          </a:p>
          <a:p>
            <a:pPr marL="342900" lvl="0" indent="-342900" algn="l" rtl="0">
              <a:spcBef>
                <a:spcPts val="480"/>
              </a:spcBef>
              <a:spcAft>
                <a:spcPts val="0"/>
              </a:spcAft>
              <a:buClr>
                <a:schemeClr val="dk1"/>
              </a:buClr>
              <a:buSzPts val="2400"/>
              <a:buFont typeface="Arial"/>
              <a:buChar char="•"/>
            </a:pPr>
            <a:r>
              <a:rPr lang="en-US" sz="2400"/>
              <a:t>Operating Hours: 24 / 7 </a:t>
            </a:r>
            <a:endParaRPr/>
          </a:p>
          <a:p>
            <a:pPr marL="342900" lvl="0" indent="-342900" algn="l" rtl="0">
              <a:spcBef>
                <a:spcPts val="480"/>
              </a:spcBef>
              <a:spcAft>
                <a:spcPts val="0"/>
              </a:spcAft>
              <a:buClr>
                <a:schemeClr val="dk1"/>
              </a:buClr>
              <a:buSzPts val="2400"/>
              <a:buFont typeface="Arial"/>
              <a:buChar char="•"/>
            </a:pPr>
            <a:r>
              <a:rPr lang="en-US" sz="2400"/>
              <a:t>Essential Activities: There is no active guard on duty at APAFR.  All visitors must have a valid reason to obtain access.  Access is granted by calling Production Control.</a:t>
            </a:r>
            <a:endParaRPr/>
          </a:p>
          <a:p>
            <a:pPr marL="342900" lvl="0" indent="-342900" algn="l" rtl="0">
              <a:spcBef>
                <a:spcPts val="480"/>
              </a:spcBef>
              <a:spcAft>
                <a:spcPts val="0"/>
              </a:spcAft>
              <a:buClr>
                <a:schemeClr val="dk1"/>
              </a:buClr>
              <a:buSzPts val="2400"/>
              <a:buFont typeface="Arial"/>
              <a:buChar char="•"/>
            </a:pPr>
            <a:r>
              <a:rPr lang="en-US" sz="2400"/>
              <a:t>Production Control: 863-452-3100 call for access code </a:t>
            </a:r>
            <a:endParaRPr/>
          </a:p>
          <a:p>
            <a:pPr marL="342900" lvl="0" indent="-165100" algn="l" rtl="0">
              <a:spcBef>
                <a:spcPts val="560"/>
              </a:spcBef>
              <a:spcAft>
                <a:spcPts val="0"/>
              </a:spcAft>
              <a:buClr>
                <a:schemeClr val="dk1"/>
              </a:buClr>
              <a:buSzPts val="2800"/>
              <a:buFont typeface="Arial"/>
              <a:buNone/>
            </a:pPr>
            <a:endParaRPr/>
          </a:p>
        </p:txBody>
      </p:sp>
      <p:sp>
        <p:nvSpPr>
          <p:cNvPr id="213" name="Google Shape;213;p20"/>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1"/>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Spaceport of the Future</a:t>
            </a:r>
            <a:endParaRPr/>
          </a:p>
        </p:txBody>
      </p:sp>
      <p:sp>
        <p:nvSpPr>
          <p:cNvPr id="219" name="Google Shape;219;p21"/>
          <p:cNvSpPr txBox="1">
            <a:spLocks noGrp="1"/>
          </p:cNvSpPr>
          <p:nvPr>
            <p:ph type="body" idx="1"/>
          </p:nvPr>
        </p:nvSpPr>
        <p:spPr>
          <a:xfrm>
            <a:off x="304800" y="1216024"/>
            <a:ext cx="8534400" cy="5303839"/>
          </a:xfrm>
          <a:prstGeom prst="rect">
            <a:avLst/>
          </a:prstGeom>
          <a:noFill/>
          <a:ln>
            <a:noFill/>
          </a:ln>
        </p:spPr>
        <p:txBody>
          <a:bodyPr spcFirstLastPara="1" wrap="square" lIns="91425" tIns="45700" rIns="91425" bIns="45700" anchor="t" anchorCtr="0">
            <a:noAutofit/>
          </a:bodyPr>
          <a:lstStyle/>
          <a:p>
            <a:pPr marL="342900" lvl="1" indent="-342900" algn="l" rtl="0">
              <a:spcBef>
                <a:spcPts val="0"/>
              </a:spcBef>
              <a:spcAft>
                <a:spcPts val="0"/>
              </a:spcAft>
              <a:buClr>
                <a:schemeClr val="dk1"/>
              </a:buClr>
              <a:buSzPts val="2200"/>
              <a:buFont typeface="Arial"/>
              <a:buChar char="•"/>
            </a:pPr>
            <a:r>
              <a:rPr lang="en-US" sz="2200"/>
              <a:t>The U.S. Space Force’s Range of the Future 2028 Strategic Intent identified the requirement to increase launch posture over the next 10 years. Infrastructure must be improved to meet this new requirement.</a:t>
            </a:r>
            <a:endParaRPr sz="2200"/>
          </a:p>
          <a:p>
            <a:pPr marL="342900" lvl="0" indent="-342900" algn="l" rtl="0">
              <a:spcBef>
                <a:spcPts val="440"/>
              </a:spcBef>
              <a:spcAft>
                <a:spcPts val="0"/>
              </a:spcAft>
              <a:buClr>
                <a:schemeClr val="dk1"/>
              </a:buClr>
              <a:buSzPts val="2200"/>
              <a:buFont typeface="Arial"/>
              <a:buChar char="•"/>
            </a:pPr>
            <a:r>
              <a:rPr lang="en-US" sz="2200"/>
              <a:t>Primary Goals:</a:t>
            </a:r>
            <a:endParaRPr/>
          </a:p>
          <a:p>
            <a:pPr marL="742950" lvl="1" indent="-285750" algn="l" rtl="0">
              <a:spcBef>
                <a:spcPts val="440"/>
              </a:spcBef>
              <a:spcAft>
                <a:spcPts val="0"/>
              </a:spcAft>
              <a:buClr>
                <a:schemeClr val="dk1"/>
              </a:buClr>
              <a:buSzPts val="2200"/>
              <a:buFont typeface="Arial"/>
              <a:buChar char="•"/>
            </a:pPr>
            <a:r>
              <a:rPr lang="en-US" sz="2200"/>
              <a:t>Range must be able to support launching EVERY day.</a:t>
            </a:r>
            <a:endParaRPr/>
          </a:p>
          <a:p>
            <a:pPr marL="742950" lvl="1" indent="-285750" algn="l" rtl="0">
              <a:spcBef>
                <a:spcPts val="440"/>
              </a:spcBef>
              <a:spcAft>
                <a:spcPts val="0"/>
              </a:spcAft>
              <a:buClr>
                <a:schemeClr val="dk1"/>
              </a:buClr>
              <a:buSzPts val="2200"/>
              <a:buFont typeface="Arial"/>
              <a:buChar char="•"/>
            </a:pPr>
            <a:r>
              <a:rPr lang="en-US" sz="2200"/>
              <a:t>Range must be able to support multiple launches per day.</a:t>
            </a:r>
            <a:endParaRPr/>
          </a:p>
          <a:p>
            <a:pPr marL="742950" lvl="1" indent="-285750" algn="l" rtl="0">
              <a:spcBef>
                <a:spcPts val="440"/>
              </a:spcBef>
              <a:spcAft>
                <a:spcPts val="0"/>
              </a:spcAft>
              <a:buClr>
                <a:schemeClr val="dk1"/>
              </a:buClr>
              <a:buSzPts val="2200"/>
              <a:buFont typeface="Arial"/>
              <a:buChar char="•"/>
            </a:pPr>
            <a:r>
              <a:rPr lang="en-US" sz="2200"/>
              <a:t>Range must eliminate all critical day restrictions.</a:t>
            </a:r>
            <a:endParaRPr/>
          </a:p>
          <a:p>
            <a:pPr marL="742950" lvl="1" indent="-285750" algn="l" rtl="0">
              <a:spcBef>
                <a:spcPts val="440"/>
              </a:spcBef>
              <a:spcAft>
                <a:spcPts val="0"/>
              </a:spcAft>
              <a:buClr>
                <a:schemeClr val="dk1"/>
              </a:buClr>
              <a:buSzPts val="2200"/>
              <a:buFont typeface="Arial"/>
              <a:buChar char="•"/>
            </a:pPr>
            <a:r>
              <a:rPr lang="en-US" sz="2200"/>
              <a:t>Establish infrastructure redundancy and resiliency.</a:t>
            </a:r>
            <a:endParaRPr/>
          </a:p>
          <a:p>
            <a:pPr marL="742950" lvl="1" indent="-285750" algn="l" rtl="0">
              <a:spcBef>
                <a:spcPts val="440"/>
              </a:spcBef>
              <a:spcAft>
                <a:spcPts val="0"/>
              </a:spcAft>
              <a:buClr>
                <a:schemeClr val="dk1"/>
              </a:buClr>
              <a:buSzPts val="2200"/>
              <a:buFont typeface="Arial"/>
              <a:buChar char="•"/>
            </a:pPr>
            <a:r>
              <a:rPr lang="en-US" sz="2200"/>
              <a:t>Reduce personnel impacts associated with launch and landing activities.</a:t>
            </a:r>
            <a:endParaRPr/>
          </a:p>
          <a:p>
            <a:pPr marL="742950" lvl="1" indent="-285750" algn="l" rtl="0">
              <a:spcBef>
                <a:spcPts val="440"/>
              </a:spcBef>
              <a:spcAft>
                <a:spcPts val="0"/>
              </a:spcAft>
              <a:buClr>
                <a:schemeClr val="dk1"/>
              </a:buClr>
              <a:buSzPts val="2200"/>
              <a:buFont typeface="Arial"/>
              <a:buChar char="•"/>
            </a:pPr>
            <a:r>
              <a:rPr lang="en-US" sz="2200"/>
              <a:t>Quick execution projects by completing environmental planning upfront.</a:t>
            </a:r>
            <a:endParaRPr/>
          </a:p>
        </p:txBody>
      </p:sp>
      <p:sp>
        <p:nvSpPr>
          <p:cNvPr id="220" name="Google Shape;220;p21"/>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2"/>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Spaceport of the Future</a:t>
            </a:r>
            <a:endParaRPr/>
          </a:p>
        </p:txBody>
      </p:sp>
      <p:sp>
        <p:nvSpPr>
          <p:cNvPr id="226" name="Google Shape;226;p22"/>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22</a:t>
            </a:fld>
            <a:endParaRPr/>
          </a:p>
        </p:txBody>
      </p:sp>
      <p:pic>
        <p:nvPicPr>
          <p:cNvPr id="227" name="Google Shape;227;p22" descr="Map&#10;&#10;AI-generated content may be incorrect."/>
          <p:cNvPicPr preferRelativeResize="0">
            <a:picLocks noGrp="1"/>
          </p:cNvPicPr>
          <p:nvPr>
            <p:ph type="body" idx="1"/>
          </p:nvPr>
        </p:nvPicPr>
        <p:blipFill rotWithShape="1">
          <a:blip r:embed="rId3">
            <a:alphaModFix/>
          </a:blip>
          <a:srcRect l="6383" t="11513" r="9690" b="309"/>
          <a:stretch/>
        </p:blipFill>
        <p:spPr>
          <a:xfrm>
            <a:off x="381837" y="1215851"/>
            <a:ext cx="8370277" cy="530401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3"/>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Spaceport of the Future</a:t>
            </a:r>
            <a:endParaRPr/>
          </a:p>
        </p:txBody>
      </p:sp>
      <p:sp>
        <p:nvSpPr>
          <p:cNvPr id="233" name="Google Shape;233;p23"/>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23</a:t>
            </a:fld>
            <a:endParaRPr/>
          </a:p>
        </p:txBody>
      </p:sp>
      <p:pic>
        <p:nvPicPr>
          <p:cNvPr id="234" name="Google Shape;234;p23" descr="Graphical user interface, diagram&#10;&#10;AI-generated content may be incorrect."/>
          <p:cNvPicPr preferRelativeResize="0">
            <a:picLocks noGrp="1"/>
          </p:cNvPicPr>
          <p:nvPr>
            <p:ph type="body" idx="1"/>
          </p:nvPr>
        </p:nvPicPr>
        <p:blipFill rotWithShape="1">
          <a:blip r:embed="rId3">
            <a:alphaModFix/>
          </a:blip>
          <a:srcRect l="6226" t="11807" r="9689" b="308"/>
          <a:stretch/>
        </p:blipFill>
        <p:spPr>
          <a:xfrm>
            <a:off x="371789" y="1225900"/>
            <a:ext cx="8400422" cy="52939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4"/>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Environmental Program Areas</a:t>
            </a:r>
            <a:endParaRPr/>
          </a:p>
        </p:txBody>
      </p:sp>
      <p:sp>
        <p:nvSpPr>
          <p:cNvPr id="240" name="Google Shape;240;p24"/>
          <p:cNvSpPr txBox="1">
            <a:spLocks noGrp="1"/>
          </p:cNvSpPr>
          <p:nvPr>
            <p:ph type="body" idx="1"/>
          </p:nvPr>
        </p:nvSpPr>
        <p:spPr>
          <a:xfrm>
            <a:off x="304800" y="1216025"/>
            <a:ext cx="8534400" cy="530383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Hazardous Waste/Hazardous Materials</a:t>
            </a:r>
            <a:endParaRPr/>
          </a:p>
          <a:p>
            <a:pPr marL="342900" lvl="0" indent="-342900" algn="l" rtl="0">
              <a:spcBef>
                <a:spcPts val="480"/>
              </a:spcBef>
              <a:spcAft>
                <a:spcPts val="0"/>
              </a:spcAft>
              <a:buClr>
                <a:schemeClr val="dk1"/>
              </a:buClr>
              <a:buSzPts val="2400"/>
              <a:buFont typeface="Arial"/>
              <a:buChar char="•"/>
            </a:pPr>
            <a:r>
              <a:rPr lang="en-US" sz="2400"/>
              <a:t>Env Sampling, Analysis &amp; Monitoring</a:t>
            </a:r>
            <a:endParaRPr/>
          </a:p>
          <a:p>
            <a:pPr marL="342900" lvl="0" indent="-342900" algn="l" rtl="0">
              <a:spcBef>
                <a:spcPts val="480"/>
              </a:spcBef>
              <a:spcAft>
                <a:spcPts val="0"/>
              </a:spcAft>
              <a:buClr>
                <a:schemeClr val="dk1"/>
              </a:buClr>
              <a:buSzPts val="2400"/>
              <a:buFont typeface="Arial"/>
              <a:buChar char="•"/>
            </a:pPr>
            <a:r>
              <a:rPr lang="en-US" sz="2400"/>
              <a:t>Air Quality</a:t>
            </a:r>
            <a:endParaRPr/>
          </a:p>
          <a:p>
            <a:pPr marL="342900" lvl="0" indent="-342900" algn="l" rtl="0">
              <a:spcBef>
                <a:spcPts val="480"/>
              </a:spcBef>
              <a:spcAft>
                <a:spcPts val="0"/>
              </a:spcAft>
              <a:buClr>
                <a:schemeClr val="dk1"/>
              </a:buClr>
              <a:buSzPts val="2400"/>
              <a:buFont typeface="Arial"/>
              <a:buChar char="•"/>
            </a:pPr>
            <a:r>
              <a:rPr lang="en-US" sz="2400"/>
              <a:t>Wastewater/Stormwater</a:t>
            </a:r>
            <a:endParaRPr/>
          </a:p>
          <a:p>
            <a:pPr marL="342900" lvl="0" indent="-342900" algn="l" rtl="0">
              <a:spcBef>
                <a:spcPts val="480"/>
              </a:spcBef>
              <a:spcAft>
                <a:spcPts val="0"/>
              </a:spcAft>
              <a:buClr>
                <a:schemeClr val="dk1"/>
              </a:buClr>
              <a:buSzPts val="2400"/>
              <a:buFont typeface="Arial"/>
              <a:buChar char="•"/>
            </a:pPr>
            <a:r>
              <a:rPr lang="en-US" sz="2400"/>
              <a:t>Solid Waste</a:t>
            </a:r>
            <a:endParaRPr/>
          </a:p>
          <a:p>
            <a:pPr marL="342900" lvl="0" indent="-342900" algn="l" rtl="0">
              <a:spcBef>
                <a:spcPts val="480"/>
              </a:spcBef>
              <a:spcAft>
                <a:spcPts val="0"/>
              </a:spcAft>
              <a:buClr>
                <a:schemeClr val="dk1"/>
              </a:buClr>
              <a:buSzPts val="2400"/>
              <a:buFont typeface="Arial"/>
              <a:buChar char="•"/>
            </a:pPr>
            <a:r>
              <a:rPr lang="en-US" sz="2400"/>
              <a:t>Environmental Management System</a:t>
            </a:r>
            <a:endParaRPr/>
          </a:p>
          <a:p>
            <a:pPr marL="342900" lvl="0" indent="-342900" algn="l" rtl="0">
              <a:spcBef>
                <a:spcPts val="480"/>
              </a:spcBef>
              <a:spcAft>
                <a:spcPts val="0"/>
              </a:spcAft>
              <a:buClr>
                <a:schemeClr val="dk1"/>
              </a:buClr>
              <a:buSzPts val="2400"/>
              <a:buFont typeface="Arial"/>
              <a:buChar char="•"/>
            </a:pPr>
            <a:r>
              <a:rPr lang="en-US" sz="2400"/>
              <a:t>Petroleum, Oil and Lubricants</a:t>
            </a:r>
            <a:endParaRPr/>
          </a:p>
          <a:p>
            <a:pPr marL="342900" lvl="0" indent="-342900" algn="l" rtl="0">
              <a:spcBef>
                <a:spcPts val="480"/>
              </a:spcBef>
              <a:spcAft>
                <a:spcPts val="0"/>
              </a:spcAft>
              <a:buClr>
                <a:schemeClr val="dk1"/>
              </a:buClr>
              <a:buSzPts val="2400"/>
              <a:buFont typeface="Arial"/>
              <a:buChar char="•"/>
            </a:pPr>
            <a:r>
              <a:rPr lang="en-US" sz="2400"/>
              <a:t>Toxics</a:t>
            </a:r>
            <a:endParaRPr/>
          </a:p>
          <a:p>
            <a:pPr marL="342900" lvl="0" indent="-342900" algn="l" rtl="0">
              <a:spcBef>
                <a:spcPts val="480"/>
              </a:spcBef>
              <a:spcAft>
                <a:spcPts val="0"/>
              </a:spcAft>
              <a:buClr>
                <a:schemeClr val="dk1"/>
              </a:buClr>
              <a:buSzPts val="2400"/>
              <a:buFont typeface="Arial"/>
              <a:buChar char="•"/>
            </a:pPr>
            <a:r>
              <a:rPr lang="en-US" sz="2400"/>
              <a:t>Public Notifications</a:t>
            </a:r>
            <a:endParaRPr/>
          </a:p>
          <a:p>
            <a:pPr marL="342900" lvl="0" indent="-342900" algn="l" rtl="0">
              <a:spcBef>
                <a:spcPts val="480"/>
              </a:spcBef>
              <a:spcAft>
                <a:spcPts val="0"/>
              </a:spcAft>
              <a:buClr>
                <a:schemeClr val="dk1"/>
              </a:buClr>
              <a:buSzPts val="2400"/>
              <a:buFont typeface="Arial"/>
              <a:buChar char="•"/>
            </a:pPr>
            <a:r>
              <a:rPr lang="en-US" sz="2400"/>
              <a:t>Plans/Permits</a:t>
            </a:r>
            <a:endParaRPr/>
          </a:p>
          <a:p>
            <a:pPr marL="342900" lvl="0" indent="-342900" algn="l" rtl="0">
              <a:spcBef>
                <a:spcPts val="480"/>
              </a:spcBef>
              <a:spcAft>
                <a:spcPts val="0"/>
              </a:spcAft>
              <a:buClr>
                <a:schemeClr val="dk1"/>
              </a:buClr>
              <a:buSzPts val="2400"/>
              <a:buFont typeface="Arial"/>
              <a:buChar char="•"/>
            </a:pPr>
            <a:r>
              <a:rPr lang="en-US" sz="2400"/>
              <a:t>Review Taskers</a:t>
            </a:r>
            <a:endParaRPr/>
          </a:p>
          <a:p>
            <a:pPr marL="342900" lvl="0" indent="-342900" algn="l" rtl="0">
              <a:spcBef>
                <a:spcPts val="480"/>
              </a:spcBef>
              <a:spcAft>
                <a:spcPts val="0"/>
              </a:spcAft>
              <a:buClr>
                <a:schemeClr val="dk1"/>
              </a:buClr>
              <a:buSzPts val="2400"/>
              <a:buFont typeface="Arial"/>
              <a:buChar char="•"/>
            </a:pPr>
            <a:r>
              <a:rPr lang="en-US" sz="2400"/>
              <a:t>NEPA</a:t>
            </a:r>
            <a:endParaRPr/>
          </a:p>
          <a:p>
            <a:pPr marL="342900" lvl="0" indent="-165100" algn="l" rtl="0">
              <a:spcBef>
                <a:spcPts val="560"/>
              </a:spcBef>
              <a:spcAft>
                <a:spcPts val="0"/>
              </a:spcAft>
              <a:buClr>
                <a:schemeClr val="dk1"/>
              </a:buClr>
              <a:buSzPts val="2800"/>
              <a:buFont typeface="Arial"/>
              <a:buNone/>
            </a:pPr>
            <a:endParaRPr/>
          </a:p>
        </p:txBody>
      </p:sp>
      <p:sp>
        <p:nvSpPr>
          <p:cNvPr id="241" name="Google Shape;241;p24"/>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5"/>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Hazardous Waste</a:t>
            </a:r>
            <a:endParaRPr/>
          </a:p>
        </p:txBody>
      </p:sp>
      <p:sp>
        <p:nvSpPr>
          <p:cNvPr id="247" name="Google Shape;247;p25"/>
          <p:cNvSpPr txBox="1">
            <a:spLocks noGrp="1"/>
          </p:cNvSpPr>
          <p:nvPr>
            <p:ph type="body" idx="1"/>
          </p:nvPr>
        </p:nvSpPr>
        <p:spPr>
          <a:xfrm>
            <a:off x="304800" y="1216024"/>
            <a:ext cx="8534400" cy="421008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Font typeface="Arial"/>
              <a:buNone/>
            </a:pPr>
            <a:r>
              <a:rPr lang="en-US" sz="2400"/>
              <a:t>				TSDF:		HWAS:</a:t>
            </a:r>
            <a:endParaRPr/>
          </a:p>
          <a:p>
            <a:pPr marL="742950" lvl="1" indent="-285750" algn="l" rtl="0">
              <a:spcBef>
                <a:spcPts val="480"/>
              </a:spcBef>
              <a:spcAft>
                <a:spcPts val="0"/>
              </a:spcAft>
              <a:buClr>
                <a:schemeClr val="dk1"/>
              </a:buClr>
              <a:buSzPts val="2400"/>
              <a:buFont typeface="Arial"/>
              <a:buChar char="•"/>
            </a:pPr>
            <a:r>
              <a:rPr lang="en-US"/>
              <a:t>PSFB (LQG) 	 	2		11</a:t>
            </a:r>
            <a:endParaRPr/>
          </a:p>
          <a:p>
            <a:pPr marL="742950" lvl="1" indent="-285750" algn="l" rtl="0">
              <a:spcBef>
                <a:spcPts val="480"/>
              </a:spcBef>
              <a:spcAft>
                <a:spcPts val="0"/>
              </a:spcAft>
              <a:buClr>
                <a:schemeClr val="dk1"/>
              </a:buClr>
              <a:buSzPts val="2400"/>
              <a:buFont typeface="Arial"/>
              <a:buChar char="•"/>
            </a:pPr>
            <a:r>
              <a:rPr lang="en-US"/>
              <a:t>CCSFS (LQG)	 	1 		15</a:t>
            </a:r>
            <a:endParaRPr/>
          </a:p>
          <a:p>
            <a:pPr marL="742950" lvl="1" indent="-285750" algn="l" rtl="0">
              <a:spcBef>
                <a:spcPts val="480"/>
              </a:spcBef>
              <a:spcAft>
                <a:spcPts val="0"/>
              </a:spcAft>
              <a:buClr>
                <a:schemeClr val="dk1"/>
              </a:buClr>
              <a:buSzPts val="2400"/>
              <a:buFont typeface="Arial"/>
              <a:buChar char="•"/>
            </a:pPr>
            <a:r>
              <a:rPr lang="en-US"/>
              <a:t>APAFR (SQG) 	1		1</a:t>
            </a:r>
            <a:endParaRPr/>
          </a:p>
          <a:p>
            <a:pPr marL="742950" lvl="1" indent="-133350" algn="l" rtl="0">
              <a:spcBef>
                <a:spcPts val="480"/>
              </a:spcBef>
              <a:spcAft>
                <a:spcPts val="0"/>
              </a:spcAft>
              <a:buClr>
                <a:schemeClr val="dk1"/>
              </a:buClr>
              <a:buSzPts val="2400"/>
              <a:buFont typeface="Arial"/>
              <a:buNone/>
            </a:pPr>
            <a:endParaRPr/>
          </a:p>
          <a:p>
            <a:pPr marL="2686050" lvl="7" indent="0" algn="l" rtl="0">
              <a:spcBef>
                <a:spcPts val="480"/>
              </a:spcBef>
              <a:spcAft>
                <a:spcPts val="0"/>
              </a:spcAft>
              <a:buClr>
                <a:schemeClr val="dk1"/>
              </a:buClr>
              <a:buSzPts val="2000"/>
              <a:buFont typeface="Arial"/>
              <a:buNone/>
            </a:pPr>
            <a:r>
              <a:rPr lang="en-US"/>
              <a:t> 	</a:t>
            </a:r>
            <a:r>
              <a:rPr lang="en-US" sz="2400" b="1"/>
              <a:t>HM Shops:	IAP/HWAP:</a:t>
            </a:r>
            <a:endParaRPr/>
          </a:p>
          <a:p>
            <a:pPr marL="742950" lvl="1" indent="-285750" algn="l" rtl="0">
              <a:spcBef>
                <a:spcPts val="480"/>
              </a:spcBef>
              <a:spcAft>
                <a:spcPts val="0"/>
              </a:spcAft>
              <a:buClr>
                <a:schemeClr val="dk1"/>
              </a:buClr>
              <a:buSzPts val="2400"/>
              <a:buFont typeface="Arial"/>
              <a:buChar char="•"/>
            </a:pPr>
            <a:r>
              <a:rPr lang="en-US"/>
              <a:t>PSFB (LQG)    	136		53</a:t>
            </a:r>
            <a:endParaRPr/>
          </a:p>
          <a:p>
            <a:pPr marL="742950" lvl="1" indent="-285750" algn="l" rtl="0">
              <a:spcBef>
                <a:spcPts val="480"/>
              </a:spcBef>
              <a:spcAft>
                <a:spcPts val="0"/>
              </a:spcAft>
              <a:buClr>
                <a:schemeClr val="dk1"/>
              </a:buClr>
              <a:buSzPts val="2400"/>
              <a:buFont typeface="Arial"/>
              <a:buChar char="•"/>
            </a:pPr>
            <a:r>
              <a:rPr lang="en-US"/>
              <a:t>CCSFS (LQG)  	96		31</a:t>
            </a:r>
            <a:endParaRPr/>
          </a:p>
          <a:p>
            <a:pPr marL="742950" lvl="1" indent="-285750" algn="l" rtl="0">
              <a:spcBef>
                <a:spcPts val="480"/>
              </a:spcBef>
              <a:spcAft>
                <a:spcPts val="0"/>
              </a:spcAft>
              <a:buClr>
                <a:schemeClr val="dk1"/>
              </a:buClr>
              <a:buSzPts val="2400"/>
              <a:buFont typeface="Arial"/>
              <a:buChar char="•"/>
            </a:pPr>
            <a:r>
              <a:rPr lang="en-US"/>
              <a:t>APAFR (SQG)  	11		3</a:t>
            </a:r>
            <a:endParaRPr/>
          </a:p>
          <a:p>
            <a:pPr marL="342900" lvl="1" indent="-190500" algn="l" rtl="0">
              <a:spcBef>
                <a:spcPts val="480"/>
              </a:spcBef>
              <a:spcAft>
                <a:spcPts val="0"/>
              </a:spcAft>
              <a:buClr>
                <a:schemeClr val="dk1"/>
              </a:buClr>
              <a:buSzPts val="2400"/>
              <a:buFont typeface="Arial"/>
              <a:buNone/>
            </a:pPr>
            <a:endParaRPr/>
          </a:p>
        </p:txBody>
      </p:sp>
      <p:sp>
        <p:nvSpPr>
          <p:cNvPr id="248" name="Google Shape;248;p25"/>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6"/>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Env Sampling, Analysis &amp; Monitoring</a:t>
            </a:r>
            <a:endParaRPr/>
          </a:p>
        </p:txBody>
      </p:sp>
      <p:sp>
        <p:nvSpPr>
          <p:cNvPr id="254" name="Google Shape;254;p26"/>
          <p:cNvSpPr txBox="1">
            <a:spLocks noGrp="1"/>
          </p:cNvSpPr>
          <p:nvPr>
            <p:ph type="body" idx="1"/>
          </p:nvPr>
        </p:nvSpPr>
        <p:spPr>
          <a:xfrm>
            <a:off x="304800" y="1216025"/>
            <a:ext cx="8534400" cy="5375694"/>
          </a:xfrm>
          <a:prstGeom prst="rect">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Installation Sampling requirements have all been captured in the ESAM Plan</a:t>
            </a:r>
            <a:endParaRPr/>
          </a:p>
          <a:p>
            <a:pPr marL="742950" lvl="2" indent="-342900" algn="l" rtl="0">
              <a:spcBef>
                <a:spcPts val="480"/>
              </a:spcBef>
              <a:spcAft>
                <a:spcPts val="0"/>
              </a:spcAft>
              <a:buClr>
                <a:schemeClr val="dk1"/>
              </a:buClr>
              <a:buSzPts val="2400"/>
              <a:buFont typeface="Arial"/>
              <a:buChar char="•"/>
            </a:pPr>
            <a:r>
              <a:rPr lang="en-US" sz="2400" b="1">
                <a:solidFill>
                  <a:schemeClr val="dk1"/>
                </a:solidFill>
                <a:latin typeface="Arial"/>
                <a:ea typeface="Arial"/>
                <a:cs typeface="Arial"/>
                <a:sym typeface="Arial"/>
              </a:rPr>
              <a:t>Landfill, Wastewater, Stormwater, EOD	</a:t>
            </a:r>
            <a:endParaRPr/>
          </a:p>
          <a:p>
            <a:pPr marL="342900" lvl="1" indent="-342900" algn="l" rtl="0">
              <a:spcBef>
                <a:spcPts val="480"/>
              </a:spcBef>
              <a:spcAft>
                <a:spcPts val="0"/>
              </a:spcAft>
              <a:buClr>
                <a:schemeClr val="dk1"/>
              </a:buClr>
              <a:buSzPts val="2400"/>
              <a:buFont typeface="Arial"/>
              <a:buChar char="•"/>
            </a:pPr>
            <a:r>
              <a:rPr lang="en-US">
                <a:solidFill>
                  <a:schemeClr val="dk1"/>
                </a:solidFill>
                <a:latin typeface="Arial"/>
                <a:ea typeface="Arial"/>
                <a:cs typeface="Arial"/>
                <a:sym typeface="Arial"/>
              </a:rPr>
              <a:t>Unique Considerations</a:t>
            </a:r>
            <a:endParaRPr/>
          </a:p>
          <a:p>
            <a:pPr marL="742950" lvl="2" indent="-342900" algn="l" rtl="0">
              <a:spcBef>
                <a:spcPts val="480"/>
              </a:spcBef>
              <a:spcAft>
                <a:spcPts val="0"/>
              </a:spcAft>
              <a:buClr>
                <a:schemeClr val="dk1"/>
              </a:buClr>
              <a:buSzPts val="2400"/>
              <a:buFont typeface="Arial"/>
              <a:buChar char="•"/>
            </a:pPr>
            <a:r>
              <a:rPr lang="en-US" sz="2400" b="1">
                <a:solidFill>
                  <a:schemeClr val="dk1"/>
                </a:solidFill>
                <a:latin typeface="Arial"/>
                <a:ea typeface="Arial"/>
                <a:cs typeface="Arial"/>
                <a:sym typeface="Arial"/>
              </a:rPr>
              <a:t>Planning and scheduling are important due to launches</a:t>
            </a:r>
            <a:endParaRPr/>
          </a:p>
          <a:p>
            <a:pPr marL="742950" lvl="2" indent="-342900" algn="l" rtl="0">
              <a:spcBef>
                <a:spcPts val="480"/>
              </a:spcBef>
              <a:spcAft>
                <a:spcPts val="0"/>
              </a:spcAft>
              <a:buClr>
                <a:schemeClr val="dk1"/>
              </a:buClr>
              <a:buSzPts val="2400"/>
              <a:buFont typeface="Arial"/>
              <a:buChar char="•"/>
            </a:pPr>
            <a:r>
              <a:rPr lang="en-US" sz="2400" b="1">
                <a:solidFill>
                  <a:schemeClr val="dk1"/>
                </a:solidFill>
                <a:latin typeface="Arial"/>
                <a:ea typeface="Arial"/>
                <a:cs typeface="Arial"/>
                <a:sym typeface="Arial"/>
              </a:rPr>
              <a:t>Will have to contact EOD and CLOIS to gain access to the landfill and EOD range</a:t>
            </a:r>
            <a:endParaRPr sz="2000"/>
          </a:p>
          <a:p>
            <a:pPr marL="342900" lvl="0" indent="-342900" algn="l" rtl="0">
              <a:spcBef>
                <a:spcPts val="480"/>
              </a:spcBef>
              <a:spcAft>
                <a:spcPts val="0"/>
              </a:spcAft>
              <a:buClr>
                <a:schemeClr val="dk1"/>
              </a:buClr>
              <a:buSzPts val="2400"/>
              <a:buFont typeface="Arial"/>
              <a:buChar char="•"/>
            </a:pPr>
            <a:r>
              <a:rPr lang="en-US" sz="2400">
                <a:solidFill>
                  <a:schemeClr val="dk1"/>
                </a:solidFill>
                <a:latin typeface="Arial"/>
                <a:ea typeface="Arial"/>
                <a:cs typeface="Arial"/>
                <a:sym typeface="Arial"/>
              </a:rPr>
              <a:t>PWQ/TRP process is local to SLD 45</a:t>
            </a:r>
            <a:endParaRPr/>
          </a:p>
          <a:p>
            <a:pPr marL="742950" lvl="2" indent="-342900" algn="l" rtl="0">
              <a:spcBef>
                <a:spcPts val="480"/>
              </a:spcBef>
              <a:spcAft>
                <a:spcPts val="0"/>
              </a:spcAft>
              <a:buClr>
                <a:schemeClr val="dk1"/>
              </a:buClr>
              <a:buSzPts val="2400"/>
              <a:buFont typeface="Arial"/>
              <a:buChar char="•"/>
            </a:pPr>
            <a:r>
              <a:rPr lang="en-US" sz="2400" b="1">
                <a:solidFill>
                  <a:schemeClr val="dk1"/>
                </a:solidFill>
                <a:latin typeface="Arial"/>
                <a:ea typeface="Arial"/>
                <a:cs typeface="Arial"/>
                <a:sym typeface="Arial"/>
              </a:rPr>
              <a:t>Strict adherence to time frame to prevent mission impact</a:t>
            </a:r>
            <a:endParaRPr/>
          </a:p>
          <a:p>
            <a:pPr marL="742950" lvl="2" indent="-342900" algn="l" rtl="0">
              <a:spcBef>
                <a:spcPts val="480"/>
              </a:spcBef>
              <a:spcAft>
                <a:spcPts val="0"/>
              </a:spcAft>
              <a:buClr>
                <a:schemeClr val="dk1"/>
              </a:buClr>
              <a:buSzPts val="2400"/>
              <a:buFont typeface="Arial"/>
              <a:buChar char="•"/>
            </a:pPr>
            <a:r>
              <a:rPr lang="en-US" sz="2400" b="1">
                <a:solidFill>
                  <a:schemeClr val="dk1"/>
                </a:solidFill>
                <a:latin typeface="Arial"/>
                <a:ea typeface="Arial"/>
                <a:cs typeface="Arial"/>
                <a:sym typeface="Arial"/>
              </a:rPr>
              <a:t>Complete review of all chemical profiles every 5 years</a:t>
            </a:r>
            <a:endParaRPr/>
          </a:p>
        </p:txBody>
      </p:sp>
      <p:sp>
        <p:nvSpPr>
          <p:cNvPr id="255" name="Google Shape;255;p26"/>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7"/>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Air Quality</a:t>
            </a:r>
            <a:endParaRPr strike="sngStrike">
              <a:solidFill>
                <a:srgbClr val="FF0000"/>
              </a:solidFill>
            </a:endParaRPr>
          </a:p>
        </p:txBody>
      </p:sp>
      <p:sp>
        <p:nvSpPr>
          <p:cNvPr id="261" name="Google Shape;261;p27"/>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27</a:t>
            </a:fld>
            <a:endParaRPr/>
          </a:p>
        </p:txBody>
      </p:sp>
      <p:sp>
        <p:nvSpPr>
          <p:cNvPr id="262" name="Google Shape;262;p27"/>
          <p:cNvSpPr txBox="1">
            <a:spLocks noGrp="1"/>
          </p:cNvSpPr>
          <p:nvPr>
            <p:ph type="body" idx="1"/>
          </p:nvPr>
        </p:nvSpPr>
        <p:spPr>
          <a:xfrm>
            <a:off x="304800" y="1216024"/>
            <a:ext cx="8534400" cy="5064195"/>
          </a:xfrm>
          <a:prstGeom prst="rect">
            <a:avLst/>
          </a:prstGeom>
          <a:noFill/>
          <a:ln>
            <a:noFill/>
          </a:ln>
        </p:spPr>
        <p:txBody>
          <a:bodyPr spcFirstLastPara="1" wrap="square" lIns="91425" tIns="45700" rIns="91425" bIns="45700" anchor="t" anchorCtr="0">
            <a:noAutofit/>
          </a:bodyPr>
          <a:lstStyle/>
          <a:p>
            <a:pPr marL="274320" lvl="1" indent="-274320" algn="l" rtl="0">
              <a:lnSpc>
                <a:spcPct val="85000"/>
              </a:lnSpc>
              <a:spcBef>
                <a:spcPts val="0"/>
              </a:spcBef>
              <a:spcAft>
                <a:spcPts val="0"/>
              </a:spcAft>
              <a:buClr>
                <a:schemeClr val="dk1"/>
              </a:buClr>
              <a:buSzPts val="2400"/>
              <a:buFont typeface="Arial"/>
              <a:buChar char="•"/>
            </a:pPr>
            <a:r>
              <a:rPr lang="en-US"/>
              <a:t>Currently operating Air General Permit – Stationary Generators</a:t>
            </a:r>
            <a:endParaRPr/>
          </a:p>
          <a:p>
            <a:pPr marL="274320" lvl="1" indent="-274320" algn="l" rtl="0">
              <a:lnSpc>
                <a:spcPct val="85000"/>
              </a:lnSpc>
              <a:spcBef>
                <a:spcPts val="480"/>
              </a:spcBef>
              <a:spcAft>
                <a:spcPts val="0"/>
              </a:spcAft>
              <a:buClr>
                <a:schemeClr val="dk1"/>
              </a:buClr>
              <a:buSzPts val="2400"/>
              <a:buFont typeface="Arial"/>
              <a:buChar char="•"/>
            </a:pPr>
            <a:r>
              <a:rPr lang="en-US"/>
              <a:t>Multiple FDEP exemptions</a:t>
            </a:r>
            <a:endParaRPr/>
          </a:p>
          <a:p>
            <a:pPr marL="274320" lvl="1" indent="-274320" algn="l" rtl="0">
              <a:lnSpc>
                <a:spcPct val="85000"/>
              </a:lnSpc>
              <a:spcBef>
                <a:spcPts val="480"/>
              </a:spcBef>
              <a:spcAft>
                <a:spcPts val="0"/>
              </a:spcAft>
              <a:buClr>
                <a:schemeClr val="dk1"/>
              </a:buClr>
              <a:buSzPts val="2400"/>
              <a:buFont typeface="Arial"/>
              <a:buChar char="•"/>
            </a:pPr>
            <a:r>
              <a:rPr lang="en-US"/>
              <a:t>AEI completed in APIMS </a:t>
            </a:r>
            <a:endParaRPr/>
          </a:p>
          <a:p>
            <a:pPr marL="274320" lvl="1" indent="-274320" algn="l" rtl="0">
              <a:lnSpc>
                <a:spcPct val="85000"/>
              </a:lnSpc>
              <a:spcBef>
                <a:spcPts val="480"/>
              </a:spcBef>
              <a:spcAft>
                <a:spcPts val="0"/>
              </a:spcAft>
              <a:buClr>
                <a:schemeClr val="dk1"/>
              </a:buClr>
              <a:buSzPts val="2400"/>
              <a:buFont typeface="Arial"/>
              <a:buChar char="•"/>
            </a:pPr>
            <a:r>
              <a:rPr lang="en-US"/>
              <a:t>Semi-annual Monitoring Report – RICE NESHAP</a:t>
            </a:r>
            <a:endParaRPr/>
          </a:p>
          <a:p>
            <a:pPr marL="274320" lvl="1" indent="-274320" algn="l" rtl="0">
              <a:lnSpc>
                <a:spcPct val="85000"/>
              </a:lnSpc>
              <a:spcBef>
                <a:spcPts val="480"/>
              </a:spcBef>
              <a:spcAft>
                <a:spcPts val="0"/>
              </a:spcAft>
              <a:buClr>
                <a:schemeClr val="dk1"/>
              </a:buClr>
              <a:buSzPts val="2400"/>
              <a:buFont typeface="Arial"/>
              <a:buChar char="•"/>
            </a:pPr>
            <a:r>
              <a:rPr lang="en-US"/>
              <a:t>Trending toward Title V permit </a:t>
            </a:r>
            <a:endParaRPr/>
          </a:p>
          <a:p>
            <a:pPr marL="274320" lvl="1" indent="-121920" algn="l" rtl="0">
              <a:lnSpc>
                <a:spcPct val="85000"/>
              </a:lnSpc>
              <a:spcBef>
                <a:spcPts val="480"/>
              </a:spcBef>
              <a:spcAft>
                <a:spcPts val="0"/>
              </a:spcAft>
              <a:buClr>
                <a:schemeClr val="dk1"/>
              </a:buClr>
              <a:buSzPts val="2400"/>
              <a:buFont typeface="Arial"/>
              <a:buNone/>
            </a:pPr>
            <a:endParaRPr b="0"/>
          </a:p>
          <a:p>
            <a:pPr marL="274320" lvl="1" indent="-121920" algn="l" rtl="0">
              <a:lnSpc>
                <a:spcPct val="85000"/>
              </a:lnSpc>
              <a:spcBef>
                <a:spcPts val="480"/>
              </a:spcBef>
              <a:spcAft>
                <a:spcPts val="0"/>
              </a:spcAft>
              <a:buClr>
                <a:schemeClr val="dk1"/>
              </a:buClr>
              <a:buSzPts val="2400"/>
              <a:buFont typeface="Arial"/>
              <a:buNone/>
            </a:pPr>
            <a:endParaRPr b="0"/>
          </a:p>
          <a:p>
            <a:pPr marL="460375" lvl="0" indent="0" algn="l" rtl="0">
              <a:lnSpc>
                <a:spcPct val="80000"/>
              </a:lnSpc>
              <a:spcBef>
                <a:spcPts val="600"/>
              </a:spcBef>
              <a:spcAft>
                <a:spcPts val="0"/>
              </a:spcAft>
              <a:buClr>
                <a:schemeClr val="dk1"/>
              </a:buClr>
              <a:buSzPts val="2400"/>
              <a:buFont typeface="Arial"/>
              <a:buNone/>
            </a:pPr>
            <a:endParaRPr sz="2400" b="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8"/>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Wastewater &amp; Stormwater</a:t>
            </a:r>
            <a:endParaRPr>
              <a:solidFill>
                <a:srgbClr val="FF0000"/>
              </a:solidFill>
            </a:endParaRPr>
          </a:p>
        </p:txBody>
      </p:sp>
      <p:sp>
        <p:nvSpPr>
          <p:cNvPr id="268" name="Google Shape;268;p28"/>
          <p:cNvSpPr txBox="1">
            <a:spLocks noGrp="1"/>
          </p:cNvSpPr>
          <p:nvPr>
            <p:ph type="body" idx="1"/>
          </p:nvPr>
        </p:nvSpPr>
        <p:spPr>
          <a:xfrm>
            <a:off x="304800" y="1216025"/>
            <a:ext cx="8534400" cy="523393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MS4 Stormwater Permit </a:t>
            </a:r>
            <a:endParaRPr/>
          </a:p>
          <a:p>
            <a:pPr marL="576263" lvl="0" indent="-230188" algn="l" rtl="0">
              <a:spcBef>
                <a:spcPts val="0"/>
              </a:spcBef>
              <a:spcAft>
                <a:spcPts val="0"/>
              </a:spcAft>
              <a:buClr>
                <a:schemeClr val="dk1"/>
              </a:buClr>
              <a:buSzPts val="2400"/>
              <a:buFont typeface="Arial"/>
              <a:buChar char="•"/>
            </a:pPr>
            <a:r>
              <a:rPr lang="en-US" sz="2400"/>
              <a:t> PSFB – Base has (35) total outfalls</a:t>
            </a:r>
            <a:endParaRPr sz="2400" b="0"/>
          </a:p>
          <a:p>
            <a:pPr marL="342900" lvl="0" indent="-342900" algn="l" rtl="0">
              <a:spcBef>
                <a:spcPts val="0"/>
              </a:spcBef>
              <a:spcAft>
                <a:spcPts val="0"/>
              </a:spcAft>
              <a:buClr>
                <a:schemeClr val="dk1"/>
              </a:buClr>
              <a:buSzPts val="2400"/>
              <a:buFont typeface="Arial"/>
              <a:buChar char="•"/>
            </a:pPr>
            <a:r>
              <a:rPr lang="en-US" sz="2400"/>
              <a:t>MSGP Stormwater Permit</a:t>
            </a:r>
            <a:endParaRPr/>
          </a:p>
          <a:p>
            <a:pPr marL="576263" lvl="1" indent="-230188" algn="l" rtl="0">
              <a:spcBef>
                <a:spcPts val="0"/>
              </a:spcBef>
              <a:spcAft>
                <a:spcPts val="0"/>
              </a:spcAft>
              <a:buClr>
                <a:schemeClr val="dk1"/>
              </a:buClr>
              <a:buSzPts val="2400"/>
              <a:buFont typeface="Arial"/>
              <a:buChar char="•"/>
            </a:pPr>
            <a:r>
              <a:rPr lang="en-US"/>
              <a:t>CCSFS – (Sector Q and S) Wharves (4 qty) and Skid Strip; 20 outfalls</a:t>
            </a:r>
            <a:endParaRPr/>
          </a:p>
          <a:p>
            <a:pPr marL="576263" lvl="1" indent="-230188" algn="l" rtl="0">
              <a:spcBef>
                <a:spcPts val="0"/>
              </a:spcBef>
              <a:spcAft>
                <a:spcPts val="0"/>
              </a:spcAft>
              <a:buClr>
                <a:schemeClr val="dk1"/>
              </a:buClr>
              <a:buSzPts val="2400"/>
              <a:buFont typeface="Arial"/>
              <a:buChar char="•"/>
            </a:pPr>
            <a:r>
              <a:rPr lang="en-US"/>
              <a:t>PSFB – (Sector N, Q, and S) Marina (2 qty), Runway, and MRF; 21 outfalls, </a:t>
            </a:r>
            <a:endParaRPr/>
          </a:p>
          <a:p>
            <a:pPr marL="576263" lvl="1" indent="-230188" algn="l" rtl="0">
              <a:spcBef>
                <a:spcPts val="0"/>
              </a:spcBef>
              <a:spcAft>
                <a:spcPts val="0"/>
              </a:spcAft>
              <a:buClr>
                <a:schemeClr val="dk1"/>
              </a:buClr>
              <a:buSzPts val="2400"/>
              <a:buFont typeface="Arial"/>
              <a:buChar char="•"/>
            </a:pPr>
            <a:r>
              <a:rPr lang="en-US"/>
              <a:t>APAFR – (Sector S), Runway and Laydown Yard </a:t>
            </a:r>
            <a:endParaRPr/>
          </a:p>
          <a:p>
            <a:pPr marL="342900" lvl="0" indent="-342900" algn="l" rtl="0">
              <a:spcBef>
                <a:spcPts val="0"/>
              </a:spcBef>
              <a:spcAft>
                <a:spcPts val="0"/>
              </a:spcAft>
              <a:buClr>
                <a:schemeClr val="dk1"/>
              </a:buClr>
              <a:buSzPts val="2400"/>
              <a:buFont typeface="Arial"/>
              <a:buChar char="•"/>
            </a:pPr>
            <a:r>
              <a:rPr lang="en-US" sz="2400"/>
              <a:t>ERP Stormwater Permit</a:t>
            </a:r>
            <a:endParaRPr/>
          </a:p>
          <a:p>
            <a:pPr marL="576263" lvl="1" indent="-230188" algn="l" rtl="0">
              <a:spcBef>
                <a:spcPts val="0"/>
              </a:spcBef>
              <a:spcAft>
                <a:spcPts val="0"/>
              </a:spcAft>
              <a:buClr>
                <a:schemeClr val="dk1"/>
              </a:buClr>
              <a:buSzPts val="2400"/>
              <a:buFont typeface="Arial"/>
              <a:buChar char="•"/>
            </a:pPr>
            <a:r>
              <a:rPr lang="en-US"/>
              <a:t>CCSFS – 171</a:t>
            </a:r>
            <a:endParaRPr/>
          </a:p>
          <a:p>
            <a:pPr marL="576263" lvl="1" indent="-230188" algn="l" rtl="0">
              <a:spcBef>
                <a:spcPts val="0"/>
              </a:spcBef>
              <a:spcAft>
                <a:spcPts val="0"/>
              </a:spcAft>
              <a:buClr>
                <a:schemeClr val="dk1"/>
              </a:buClr>
              <a:buSzPts val="2400"/>
              <a:buFont typeface="Arial"/>
              <a:buChar char="•"/>
            </a:pPr>
            <a:r>
              <a:rPr lang="en-US"/>
              <a:t>PSFB – 108 </a:t>
            </a:r>
            <a:endParaRPr/>
          </a:p>
          <a:p>
            <a:pPr marL="342900" lvl="0" indent="-342900" algn="l" rtl="0">
              <a:spcBef>
                <a:spcPts val="0"/>
              </a:spcBef>
              <a:spcAft>
                <a:spcPts val="0"/>
              </a:spcAft>
              <a:buClr>
                <a:schemeClr val="dk1"/>
              </a:buClr>
              <a:buSzPts val="2400"/>
              <a:buFont typeface="Arial"/>
              <a:buChar char="•"/>
            </a:pPr>
            <a:r>
              <a:rPr lang="en-US" sz="2400"/>
              <a:t>Wastewater Permit</a:t>
            </a:r>
            <a:endParaRPr/>
          </a:p>
          <a:p>
            <a:pPr marL="576263" lvl="1" indent="-230188" algn="l" rtl="0">
              <a:spcBef>
                <a:spcPts val="0"/>
              </a:spcBef>
              <a:spcAft>
                <a:spcPts val="0"/>
              </a:spcAft>
              <a:buClr>
                <a:schemeClr val="dk1"/>
              </a:buClr>
              <a:buSzPts val="2400"/>
              <a:buFont typeface="Arial"/>
              <a:buChar char="•"/>
            </a:pPr>
            <a:r>
              <a:rPr lang="en-US"/>
              <a:t>CCFSS - 1</a:t>
            </a:r>
            <a:endParaRPr/>
          </a:p>
          <a:p>
            <a:pPr marL="342900" lvl="0" indent="-165100" algn="l" rtl="0">
              <a:spcBef>
                <a:spcPts val="560"/>
              </a:spcBef>
              <a:spcAft>
                <a:spcPts val="0"/>
              </a:spcAft>
              <a:buClr>
                <a:schemeClr val="dk1"/>
              </a:buClr>
              <a:buSzPts val="2800"/>
              <a:buFont typeface="Arial"/>
              <a:buNone/>
            </a:pPr>
            <a:endParaRPr/>
          </a:p>
        </p:txBody>
      </p:sp>
      <p:sp>
        <p:nvSpPr>
          <p:cNvPr id="269" name="Google Shape;269;p28"/>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9"/>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Solid Waste</a:t>
            </a:r>
            <a:endParaRPr/>
          </a:p>
        </p:txBody>
      </p:sp>
      <p:sp>
        <p:nvSpPr>
          <p:cNvPr id="275" name="Google Shape;275;p29"/>
          <p:cNvSpPr txBox="1">
            <a:spLocks noGrp="1"/>
          </p:cNvSpPr>
          <p:nvPr>
            <p:ph type="body" idx="1"/>
          </p:nvPr>
        </p:nvSpPr>
        <p:spPr>
          <a:xfrm>
            <a:off x="304800" y="1216025"/>
            <a:ext cx="8534400" cy="492913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latin typeface="Arial"/>
                <a:ea typeface="Arial"/>
                <a:cs typeface="Arial"/>
                <a:sym typeface="Arial"/>
              </a:rPr>
              <a:t>Solid Waste Program</a:t>
            </a:r>
            <a:endParaRPr/>
          </a:p>
          <a:p>
            <a:pPr marL="576263" lvl="0" indent="-230188" algn="l" rtl="0">
              <a:spcBef>
                <a:spcPts val="0"/>
              </a:spcBef>
              <a:spcAft>
                <a:spcPts val="0"/>
              </a:spcAft>
              <a:buClr>
                <a:schemeClr val="dk1"/>
              </a:buClr>
              <a:buSzPts val="2400"/>
              <a:buFont typeface="Arial"/>
              <a:buChar char="•"/>
            </a:pPr>
            <a:r>
              <a:rPr lang="en-US" sz="2400"/>
              <a:t>Consolidated permit consisting of 3 landfills</a:t>
            </a:r>
            <a:endParaRPr/>
          </a:p>
          <a:p>
            <a:pPr marL="798513" lvl="2" indent="-230188" algn="l" rtl="0">
              <a:spcBef>
                <a:spcPts val="0"/>
              </a:spcBef>
              <a:spcAft>
                <a:spcPts val="0"/>
              </a:spcAft>
              <a:buClr>
                <a:schemeClr val="dk1"/>
              </a:buClr>
              <a:buSzPts val="2400"/>
              <a:buFont typeface="Arial"/>
              <a:buChar char="•"/>
            </a:pPr>
            <a:r>
              <a:rPr lang="en-US" sz="2400" b="1"/>
              <a:t>C&amp;D, Asbestos and Closed Class 1 </a:t>
            </a:r>
            <a:endParaRPr/>
          </a:p>
          <a:p>
            <a:pPr marL="798513" lvl="2" indent="-230188" algn="l" rtl="0">
              <a:spcBef>
                <a:spcPts val="0"/>
              </a:spcBef>
              <a:spcAft>
                <a:spcPts val="0"/>
              </a:spcAft>
              <a:buClr>
                <a:schemeClr val="dk1"/>
              </a:buClr>
              <a:buSzPts val="2400"/>
              <a:buFont typeface="Arial"/>
              <a:buChar char="•"/>
            </a:pPr>
            <a:r>
              <a:rPr lang="en-US" sz="2400" b="1"/>
              <a:t>Landfills are not accepting waste</a:t>
            </a:r>
            <a:endParaRPr/>
          </a:p>
          <a:p>
            <a:pPr marL="798513" lvl="2" indent="-230188" algn="l" rtl="0">
              <a:spcBef>
                <a:spcPts val="0"/>
              </a:spcBef>
              <a:spcAft>
                <a:spcPts val="0"/>
              </a:spcAft>
              <a:buClr>
                <a:schemeClr val="dk1"/>
              </a:buClr>
              <a:buSzPts val="2400"/>
              <a:buFont typeface="Arial"/>
              <a:buChar char="•"/>
            </a:pPr>
            <a:r>
              <a:rPr lang="en-US" sz="2400" b="1"/>
              <a:t>Monitoring groundwater, surface water &amp; gas – semi annual </a:t>
            </a:r>
            <a:endParaRPr/>
          </a:p>
          <a:p>
            <a:pPr marL="342900" lvl="0" indent="-342900" algn="l" rtl="0">
              <a:spcBef>
                <a:spcPts val="480"/>
              </a:spcBef>
              <a:spcAft>
                <a:spcPts val="0"/>
              </a:spcAft>
              <a:buClr>
                <a:schemeClr val="dk1"/>
              </a:buClr>
              <a:buSzPts val="2400"/>
              <a:buFont typeface="Arial"/>
              <a:buChar char="•"/>
            </a:pPr>
            <a:r>
              <a:rPr lang="en-US" sz="2400">
                <a:latin typeface="Arial"/>
                <a:ea typeface="Arial"/>
                <a:cs typeface="Arial"/>
                <a:sym typeface="Arial"/>
              </a:rPr>
              <a:t>Recycling  Program</a:t>
            </a:r>
            <a:endParaRPr/>
          </a:p>
          <a:p>
            <a:pPr marL="576263" lvl="2" indent="-230188" algn="l" rtl="0">
              <a:spcBef>
                <a:spcPts val="0"/>
              </a:spcBef>
              <a:spcAft>
                <a:spcPts val="0"/>
              </a:spcAft>
              <a:buClr>
                <a:schemeClr val="dk1"/>
              </a:buClr>
              <a:buSzPts val="2400"/>
              <a:buFont typeface="Arial"/>
              <a:buChar char="•"/>
            </a:pPr>
            <a:r>
              <a:rPr lang="en-US" sz="2400" b="1"/>
              <a:t>Oil/Rag recycling managed by F2F as depicted in PWS</a:t>
            </a:r>
            <a:endParaRPr/>
          </a:p>
          <a:p>
            <a:pPr marL="1030288" lvl="3" indent="0" algn="l" rtl="0">
              <a:spcBef>
                <a:spcPts val="0"/>
              </a:spcBef>
              <a:spcAft>
                <a:spcPts val="0"/>
              </a:spcAft>
              <a:buClr>
                <a:schemeClr val="dk1"/>
              </a:buClr>
              <a:buSzPts val="2400"/>
              <a:buFont typeface="Arial"/>
              <a:buNone/>
            </a:pPr>
            <a:endParaRPr sz="2400" b="1"/>
          </a:p>
          <a:p>
            <a:pPr marL="342900" lvl="0" indent="-165100" algn="l" rtl="0">
              <a:spcBef>
                <a:spcPts val="560"/>
              </a:spcBef>
              <a:spcAft>
                <a:spcPts val="0"/>
              </a:spcAft>
              <a:buClr>
                <a:schemeClr val="dk1"/>
              </a:buClr>
              <a:buSzPts val="2800"/>
              <a:buFont typeface="Arial"/>
              <a:buNone/>
            </a:pPr>
            <a:endParaRPr/>
          </a:p>
        </p:txBody>
      </p:sp>
      <p:sp>
        <p:nvSpPr>
          <p:cNvPr id="276" name="Google Shape;276;p29"/>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0"/>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Petroleum, Oil and Lubricants</a:t>
            </a:r>
            <a:endParaRPr/>
          </a:p>
        </p:txBody>
      </p:sp>
      <p:sp>
        <p:nvSpPr>
          <p:cNvPr id="282" name="Google Shape;282;p30"/>
          <p:cNvSpPr txBox="1">
            <a:spLocks noGrp="1"/>
          </p:cNvSpPr>
          <p:nvPr>
            <p:ph type="body" idx="1"/>
          </p:nvPr>
        </p:nvSpPr>
        <p:spPr>
          <a:xfrm>
            <a:off x="304800" y="1216025"/>
            <a:ext cx="8534400" cy="4752696"/>
          </a:xfrm>
          <a:prstGeom prst="rect">
            <a:avLst/>
          </a:prstGeom>
          <a:noFill/>
          <a:ln>
            <a:noFill/>
          </a:ln>
        </p:spPr>
        <p:txBody>
          <a:bodyPr spcFirstLastPara="1" wrap="square" lIns="91425" tIns="45700" rIns="91425" bIns="45700" anchor="t" anchorCtr="0">
            <a:noAutofit/>
          </a:bodyPr>
          <a:lstStyle/>
          <a:p>
            <a:pPr marL="346075" lvl="0" indent="-342900" algn="l" rtl="0">
              <a:spcBef>
                <a:spcPts val="0"/>
              </a:spcBef>
              <a:spcAft>
                <a:spcPts val="0"/>
              </a:spcAft>
              <a:buClr>
                <a:schemeClr val="dk1"/>
              </a:buClr>
              <a:buSzPts val="2400"/>
              <a:buFont typeface="Arial"/>
              <a:buChar char="•"/>
            </a:pPr>
            <a:r>
              <a:rPr lang="en-US" sz="2400">
                <a:latin typeface="Arial"/>
                <a:ea typeface="Arial"/>
                <a:cs typeface="Arial"/>
                <a:sym typeface="Arial"/>
              </a:rPr>
              <a:t>Spill Plan</a:t>
            </a:r>
            <a:endParaRPr/>
          </a:p>
          <a:p>
            <a:pPr marL="682625" lvl="1" indent="-346075" algn="l" rtl="0">
              <a:spcBef>
                <a:spcPts val="0"/>
              </a:spcBef>
              <a:spcAft>
                <a:spcPts val="0"/>
              </a:spcAft>
              <a:buClr>
                <a:schemeClr val="dk1"/>
              </a:buClr>
              <a:buSzPts val="2400"/>
              <a:buFont typeface="Arial"/>
              <a:buChar char="•"/>
            </a:pPr>
            <a:r>
              <a:rPr lang="en-US">
                <a:latin typeface="Arial"/>
                <a:ea typeface="Arial"/>
                <a:cs typeface="Arial"/>
                <a:sym typeface="Arial"/>
              </a:rPr>
              <a:t>SPCC – APAFR, PSFB/MTA and CCSFS/JDMTA with satellite locations</a:t>
            </a:r>
            <a:endParaRPr/>
          </a:p>
          <a:p>
            <a:pPr marL="682625" lvl="1" indent="-346075" algn="l" rtl="0">
              <a:spcBef>
                <a:spcPts val="0"/>
              </a:spcBef>
              <a:spcAft>
                <a:spcPts val="0"/>
              </a:spcAft>
              <a:buClr>
                <a:schemeClr val="dk1"/>
              </a:buClr>
              <a:buSzPts val="2400"/>
              <a:buFont typeface="Arial"/>
              <a:buChar char="•"/>
            </a:pPr>
            <a:r>
              <a:rPr lang="en-US">
                <a:latin typeface="Arial"/>
                <a:ea typeface="Arial"/>
                <a:cs typeface="Arial"/>
                <a:sym typeface="Arial"/>
              </a:rPr>
              <a:t>FRP – PSFB only</a:t>
            </a:r>
            <a:endParaRPr/>
          </a:p>
          <a:p>
            <a:pPr marL="336550" lvl="1" indent="0" algn="l" rtl="0">
              <a:spcBef>
                <a:spcPts val="0"/>
              </a:spcBef>
              <a:spcAft>
                <a:spcPts val="0"/>
              </a:spcAft>
              <a:buClr>
                <a:schemeClr val="dk1"/>
              </a:buClr>
              <a:buSzPts val="2400"/>
              <a:buFont typeface="Arial"/>
              <a:buNone/>
            </a:pPr>
            <a:endParaRPr>
              <a:latin typeface="Arial"/>
              <a:ea typeface="Arial"/>
              <a:cs typeface="Arial"/>
              <a:sym typeface="Arial"/>
            </a:endParaRPr>
          </a:p>
          <a:p>
            <a:pPr marL="346075" lvl="0" indent="-342900" algn="l" rtl="0">
              <a:spcBef>
                <a:spcPts val="0"/>
              </a:spcBef>
              <a:spcAft>
                <a:spcPts val="0"/>
              </a:spcAft>
              <a:buClr>
                <a:schemeClr val="dk1"/>
              </a:buClr>
              <a:buSzPts val="2400"/>
              <a:buFont typeface="Arial"/>
              <a:buChar char="•"/>
            </a:pPr>
            <a:r>
              <a:rPr lang="en-US" sz="2400">
                <a:latin typeface="Arial"/>
                <a:ea typeface="Arial"/>
                <a:cs typeface="Arial"/>
                <a:sym typeface="Arial"/>
              </a:rPr>
              <a:t>Tanks </a:t>
            </a:r>
            <a:endParaRPr/>
          </a:p>
          <a:p>
            <a:pPr marL="682625" lvl="1" indent="-346075" algn="l" rtl="0">
              <a:spcBef>
                <a:spcPts val="0"/>
              </a:spcBef>
              <a:spcAft>
                <a:spcPts val="0"/>
              </a:spcAft>
              <a:buClr>
                <a:schemeClr val="dk1"/>
              </a:buClr>
              <a:buSzPts val="2400"/>
              <a:buFont typeface="Arial"/>
              <a:buChar char="•"/>
            </a:pPr>
            <a:r>
              <a:rPr lang="en-US">
                <a:latin typeface="Arial"/>
                <a:ea typeface="Arial"/>
                <a:cs typeface="Arial"/>
                <a:sym typeface="Arial"/>
              </a:rPr>
              <a:t>PSFB – 85 ASTs / 4 USTs</a:t>
            </a:r>
            <a:endParaRPr/>
          </a:p>
          <a:p>
            <a:pPr marL="682625" lvl="1" indent="-346075" algn="l" rtl="0">
              <a:spcBef>
                <a:spcPts val="0"/>
              </a:spcBef>
              <a:spcAft>
                <a:spcPts val="0"/>
              </a:spcAft>
              <a:buClr>
                <a:schemeClr val="dk1"/>
              </a:buClr>
              <a:buSzPts val="2400"/>
              <a:buFont typeface="Arial"/>
              <a:buChar char="•"/>
            </a:pPr>
            <a:r>
              <a:rPr lang="en-US">
                <a:latin typeface="Arial"/>
                <a:ea typeface="Arial"/>
                <a:cs typeface="Arial"/>
                <a:sym typeface="Arial"/>
              </a:rPr>
              <a:t>CCSFS – 100 ASTs (includes satellite sites)</a:t>
            </a:r>
            <a:endParaRPr/>
          </a:p>
          <a:p>
            <a:pPr marL="682625" lvl="1" indent="-346075" algn="l" rtl="0">
              <a:spcBef>
                <a:spcPts val="0"/>
              </a:spcBef>
              <a:spcAft>
                <a:spcPts val="0"/>
              </a:spcAft>
              <a:buClr>
                <a:schemeClr val="dk1"/>
              </a:buClr>
              <a:buSzPts val="2400"/>
              <a:buFont typeface="Arial"/>
              <a:buChar char="•"/>
            </a:pPr>
            <a:r>
              <a:rPr lang="en-US">
                <a:latin typeface="Arial"/>
                <a:ea typeface="Arial"/>
                <a:cs typeface="Arial"/>
                <a:sym typeface="Arial"/>
              </a:rPr>
              <a:t>MTA – 1 AST </a:t>
            </a:r>
            <a:endParaRPr/>
          </a:p>
          <a:p>
            <a:pPr marL="682625" lvl="1" indent="-346075" algn="l" rtl="0">
              <a:spcBef>
                <a:spcPts val="0"/>
              </a:spcBef>
              <a:spcAft>
                <a:spcPts val="0"/>
              </a:spcAft>
              <a:buClr>
                <a:schemeClr val="dk1"/>
              </a:buClr>
              <a:buSzPts val="2400"/>
              <a:buFont typeface="Arial"/>
              <a:buChar char="•"/>
            </a:pPr>
            <a:r>
              <a:rPr lang="en-US">
                <a:latin typeface="Arial"/>
                <a:ea typeface="Arial"/>
                <a:cs typeface="Arial"/>
                <a:sym typeface="Arial"/>
              </a:rPr>
              <a:t>JDMTA – 5 ASTs</a:t>
            </a:r>
            <a:endParaRPr/>
          </a:p>
          <a:p>
            <a:pPr marL="682625" lvl="1" indent="-346075" algn="l" rtl="0">
              <a:spcBef>
                <a:spcPts val="0"/>
              </a:spcBef>
              <a:spcAft>
                <a:spcPts val="0"/>
              </a:spcAft>
              <a:buClr>
                <a:schemeClr val="dk1"/>
              </a:buClr>
              <a:buSzPts val="2400"/>
              <a:buFont typeface="Arial"/>
              <a:buChar char="•"/>
            </a:pPr>
            <a:r>
              <a:rPr lang="en-US">
                <a:latin typeface="Arial"/>
                <a:ea typeface="Arial"/>
                <a:cs typeface="Arial"/>
                <a:sym typeface="Arial"/>
              </a:rPr>
              <a:t>APAFR – 6 ASTs</a:t>
            </a:r>
            <a:endParaRPr/>
          </a:p>
          <a:p>
            <a:pPr marL="0" lvl="0" indent="0" algn="l" rtl="0">
              <a:spcBef>
                <a:spcPts val="560"/>
              </a:spcBef>
              <a:spcAft>
                <a:spcPts val="0"/>
              </a:spcAft>
              <a:buClr>
                <a:schemeClr val="dk1"/>
              </a:buClr>
              <a:buSzPts val="2800"/>
              <a:buFont typeface="Arial"/>
              <a:buNone/>
            </a:pPr>
            <a:endParaRPr/>
          </a:p>
          <a:p>
            <a:pPr marL="342900" lvl="0" indent="-165100" algn="l" rtl="0">
              <a:spcBef>
                <a:spcPts val="560"/>
              </a:spcBef>
              <a:spcAft>
                <a:spcPts val="0"/>
              </a:spcAft>
              <a:buClr>
                <a:schemeClr val="dk1"/>
              </a:buClr>
              <a:buSzPts val="2800"/>
              <a:buFont typeface="Arial"/>
              <a:buNone/>
            </a:pPr>
            <a:endParaRPr/>
          </a:p>
        </p:txBody>
      </p:sp>
      <p:sp>
        <p:nvSpPr>
          <p:cNvPr id="283" name="Google Shape;283;p30"/>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1"/>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Toxics</a:t>
            </a:r>
            <a:endParaRPr/>
          </a:p>
        </p:txBody>
      </p:sp>
      <p:sp>
        <p:nvSpPr>
          <p:cNvPr id="289" name="Google Shape;289;p31"/>
          <p:cNvSpPr txBox="1">
            <a:spLocks noGrp="1"/>
          </p:cNvSpPr>
          <p:nvPr>
            <p:ph type="body" idx="1"/>
          </p:nvPr>
        </p:nvSpPr>
        <p:spPr>
          <a:xfrm>
            <a:off x="304800" y="1216025"/>
            <a:ext cx="8534400" cy="3587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Optional Task that will not be exercised in the BY but may in the OY’s</a:t>
            </a:r>
            <a:endParaRPr/>
          </a:p>
          <a:p>
            <a:pPr marL="630238" lvl="1" indent="-285750" algn="l" rtl="0">
              <a:spcBef>
                <a:spcPts val="480"/>
              </a:spcBef>
              <a:spcAft>
                <a:spcPts val="0"/>
              </a:spcAft>
              <a:buClr>
                <a:schemeClr val="dk1"/>
              </a:buClr>
              <a:buSzPts val="2400"/>
              <a:buFont typeface="Arial"/>
              <a:buChar char="•"/>
            </a:pPr>
            <a:r>
              <a:rPr lang="en-US"/>
              <a:t>Plans review (design review)</a:t>
            </a:r>
            <a:endParaRPr/>
          </a:p>
          <a:p>
            <a:pPr marL="630238" lvl="1" indent="-285750" algn="l" rtl="0">
              <a:spcBef>
                <a:spcPts val="480"/>
              </a:spcBef>
              <a:spcAft>
                <a:spcPts val="0"/>
              </a:spcAft>
              <a:buClr>
                <a:schemeClr val="dk1"/>
              </a:buClr>
              <a:buSzPts val="2400"/>
              <a:buFont typeface="Arial"/>
              <a:buChar char="•"/>
            </a:pPr>
            <a:r>
              <a:rPr lang="en-US"/>
              <a:t>Records research </a:t>
            </a:r>
            <a:endParaRPr/>
          </a:p>
          <a:p>
            <a:pPr marL="630238" lvl="1" indent="-285750" algn="l" rtl="0">
              <a:spcBef>
                <a:spcPts val="480"/>
              </a:spcBef>
              <a:spcAft>
                <a:spcPts val="0"/>
              </a:spcAft>
              <a:buClr>
                <a:schemeClr val="dk1"/>
              </a:buClr>
              <a:buSzPts val="2400"/>
              <a:buFont typeface="Arial"/>
              <a:buChar char="•"/>
            </a:pPr>
            <a:r>
              <a:rPr lang="en-US"/>
              <a:t>Data management</a:t>
            </a:r>
            <a:endParaRPr/>
          </a:p>
          <a:p>
            <a:pPr marL="630238" lvl="1" indent="-285750" algn="l" rtl="0">
              <a:spcBef>
                <a:spcPts val="480"/>
              </a:spcBef>
              <a:spcAft>
                <a:spcPts val="0"/>
              </a:spcAft>
              <a:buClr>
                <a:schemeClr val="dk1"/>
              </a:buClr>
              <a:buSzPts val="2400"/>
              <a:buFont typeface="Arial"/>
              <a:buChar char="•"/>
            </a:pPr>
            <a:r>
              <a:rPr lang="en-US"/>
              <a:t>Visual confirmation - No sampling </a:t>
            </a:r>
            <a:endParaRPr/>
          </a:p>
          <a:p>
            <a:pPr marL="742950" lvl="1" indent="-133350" algn="l" rtl="0">
              <a:spcBef>
                <a:spcPts val="480"/>
              </a:spcBef>
              <a:spcAft>
                <a:spcPts val="0"/>
              </a:spcAft>
              <a:buClr>
                <a:schemeClr val="dk1"/>
              </a:buClr>
              <a:buSzPts val="2400"/>
              <a:buFont typeface="Arial"/>
              <a:buNone/>
            </a:pPr>
            <a:endParaRPr/>
          </a:p>
        </p:txBody>
      </p:sp>
      <p:sp>
        <p:nvSpPr>
          <p:cNvPr id="290" name="Google Shape;290;p31"/>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2"/>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Public Notification</a:t>
            </a:r>
            <a:endParaRPr/>
          </a:p>
        </p:txBody>
      </p:sp>
      <p:sp>
        <p:nvSpPr>
          <p:cNvPr id="296" name="Google Shape;296;p32"/>
          <p:cNvSpPr txBox="1">
            <a:spLocks noGrp="1"/>
          </p:cNvSpPr>
          <p:nvPr>
            <p:ph type="body" idx="1"/>
          </p:nvPr>
        </p:nvSpPr>
        <p:spPr>
          <a:xfrm>
            <a:off x="304800" y="1216025"/>
            <a:ext cx="8534400" cy="3587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Font typeface="Arial"/>
              <a:buChar char="•"/>
            </a:pPr>
            <a:r>
              <a:rPr lang="en-US"/>
              <a:t>Public Notices are permit driven </a:t>
            </a:r>
            <a:endParaRPr/>
          </a:p>
          <a:p>
            <a:pPr marL="630238" lvl="1" indent="-285750" algn="l" rtl="0">
              <a:spcBef>
                <a:spcPts val="480"/>
              </a:spcBef>
              <a:spcAft>
                <a:spcPts val="0"/>
              </a:spcAft>
              <a:buClr>
                <a:schemeClr val="dk1"/>
              </a:buClr>
              <a:buSzPts val="2400"/>
              <a:buFont typeface="Arial"/>
              <a:buChar char="•"/>
            </a:pPr>
            <a:r>
              <a:rPr lang="en-US"/>
              <a:t>Needed for permit compliance </a:t>
            </a:r>
            <a:endParaRPr/>
          </a:p>
          <a:p>
            <a:pPr marL="630238" lvl="1" indent="-285750" algn="l" rtl="0">
              <a:spcBef>
                <a:spcPts val="480"/>
              </a:spcBef>
              <a:spcAft>
                <a:spcPts val="0"/>
              </a:spcAft>
              <a:buClr>
                <a:schemeClr val="dk1"/>
              </a:buClr>
              <a:buSzPts val="2400"/>
              <a:buFont typeface="Arial"/>
              <a:buChar char="•"/>
            </a:pPr>
            <a:r>
              <a:rPr lang="en-US"/>
              <a:t>New, Modifications, and renewals </a:t>
            </a:r>
            <a:endParaRPr/>
          </a:p>
        </p:txBody>
      </p:sp>
      <p:sp>
        <p:nvSpPr>
          <p:cNvPr id="297" name="Google Shape;297;p32"/>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3"/>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Plans/Permits</a:t>
            </a:r>
            <a:endParaRPr/>
          </a:p>
        </p:txBody>
      </p:sp>
      <p:sp>
        <p:nvSpPr>
          <p:cNvPr id="304" name="Google Shape;304;p33"/>
          <p:cNvSpPr txBox="1">
            <a:spLocks noGrp="1"/>
          </p:cNvSpPr>
          <p:nvPr>
            <p:ph type="body" idx="1"/>
          </p:nvPr>
        </p:nvSpPr>
        <p:spPr>
          <a:xfrm>
            <a:off x="304800" y="1216025"/>
            <a:ext cx="8534400" cy="545804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Font typeface="Arial"/>
              <a:buNone/>
            </a:pPr>
            <a:r>
              <a:rPr lang="en-US" sz="2400"/>
              <a:t>Plans</a:t>
            </a:r>
            <a:endParaRPr/>
          </a:p>
          <a:p>
            <a:pPr marL="285750" lvl="1" indent="-285750" algn="l" rtl="0">
              <a:spcBef>
                <a:spcPts val="480"/>
              </a:spcBef>
              <a:spcAft>
                <a:spcPts val="0"/>
              </a:spcAft>
              <a:buClr>
                <a:schemeClr val="dk1"/>
              </a:buClr>
              <a:buSzPts val="2400"/>
              <a:buFont typeface="Arial"/>
              <a:buChar char="•"/>
            </a:pPr>
            <a:r>
              <a:rPr lang="en-US"/>
              <a:t>CCSFS – 2 (SWPPP, SPCC)</a:t>
            </a:r>
            <a:endParaRPr/>
          </a:p>
          <a:p>
            <a:pPr marL="285750" lvl="1" indent="-285750" algn="l" rtl="0">
              <a:spcBef>
                <a:spcPts val="480"/>
              </a:spcBef>
              <a:spcAft>
                <a:spcPts val="0"/>
              </a:spcAft>
              <a:buClr>
                <a:schemeClr val="dk1"/>
              </a:buClr>
              <a:buSzPts val="2400"/>
              <a:buFont typeface="Arial"/>
              <a:buChar char="•"/>
            </a:pPr>
            <a:r>
              <a:rPr lang="en-US"/>
              <a:t>PSFB – 6 (SWMP, SWPPP, SPCC, FRP, ISWMP and HWMP) </a:t>
            </a:r>
            <a:endParaRPr/>
          </a:p>
          <a:p>
            <a:pPr marL="285750" lvl="1" indent="-285750" algn="l" rtl="0">
              <a:spcBef>
                <a:spcPts val="480"/>
              </a:spcBef>
              <a:spcAft>
                <a:spcPts val="0"/>
              </a:spcAft>
              <a:buClr>
                <a:schemeClr val="dk1"/>
              </a:buClr>
              <a:buSzPts val="2400"/>
              <a:buFont typeface="Arial"/>
              <a:buChar char="•"/>
            </a:pPr>
            <a:r>
              <a:rPr lang="en-US"/>
              <a:t>APAFR – 4 (HWMP, SWPPP, ISWMP, SPCC)</a:t>
            </a:r>
            <a:endParaRPr/>
          </a:p>
          <a:p>
            <a:pPr marL="0" lvl="0" indent="0" algn="l" rtl="0">
              <a:spcBef>
                <a:spcPts val="480"/>
              </a:spcBef>
              <a:spcAft>
                <a:spcPts val="0"/>
              </a:spcAft>
              <a:buClr>
                <a:schemeClr val="dk1"/>
              </a:buClr>
              <a:buSzPts val="2400"/>
              <a:buFont typeface="Arial"/>
              <a:buNone/>
            </a:pPr>
            <a:r>
              <a:rPr lang="en-US" sz="2400"/>
              <a:t> Permits</a:t>
            </a:r>
            <a:endParaRPr/>
          </a:p>
          <a:p>
            <a:pPr marL="285750" lvl="1" indent="-285750" algn="l" rtl="0">
              <a:spcBef>
                <a:spcPts val="480"/>
              </a:spcBef>
              <a:spcAft>
                <a:spcPts val="0"/>
              </a:spcAft>
              <a:buClr>
                <a:schemeClr val="dk1"/>
              </a:buClr>
              <a:buSzPts val="2400"/>
              <a:buFont typeface="Arial"/>
              <a:buChar char="•"/>
            </a:pPr>
            <a:r>
              <a:rPr lang="en-US"/>
              <a:t>CCSFS – 5 (RCRA C &amp; D, MSGP, Air General, and Wastewater)</a:t>
            </a:r>
            <a:endParaRPr/>
          </a:p>
          <a:p>
            <a:pPr marL="285750" lvl="1" indent="-285750" algn="l" rtl="0">
              <a:spcBef>
                <a:spcPts val="480"/>
              </a:spcBef>
              <a:spcAft>
                <a:spcPts val="0"/>
              </a:spcAft>
              <a:buClr>
                <a:schemeClr val="dk1"/>
              </a:buClr>
              <a:buSzPts val="2400"/>
              <a:buFont typeface="Arial"/>
              <a:buChar char="•"/>
            </a:pPr>
            <a:r>
              <a:rPr lang="en-US"/>
              <a:t>PSFB – 3 (MS4, MSGP, RCRA) </a:t>
            </a:r>
            <a:endParaRPr/>
          </a:p>
          <a:p>
            <a:pPr marL="285750" lvl="1" indent="-285750" algn="l" rtl="0">
              <a:spcBef>
                <a:spcPts val="480"/>
              </a:spcBef>
              <a:spcAft>
                <a:spcPts val="0"/>
              </a:spcAft>
              <a:buClr>
                <a:schemeClr val="dk1"/>
              </a:buClr>
              <a:buSzPts val="2400"/>
              <a:buFont typeface="Arial"/>
              <a:buChar char="•"/>
            </a:pPr>
            <a:r>
              <a:rPr lang="en-US"/>
              <a:t>APAFR – 1 (MSGP)</a:t>
            </a:r>
            <a:endParaRPr/>
          </a:p>
          <a:p>
            <a:pPr marL="52388" lvl="1" indent="0" algn="l" rtl="0">
              <a:spcBef>
                <a:spcPts val="480"/>
              </a:spcBef>
              <a:spcAft>
                <a:spcPts val="0"/>
              </a:spcAft>
              <a:buClr>
                <a:schemeClr val="dk1"/>
              </a:buClr>
              <a:buSzPts val="2400"/>
              <a:buFont typeface="Arial"/>
              <a:buNone/>
            </a:pPr>
            <a:r>
              <a:rPr lang="en-US"/>
              <a:t>Exemptions </a:t>
            </a:r>
            <a:endParaRPr/>
          </a:p>
          <a:p>
            <a:pPr marL="285750" lvl="1" indent="-285750" algn="l" rtl="0">
              <a:spcBef>
                <a:spcPts val="480"/>
              </a:spcBef>
              <a:spcAft>
                <a:spcPts val="0"/>
              </a:spcAft>
              <a:buClr>
                <a:schemeClr val="dk1"/>
              </a:buClr>
              <a:buSzPts val="2400"/>
              <a:buFont typeface="Arial"/>
              <a:buChar char="•"/>
            </a:pPr>
            <a:r>
              <a:rPr lang="en-US"/>
              <a:t>Clean Air Act, Stormwater No Exposure, Clean Water Act</a:t>
            </a:r>
            <a:endParaRPr/>
          </a:p>
          <a:p>
            <a:pPr marL="576263" lvl="1" indent="0" algn="l" rtl="0">
              <a:spcBef>
                <a:spcPts val="0"/>
              </a:spcBef>
              <a:spcAft>
                <a:spcPts val="0"/>
              </a:spcAft>
              <a:buClr>
                <a:schemeClr val="dk1"/>
              </a:buClr>
              <a:buSzPts val="1800"/>
              <a:buFont typeface="Arial"/>
              <a:buNone/>
            </a:pPr>
            <a:endParaRPr sz="1800" b="0"/>
          </a:p>
          <a:p>
            <a:pPr marL="0" lvl="0" indent="0" algn="l" rtl="0">
              <a:spcBef>
                <a:spcPts val="560"/>
              </a:spcBef>
              <a:spcAft>
                <a:spcPts val="0"/>
              </a:spcAft>
              <a:buClr>
                <a:schemeClr val="dk1"/>
              </a:buClr>
              <a:buSzPts val="2800"/>
              <a:buFont typeface="Arial"/>
              <a:buNone/>
            </a:pPr>
            <a:endParaRPr/>
          </a:p>
          <a:p>
            <a:pPr marL="0" lvl="0" indent="0" algn="l" rtl="0">
              <a:spcBef>
                <a:spcPts val="560"/>
              </a:spcBef>
              <a:spcAft>
                <a:spcPts val="0"/>
              </a:spcAft>
              <a:buClr>
                <a:schemeClr val="dk1"/>
              </a:buClr>
              <a:buSzPts val="2800"/>
              <a:buFont typeface="Arial"/>
              <a:buNone/>
            </a:pPr>
            <a:endParaRPr/>
          </a:p>
        </p:txBody>
      </p:sp>
      <p:sp>
        <p:nvSpPr>
          <p:cNvPr id="305" name="Google Shape;305;p33"/>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4"/>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Review Taskers</a:t>
            </a:r>
            <a:endParaRPr/>
          </a:p>
        </p:txBody>
      </p:sp>
      <p:sp>
        <p:nvSpPr>
          <p:cNvPr id="311" name="Google Shape;311;p34"/>
          <p:cNvSpPr txBox="1">
            <a:spLocks noGrp="1"/>
          </p:cNvSpPr>
          <p:nvPr>
            <p:ph type="body" idx="1"/>
          </p:nvPr>
        </p:nvSpPr>
        <p:spPr>
          <a:xfrm>
            <a:off x="304800" y="1216025"/>
            <a:ext cx="8534400" cy="502712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Day to Day requirements (103 &amp; 332)</a:t>
            </a:r>
            <a:endParaRPr/>
          </a:p>
          <a:p>
            <a:pPr marL="342900" lvl="0" indent="-342900" algn="l" rtl="0">
              <a:spcBef>
                <a:spcPts val="480"/>
              </a:spcBef>
              <a:spcAft>
                <a:spcPts val="0"/>
              </a:spcAft>
              <a:buClr>
                <a:schemeClr val="dk1"/>
              </a:buClr>
              <a:buSzPts val="2400"/>
              <a:buFont typeface="Arial"/>
              <a:buChar char="•"/>
            </a:pPr>
            <a:r>
              <a:rPr lang="en-US" sz="2400"/>
              <a:t>Environmental Baseline Survey Support</a:t>
            </a:r>
            <a:endParaRPr/>
          </a:p>
          <a:p>
            <a:pPr marL="342900" lvl="0" indent="-342900" algn="l" rtl="0">
              <a:spcBef>
                <a:spcPts val="480"/>
              </a:spcBef>
              <a:spcAft>
                <a:spcPts val="0"/>
              </a:spcAft>
              <a:buClr>
                <a:schemeClr val="dk1"/>
              </a:buClr>
              <a:buSzPts val="2400"/>
              <a:buFont typeface="Arial"/>
              <a:buChar char="•"/>
            </a:pPr>
            <a:r>
              <a:rPr lang="en-US" sz="2400"/>
              <a:t>Responsible for 100% review of 30,60,90 and 100 percent design review evaluation and commenting to ensure compliance with DAF and regulatory compliance. </a:t>
            </a:r>
            <a:endParaRPr/>
          </a:p>
          <a:p>
            <a:pPr marL="342900" lvl="0" indent="-342900" algn="l" rtl="0">
              <a:spcBef>
                <a:spcPts val="480"/>
              </a:spcBef>
              <a:spcAft>
                <a:spcPts val="0"/>
              </a:spcAft>
              <a:buClr>
                <a:schemeClr val="dk1"/>
              </a:buClr>
              <a:buSzPts val="2400"/>
              <a:buFont typeface="Arial"/>
              <a:buChar char="•"/>
            </a:pPr>
            <a:r>
              <a:rPr lang="en-US" sz="2400"/>
              <a:t>Environmental Protection Plans</a:t>
            </a:r>
            <a:endParaRPr/>
          </a:p>
          <a:p>
            <a:pPr marL="342900" lvl="0" indent="-342900" algn="l" rtl="0">
              <a:spcBef>
                <a:spcPts val="480"/>
              </a:spcBef>
              <a:spcAft>
                <a:spcPts val="0"/>
              </a:spcAft>
              <a:buClr>
                <a:schemeClr val="dk1"/>
              </a:buClr>
              <a:buSzPts val="2400"/>
              <a:buFont typeface="Arial"/>
              <a:buChar char="•"/>
            </a:pPr>
            <a:r>
              <a:rPr lang="en-US" sz="2400"/>
              <a:t>Construction Submittals (Dewatering, Stormwater, Solid Waste, etc.)</a:t>
            </a:r>
            <a:endParaRPr/>
          </a:p>
          <a:p>
            <a:pPr marL="630238" lvl="1" indent="-285750" algn="l" rtl="0">
              <a:spcBef>
                <a:spcPts val="480"/>
              </a:spcBef>
              <a:spcAft>
                <a:spcPts val="0"/>
              </a:spcAft>
              <a:buClr>
                <a:schemeClr val="dk1"/>
              </a:buClr>
              <a:buSzPts val="2400"/>
              <a:buFont typeface="Arial"/>
              <a:buChar char="•"/>
            </a:pPr>
            <a:r>
              <a:rPr lang="en-US"/>
              <a:t>Contractor is expected to provide qualitative comments which can be implemented by design teams. </a:t>
            </a:r>
            <a:endParaRPr/>
          </a:p>
        </p:txBody>
      </p:sp>
      <p:sp>
        <p:nvSpPr>
          <p:cNvPr id="312" name="Google Shape;312;p34"/>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5"/>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NEPA</a:t>
            </a:r>
            <a:endParaRPr/>
          </a:p>
        </p:txBody>
      </p:sp>
      <p:sp>
        <p:nvSpPr>
          <p:cNvPr id="319" name="Google Shape;319;p35"/>
          <p:cNvSpPr txBox="1">
            <a:spLocks noGrp="1"/>
          </p:cNvSpPr>
          <p:nvPr>
            <p:ph type="body" idx="1"/>
          </p:nvPr>
        </p:nvSpPr>
        <p:spPr>
          <a:xfrm>
            <a:off x="304800" y="1216025"/>
            <a:ext cx="8534400" cy="3587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Provide comprehensive evaluation and review of respective program areas in NEPA documents (AF Form 813s, EA, EIS)</a:t>
            </a:r>
            <a:endParaRPr/>
          </a:p>
          <a:p>
            <a:pPr marL="342900" lvl="0" indent="-342900" algn="l" rtl="0">
              <a:spcBef>
                <a:spcPts val="480"/>
              </a:spcBef>
              <a:spcAft>
                <a:spcPts val="0"/>
              </a:spcAft>
              <a:buClr>
                <a:schemeClr val="dk1"/>
              </a:buClr>
              <a:buSzPts val="2400"/>
              <a:buFont typeface="Arial"/>
              <a:buChar char="•"/>
            </a:pPr>
            <a:r>
              <a:rPr lang="en-US" sz="2400"/>
              <a:t>ACAM – Air Conformity Applicability Model </a:t>
            </a:r>
            <a:endParaRPr/>
          </a:p>
        </p:txBody>
      </p:sp>
      <p:sp>
        <p:nvSpPr>
          <p:cNvPr id="320" name="Google Shape;320;p35"/>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6"/>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F2F - Installation Locations</a:t>
            </a:r>
            <a:endParaRPr dirty="0"/>
          </a:p>
        </p:txBody>
      </p:sp>
      <p:sp>
        <p:nvSpPr>
          <p:cNvPr id="326" name="Google Shape;326;p36"/>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36</a:t>
            </a:fld>
            <a:endParaRPr/>
          </a:p>
        </p:txBody>
      </p:sp>
      <p:pic>
        <p:nvPicPr>
          <p:cNvPr id="327" name="Google Shape;327;p36" descr="Map&#10;&#10;AI-generated content may be incorrect."/>
          <p:cNvPicPr preferRelativeResize="0">
            <a:picLocks noGrp="1"/>
          </p:cNvPicPr>
          <p:nvPr>
            <p:ph type="body" idx="1"/>
          </p:nvPr>
        </p:nvPicPr>
        <p:blipFill rotWithShape="1">
          <a:blip r:embed="rId3">
            <a:alphaModFix/>
          </a:blip>
          <a:srcRect/>
          <a:stretch/>
        </p:blipFill>
        <p:spPr>
          <a:xfrm rot="-5400000">
            <a:off x="1954405" y="-517492"/>
            <a:ext cx="5536642" cy="88425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7"/>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Data Management Systems</a:t>
            </a:r>
            <a:endParaRPr/>
          </a:p>
        </p:txBody>
      </p:sp>
      <p:sp>
        <p:nvSpPr>
          <p:cNvPr id="333" name="Google Shape;333;p37"/>
          <p:cNvSpPr txBox="1">
            <a:spLocks noGrp="1"/>
          </p:cNvSpPr>
          <p:nvPr>
            <p:ph type="body" idx="1"/>
          </p:nvPr>
        </p:nvSpPr>
        <p:spPr>
          <a:xfrm>
            <a:off x="304800" y="1216025"/>
            <a:ext cx="8534400" cy="521630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APIMS (Air, Power, Refrigerants, STAR, WET)</a:t>
            </a:r>
            <a:endParaRPr/>
          </a:p>
          <a:p>
            <a:pPr marL="342900" lvl="0" indent="-342900" algn="l" rtl="0">
              <a:spcBef>
                <a:spcPts val="480"/>
              </a:spcBef>
              <a:spcAft>
                <a:spcPts val="0"/>
              </a:spcAft>
              <a:buClr>
                <a:schemeClr val="dk1"/>
              </a:buClr>
              <a:buSzPts val="2400"/>
              <a:buFont typeface="Arial"/>
              <a:buChar char="•"/>
            </a:pPr>
            <a:r>
              <a:rPr lang="en-US" sz="2400"/>
              <a:t>EESOH-MIS</a:t>
            </a:r>
            <a:endParaRPr/>
          </a:p>
          <a:p>
            <a:pPr marL="342900" lvl="0" indent="-342900" algn="l" rtl="0">
              <a:spcBef>
                <a:spcPts val="480"/>
              </a:spcBef>
              <a:spcAft>
                <a:spcPts val="0"/>
              </a:spcAft>
              <a:buClr>
                <a:schemeClr val="dk1"/>
              </a:buClr>
              <a:buSzPts val="2400"/>
              <a:buFont typeface="Arial"/>
              <a:buChar char="•"/>
            </a:pPr>
            <a:r>
              <a:rPr lang="en-US" sz="2400"/>
              <a:t>eDASH (EASIER, EAP, MICT, RAIT, TEMP)</a:t>
            </a:r>
            <a:endParaRPr/>
          </a:p>
          <a:p>
            <a:pPr marL="342900" lvl="0" indent="-342900" algn="l" rtl="0">
              <a:spcBef>
                <a:spcPts val="480"/>
              </a:spcBef>
              <a:spcAft>
                <a:spcPts val="0"/>
              </a:spcAft>
              <a:buClr>
                <a:schemeClr val="dk1"/>
              </a:buClr>
              <a:buSzPts val="2400"/>
              <a:buFont typeface="Arial"/>
              <a:buChar char="•"/>
            </a:pPr>
            <a:r>
              <a:rPr lang="en-US" sz="2400"/>
              <a:t>TEACH</a:t>
            </a:r>
            <a:endParaRPr/>
          </a:p>
          <a:p>
            <a:pPr marL="342900" lvl="0" indent="-342900" algn="l" rtl="0">
              <a:spcBef>
                <a:spcPts val="480"/>
              </a:spcBef>
              <a:spcAft>
                <a:spcPts val="0"/>
              </a:spcAft>
              <a:buClr>
                <a:schemeClr val="dk1"/>
              </a:buClr>
              <a:buSzPts val="2400"/>
              <a:buFont typeface="Arial"/>
              <a:buChar char="•"/>
            </a:pPr>
            <a:r>
              <a:rPr lang="en-US" sz="2400"/>
              <a:t>ACAM</a:t>
            </a:r>
            <a:endParaRPr/>
          </a:p>
          <a:p>
            <a:pPr marL="342900" lvl="0" indent="-342900" algn="l" rtl="0">
              <a:spcBef>
                <a:spcPts val="480"/>
              </a:spcBef>
              <a:spcAft>
                <a:spcPts val="0"/>
              </a:spcAft>
              <a:buClr>
                <a:schemeClr val="dk1"/>
              </a:buClr>
              <a:buSzPts val="2400"/>
              <a:buFont typeface="Arial"/>
              <a:buChar char="•"/>
            </a:pPr>
            <a:r>
              <a:rPr lang="en-US" sz="2400"/>
              <a:t>FDEP Business Portal (EzDMR)</a:t>
            </a:r>
            <a:endParaRPr/>
          </a:p>
          <a:p>
            <a:pPr marL="342900" lvl="0" indent="-342900" algn="l" rtl="0">
              <a:spcBef>
                <a:spcPts val="480"/>
              </a:spcBef>
              <a:spcAft>
                <a:spcPts val="0"/>
              </a:spcAft>
              <a:buClr>
                <a:schemeClr val="dk1"/>
              </a:buClr>
              <a:buSzPts val="2400"/>
              <a:buFont typeface="Arial"/>
              <a:buChar char="•"/>
            </a:pPr>
            <a:r>
              <a:rPr lang="en-US" sz="2400"/>
              <a:t>RCRA Info  </a:t>
            </a:r>
            <a:endParaRPr/>
          </a:p>
          <a:p>
            <a:pPr marL="342900" lvl="0" indent="-342900" algn="l" rtl="0">
              <a:spcBef>
                <a:spcPts val="480"/>
              </a:spcBef>
              <a:spcAft>
                <a:spcPts val="0"/>
              </a:spcAft>
              <a:buClr>
                <a:schemeClr val="dk1"/>
              </a:buClr>
              <a:buSzPts val="2400"/>
              <a:buFont typeface="Arial"/>
              <a:buChar char="•"/>
            </a:pPr>
            <a:r>
              <a:rPr lang="en-US" sz="2400"/>
              <a:t>EPCRA – E-plan</a:t>
            </a:r>
            <a:endParaRPr/>
          </a:p>
          <a:p>
            <a:pPr marL="342900" lvl="0" indent="-215900" algn="l" rtl="0">
              <a:spcBef>
                <a:spcPts val="400"/>
              </a:spcBef>
              <a:spcAft>
                <a:spcPts val="0"/>
              </a:spcAft>
              <a:buClr>
                <a:schemeClr val="dk1"/>
              </a:buClr>
              <a:buSzPts val="2000"/>
              <a:buFont typeface="Arial"/>
              <a:buNone/>
            </a:pPr>
            <a:endParaRPr sz="2000"/>
          </a:p>
          <a:p>
            <a:pPr marL="0" lvl="0" indent="0" algn="l" rtl="0">
              <a:spcBef>
                <a:spcPts val="560"/>
              </a:spcBef>
              <a:spcAft>
                <a:spcPts val="0"/>
              </a:spcAft>
              <a:buClr>
                <a:schemeClr val="dk1"/>
              </a:buClr>
              <a:buSzPts val="2800"/>
              <a:buFont typeface="Arial"/>
              <a:buNone/>
            </a:pPr>
            <a:endParaRPr/>
          </a:p>
        </p:txBody>
      </p:sp>
      <p:sp>
        <p:nvSpPr>
          <p:cNvPr id="334" name="Google Shape;334;p37"/>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8"/>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Unique Considerations</a:t>
            </a:r>
            <a:endParaRPr/>
          </a:p>
        </p:txBody>
      </p:sp>
      <p:sp>
        <p:nvSpPr>
          <p:cNvPr id="340" name="Google Shape;340;p38"/>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38</a:t>
            </a:fld>
            <a:endParaRPr/>
          </a:p>
        </p:txBody>
      </p:sp>
      <p:sp>
        <p:nvSpPr>
          <p:cNvPr id="341" name="Google Shape;341;p38"/>
          <p:cNvSpPr txBox="1">
            <a:spLocks noGrp="1"/>
          </p:cNvSpPr>
          <p:nvPr>
            <p:ph type="body" idx="1"/>
          </p:nvPr>
        </p:nvSpPr>
        <p:spPr>
          <a:xfrm>
            <a:off x="304800" y="1216025"/>
            <a:ext cx="8534400" cy="522681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Building Space Port of the Future</a:t>
            </a:r>
            <a:endParaRPr/>
          </a:p>
          <a:p>
            <a:pPr marL="342900" lvl="0" indent="-342900" algn="l" rtl="0">
              <a:spcBef>
                <a:spcPts val="480"/>
              </a:spcBef>
              <a:spcAft>
                <a:spcPts val="0"/>
              </a:spcAft>
              <a:buClr>
                <a:schemeClr val="dk1"/>
              </a:buClr>
              <a:buSzPts val="2400"/>
              <a:buFont typeface="Arial"/>
              <a:buChar char="•"/>
            </a:pPr>
            <a:r>
              <a:rPr lang="en-US" sz="2400"/>
              <a:t>CCSFS Wastewater Permit compliance</a:t>
            </a:r>
            <a:endParaRPr/>
          </a:p>
          <a:p>
            <a:pPr marL="342900" lvl="0" indent="-342900" algn="l" rtl="0">
              <a:spcBef>
                <a:spcPts val="480"/>
              </a:spcBef>
              <a:spcAft>
                <a:spcPts val="0"/>
              </a:spcAft>
              <a:buClr>
                <a:schemeClr val="dk1"/>
              </a:buClr>
              <a:buSzPts val="2400"/>
              <a:buFont typeface="Arial"/>
              <a:buChar char="•"/>
            </a:pPr>
            <a:r>
              <a:rPr lang="en-US" sz="2400"/>
              <a:t>Total Maximum Daily Load (TMDL) compliance </a:t>
            </a:r>
            <a:endParaRPr/>
          </a:p>
          <a:p>
            <a:pPr marL="342900" lvl="0" indent="-342900" algn="l" rtl="0">
              <a:spcBef>
                <a:spcPts val="480"/>
              </a:spcBef>
              <a:spcAft>
                <a:spcPts val="0"/>
              </a:spcAft>
              <a:buClr>
                <a:schemeClr val="dk1"/>
              </a:buClr>
              <a:buSzPts val="2400"/>
              <a:buFont typeface="Arial"/>
              <a:buChar char="•"/>
            </a:pPr>
            <a:r>
              <a:rPr lang="en-US" sz="2400"/>
              <a:t>OB/OD Permit requirements / SWMU Sites</a:t>
            </a:r>
            <a:endParaRPr/>
          </a:p>
          <a:p>
            <a:pPr marL="342900" lvl="0" indent="-342900" algn="l" rtl="0">
              <a:spcBef>
                <a:spcPts val="480"/>
              </a:spcBef>
              <a:spcAft>
                <a:spcPts val="0"/>
              </a:spcAft>
              <a:buClr>
                <a:schemeClr val="dk1"/>
              </a:buClr>
              <a:buSzPts val="2400"/>
              <a:buFont typeface="Arial"/>
              <a:buChar char="•"/>
            </a:pPr>
            <a:r>
              <a:rPr lang="en-US" sz="2400"/>
              <a:t>Stormwater permit compliance (proximity to waters of the US)</a:t>
            </a:r>
            <a:endParaRPr/>
          </a:p>
          <a:p>
            <a:pPr marL="342900" lvl="0" indent="-165100" algn="l" rtl="0">
              <a:spcBef>
                <a:spcPts val="560"/>
              </a:spcBef>
              <a:spcAft>
                <a:spcPts val="0"/>
              </a:spcAft>
              <a:buClr>
                <a:schemeClr val="dk1"/>
              </a:buClr>
              <a:buSzPts val="2800"/>
              <a:buFont typeface="Arial"/>
              <a:buNone/>
            </a:pPr>
            <a:endParaRPr/>
          </a:p>
          <a:p>
            <a:pPr marL="342900" lvl="0" indent="-165100" algn="l" rtl="0">
              <a:spcBef>
                <a:spcPts val="560"/>
              </a:spcBef>
              <a:spcAft>
                <a:spcPts val="0"/>
              </a:spcAft>
              <a:buClr>
                <a:schemeClr val="dk1"/>
              </a:buClr>
              <a:buSzPts val="2800"/>
              <a:buFont typeface="Arial"/>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9"/>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Site Tour - PSFB</a:t>
            </a:r>
            <a:endParaRPr/>
          </a:p>
        </p:txBody>
      </p:sp>
      <p:sp>
        <p:nvSpPr>
          <p:cNvPr id="347" name="Google Shape;347;p39"/>
          <p:cNvSpPr txBox="1">
            <a:spLocks noGrp="1"/>
          </p:cNvSpPr>
          <p:nvPr>
            <p:ph type="body" idx="1"/>
          </p:nvPr>
        </p:nvSpPr>
        <p:spPr>
          <a:xfrm>
            <a:off x="304800" y="1216025"/>
            <a:ext cx="8534400" cy="5303838"/>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TSDF (Space Force and AFTAC)</a:t>
            </a:r>
            <a:endParaRPr/>
          </a:p>
          <a:p>
            <a:pPr marL="342900" lvl="0" indent="-342900" algn="l" rtl="0">
              <a:spcBef>
                <a:spcPts val="480"/>
              </a:spcBef>
              <a:spcAft>
                <a:spcPts val="0"/>
              </a:spcAft>
              <a:buClr>
                <a:schemeClr val="dk1"/>
              </a:buClr>
              <a:buSzPts val="2400"/>
              <a:buFont typeface="Arial"/>
              <a:buChar char="•"/>
            </a:pPr>
            <a:r>
              <a:rPr lang="en-US" sz="2400"/>
              <a:t>Stormwater Sampling – Outdoor Recreation (FAC 345), Manatee Cove Marina, Material Recycling Facility (FAC 631), Fuel Storage(FAC 676) (Visual Sample Only)</a:t>
            </a:r>
            <a:endParaRPr/>
          </a:p>
          <a:p>
            <a:pPr marL="342900" lvl="0" indent="-342900" algn="l" rtl="0">
              <a:spcBef>
                <a:spcPts val="480"/>
              </a:spcBef>
              <a:spcAft>
                <a:spcPts val="0"/>
              </a:spcAft>
              <a:buClr>
                <a:schemeClr val="dk1"/>
              </a:buClr>
              <a:buSzPts val="2400"/>
              <a:buFont typeface="Arial"/>
              <a:buChar char="•"/>
            </a:pPr>
            <a:r>
              <a:rPr lang="en-US" sz="2400"/>
              <a:t>CEIE Office/Conf room</a:t>
            </a:r>
            <a:endParaRPr/>
          </a:p>
          <a:p>
            <a:pPr marL="342900" lvl="0" indent="-190500" algn="l" rtl="0">
              <a:spcBef>
                <a:spcPts val="480"/>
              </a:spcBef>
              <a:spcAft>
                <a:spcPts val="0"/>
              </a:spcAft>
              <a:buClr>
                <a:schemeClr val="dk1"/>
              </a:buClr>
              <a:buSzPts val="2400"/>
              <a:buFont typeface="Arial"/>
              <a:buNone/>
            </a:pPr>
            <a:endParaRPr sz="2400"/>
          </a:p>
          <a:p>
            <a:pPr marL="0" lvl="0" indent="0" algn="l" rtl="0">
              <a:spcBef>
                <a:spcPts val="480"/>
              </a:spcBef>
              <a:spcAft>
                <a:spcPts val="0"/>
              </a:spcAft>
              <a:buClr>
                <a:schemeClr val="dk1"/>
              </a:buClr>
              <a:buSzPts val="2400"/>
              <a:buFont typeface="Arial"/>
              <a:buNone/>
            </a:pPr>
            <a:endParaRPr sz="2400"/>
          </a:p>
          <a:p>
            <a:pPr marL="0" lvl="0" indent="0" algn="l" rtl="0">
              <a:spcBef>
                <a:spcPts val="400"/>
              </a:spcBef>
              <a:spcAft>
                <a:spcPts val="0"/>
              </a:spcAft>
              <a:buClr>
                <a:schemeClr val="dk1"/>
              </a:buClr>
              <a:buSzPts val="2000"/>
              <a:buFont typeface="Arial"/>
              <a:buNone/>
            </a:pPr>
            <a:endParaRPr sz="2000"/>
          </a:p>
          <a:p>
            <a:pPr marL="342900" lvl="0" indent="-215900" algn="l" rtl="0">
              <a:spcBef>
                <a:spcPts val="400"/>
              </a:spcBef>
              <a:spcAft>
                <a:spcPts val="0"/>
              </a:spcAft>
              <a:buClr>
                <a:schemeClr val="dk1"/>
              </a:buClr>
              <a:buSzPts val="2000"/>
              <a:buFont typeface="Arial"/>
              <a:buNone/>
            </a:pPr>
            <a:endParaRPr sz="2000"/>
          </a:p>
        </p:txBody>
      </p:sp>
      <p:sp>
        <p:nvSpPr>
          <p:cNvPr id="348" name="Google Shape;348;p39"/>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0"/>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Site Tour - CCSFS</a:t>
            </a:r>
            <a:endParaRPr/>
          </a:p>
        </p:txBody>
      </p:sp>
      <p:sp>
        <p:nvSpPr>
          <p:cNvPr id="354" name="Google Shape;354;p40"/>
          <p:cNvSpPr txBox="1">
            <a:spLocks noGrp="1"/>
          </p:cNvSpPr>
          <p:nvPr>
            <p:ph type="body" idx="1"/>
          </p:nvPr>
        </p:nvSpPr>
        <p:spPr>
          <a:xfrm>
            <a:off x="304800" y="1190625"/>
            <a:ext cx="8534400" cy="3587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Font typeface="Arial"/>
              <a:buChar char="•"/>
            </a:pPr>
            <a:r>
              <a:rPr lang="en-US" sz="2400"/>
              <a:t>TSDF</a:t>
            </a:r>
            <a:endParaRPr/>
          </a:p>
          <a:p>
            <a:pPr marL="342900" lvl="0" indent="-342900" algn="l" rtl="0">
              <a:spcBef>
                <a:spcPts val="480"/>
              </a:spcBef>
              <a:spcAft>
                <a:spcPts val="0"/>
              </a:spcAft>
              <a:buClr>
                <a:schemeClr val="dk1"/>
              </a:buClr>
              <a:buSzPts val="2400"/>
              <a:buFont typeface="Arial"/>
              <a:buChar char="•"/>
            </a:pPr>
            <a:r>
              <a:rPr lang="en-US" sz="2400"/>
              <a:t>EOD Thermal Treatment Unit / Waste Site</a:t>
            </a:r>
            <a:endParaRPr/>
          </a:p>
          <a:p>
            <a:pPr marL="342900" lvl="0" indent="-342900" algn="l" rtl="0">
              <a:spcBef>
                <a:spcPts val="480"/>
              </a:spcBef>
              <a:spcAft>
                <a:spcPts val="0"/>
              </a:spcAft>
              <a:buClr>
                <a:schemeClr val="dk1"/>
              </a:buClr>
              <a:buSzPts val="2400"/>
              <a:buFont typeface="Arial"/>
              <a:buChar char="•"/>
            </a:pPr>
            <a:r>
              <a:rPr lang="en-US" sz="2400"/>
              <a:t>Stormwater Sampling – Air Force Wharf, Poseidon Wharf, Trident Wharf</a:t>
            </a:r>
            <a:endParaRPr/>
          </a:p>
          <a:p>
            <a:pPr marL="342900" lvl="0" indent="-342900" algn="l" rtl="0">
              <a:spcBef>
                <a:spcPts val="480"/>
              </a:spcBef>
              <a:spcAft>
                <a:spcPts val="0"/>
              </a:spcAft>
              <a:buClr>
                <a:schemeClr val="dk1"/>
              </a:buClr>
              <a:buSzPts val="2400"/>
              <a:buFont typeface="Arial"/>
              <a:buChar char="•"/>
            </a:pPr>
            <a:r>
              <a:rPr lang="en-US" sz="2400"/>
              <a:t>WWTP, Trident Pretreatment </a:t>
            </a:r>
            <a:endParaRPr/>
          </a:p>
          <a:p>
            <a:pPr marL="342900" lvl="0" indent="-342900" algn="l" rtl="0">
              <a:spcBef>
                <a:spcPts val="480"/>
              </a:spcBef>
              <a:spcAft>
                <a:spcPts val="0"/>
              </a:spcAft>
              <a:buClr>
                <a:schemeClr val="dk1"/>
              </a:buClr>
              <a:buSzPts val="2400"/>
              <a:buFont typeface="Arial"/>
              <a:buChar char="•"/>
            </a:pPr>
            <a:r>
              <a:rPr lang="en-US" sz="2400"/>
              <a:t>Landfill monitoring and surface water wells</a:t>
            </a:r>
            <a:endParaRPr/>
          </a:p>
          <a:p>
            <a:pPr marL="342900" lvl="0" indent="-342900" algn="l" rtl="0">
              <a:spcBef>
                <a:spcPts val="480"/>
              </a:spcBef>
              <a:spcAft>
                <a:spcPts val="0"/>
              </a:spcAft>
              <a:buClr>
                <a:schemeClr val="dk1"/>
              </a:buClr>
              <a:buSzPts val="2400"/>
              <a:buFont typeface="Arial"/>
              <a:buChar char="•"/>
            </a:pPr>
            <a:r>
              <a:rPr lang="en-US" sz="2400"/>
              <a:t>CLOIS HAZMART @ Logistics </a:t>
            </a:r>
            <a:endParaRPr/>
          </a:p>
          <a:p>
            <a:pPr marL="342900" lvl="0" indent="-215900" algn="l" rtl="0">
              <a:spcBef>
                <a:spcPts val="400"/>
              </a:spcBef>
              <a:spcAft>
                <a:spcPts val="0"/>
              </a:spcAft>
              <a:buClr>
                <a:schemeClr val="dk1"/>
              </a:buClr>
              <a:buSzPts val="2000"/>
              <a:buFont typeface="Arial"/>
              <a:buNone/>
            </a:pPr>
            <a:endParaRPr sz="2000"/>
          </a:p>
        </p:txBody>
      </p:sp>
      <p:sp>
        <p:nvSpPr>
          <p:cNvPr id="355" name="Google Shape;355;p40"/>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1"/>
          <p:cNvSpPr txBox="1">
            <a:spLocks noGrp="1"/>
          </p:cNvSpPr>
          <p:nvPr>
            <p:ph type="title"/>
          </p:nvPr>
        </p:nvSpPr>
        <p:spPr>
          <a:xfrm>
            <a:off x="938676" y="76200"/>
            <a:ext cx="7272817" cy="9144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Site Tour – Avon Park</a:t>
            </a:r>
            <a:endParaRPr/>
          </a:p>
        </p:txBody>
      </p:sp>
      <p:sp>
        <p:nvSpPr>
          <p:cNvPr id="362" name="Google Shape;362;p41"/>
          <p:cNvSpPr txBox="1">
            <a:spLocks noGrp="1"/>
          </p:cNvSpPr>
          <p:nvPr>
            <p:ph type="body" idx="1"/>
          </p:nvPr>
        </p:nvSpPr>
        <p:spPr>
          <a:xfrm>
            <a:off x="304800" y="1216025"/>
            <a:ext cx="8534400" cy="3587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800"/>
              <a:buFont typeface="Arial"/>
              <a:buChar char="•"/>
            </a:pPr>
            <a:r>
              <a:rPr lang="en-US" dirty="0"/>
              <a:t>90-day HWAP</a:t>
            </a:r>
            <a:endParaRPr dirty="0"/>
          </a:p>
          <a:p>
            <a:pPr marL="342900" lvl="0" indent="-342900" algn="l" rtl="0">
              <a:spcBef>
                <a:spcPts val="560"/>
              </a:spcBef>
              <a:spcAft>
                <a:spcPts val="0"/>
              </a:spcAft>
              <a:buClr>
                <a:schemeClr val="dk1"/>
              </a:buClr>
              <a:buSzPts val="2800"/>
              <a:buFont typeface="Arial"/>
              <a:buChar char="•"/>
            </a:pPr>
            <a:r>
              <a:rPr lang="en-US" dirty="0"/>
              <a:t>3 MSGP Sample locations</a:t>
            </a:r>
            <a:endParaRPr dirty="0"/>
          </a:p>
          <a:p>
            <a:pPr marL="342900" lvl="0" indent="-342900" algn="l" rtl="0">
              <a:spcBef>
                <a:spcPts val="560"/>
              </a:spcBef>
              <a:spcAft>
                <a:spcPts val="0"/>
              </a:spcAft>
              <a:buClr>
                <a:schemeClr val="dk1"/>
              </a:buClr>
              <a:buSzPts val="2800"/>
              <a:buFont typeface="Arial"/>
              <a:buChar char="•"/>
            </a:pPr>
            <a:r>
              <a:rPr lang="en-US" dirty="0"/>
              <a:t>CEIE Office/Conf room</a:t>
            </a:r>
            <a:endParaRPr dirty="0"/>
          </a:p>
        </p:txBody>
      </p:sp>
      <p:sp>
        <p:nvSpPr>
          <p:cNvPr id="363" name="Google Shape;363;p41"/>
          <p:cNvSpPr txBox="1">
            <a:spLocks noGrp="1"/>
          </p:cNvSpPr>
          <p:nvPr>
            <p:ph type="sldNum" idx="12"/>
          </p:nvPr>
        </p:nvSpPr>
        <p:spPr>
          <a:xfrm>
            <a:off x="8075850" y="6519863"/>
            <a:ext cx="1068149" cy="338137"/>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chemeClr val="dk1"/>
              </a:buClr>
              <a:buSzPts val="1400"/>
              <a:buFont typeface="Arial"/>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blank">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7adc8ff-f4a3-4a14-9c0d-84b4985de0d2}" enabled="1" method="Privileged" siteId="{8331b18d-2d87-48ef-a35f-ac8818ebf9b4}" contentBits="0" removed="0"/>
</clbl:labelList>
</file>

<file path=docProps/app.xml><?xml version="1.0" encoding="utf-8"?>
<Properties xmlns="http://schemas.openxmlformats.org/officeDocument/2006/extended-properties" xmlns:vt="http://schemas.openxmlformats.org/officeDocument/2006/docPropsVTypes">
  <TotalTime>62</TotalTime>
  <Words>2576</Words>
  <Application>Microsoft Office PowerPoint</Application>
  <PresentationFormat>On-screen Show (4:3)</PresentationFormat>
  <Paragraphs>344</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Noto Sans Symbols</vt:lpstr>
      <vt:lpstr>Arial</vt:lpstr>
      <vt:lpstr>Tahoma</vt:lpstr>
      <vt:lpstr>Times New Roman</vt:lpstr>
      <vt:lpstr>blank</vt:lpstr>
      <vt:lpstr>PowerPoint Presentation</vt:lpstr>
      <vt:lpstr>Purpose of the Site Visit</vt:lpstr>
      <vt:lpstr> Overview of Schedule</vt:lpstr>
      <vt:lpstr>Acquisition Overview</vt:lpstr>
      <vt:lpstr>Acquisition Team Introductions</vt:lpstr>
      <vt:lpstr>Acquisition Overview</vt:lpstr>
      <vt:lpstr>Ground Rules for Site Visit</vt:lpstr>
      <vt:lpstr>Ground Rules for Site Visit</vt:lpstr>
      <vt:lpstr>Overview of PWS General</vt:lpstr>
      <vt:lpstr>Overview of PWS Table 1 Requirements</vt:lpstr>
      <vt:lpstr>PWS References</vt:lpstr>
      <vt:lpstr>Acquisition Timeline</vt:lpstr>
      <vt:lpstr>Installation Overview</vt:lpstr>
      <vt:lpstr>Discussion</vt:lpstr>
      <vt:lpstr>Installation Facts – (PSFB)</vt:lpstr>
      <vt:lpstr>Installation Facts – (CCSFS)</vt:lpstr>
      <vt:lpstr>Installation Facts – (APAFR)</vt:lpstr>
      <vt:lpstr>Base Access – PSFB</vt:lpstr>
      <vt:lpstr>Base Access – CCSFS</vt:lpstr>
      <vt:lpstr>Base Access – APAFR</vt:lpstr>
      <vt:lpstr>Spaceport of the Future</vt:lpstr>
      <vt:lpstr>Spaceport of the Future</vt:lpstr>
      <vt:lpstr>Spaceport of the Future</vt:lpstr>
      <vt:lpstr>Environmental Program Areas</vt:lpstr>
      <vt:lpstr>Hazardous Waste</vt:lpstr>
      <vt:lpstr>Env Sampling, Analysis &amp; Monitoring</vt:lpstr>
      <vt:lpstr>Air Quality</vt:lpstr>
      <vt:lpstr>Wastewater &amp; Stormwater</vt:lpstr>
      <vt:lpstr>Solid Waste</vt:lpstr>
      <vt:lpstr>Petroleum, Oil and Lubricants</vt:lpstr>
      <vt:lpstr>Toxics</vt:lpstr>
      <vt:lpstr>Public Notification</vt:lpstr>
      <vt:lpstr>Plans/Permits</vt:lpstr>
      <vt:lpstr>Review Taskers</vt:lpstr>
      <vt:lpstr>NEPA</vt:lpstr>
      <vt:lpstr>F2F - Installation Locations</vt:lpstr>
      <vt:lpstr>Data Management Systems</vt:lpstr>
      <vt:lpstr>Unique Considerations</vt:lpstr>
      <vt:lpstr>Site Tour - PSFB</vt:lpstr>
      <vt:lpstr>Site Tour - CCSFS</vt:lpstr>
      <vt:lpstr>Site Tour – Avon Park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andersam</dc:creator>
  <cp:lastModifiedBy>JadaEMorrow</cp:lastModifiedBy>
  <cp:revision>4</cp:revision>
  <dcterms:created xsi:type="dcterms:W3CDTF">2013-07-08T14:37:18Z</dcterms:created>
  <dcterms:modified xsi:type="dcterms:W3CDTF">2026-05-05T21:15:35Z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ContentTypeId">
    <vt:lpwstr>0x010100975140640B73BB4A8334388222215378</vt:lpwstr>
  </property>
  <property fmtid="{D5CDD505-2E9C-101B-9397-08002B2CF9AE}" pid="4" name="_dlc_DocIdItemGuid">
    <vt:lpwstr>b0a0cbed-473b-4c38-b210-5b395b1cdcd3</vt:lpwstr>
  </property>
</Properties>
</file>