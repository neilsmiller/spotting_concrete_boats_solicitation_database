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5"/>
  </p:sldMasterIdLst>
  <p:notesMasterIdLst>
    <p:notesMasterId r:id="rId47"/>
  </p:notesMasterIdLst>
  <p:handoutMasterIdLst>
    <p:handoutMasterId r:id="rId48"/>
  </p:handoutMasterIdLst>
  <p:sldIdLst>
    <p:sldId id="2784" r:id="rId6"/>
    <p:sldId id="2713" r:id="rId7"/>
    <p:sldId id="2780" r:id="rId8"/>
    <p:sldId id="2781" r:id="rId9"/>
    <p:sldId id="2782" r:id="rId10"/>
    <p:sldId id="646" r:id="rId11"/>
    <p:sldId id="2774" r:id="rId12"/>
    <p:sldId id="2721" r:id="rId13"/>
    <p:sldId id="2722" r:id="rId14"/>
    <p:sldId id="2779" r:id="rId15"/>
    <p:sldId id="2723" r:id="rId16"/>
    <p:sldId id="2724" r:id="rId17"/>
    <p:sldId id="2725" r:id="rId18"/>
    <p:sldId id="2726" r:id="rId19"/>
    <p:sldId id="2783" r:id="rId20"/>
    <p:sldId id="2730" r:id="rId21"/>
    <p:sldId id="2728" r:id="rId22"/>
    <p:sldId id="2729" r:id="rId23"/>
    <p:sldId id="2731" r:id="rId24"/>
    <p:sldId id="2734" r:id="rId25"/>
    <p:sldId id="2733" r:id="rId26"/>
    <p:sldId id="2732" r:id="rId27"/>
    <p:sldId id="2735" r:id="rId28"/>
    <p:sldId id="2739" r:id="rId29"/>
    <p:sldId id="2738" r:id="rId30"/>
    <p:sldId id="2737" r:id="rId31"/>
    <p:sldId id="2736" r:id="rId32"/>
    <p:sldId id="2742" r:id="rId33"/>
    <p:sldId id="2743" r:id="rId34"/>
    <p:sldId id="2744" r:id="rId35"/>
    <p:sldId id="2763" r:id="rId36"/>
    <p:sldId id="2762" r:id="rId37"/>
    <p:sldId id="2745" r:id="rId38"/>
    <p:sldId id="2746" r:id="rId39"/>
    <p:sldId id="2748" r:id="rId40"/>
    <p:sldId id="2754" r:id="rId41"/>
    <p:sldId id="2752" r:id="rId42"/>
    <p:sldId id="2770" r:id="rId43"/>
    <p:sldId id="2785" r:id="rId44"/>
    <p:sldId id="2767" r:id="rId45"/>
    <p:sldId id="2766" r:id="rId46"/>
  </p:sldIdLst>
  <p:sldSz cx="9144000" cy="6858000" type="screen4x3"/>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SB Section" id="{0DC7E152-7C79-4DE3-8317-7A181F6D3423}">
          <p14:sldIdLst>
            <p14:sldId id="2784"/>
            <p14:sldId id="2713"/>
            <p14:sldId id="2780"/>
            <p14:sldId id="2781"/>
            <p14:sldId id="2782"/>
            <p14:sldId id="646"/>
            <p14:sldId id="2774"/>
            <p14:sldId id="2721"/>
            <p14:sldId id="2722"/>
            <p14:sldId id="2779"/>
            <p14:sldId id="2723"/>
            <p14:sldId id="2724"/>
            <p14:sldId id="2725"/>
            <p14:sldId id="2726"/>
            <p14:sldId id="2783"/>
            <p14:sldId id="2730"/>
            <p14:sldId id="2728"/>
            <p14:sldId id="2729"/>
            <p14:sldId id="2731"/>
            <p14:sldId id="2734"/>
            <p14:sldId id="2733"/>
            <p14:sldId id="2732"/>
            <p14:sldId id="2735"/>
            <p14:sldId id="2739"/>
            <p14:sldId id="2738"/>
            <p14:sldId id="2737"/>
            <p14:sldId id="2736"/>
            <p14:sldId id="2742"/>
            <p14:sldId id="2743"/>
            <p14:sldId id="2744"/>
            <p14:sldId id="2763"/>
            <p14:sldId id="2762"/>
            <p14:sldId id="2745"/>
            <p14:sldId id="2746"/>
            <p14:sldId id="2748"/>
            <p14:sldId id="2754"/>
            <p14:sldId id="2752"/>
            <p14:sldId id="2770"/>
            <p14:sldId id="2785"/>
            <p14:sldId id="2767"/>
            <p14:sldId id="276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6F32AA1-670B-4F76-8B9B-D4E4B3402F09}" name="Son, Michael A CIV USARMY 414 CONTR SPT BDE (USA)" initials="MS" userId="S::michael.a.son2.civ@army.mil::e17f2b7e-7a1a-47cf-97fd-e67f5bb9d5ef" providerId="AD"/>
  <p188:author id="{E7B45ACF-6B6C-C75C-376D-661231AA285D}" name="Cappello, Sebastiana LN USARMY 414 CONTR SPT BDE (ITA)" initials="SC" userId="S::sebastiana.cappello.ln@army.mil::81ea2671-a68f-4d93-b3cd-e93869d45f2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33"/>
    <a:srgbClr val="BFBFBF"/>
    <a:srgbClr val="7F7F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70916" autoAdjust="0"/>
  </p:normalViewPr>
  <p:slideViewPr>
    <p:cSldViewPr snapToGrid="0">
      <p:cViewPr varScale="1">
        <p:scale>
          <a:sx n="78" d="100"/>
          <a:sy n="78" d="100"/>
        </p:scale>
        <p:origin x="26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microsoft.com/office/2018/10/relationships/authors" Target="authors.xml"/><Relationship Id="rId5" Type="http://schemas.openxmlformats.org/officeDocument/2006/relationships/slideMaster" Target="slideMasters/slide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819A99-642E-4C8D-BACA-7DFF82014E8F}" type="doc">
      <dgm:prSet loTypeId="urn:microsoft.com/office/officeart/2005/8/layout/radial4" loCatId="relationship" qsTypeId="urn:microsoft.com/office/officeart/2005/8/quickstyle/simple1" qsCatId="simple" csTypeId="urn:microsoft.com/office/officeart/2005/8/colors/colorful5" csCatId="colorful" phldr="1"/>
      <dgm:spPr/>
      <dgm:t>
        <a:bodyPr/>
        <a:lstStyle/>
        <a:p>
          <a:endParaRPr lang="en-US"/>
        </a:p>
      </dgm:t>
    </dgm:pt>
    <dgm:pt modelId="{EC79B8BB-36BB-42F1-831E-50E087E3F875}">
      <dgm:prSet phldrT="[Text]"/>
      <dgm:spPr/>
      <dgm:t>
        <a:bodyPr/>
        <a:lstStyle/>
        <a:p>
          <a:r>
            <a:rPr lang="en-US" dirty="0">
              <a:ln>
                <a:solidFill>
                  <a:schemeClr val="tx2"/>
                </a:solidFill>
              </a:ln>
              <a:solidFill>
                <a:schemeClr val="tx1"/>
              </a:solidFill>
            </a:rPr>
            <a:t>JOC Project</a:t>
          </a:r>
        </a:p>
      </dgm:t>
    </dgm:pt>
    <dgm:pt modelId="{DBF4B661-3949-4A06-BB6A-DE18B7AB23D5}" type="parTrans" cxnId="{90BFEE2C-4F45-4DC5-AECD-C3406378B169}">
      <dgm:prSet/>
      <dgm:spPr/>
      <dgm:t>
        <a:bodyPr/>
        <a:lstStyle/>
        <a:p>
          <a:endParaRPr lang="en-US">
            <a:ln>
              <a:solidFill>
                <a:schemeClr val="tx2"/>
              </a:solidFill>
            </a:ln>
          </a:endParaRPr>
        </a:p>
      </dgm:t>
    </dgm:pt>
    <dgm:pt modelId="{6286C1AC-46CA-4655-BDFA-82B30CC2957D}" type="sibTrans" cxnId="{90BFEE2C-4F45-4DC5-AECD-C3406378B169}">
      <dgm:prSet/>
      <dgm:spPr/>
      <dgm:t>
        <a:bodyPr/>
        <a:lstStyle/>
        <a:p>
          <a:endParaRPr lang="en-US">
            <a:ln>
              <a:solidFill>
                <a:schemeClr val="tx2"/>
              </a:solidFill>
            </a:ln>
          </a:endParaRPr>
        </a:p>
      </dgm:t>
    </dgm:pt>
    <dgm:pt modelId="{BFCE96FC-8EDD-4BDC-BAE1-B90C6B33FE50}">
      <dgm:prSet phldrT="[Text]" custT="1"/>
      <dgm:spPr/>
      <dgm:t>
        <a:bodyPr/>
        <a:lstStyle/>
        <a:p>
          <a:r>
            <a:rPr lang="en-US" sz="1200" dirty="0">
              <a:ln>
                <a:solidFill>
                  <a:schemeClr val="tx2"/>
                </a:solidFill>
              </a:ln>
              <a:solidFill>
                <a:schemeClr val="tx1"/>
              </a:solidFill>
            </a:rPr>
            <a:t>Stakeholder End User</a:t>
          </a:r>
        </a:p>
      </dgm:t>
    </dgm:pt>
    <dgm:pt modelId="{564BAF03-82AE-4A32-AC9A-FAA27F1535A1}" type="parTrans" cxnId="{F3D6B53E-FA83-43E1-B6E3-0F8C57D84D2D}">
      <dgm:prSet/>
      <dgm:spPr/>
      <dgm:t>
        <a:bodyPr/>
        <a:lstStyle/>
        <a:p>
          <a:endParaRPr lang="en-US">
            <a:ln>
              <a:solidFill>
                <a:schemeClr val="tx2"/>
              </a:solidFill>
            </a:ln>
          </a:endParaRPr>
        </a:p>
      </dgm:t>
    </dgm:pt>
    <dgm:pt modelId="{91ADAC91-F758-4328-A09D-AFB2CA7F5C7A}" type="sibTrans" cxnId="{F3D6B53E-FA83-43E1-B6E3-0F8C57D84D2D}">
      <dgm:prSet/>
      <dgm:spPr/>
      <dgm:t>
        <a:bodyPr/>
        <a:lstStyle/>
        <a:p>
          <a:endParaRPr lang="en-US">
            <a:ln>
              <a:solidFill>
                <a:schemeClr val="tx2"/>
              </a:solidFill>
            </a:ln>
          </a:endParaRPr>
        </a:p>
      </dgm:t>
    </dgm:pt>
    <dgm:pt modelId="{FF283B98-09F6-4040-BAD8-E4CCDC60CEF9}">
      <dgm:prSet phldrT="[Text]"/>
      <dgm:spPr/>
      <dgm:t>
        <a:bodyPr/>
        <a:lstStyle/>
        <a:p>
          <a:r>
            <a:rPr lang="en-US" dirty="0">
              <a:ln>
                <a:solidFill>
                  <a:schemeClr val="tx2"/>
                </a:solidFill>
              </a:ln>
              <a:solidFill>
                <a:schemeClr val="tx1"/>
              </a:solidFill>
            </a:rPr>
            <a:t>Contractor</a:t>
          </a:r>
        </a:p>
      </dgm:t>
    </dgm:pt>
    <dgm:pt modelId="{07877690-D27F-4066-9600-1939A40DC9CB}" type="parTrans" cxnId="{70E52EAC-DA60-407C-9CB9-5F87DA33A196}">
      <dgm:prSet/>
      <dgm:spPr/>
      <dgm:t>
        <a:bodyPr/>
        <a:lstStyle/>
        <a:p>
          <a:endParaRPr lang="en-US">
            <a:ln>
              <a:solidFill>
                <a:schemeClr val="tx2"/>
              </a:solidFill>
            </a:ln>
          </a:endParaRPr>
        </a:p>
      </dgm:t>
    </dgm:pt>
    <dgm:pt modelId="{3A88C071-1FDF-43EA-B76D-294D2822063D}" type="sibTrans" cxnId="{70E52EAC-DA60-407C-9CB9-5F87DA33A196}">
      <dgm:prSet/>
      <dgm:spPr/>
      <dgm:t>
        <a:bodyPr/>
        <a:lstStyle/>
        <a:p>
          <a:endParaRPr lang="en-US">
            <a:ln>
              <a:solidFill>
                <a:schemeClr val="tx2"/>
              </a:solidFill>
            </a:ln>
          </a:endParaRPr>
        </a:p>
      </dgm:t>
    </dgm:pt>
    <dgm:pt modelId="{3CE5E5AA-41EC-41EB-A95D-8CB1ED121B8F}">
      <dgm:prSet phldrT="[Text]"/>
      <dgm:spPr/>
      <dgm:t>
        <a:bodyPr/>
        <a:lstStyle/>
        <a:p>
          <a:r>
            <a:rPr lang="en-US" dirty="0">
              <a:ln>
                <a:solidFill>
                  <a:schemeClr val="tx2"/>
                </a:solidFill>
              </a:ln>
              <a:solidFill>
                <a:schemeClr val="tx1"/>
              </a:solidFill>
            </a:rPr>
            <a:t>KO</a:t>
          </a:r>
        </a:p>
      </dgm:t>
    </dgm:pt>
    <dgm:pt modelId="{8C58382D-7A60-4940-B0A3-70338335A044}" type="parTrans" cxnId="{589F85F4-6181-437A-BED4-F1E1C9B5B294}">
      <dgm:prSet/>
      <dgm:spPr/>
      <dgm:t>
        <a:bodyPr/>
        <a:lstStyle/>
        <a:p>
          <a:endParaRPr lang="en-US">
            <a:ln>
              <a:solidFill>
                <a:schemeClr val="tx2"/>
              </a:solidFill>
            </a:ln>
          </a:endParaRPr>
        </a:p>
      </dgm:t>
    </dgm:pt>
    <dgm:pt modelId="{8C38D87E-1442-40E3-8D90-F8E7AD6C6352}" type="sibTrans" cxnId="{589F85F4-6181-437A-BED4-F1E1C9B5B294}">
      <dgm:prSet/>
      <dgm:spPr/>
      <dgm:t>
        <a:bodyPr/>
        <a:lstStyle/>
        <a:p>
          <a:endParaRPr lang="en-US">
            <a:ln>
              <a:solidFill>
                <a:schemeClr val="tx2"/>
              </a:solidFill>
            </a:ln>
          </a:endParaRPr>
        </a:p>
      </dgm:t>
    </dgm:pt>
    <dgm:pt modelId="{ED75B364-0438-4C67-86FF-29BE840D708D}">
      <dgm:prSet phldrT="[Text]"/>
      <dgm:spPr/>
      <dgm:t>
        <a:bodyPr/>
        <a:lstStyle/>
        <a:p>
          <a:r>
            <a:rPr lang="en-US" dirty="0">
              <a:ln>
                <a:solidFill>
                  <a:schemeClr val="tx2"/>
                </a:solidFill>
              </a:ln>
              <a:solidFill>
                <a:schemeClr val="tx1"/>
              </a:solidFill>
            </a:rPr>
            <a:t>PM</a:t>
          </a:r>
        </a:p>
      </dgm:t>
    </dgm:pt>
    <dgm:pt modelId="{6BF9AA54-4198-4F44-BCF6-FBAE6520FF36}" type="parTrans" cxnId="{EAB68AE7-8323-4923-ADD8-4A8C9AE9CE19}">
      <dgm:prSet/>
      <dgm:spPr/>
      <dgm:t>
        <a:bodyPr/>
        <a:lstStyle/>
        <a:p>
          <a:endParaRPr lang="en-US">
            <a:ln>
              <a:solidFill>
                <a:schemeClr val="tx2"/>
              </a:solidFill>
            </a:ln>
          </a:endParaRPr>
        </a:p>
      </dgm:t>
    </dgm:pt>
    <dgm:pt modelId="{4565033F-D4BA-4BEE-8E80-B9B2B1806144}" type="sibTrans" cxnId="{EAB68AE7-8323-4923-ADD8-4A8C9AE9CE19}">
      <dgm:prSet/>
      <dgm:spPr/>
      <dgm:t>
        <a:bodyPr/>
        <a:lstStyle/>
        <a:p>
          <a:endParaRPr lang="en-US">
            <a:ln>
              <a:solidFill>
                <a:schemeClr val="tx2"/>
              </a:solidFill>
            </a:ln>
          </a:endParaRPr>
        </a:p>
      </dgm:t>
    </dgm:pt>
    <dgm:pt modelId="{5FB56627-B012-47EE-8453-CFB5F0724CBB}">
      <dgm:prSet phldrT="[Text]"/>
      <dgm:spPr/>
      <dgm:t>
        <a:bodyPr/>
        <a:lstStyle/>
        <a:p>
          <a:r>
            <a:rPr lang="en-US" dirty="0">
              <a:ln>
                <a:solidFill>
                  <a:schemeClr val="tx2"/>
                </a:solidFill>
              </a:ln>
              <a:solidFill>
                <a:schemeClr val="tx1"/>
              </a:solidFill>
            </a:rPr>
            <a:t>COR</a:t>
          </a:r>
        </a:p>
      </dgm:t>
    </dgm:pt>
    <dgm:pt modelId="{29FE0634-E99C-4F06-8B07-3C74EA007B2F}" type="parTrans" cxnId="{62C7C06B-1B54-4C84-9500-5DCB73A7B086}">
      <dgm:prSet/>
      <dgm:spPr/>
      <dgm:t>
        <a:bodyPr/>
        <a:lstStyle/>
        <a:p>
          <a:endParaRPr lang="en-US">
            <a:ln>
              <a:solidFill>
                <a:schemeClr val="tx2"/>
              </a:solidFill>
            </a:ln>
          </a:endParaRPr>
        </a:p>
      </dgm:t>
    </dgm:pt>
    <dgm:pt modelId="{15BFDAD5-55F3-4F4A-950F-04A3B895C693}" type="sibTrans" cxnId="{62C7C06B-1B54-4C84-9500-5DCB73A7B086}">
      <dgm:prSet/>
      <dgm:spPr/>
      <dgm:t>
        <a:bodyPr/>
        <a:lstStyle/>
        <a:p>
          <a:endParaRPr lang="en-US">
            <a:ln>
              <a:solidFill>
                <a:schemeClr val="tx2"/>
              </a:solidFill>
            </a:ln>
          </a:endParaRPr>
        </a:p>
      </dgm:t>
    </dgm:pt>
    <dgm:pt modelId="{E5E399E5-5382-44A6-8728-F85261A8003D}">
      <dgm:prSet phldrT="[Text]"/>
      <dgm:spPr/>
      <dgm:t>
        <a:bodyPr/>
        <a:lstStyle/>
        <a:p>
          <a:r>
            <a:rPr lang="en-US" dirty="0">
              <a:ln>
                <a:solidFill>
                  <a:schemeClr val="tx2"/>
                </a:solidFill>
              </a:ln>
              <a:solidFill>
                <a:schemeClr val="tx1"/>
              </a:solidFill>
            </a:rPr>
            <a:t>Others</a:t>
          </a:r>
        </a:p>
      </dgm:t>
    </dgm:pt>
    <dgm:pt modelId="{AF2F39CF-D593-4242-9D3E-FB035303B350}" type="parTrans" cxnId="{EE0CD35D-DE40-4400-978A-333B4B6C4D24}">
      <dgm:prSet/>
      <dgm:spPr/>
      <dgm:t>
        <a:bodyPr/>
        <a:lstStyle/>
        <a:p>
          <a:endParaRPr lang="en-US">
            <a:ln>
              <a:solidFill>
                <a:schemeClr val="tx2"/>
              </a:solidFill>
            </a:ln>
          </a:endParaRPr>
        </a:p>
      </dgm:t>
    </dgm:pt>
    <dgm:pt modelId="{8FF93F2A-A204-41C8-8F27-20D56CF98246}" type="sibTrans" cxnId="{EE0CD35D-DE40-4400-978A-333B4B6C4D24}">
      <dgm:prSet/>
      <dgm:spPr/>
      <dgm:t>
        <a:bodyPr/>
        <a:lstStyle/>
        <a:p>
          <a:endParaRPr lang="en-US">
            <a:ln>
              <a:solidFill>
                <a:schemeClr val="tx2"/>
              </a:solidFill>
            </a:ln>
          </a:endParaRPr>
        </a:p>
      </dgm:t>
    </dgm:pt>
    <dgm:pt modelId="{613F6BB6-0948-4141-9C14-86A1913E3F21}" type="pres">
      <dgm:prSet presAssocID="{B2819A99-642E-4C8D-BACA-7DFF82014E8F}" presName="cycle" presStyleCnt="0">
        <dgm:presLayoutVars>
          <dgm:chMax val="1"/>
          <dgm:dir/>
          <dgm:animLvl val="ctr"/>
          <dgm:resizeHandles val="exact"/>
        </dgm:presLayoutVars>
      </dgm:prSet>
      <dgm:spPr/>
    </dgm:pt>
    <dgm:pt modelId="{085F00FF-4314-4287-A854-E6846927CAB3}" type="pres">
      <dgm:prSet presAssocID="{EC79B8BB-36BB-42F1-831E-50E087E3F875}" presName="centerShape" presStyleLbl="node0" presStyleIdx="0" presStyleCnt="1"/>
      <dgm:spPr/>
    </dgm:pt>
    <dgm:pt modelId="{FF2E618D-C38E-42C5-87DE-A0DF3479A688}" type="pres">
      <dgm:prSet presAssocID="{564BAF03-82AE-4A32-AC9A-FAA27F1535A1}" presName="parTrans" presStyleLbl="bgSibTrans2D1" presStyleIdx="0" presStyleCnt="6"/>
      <dgm:spPr/>
    </dgm:pt>
    <dgm:pt modelId="{05524466-C1CE-4D48-BE5D-99235783EC6F}" type="pres">
      <dgm:prSet presAssocID="{BFCE96FC-8EDD-4BDC-BAE1-B90C6B33FE50}" presName="node" presStyleLbl="node1" presStyleIdx="0" presStyleCnt="6" custScaleX="111876">
        <dgm:presLayoutVars>
          <dgm:bulletEnabled val="1"/>
        </dgm:presLayoutVars>
      </dgm:prSet>
      <dgm:spPr/>
    </dgm:pt>
    <dgm:pt modelId="{4B8443CC-730B-4DC3-AC76-7EE6501B1D6F}" type="pres">
      <dgm:prSet presAssocID="{6BF9AA54-4198-4F44-BCF6-FBAE6520FF36}" presName="parTrans" presStyleLbl="bgSibTrans2D1" presStyleIdx="1" presStyleCnt="6"/>
      <dgm:spPr/>
    </dgm:pt>
    <dgm:pt modelId="{E81CEC1F-6825-4B4A-B3B2-36E7C6C19BA9}" type="pres">
      <dgm:prSet presAssocID="{ED75B364-0438-4C67-86FF-29BE840D708D}" presName="node" presStyleLbl="node1" presStyleIdx="1" presStyleCnt="6">
        <dgm:presLayoutVars>
          <dgm:bulletEnabled val="1"/>
        </dgm:presLayoutVars>
      </dgm:prSet>
      <dgm:spPr/>
    </dgm:pt>
    <dgm:pt modelId="{435F883B-8B89-4A8C-9684-AA704F829BCB}" type="pres">
      <dgm:prSet presAssocID="{07877690-D27F-4066-9600-1939A40DC9CB}" presName="parTrans" presStyleLbl="bgSibTrans2D1" presStyleIdx="2" presStyleCnt="6"/>
      <dgm:spPr/>
    </dgm:pt>
    <dgm:pt modelId="{85F14509-14D0-4D0B-A4AA-4E81D09E8A85}" type="pres">
      <dgm:prSet presAssocID="{FF283B98-09F6-4040-BAD8-E4CCDC60CEF9}" presName="node" presStyleLbl="node1" presStyleIdx="2" presStyleCnt="6">
        <dgm:presLayoutVars>
          <dgm:bulletEnabled val="1"/>
        </dgm:presLayoutVars>
      </dgm:prSet>
      <dgm:spPr/>
    </dgm:pt>
    <dgm:pt modelId="{C3130838-10B7-49E0-8C17-AD601C6005D3}" type="pres">
      <dgm:prSet presAssocID="{8C58382D-7A60-4940-B0A3-70338335A044}" presName="parTrans" presStyleLbl="bgSibTrans2D1" presStyleIdx="3" presStyleCnt="6"/>
      <dgm:spPr/>
    </dgm:pt>
    <dgm:pt modelId="{97239AA9-B09A-4F70-AAF4-8A693844DE19}" type="pres">
      <dgm:prSet presAssocID="{3CE5E5AA-41EC-41EB-A95D-8CB1ED121B8F}" presName="node" presStyleLbl="node1" presStyleIdx="3" presStyleCnt="6">
        <dgm:presLayoutVars>
          <dgm:bulletEnabled val="1"/>
        </dgm:presLayoutVars>
      </dgm:prSet>
      <dgm:spPr/>
    </dgm:pt>
    <dgm:pt modelId="{EFFEAE49-CEE6-4F6E-A45F-65A648BD362E}" type="pres">
      <dgm:prSet presAssocID="{29FE0634-E99C-4F06-8B07-3C74EA007B2F}" presName="parTrans" presStyleLbl="bgSibTrans2D1" presStyleIdx="4" presStyleCnt="6"/>
      <dgm:spPr/>
    </dgm:pt>
    <dgm:pt modelId="{E570DE4A-98B9-4E5C-A4CF-8670A8A1A069}" type="pres">
      <dgm:prSet presAssocID="{5FB56627-B012-47EE-8453-CFB5F0724CBB}" presName="node" presStyleLbl="node1" presStyleIdx="4" presStyleCnt="6">
        <dgm:presLayoutVars>
          <dgm:bulletEnabled val="1"/>
        </dgm:presLayoutVars>
      </dgm:prSet>
      <dgm:spPr/>
    </dgm:pt>
    <dgm:pt modelId="{97CC03B1-20B5-4DFE-8DAC-F22F08421CF7}" type="pres">
      <dgm:prSet presAssocID="{AF2F39CF-D593-4242-9D3E-FB035303B350}" presName="parTrans" presStyleLbl="bgSibTrans2D1" presStyleIdx="5" presStyleCnt="6"/>
      <dgm:spPr/>
    </dgm:pt>
    <dgm:pt modelId="{33C4B15E-DC6E-4FE3-95CC-26DC93179D87}" type="pres">
      <dgm:prSet presAssocID="{E5E399E5-5382-44A6-8728-F85261A8003D}" presName="node" presStyleLbl="node1" presStyleIdx="5" presStyleCnt="6">
        <dgm:presLayoutVars>
          <dgm:bulletEnabled val="1"/>
        </dgm:presLayoutVars>
      </dgm:prSet>
      <dgm:spPr/>
    </dgm:pt>
  </dgm:ptLst>
  <dgm:cxnLst>
    <dgm:cxn modelId="{C3C32F10-C21F-490D-B285-68D6E6E7F3AE}" type="presOf" srcId="{ED75B364-0438-4C67-86FF-29BE840D708D}" destId="{E81CEC1F-6825-4B4A-B3B2-36E7C6C19BA9}" srcOrd="0" destOrd="0" presId="urn:microsoft.com/office/officeart/2005/8/layout/radial4"/>
    <dgm:cxn modelId="{7B2A0E14-A6D3-4E47-A009-A27137B4E33D}" type="presOf" srcId="{8C58382D-7A60-4940-B0A3-70338335A044}" destId="{C3130838-10B7-49E0-8C17-AD601C6005D3}" srcOrd="0" destOrd="0" presId="urn:microsoft.com/office/officeart/2005/8/layout/radial4"/>
    <dgm:cxn modelId="{41054B18-1457-471C-BFCD-CE8A0EBB4212}" type="presOf" srcId="{07877690-D27F-4066-9600-1939A40DC9CB}" destId="{435F883B-8B89-4A8C-9684-AA704F829BCB}" srcOrd="0" destOrd="0" presId="urn:microsoft.com/office/officeart/2005/8/layout/radial4"/>
    <dgm:cxn modelId="{90BFEE2C-4F45-4DC5-AECD-C3406378B169}" srcId="{B2819A99-642E-4C8D-BACA-7DFF82014E8F}" destId="{EC79B8BB-36BB-42F1-831E-50E087E3F875}" srcOrd="0" destOrd="0" parTransId="{DBF4B661-3949-4A06-BB6A-DE18B7AB23D5}" sibTransId="{6286C1AC-46CA-4655-BDFA-82B30CC2957D}"/>
    <dgm:cxn modelId="{51FA6134-A50F-4812-986B-7E6C27F04E41}" type="presOf" srcId="{6BF9AA54-4198-4F44-BCF6-FBAE6520FF36}" destId="{4B8443CC-730B-4DC3-AC76-7EE6501B1D6F}" srcOrd="0" destOrd="0" presId="urn:microsoft.com/office/officeart/2005/8/layout/radial4"/>
    <dgm:cxn modelId="{D84EDC39-8B8D-46FD-99A5-2015674CB350}" type="presOf" srcId="{E5E399E5-5382-44A6-8728-F85261A8003D}" destId="{33C4B15E-DC6E-4FE3-95CC-26DC93179D87}" srcOrd="0" destOrd="0" presId="urn:microsoft.com/office/officeart/2005/8/layout/radial4"/>
    <dgm:cxn modelId="{F3D6B53E-FA83-43E1-B6E3-0F8C57D84D2D}" srcId="{EC79B8BB-36BB-42F1-831E-50E087E3F875}" destId="{BFCE96FC-8EDD-4BDC-BAE1-B90C6B33FE50}" srcOrd="0" destOrd="0" parTransId="{564BAF03-82AE-4A32-AC9A-FAA27F1535A1}" sibTransId="{91ADAC91-F758-4328-A09D-AFB2CA7F5C7A}"/>
    <dgm:cxn modelId="{EE0CD35D-DE40-4400-978A-333B4B6C4D24}" srcId="{EC79B8BB-36BB-42F1-831E-50E087E3F875}" destId="{E5E399E5-5382-44A6-8728-F85261A8003D}" srcOrd="5" destOrd="0" parTransId="{AF2F39CF-D593-4242-9D3E-FB035303B350}" sibTransId="{8FF93F2A-A204-41C8-8F27-20D56CF98246}"/>
    <dgm:cxn modelId="{62C7C06B-1B54-4C84-9500-5DCB73A7B086}" srcId="{EC79B8BB-36BB-42F1-831E-50E087E3F875}" destId="{5FB56627-B012-47EE-8453-CFB5F0724CBB}" srcOrd="4" destOrd="0" parTransId="{29FE0634-E99C-4F06-8B07-3C74EA007B2F}" sibTransId="{15BFDAD5-55F3-4F4A-950F-04A3B895C693}"/>
    <dgm:cxn modelId="{8AE3B356-24A1-488B-AE37-9745FCF87844}" type="presOf" srcId="{AF2F39CF-D593-4242-9D3E-FB035303B350}" destId="{97CC03B1-20B5-4DFE-8DAC-F22F08421CF7}" srcOrd="0" destOrd="0" presId="urn:microsoft.com/office/officeart/2005/8/layout/radial4"/>
    <dgm:cxn modelId="{2A98057B-18B4-4758-A3CB-A24A2128E9FB}" type="presOf" srcId="{B2819A99-642E-4C8D-BACA-7DFF82014E8F}" destId="{613F6BB6-0948-4141-9C14-86A1913E3F21}" srcOrd="0" destOrd="0" presId="urn:microsoft.com/office/officeart/2005/8/layout/radial4"/>
    <dgm:cxn modelId="{CCF6789C-369D-4CA5-B323-0AFB4D99DA77}" type="presOf" srcId="{BFCE96FC-8EDD-4BDC-BAE1-B90C6B33FE50}" destId="{05524466-C1CE-4D48-BE5D-99235783EC6F}" srcOrd="0" destOrd="0" presId="urn:microsoft.com/office/officeart/2005/8/layout/radial4"/>
    <dgm:cxn modelId="{09F163A6-10A7-42E6-93FD-2C77B0D043AD}" type="presOf" srcId="{564BAF03-82AE-4A32-AC9A-FAA27F1535A1}" destId="{FF2E618D-C38E-42C5-87DE-A0DF3479A688}" srcOrd="0" destOrd="0" presId="urn:microsoft.com/office/officeart/2005/8/layout/radial4"/>
    <dgm:cxn modelId="{27AC0CAA-55B4-4476-8874-C8EEDE3E459A}" type="presOf" srcId="{29FE0634-E99C-4F06-8B07-3C74EA007B2F}" destId="{EFFEAE49-CEE6-4F6E-A45F-65A648BD362E}" srcOrd="0" destOrd="0" presId="urn:microsoft.com/office/officeart/2005/8/layout/radial4"/>
    <dgm:cxn modelId="{70E52EAC-DA60-407C-9CB9-5F87DA33A196}" srcId="{EC79B8BB-36BB-42F1-831E-50E087E3F875}" destId="{FF283B98-09F6-4040-BAD8-E4CCDC60CEF9}" srcOrd="2" destOrd="0" parTransId="{07877690-D27F-4066-9600-1939A40DC9CB}" sibTransId="{3A88C071-1FDF-43EA-B76D-294D2822063D}"/>
    <dgm:cxn modelId="{3612F3C0-C99B-4744-AE75-64659A41C251}" type="presOf" srcId="{FF283B98-09F6-4040-BAD8-E4CCDC60CEF9}" destId="{85F14509-14D0-4D0B-A4AA-4E81D09E8A85}" srcOrd="0" destOrd="0" presId="urn:microsoft.com/office/officeart/2005/8/layout/radial4"/>
    <dgm:cxn modelId="{19655FE6-B452-408D-9A51-588FF384ED22}" type="presOf" srcId="{EC79B8BB-36BB-42F1-831E-50E087E3F875}" destId="{085F00FF-4314-4287-A854-E6846927CAB3}" srcOrd="0" destOrd="0" presId="urn:microsoft.com/office/officeart/2005/8/layout/radial4"/>
    <dgm:cxn modelId="{EAB68AE7-8323-4923-ADD8-4A8C9AE9CE19}" srcId="{EC79B8BB-36BB-42F1-831E-50E087E3F875}" destId="{ED75B364-0438-4C67-86FF-29BE840D708D}" srcOrd="1" destOrd="0" parTransId="{6BF9AA54-4198-4F44-BCF6-FBAE6520FF36}" sibTransId="{4565033F-D4BA-4BEE-8E80-B9B2B1806144}"/>
    <dgm:cxn modelId="{6E061EED-1164-4A4F-8DED-C1DA742FB399}" type="presOf" srcId="{3CE5E5AA-41EC-41EB-A95D-8CB1ED121B8F}" destId="{97239AA9-B09A-4F70-AAF4-8A693844DE19}" srcOrd="0" destOrd="0" presId="urn:microsoft.com/office/officeart/2005/8/layout/radial4"/>
    <dgm:cxn modelId="{B00FF0EE-E22E-4B40-B794-0692871B3465}" type="presOf" srcId="{5FB56627-B012-47EE-8453-CFB5F0724CBB}" destId="{E570DE4A-98B9-4E5C-A4CF-8670A8A1A069}" srcOrd="0" destOrd="0" presId="urn:microsoft.com/office/officeart/2005/8/layout/radial4"/>
    <dgm:cxn modelId="{589F85F4-6181-437A-BED4-F1E1C9B5B294}" srcId="{EC79B8BB-36BB-42F1-831E-50E087E3F875}" destId="{3CE5E5AA-41EC-41EB-A95D-8CB1ED121B8F}" srcOrd="3" destOrd="0" parTransId="{8C58382D-7A60-4940-B0A3-70338335A044}" sibTransId="{8C38D87E-1442-40E3-8D90-F8E7AD6C6352}"/>
    <dgm:cxn modelId="{09395BFF-7284-4163-B543-32C60F4C3FE0}" type="presParOf" srcId="{613F6BB6-0948-4141-9C14-86A1913E3F21}" destId="{085F00FF-4314-4287-A854-E6846927CAB3}" srcOrd="0" destOrd="0" presId="urn:microsoft.com/office/officeart/2005/8/layout/radial4"/>
    <dgm:cxn modelId="{1EAF152C-043E-41B7-8048-CC9F82306B6C}" type="presParOf" srcId="{613F6BB6-0948-4141-9C14-86A1913E3F21}" destId="{FF2E618D-C38E-42C5-87DE-A0DF3479A688}" srcOrd="1" destOrd="0" presId="urn:microsoft.com/office/officeart/2005/8/layout/radial4"/>
    <dgm:cxn modelId="{6AE2B69E-D128-440E-AE94-CD26FB7C4C3C}" type="presParOf" srcId="{613F6BB6-0948-4141-9C14-86A1913E3F21}" destId="{05524466-C1CE-4D48-BE5D-99235783EC6F}" srcOrd="2" destOrd="0" presId="urn:microsoft.com/office/officeart/2005/8/layout/radial4"/>
    <dgm:cxn modelId="{FC1FB2E0-4655-4A8F-9A9E-0CCEBC8D94F2}" type="presParOf" srcId="{613F6BB6-0948-4141-9C14-86A1913E3F21}" destId="{4B8443CC-730B-4DC3-AC76-7EE6501B1D6F}" srcOrd="3" destOrd="0" presId="urn:microsoft.com/office/officeart/2005/8/layout/radial4"/>
    <dgm:cxn modelId="{1F634EAA-C4EC-43FE-A4E1-3F89B3750FD0}" type="presParOf" srcId="{613F6BB6-0948-4141-9C14-86A1913E3F21}" destId="{E81CEC1F-6825-4B4A-B3B2-36E7C6C19BA9}" srcOrd="4" destOrd="0" presId="urn:microsoft.com/office/officeart/2005/8/layout/radial4"/>
    <dgm:cxn modelId="{0CB704E1-8E7A-4183-8CDD-A398F4BF539F}" type="presParOf" srcId="{613F6BB6-0948-4141-9C14-86A1913E3F21}" destId="{435F883B-8B89-4A8C-9684-AA704F829BCB}" srcOrd="5" destOrd="0" presId="urn:microsoft.com/office/officeart/2005/8/layout/radial4"/>
    <dgm:cxn modelId="{BBCD2373-8F58-4AB9-A9CD-820A527E98ED}" type="presParOf" srcId="{613F6BB6-0948-4141-9C14-86A1913E3F21}" destId="{85F14509-14D0-4D0B-A4AA-4E81D09E8A85}" srcOrd="6" destOrd="0" presId="urn:microsoft.com/office/officeart/2005/8/layout/radial4"/>
    <dgm:cxn modelId="{C50CAB7F-311D-4188-A061-0CF9CEA6BAC9}" type="presParOf" srcId="{613F6BB6-0948-4141-9C14-86A1913E3F21}" destId="{C3130838-10B7-49E0-8C17-AD601C6005D3}" srcOrd="7" destOrd="0" presId="urn:microsoft.com/office/officeart/2005/8/layout/radial4"/>
    <dgm:cxn modelId="{6A50D999-F0F9-48BB-9C0A-0A6C81B460DC}" type="presParOf" srcId="{613F6BB6-0948-4141-9C14-86A1913E3F21}" destId="{97239AA9-B09A-4F70-AAF4-8A693844DE19}" srcOrd="8" destOrd="0" presId="urn:microsoft.com/office/officeart/2005/8/layout/radial4"/>
    <dgm:cxn modelId="{2B18A378-3A79-46A0-B992-EA0CE37EC715}" type="presParOf" srcId="{613F6BB6-0948-4141-9C14-86A1913E3F21}" destId="{EFFEAE49-CEE6-4F6E-A45F-65A648BD362E}" srcOrd="9" destOrd="0" presId="urn:microsoft.com/office/officeart/2005/8/layout/radial4"/>
    <dgm:cxn modelId="{7EBC32B4-8061-41E0-B7CB-5DFA240382E2}" type="presParOf" srcId="{613F6BB6-0948-4141-9C14-86A1913E3F21}" destId="{E570DE4A-98B9-4E5C-A4CF-8670A8A1A069}" srcOrd="10" destOrd="0" presId="urn:microsoft.com/office/officeart/2005/8/layout/radial4"/>
    <dgm:cxn modelId="{D958EFE9-FF1A-4B57-BD63-F17AF1FFF143}" type="presParOf" srcId="{613F6BB6-0948-4141-9C14-86A1913E3F21}" destId="{97CC03B1-20B5-4DFE-8DAC-F22F08421CF7}" srcOrd="11" destOrd="0" presId="urn:microsoft.com/office/officeart/2005/8/layout/radial4"/>
    <dgm:cxn modelId="{AD873464-56AB-430F-93FB-C40D45DC5921}" type="presParOf" srcId="{613F6BB6-0948-4141-9C14-86A1913E3F21}" destId="{33C4B15E-DC6E-4FE3-95CC-26DC93179D87}" srcOrd="12"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5F00FF-4314-4287-A854-E6846927CAB3}">
      <dsp:nvSpPr>
        <dsp:cNvPr id="0" name=""/>
        <dsp:cNvSpPr/>
      </dsp:nvSpPr>
      <dsp:spPr>
        <a:xfrm>
          <a:off x="3019688" y="1567518"/>
          <a:ext cx="1284385" cy="1284385"/>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ln>
                <a:solidFill>
                  <a:schemeClr val="tx2"/>
                </a:solidFill>
              </a:ln>
              <a:solidFill>
                <a:schemeClr val="tx1"/>
              </a:solidFill>
            </a:rPr>
            <a:t>JOC Project</a:t>
          </a:r>
        </a:p>
      </dsp:txBody>
      <dsp:txXfrm>
        <a:off x="3207782" y="1755612"/>
        <a:ext cx="908197" cy="908197"/>
      </dsp:txXfrm>
    </dsp:sp>
    <dsp:sp modelId="{FF2E618D-C38E-42C5-87DE-A0DF3479A688}">
      <dsp:nvSpPr>
        <dsp:cNvPr id="0" name=""/>
        <dsp:cNvSpPr/>
      </dsp:nvSpPr>
      <dsp:spPr>
        <a:xfrm rot="10800000">
          <a:off x="1717170" y="2026686"/>
          <a:ext cx="1230879" cy="366049"/>
        </a:xfrm>
        <a:prstGeom prst="lef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524466-C1CE-4D48-BE5D-99235783EC6F}">
      <dsp:nvSpPr>
        <dsp:cNvPr id="0" name=""/>
        <dsp:cNvSpPr/>
      </dsp:nvSpPr>
      <dsp:spPr>
        <a:xfrm>
          <a:off x="1214248" y="1850083"/>
          <a:ext cx="1005843" cy="71925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533400">
            <a:lnSpc>
              <a:spcPct val="90000"/>
            </a:lnSpc>
            <a:spcBef>
              <a:spcPct val="0"/>
            </a:spcBef>
            <a:spcAft>
              <a:spcPct val="35000"/>
            </a:spcAft>
            <a:buNone/>
          </a:pPr>
          <a:r>
            <a:rPr lang="en-US" sz="1200" kern="1200" dirty="0">
              <a:ln>
                <a:solidFill>
                  <a:schemeClr val="tx2"/>
                </a:solidFill>
              </a:ln>
              <a:solidFill>
                <a:schemeClr val="tx1"/>
              </a:solidFill>
            </a:rPr>
            <a:t>Stakeholder End User</a:t>
          </a:r>
        </a:p>
      </dsp:txBody>
      <dsp:txXfrm>
        <a:off x="1235314" y="1871149"/>
        <a:ext cx="963711" cy="677124"/>
      </dsp:txXfrm>
    </dsp:sp>
    <dsp:sp modelId="{4B8443CC-730B-4DC3-AC76-7EE6501B1D6F}">
      <dsp:nvSpPr>
        <dsp:cNvPr id="0" name=""/>
        <dsp:cNvSpPr/>
      </dsp:nvSpPr>
      <dsp:spPr>
        <a:xfrm rot="12960000">
          <a:off x="1971038" y="1245360"/>
          <a:ext cx="1230879" cy="366049"/>
        </a:xfrm>
        <a:prstGeom prst="leftArrow">
          <a:avLst>
            <a:gd name="adj1" fmla="val 60000"/>
            <a:gd name="adj2" fmla="val 50000"/>
          </a:avLst>
        </a:prstGeom>
        <a:solidFill>
          <a:schemeClr val="accent5">
            <a:hueOff val="918672"/>
            <a:satOff val="-9417"/>
            <a:lumOff val="-125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81CEC1F-6825-4B4A-B3B2-36E7C6C19BA9}">
      <dsp:nvSpPr>
        <dsp:cNvPr id="0" name=""/>
        <dsp:cNvSpPr/>
      </dsp:nvSpPr>
      <dsp:spPr>
        <a:xfrm>
          <a:off x="1639041" y="707010"/>
          <a:ext cx="899070" cy="719256"/>
        </a:xfrm>
        <a:prstGeom prst="roundRect">
          <a:avLst>
            <a:gd name="adj" fmla="val 10000"/>
          </a:avLst>
        </a:prstGeom>
        <a:solidFill>
          <a:schemeClr val="accent5">
            <a:hueOff val="918672"/>
            <a:satOff val="-9417"/>
            <a:lumOff val="-12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577850">
            <a:lnSpc>
              <a:spcPct val="90000"/>
            </a:lnSpc>
            <a:spcBef>
              <a:spcPct val="0"/>
            </a:spcBef>
            <a:spcAft>
              <a:spcPct val="35000"/>
            </a:spcAft>
            <a:buNone/>
          </a:pPr>
          <a:r>
            <a:rPr lang="en-US" sz="1300" kern="1200" dirty="0">
              <a:ln>
                <a:solidFill>
                  <a:schemeClr val="tx2"/>
                </a:solidFill>
              </a:ln>
              <a:solidFill>
                <a:schemeClr val="tx1"/>
              </a:solidFill>
            </a:rPr>
            <a:t>PM</a:t>
          </a:r>
        </a:p>
      </dsp:txBody>
      <dsp:txXfrm>
        <a:off x="1660107" y="728076"/>
        <a:ext cx="856938" cy="677124"/>
      </dsp:txXfrm>
    </dsp:sp>
    <dsp:sp modelId="{435F883B-8B89-4A8C-9684-AA704F829BCB}">
      <dsp:nvSpPr>
        <dsp:cNvPr id="0" name=""/>
        <dsp:cNvSpPr/>
      </dsp:nvSpPr>
      <dsp:spPr>
        <a:xfrm rot="15120000">
          <a:off x="2635673" y="762474"/>
          <a:ext cx="1230879" cy="366049"/>
        </a:xfrm>
        <a:prstGeom prst="leftArrow">
          <a:avLst>
            <a:gd name="adj1" fmla="val 60000"/>
            <a:gd name="adj2" fmla="val 50000"/>
          </a:avLst>
        </a:prstGeom>
        <a:solidFill>
          <a:schemeClr val="accent5">
            <a:hueOff val="1837344"/>
            <a:satOff val="-18834"/>
            <a:lumOff val="-251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5F14509-14D0-4D0B-A4AA-4E81D09E8A85}">
      <dsp:nvSpPr>
        <dsp:cNvPr id="0" name=""/>
        <dsp:cNvSpPr/>
      </dsp:nvSpPr>
      <dsp:spPr>
        <a:xfrm>
          <a:off x="2611397" y="552"/>
          <a:ext cx="899070" cy="719256"/>
        </a:xfrm>
        <a:prstGeom prst="roundRect">
          <a:avLst>
            <a:gd name="adj" fmla="val 10000"/>
          </a:avLst>
        </a:prstGeom>
        <a:solidFill>
          <a:schemeClr val="accent5">
            <a:hueOff val="1837344"/>
            <a:satOff val="-18834"/>
            <a:lumOff val="-25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577850">
            <a:lnSpc>
              <a:spcPct val="90000"/>
            </a:lnSpc>
            <a:spcBef>
              <a:spcPct val="0"/>
            </a:spcBef>
            <a:spcAft>
              <a:spcPct val="35000"/>
            </a:spcAft>
            <a:buNone/>
          </a:pPr>
          <a:r>
            <a:rPr lang="en-US" sz="1300" kern="1200" dirty="0">
              <a:ln>
                <a:solidFill>
                  <a:schemeClr val="tx2"/>
                </a:solidFill>
              </a:ln>
              <a:solidFill>
                <a:schemeClr val="tx1"/>
              </a:solidFill>
            </a:rPr>
            <a:t>Contractor</a:t>
          </a:r>
        </a:p>
      </dsp:txBody>
      <dsp:txXfrm>
        <a:off x="2632463" y="21618"/>
        <a:ext cx="856938" cy="677124"/>
      </dsp:txXfrm>
    </dsp:sp>
    <dsp:sp modelId="{C3130838-10B7-49E0-8C17-AD601C6005D3}">
      <dsp:nvSpPr>
        <dsp:cNvPr id="0" name=""/>
        <dsp:cNvSpPr/>
      </dsp:nvSpPr>
      <dsp:spPr>
        <a:xfrm rot="17280000">
          <a:off x="3457208" y="762474"/>
          <a:ext cx="1230879" cy="366049"/>
        </a:xfrm>
        <a:prstGeom prst="leftArrow">
          <a:avLst>
            <a:gd name="adj1" fmla="val 60000"/>
            <a:gd name="adj2" fmla="val 50000"/>
          </a:avLst>
        </a:prstGeom>
        <a:solidFill>
          <a:schemeClr val="accent5">
            <a:hueOff val="2756017"/>
            <a:satOff val="-28250"/>
            <a:lumOff val="-376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7239AA9-B09A-4F70-AAF4-8A693844DE19}">
      <dsp:nvSpPr>
        <dsp:cNvPr id="0" name=""/>
        <dsp:cNvSpPr/>
      </dsp:nvSpPr>
      <dsp:spPr>
        <a:xfrm>
          <a:off x="3813295" y="552"/>
          <a:ext cx="899070" cy="719256"/>
        </a:xfrm>
        <a:prstGeom prst="roundRect">
          <a:avLst>
            <a:gd name="adj" fmla="val 10000"/>
          </a:avLst>
        </a:prstGeom>
        <a:solidFill>
          <a:schemeClr val="accent5">
            <a:hueOff val="2756017"/>
            <a:satOff val="-28250"/>
            <a:lumOff val="-3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577850">
            <a:lnSpc>
              <a:spcPct val="90000"/>
            </a:lnSpc>
            <a:spcBef>
              <a:spcPct val="0"/>
            </a:spcBef>
            <a:spcAft>
              <a:spcPct val="35000"/>
            </a:spcAft>
            <a:buNone/>
          </a:pPr>
          <a:r>
            <a:rPr lang="en-US" sz="1300" kern="1200" dirty="0">
              <a:ln>
                <a:solidFill>
                  <a:schemeClr val="tx2"/>
                </a:solidFill>
              </a:ln>
              <a:solidFill>
                <a:schemeClr val="tx1"/>
              </a:solidFill>
            </a:rPr>
            <a:t>KO</a:t>
          </a:r>
        </a:p>
      </dsp:txBody>
      <dsp:txXfrm>
        <a:off x="3834361" y="21618"/>
        <a:ext cx="856938" cy="677124"/>
      </dsp:txXfrm>
    </dsp:sp>
    <dsp:sp modelId="{EFFEAE49-CEE6-4F6E-A45F-65A648BD362E}">
      <dsp:nvSpPr>
        <dsp:cNvPr id="0" name=""/>
        <dsp:cNvSpPr/>
      </dsp:nvSpPr>
      <dsp:spPr>
        <a:xfrm rot="19440000">
          <a:off x="4121844" y="1245360"/>
          <a:ext cx="1230879" cy="366049"/>
        </a:xfrm>
        <a:prstGeom prst="leftArrow">
          <a:avLst>
            <a:gd name="adj1" fmla="val 60000"/>
            <a:gd name="adj2" fmla="val 50000"/>
          </a:avLst>
        </a:prstGeom>
        <a:solidFill>
          <a:schemeClr val="accent5">
            <a:hueOff val="3674689"/>
            <a:satOff val="-37667"/>
            <a:lumOff val="-502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570DE4A-98B9-4E5C-A4CF-8670A8A1A069}">
      <dsp:nvSpPr>
        <dsp:cNvPr id="0" name=""/>
        <dsp:cNvSpPr/>
      </dsp:nvSpPr>
      <dsp:spPr>
        <a:xfrm>
          <a:off x="4785650" y="707010"/>
          <a:ext cx="899070" cy="719256"/>
        </a:xfrm>
        <a:prstGeom prst="roundRect">
          <a:avLst>
            <a:gd name="adj" fmla="val 10000"/>
          </a:avLst>
        </a:prstGeom>
        <a:solidFill>
          <a:schemeClr val="accent5">
            <a:hueOff val="3674689"/>
            <a:satOff val="-37667"/>
            <a:lumOff val="-502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577850">
            <a:lnSpc>
              <a:spcPct val="90000"/>
            </a:lnSpc>
            <a:spcBef>
              <a:spcPct val="0"/>
            </a:spcBef>
            <a:spcAft>
              <a:spcPct val="35000"/>
            </a:spcAft>
            <a:buNone/>
          </a:pPr>
          <a:r>
            <a:rPr lang="en-US" sz="1300" kern="1200" dirty="0">
              <a:ln>
                <a:solidFill>
                  <a:schemeClr val="tx2"/>
                </a:solidFill>
              </a:ln>
              <a:solidFill>
                <a:schemeClr val="tx1"/>
              </a:solidFill>
            </a:rPr>
            <a:t>COR</a:t>
          </a:r>
        </a:p>
      </dsp:txBody>
      <dsp:txXfrm>
        <a:off x="4806716" y="728076"/>
        <a:ext cx="856938" cy="677124"/>
      </dsp:txXfrm>
    </dsp:sp>
    <dsp:sp modelId="{97CC03B1-20B5-4DFE-8DAC-F22F08421CF7}">
      <dsp:nvSpPr>
        <dsp:cNvPr id="0" name=""/>
        <dsp:cNvSpPr/>
      </dsp:nvSpPr>
      <dsp:spPr>
        <a:xfrm>
          <a:off x="4375712" y="2026686"/>
          <a:ext cx="1230879" cy="366049"/>
        </a:xfrm>
        <a:prstGeom prst="leftArrow">
          <a:avLst>
            <a:gd name="adj1" fmla="val 60000"/>
            <a:gd name="adj2" fmla="val 50000"/>
          </a:avLst>
        </a:prstGeom>
        <a:solidFill>
          <a:schemeClr val="accent5">
            <a:hueOff val="4593361"/>
            <a:satOff val="-47084"/>
            <a:lumOff val="-627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3C4B15E-DC6E-4FE3-95CC-26DC93179D87}">
      <dsp:nvSpPr>
        <dsp:cNvPr id="0" name=""/>
        <dsp:cNvSpPr/>
      </dsp:nvSpPr>
      <dsp:spPr>
        <a:xfrm>
          <a:off x="5157057" y="1850083"/>
          <a:ext cx="899070" cy="719256"/>
        </a:xfrm>
        <a:prstGeom prst="roundRect">
          <a:avLst>
            <a:gd name="adj" fmla="val 10000"/>
          </a:avLst>
        </a:prstGeom>
        <a:solidFill>
          <a:schemeClr val="accent5">
            <a:hueOff val="4593361"/>
            <a:satOff val="-47084"/>
            <a:lumOff val="-627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577850">
            <a:lnSpc>
              <a:spcPct val="90000"/>
            </a:lnSpc>
            <a:spcBef>
              <a:spcPct val="0"/>
            </a:spcBef>
            <a:spcAft>
              <a:spcPct val="35000"/>
            </a:spcAft>
            <a:buNone/>
          </a:pPr>
          <a:r>
            <a:rPr lang="en-US" sz="1300" kern="1200" dirty="0">
              <a:ln>
                <a:solidFill>
                  <a:schemeClr val="tx2"/>
                </a:solidFill>
              </a:ln>
              <a:solidFill>
                <a:schemeClr val="tx1"/>
              </a:solidFill>
            </a:rPr>
            <a:t>Others</a:t>
          </a:r>
        </a:p>
      </dsp:txBody>
      <dsp:txXfrm>
        <a:off x="5178123" y="1871149"/>
        <a:ext cx="856938" cy="677124"/>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C102918-F68D-5A2A-733B-0A7FF9DB92FD}"/>
              </a:ext>
            </a:extLst>
          </p:cNvPr>
          <p:cNvSpPr>
            <a:spLocks noGrp="1"/>
          </p:cNvSpPr>
          <p:nvPr>
            <p:ph type="hdr" sz="quarter"/>
          </p:nvPr>
        </p:nvSpPr>
        <p:spPr>
          <a:xfrm>
            <a:off x="1" y="1"/>
            <a:ext cx="3038475" cy="463696"/>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109371D-2388-B509-A2BC-35295E4413C4}"/>
              </a:ext>
            </a:extLst>
          </p:cNvPr>
          <p:cNvSpPr>
            <a:spLocks noGrp="1"/>
          </p:cNvSpPr>
          <p:nvPr>
            <p:ph type="dt" sz="quarter" idx="1"/>
          </p:nvPr>
        </p:nvSpPr>
        <p:spPr>
          <a:xfrm>
            <a:off x="3970339" y="1"/>
            <a:ext cx="3038475" cy="463696"/>
          </a:xfrm>
          <a:prstGeom prst="rect">
            <a:avLst/>
          </a:prstGeom>
        </p:spPr>
        <p:txBody>
          <a:bodyPr vert="horz" lIns="91440" tIns="45720" rIns="91440" bIns="45720" rtlCol="0"/>
          <a:lstStyle>
            <a:lvl1pPr algn="r">
              <a:defRPr sz="1200"/>
            </a:lvl1pPr>
          </a:lstStyle>
          <a:p>
            <a:fld id="{632B5661-A155-4519-B87E-FFEF3E2EA833}" type="datetimeFigureOut">
              <a:rPr lang="en-US" smtClean="0"/>
              <a:t>4/14/2026</a:t>
            </a:fld>
            <a:endParaRPr lang="en-US"/>
          </a:p>
        </p:txBody>
      </p:sp>
      <p:sp>
        <p:nvSpPr>
          <p:cNvPr id="4" name="Footer Placeholder 3">
            <a:extLst>
              <a:ext uri="{FF2B5EF4-FFF2-40B4-BE49-F238E27FC236}">
                <a16:creationId xmlns:a16="http://schemas.microsoft.com/office/drawing/2014/main" id="{CB98B63C-DB40-3B57-28E1-819F6068C130}"/>
              </a:ext>
            </a:extLst>
          </p:cNvPr>
          <p:cNvSpPr>
            <a:spLocks noGrp="1"/>
          </p:cNvSpPr>
          <p:nvPr>
            <p:ph type="ftr" sz="quarter" idx="2"/>
          </p:nvPr>
        </p:nvSpPr>
        <p:spPr>
          <a:xfrm>
            <a:off x="1" y="8772379"/>
            <a:ext cx="3038475" cy="46369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F30DA16-DB12-9BFD-15B0-FCDF4E21B578}"/>
              </a:ext>
            </a:extLst>
          </p:cNvPr>
          <p:cNvSpPr>
            <a:spLocks noGrp="1"/>
          </p:cNvSpPr>
          <p:nvPr>
            <p:ph type="sldNum" sz="quarter" idx="3"/>
          </p:nvPr>
        </p:nvSpPr>
        <p:spPr>
          <a:xfrm>
            <a:off x="3970339" y="8772379"/>
            <a:ext cx="3038475" cy="463696"/>
          </a:xfrm>
          <a:prstGeom prst="rect">
            <a:avLst/>
          </a:prstGeom>
        </p:spPr>
        <p:txBody>
          <a:bodyPr vert="horz" lIns="91440" tIns="45720" rIns="91440" bIns="45720" rtlCol="0" anchor="b"/>
          <a:lstStyle>
            <a:lvl1pPr algn="r">
              <a:defRPr sz="1200"/>
            </a:lvl1pPr>
          </a:lstStyle>
          <a:p>
            <a:fld id="{2AC6F34C-FF28-456C-B023-83E422FD680A}" type="slidenum">
              <a:rPr lang="en-US" smtClean="0"/>
              <a:t>‹#›</a:t>
            </a:fld>
            <a:endParaRPr lang="en-US"/>
          </a:p>
        </p:txBody>
      </p:sp>
    </p:spTree>
    <p:extLst>
      <p:ext uri="{BB962C8B-B14F-4D97-AF65-F5344CB8AC3E}">
        <p14:creationId xmlns:p14="http://schemas.microsoft.com/office/powerpoint/2010/main" val="77887200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3408"/>
          </a:xfrm>
          <a:prstGeom prst="rect">
            <a:avLst/>
          </a:prstGeom>
        </p:spPr>
        <p:txBody>
          <a:bodyPr vert="horz" lIns="93175" tIns="46587" rIns="93175" bIns="46587" rtlCol="0"/>
          <a:lstStyle>
            <a:lvl1pPr algn="l">
              <a:defRPr sz="1200"/>
            </a:lvl1pPr>
          </a:lstStyle>
          <a:p>
            <a:endParaRPr lang="en-US"/>
          </a:p>
        </p:txBody>
      </p:sp>
      <p:sp>
        <p:nvSpPr>
          <p:cNvPr id="3" name="Date Placeholder 2"/>
          <p:cNvSpPr>
            <a:spLocks noGrp="1"/>
          </p:cNvSpPr>
          <p:nvPr>
            <p:ph type="dt" idx="1"/>
          </p:nvPr>
        </p:nvSpPr>
        <p:spPr>
          <a:xfrm>
            <a:off x="3970939" y="1"/>
            <a:ext cx="3037840" cy="463408"/>
          </a:xfrm>
          <a:prstGeom prst="rect">
            <a:avLst/>
          </a:prstGeom>
        </p:spPr>
        <p:txBody>
          <a:bodyPr vert="horz" lIns="93175" tIns="46587" rIns="93175" bIns="46587" rtlCol="0"/>
          <a:lstStyle>
            <a:lvl1pPr algn="r">
              <a:defRPr sz="1200"/>
            </a:lvl1pPr>
          </a:lstStyle>
          <a:p>
            <a:fld id="{C1E4B8CC-50C6-460D-A937-1D42699A48E1}" type="datetimeFigureOut">
              <a:rPr lang="en-US" smtClean="0"/>
              <a:t>4/14/2026</a:t>
            </a:fld>
            <a:endParaRPr lang="en-US"/>
          </a:p>
        </p:txBody>
      </p:sp>
      <p:sp>
        <p:nvSpPr>
          <p:cNvPr id="4" name="Slide Image Placeholder 3"/>
          <p:cNvSpPr>
            <a:spLocks noGrp="1" noRot="1" noChangeAspect="1"/>
          </p:cNvSpPr>
          <p:nvPr>
            <p:ph type="sldImg" idx="2"/>
          </p:nvPr>
        </p:nvSpPr>
        <p:spPr>
          <a:xfrm>
            <a:off x="1427163" y="1154113"/>
            <a:ext cx="4156075" cy="3116262"/>
          </a:xfrm>
          <a:prstGeom prst="rect">
            <a:avLst/>
          </a:prstGeom>
          <a:noFill/>
          <a:ln w="12700">
            <a:solidFill>
              <a:prstClr val="black"/>
            </a:solidFill>
          </a:ln>
        </p:spPr>
        <p:txBody>
          <a:bodyPr vert="horz" lIns="93175" tIns="46587" rIns="93175" bIns="46587" rtlCol="0" anchor="ctr"/>
          <a:lstStyle/>
          <a:p>
            <a:endParaRPr lang="en-US"/>
          </a:p>
        </p:txBody>
      </p:sp>
      <p:sp>
        <p:nvSpPr>
          <p:cNvPr id="5" name="Notes Placeholder 4"/>
          <p:cNvSpPr>
            <a:spLocks noGrp="1"/>
          </p:cNvSpPr>
          <p:nvPr>
            <p:ph type="body" sz="quarter" idx="3"/>
          </p:nvPr>
        </p:nvSpPr>
        <p:spPr>
          <a:xfrm>
            <a:off x="701040" y="4444861"/>
            <a:ext cx="5608320" cy="3636704"/>
          </a:xfrm>
          <a:prstGeom prst="rect">
            <a:avLst/>
          </a:prstGeom>
        </p:spPr>
        <p:txBody>
          <a:bodyPr vert="horz" lIns="93175" tIns="46587" rIns="93175" bIns="4658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70"/>
            <a:ext cx="3037840" cy="463407"/>
          </a:xfrm>
          <a:prstGeom prst="rect">
            <a:avLst/>
          </a:prstGeom>
        </p:spPr>
        <p:txBody>
          <a:bodyPr vert="horz" lIns="93175" tIns="46587" rIns="93175" bIns="46587" rtlCol="0" anchor="b"/>
          <a:lstStyle>
            <a:lvl1pPr algn="l">
              <a:defRPr sz="1200"/>
            </a:lvl1pPr>
          </a:lstStyle>
          <a:p>
            <a:endParaRPr lang="en-US"/>
          </a:p>
        </p:txBody>
      </p:sp>
      <p:sp>
        <p:nvSpPr>
          <p:cNvPr id="7" name="Slide Number Placeholder 6"/>
          <p:cNvSpPr>
            <a:spLocks noGrp="1"/>
          </p:cNvSpPr>
          <p:nvPr>
            <p:ph type="sldNum" sz="quarter" idx="5"/>
          </p:nvPr>
        </p:nvSpPr>
        <p:spPr>
          <a:xfrm>
            <a:off x="3970939" y="8772670"/>
            <a:ext cx="3037840" cy="463407"/>
          </a:xfrm>
          <a:prstGeom prst="rect">
            <a:avLst/>
          </a:prstGeom>
        </p:spPr>
        <p:txBody>
          <a:bodyPr vert="horz" lIns="93175" tIns="46587" rIns="93175" bIns="46587" rtlCol="0" anchor="b"/>
          <a:lstStyle>
            <a:lvl1pPr algn="r">
              <a:defRPr sz="1200"/>
            </a:lvl1pPr>
          </a:lstStyle>
          <a:p>
            <a:fld id="{13AFE1A4-0A45-453D-A823-FBDE329F22DD}" type="slidenum">
              <a:rPr lang="en-US" smtClean="0"/>
              <a:t>‹#›</a:t>
            </a:fld>
            <a:endParaRPr lang="en-US"/>
          </a:p>
        </p:txBody>
      </p:sp>
    </p:spTree>
    <p:extLst>
      <p:ext uri="{BB962C8B-B14F-4D97-AF65-F5344CB8AC3E}">
        <p14:creationId xmlns:p14="http://schemas.microsoft.com/office/powerpoint/2010/main" val="196148536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panose="020B0604020202020204" pitchFamily="34" charset="0"/>
                <a:cs typeface="Arial" panose="020B0604020202020204" pitchFamily="34" charset="0"/>
              </a:rPr>
              <a:t>Welcome everyone to todays </a:t>
            </a:r>
            <a:r>
              <a:rPr lang="en-US" sz="1400" b="0" dirty="0">
                <a:effectLst/>
                <a:latin typeface="Arial" panose="020B0604020202020204" pitchFamily="34" charset="0"/>
                <a:ea typeface="Aptos" panose="020B0004020202020204" pitchFamily="34" charset="0"/>
                <a:cs typeface="Arial" panose="020B0604020202020204" pitchFamily="34" charset="0"/>
              </a:rPr>
              <a:t>Pre-Proposal Conference I am your presenter SSG Anglin.</a:t>
            </a:r>
            <a:endParaRPr lang="en-US" sz="1400" b="0" dirty="0">
              <a:latin typeface="Arial" panose="020B0604020202020204" pitchFamily="34" charset="0"/>
              <a:cs typeface="Arial" panose="020B0604020202020204" pitchFamily="34" charset="0"/>
            </a:endParaRPr>
          </a:p>
        </p:txBody>
      </p:sp>
      <p:sp>
        <p:nvSpPr>
          <p:cNvPr id="4" name="Header Placeholder 3"/>
          <p:cNvSpPr>
            <a:spLocks noGrp="1"/>
          </p:cNvSpPr>
          <p:nvPr>
            <p:ph type="hdr" sz="quarter"/>
          </p:nvPr>
        </p:nvSpPr>
        <p:spPr/>
        <p:txBody>
          <a:bodyPr/>
          <a:lstStyle/>
          <a:p>
            <a:endParaRPr lang="en-US"/>
          </a:p>
        </p:txBody>
      </p:sp>
      <p:sp>
        <p:nvSpPr>
          <p:cNvPr id="5" name="Slide Number Placeholder 4"/>
          <p:cNvSpPr>
            <a:spLocks noGrp="1"/>
          </p:cNvSpPr>
          <p:nvPr>
            <p:ph type="sldNum" sz="quarter" idx="5"/>
          </p:nvPr>
        </p:nvSpPr>
        <p:spPr/>
        <p:txBody>
          <a:bodyPr/>
          <a:lstStyle/>
          <a:p>
            <a:fld id="{13AFE1A4-0A45-453D-A823-FBDE329F22DD}" type="slidenum">
              <a:rPr lang="en-US" smtClean="0"/>
              <a:t>1</a:t>
            </a:fld>
            <a:endParaRPr lang="en-US"/>
          </a:p>
        </p:txBody>
      </p:sp>
    </p:spTree>
    <p:extLst>
      <p:ext uri="{BB962C8B-B14F-4D97-AF65-F5344CB8AC3E}">
        <p14:creationId xmlns:p14="http://schemas.microsoft.com/office/powerpoint/2010/main" val="904448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latin typeface="Arial" panose="020B0604020202020204" pitchFamily="34" charset="0"/>
                <a:cs typeface="Arial" panose="020B0604020202020204" pitchFamily="34" charset="0"/>
              </a:rPr>
              <a:t>Lets start off going over a few rules for todays </a:t>
            </a:r>
            <a:r>
              <a:rPr lang="en-US" sz="1400" b="0" dirty="0">
                <a:effectLst/>
                <a:latin typeface="Arial" panose="020B0604020202020204" pitchFamily="34" charset="0"/>
                <a:ea typeface="Aptos" panose="020B0004020202020204" pitchFamily="34" charset="0"/>
                <a:cs typeface="Arial" panose="020B0604020202020204" pitchFamily="34" charset="0"/>
              </a:rPr>
              <a:t>Conference. </a:t>
            </a:r>
            <a:r>
              <a:rPr lang="en-US" sz="1400" b="1" dirty="0">
                <a:effectLst/>
                <a:latin typeface="Arial" panose="020B0604020202020204" pitchFamily="34" charset="0"/>
                <a:ea typeface="Aptos" panose="020B0004020202020204" pitchFamily="34" charset="0"/>
                <a:cs typeface="Arial" panose="020B0604020202020204" pitchFamily="34" charset="0"/>
              </a:rPr>
              <a:t>Read Slide</a:t>
            </a:r>
          </a:p>
          <a:p>
            <a:endParaRPr lang="en-US" sz="1400" b="1" dirty="0">
              <a:effectLst/>
              <a:latin typeface="Arial" panose="020B0604020202020204" pitchFamily="34" charset="0"/>
              <a:cs typeface="Arial" panose="020B0604020202020204" pitchFamily="34" charset="0"/>
            </a:endParaRPr>
          </a:p>
          <a:p>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Refer to selection L.1.7 can be found in Amendment  W912PF26RA002 001 for additional instruction.</a:t>
            </a:r>
            <a:endParaRPr lang="en-US" sz="1400"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13AFE1A4-0A45-453D-A823-FBDE329F22DD}" type="slidenum">
              <a:rPr lang="en-US" smtClean="0"/>
              <a:t>2</a:t>
            </a:fld>
            <a:endParaRPr lang="en-US"/>
          </a:p>
        </p:txBody>
      </p:sp>
      <p:sp>
        <p:nvSpPr>
          <p:cNvPr id="5" name="Header Placeholder 4">
            <a:extLst>
              <a:ext uri="{FF2B5EF4-FFF2-40B4-BE49-F238E27FC236}">
                <a16:creationId xmlns:a16="http://schemas.microsoft.com/office/drawing/2014/main" id="{55D20712-3CB0-372C-897A-0A46C6699AC6}"/>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3119326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3174D-E3F4-08F3-84C5-957F265DB0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066A6-F169-859B-FA8B-3384ACB71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68811D-4590-7A02-E277-9CC54305ED6E}"/>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Here is the agenda for today. </a:t>
            </a:r>
            <a:r>
              <a:rPr lang="en-US" b="1" dirty="0">
                <a:latin typeface="Arial" panose="020B0604020202020204" pitchFamily="34" charset="0"/>
                <a:cs typeface="Arial" panose="020B0604020202020204" pitchFamily="34" charset="0"/>
              </a:rPr>
              <a:t>Read slide</a:t>
            </a:r>
          </a:p>
        </p:txBody>
      </p:sp>
      <p:sp>
        <p:nvSpPr>
          <p:cNvPr id="4" name="Slide Number Placeholder 3">
            <a:extLst>
              <a:ext uri="{FF2B5EF4-FFF2-40B4-BE49-F238E27FC236}">
                <a16:creationId xmlns:a16="http://schemas.microsoft.com/office/drawing/2014/main" id="{49C7D2FA-EBEB-B834-FE2C-5432AE4FC053}"/>
              </a:ext>
            </a:extLst>
          </p:cNvPr>
          <p:cNvSpPr>
            <a:spLocks noGrp="1"/>
          </p:cNvSpPr>
          <p:nvPr>
            <p:ph type="sldNum" sz="quarter" idx="5"/>
          </p:nvPr>
        </p:nvSpPr>
        <p:spPr/>
        <p:txBody>
          <a:bodyPr/>
          <a:lstStyle/>
          <a:p>
            <a:fld id="{13AFE1A4-0A45-453D-A823-FBDE329F22DD}" type="slidenum">
              <a:rPr lang="en-US" smtClean="0"/>
              <a:t>3</a:t>
            </a:fld>
            <a:endParaRPr lang="en-US"/>
          </a:p>
        </p:txBody>
      </p:sp>
      <p:sp>
        <p:nvSpPr>
          <p:cNvPr id="5" name="Header Placeholder 4">
            <a:extLst>
              <a:ext uri="{FF2B5EF4-FFF2-40B4-BE49-F238E27FC236}">
                <a16:creationId xmlns:a16="http://schemas.microsoft.com/office/drawing/2014/main" id="{D7241348-EF98-AA59-7D41-0B7FBB2B9839}"/>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19201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57802-CA0B-576C-AF79-FF4BD6A0D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97C85-18BE-7406-DB70-B540E3DBB2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CF7D58-09B9-5470-9454-CDCE7CDC7230}"/>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Let me interduce the requirement team from the 414</a:t>
            </a:r>
            <a:r>
              <a:rPr lang="en-US" baseline="30000" dirty="0">
                <a:latin typeface="Arial" panose="020B0604020202020204" pitchFamily="34" charset="0"/>
                <a:cs typeface="Arial" panose="020B0604020202020204" pitchFamily="34" charset="0"/>
              </a:rPr>
              <a:t>th</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Read Slide</a:t>
            </a:r>
          </a:p>
          <a:p>
            <a:endParaRPr lang="en-US" b="1" dirty="0">
              <a:latin typeface="Arial" panose="020B0604020202020204" pitchFamily="34" charset="0"/>
              <a:cs typeface="Arial" panose="020B0604020202020204" pitchFamily="34" charset="0"/>
            </a:endParaRPr>
          </a:p>
          <a:p>
            <a:r>
              <a:rPr lang="en-US" b="0" dirty="0">
                <a:latin typeface="Arial" panose="020B0604020202020204" pitchFamily="34" charset="0"/>
                <a:cs typeface="Arial" panose="020B0604020202020204" pitchFamily="34" charset="0"/>
              </a:rPr>
              <a:t>And from US Army Garrison we have </a:t>
            </a:r>
            <a:r>
              <a:rPr lang="en-US" b="1" dirty="0">
                <a:latin typeface="Arial" panose="020B0604020202020204" pitchFamily="34" charset="0"/>
                <a:cs typeface="Arial" panose="020B0604020202020204" pitchFamily="34" charset="0"/>
              </a:rPr>
              <a:t>Read Slide </a:t>
            </a:r>
          </a:p>
        </p:txBody>
      </p:sp>
      <p:sp>
        <p:nvSpPr>
          <p:cNvPr id="4" name="Slide Number Placeholder 3">
            <a:extLst>
              <a:ext uri="{FF2B5EF4-FFF2-40B4-BE49-F238E27FC236}">
                <a16:creationId xmlns:a16="http://schemas.microsoft.com/office/drawing/2014/main" id="{68A36BC0-3ADF-AA52-19EC-95B01EE8C6CE}"/>
              </a:ext>
            </a:extLst>
          </p:cNvPr>
          <p:cNvSpPr>
            <a:spLocks noGrp="1"/>
          </p:cNvSpPr>
          <p:nvPr>
            <p:ph type="sldNum" sz="quarter" idx="5"/>
          </p:nvPr>
        </p:nvSpPr>
        <p:spPr/>
        <p:txBody>
          <a:bodyPr/>
          <a:lstStyle/>
          <a:p>
            <a:fld id="{13AFE1A4-0A45-453D-A823-FBDE329F22DD}" type="slidenum">
              <a:rPr lang="en-US" smtClean="0"/>
              <a:t>4</a:t>
            </a:fld>
            <a:endParaRPr lang="en-US"/>
          </a:p>
        </p:txBody>
      </p:sp>
      <p:sp>
        <p:nvSpPr>
          <p:cNvPr id="5" name="Header Placeholder 4">
            <a:extLst>
              <a:ext uri="{FF2B5EF4-FFF2-40B4-BE49-F238E27FC236}">
                <a16:creationId xmlns:a16="http://schemas.microsoft.com/office/drawing/2014/main" id="{BE688077-A786-0F88-FF9D-CC1768B4077F}"/>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360325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F3B8E-CD2C-6CB8-22D8-3A27FE39F0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E25A97-0B31-5EC9-F173-C1328D62B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5B7EF7-2AF5-C653-2D57-79F5BB08ABE2}"/>
              </a:ext>
            </a:extLst>
          </p:cNvPr>
          <p:cNvSpPr>
            <a:spLocks noGrp="1"/>
          </p:cNvSpPr>
          <p:nvPr>
            <p:ph type="body" idx="1"/>
          </p:nvPr>
        </p:nvSpPr>
        <p:spPr/>
        <p:txBody>
          <a:bodyPr/>
          <a:lstStyle/>
          <a:p>
            <a:r>
              <a:rPr lang="en-US" b="1" dirty="0">
                <a:latin typeface="Arial" panose="020B0604020202020204" pitchFamily="34" charset="0"/>
                <a:cs typeface="Arial" panose="020B0604020202020204" pitchFamily="34" charset="0"/>
              </a:rPr>
              <a:t>Read Slide</a:t>
            </a:r>
          </a:p>
        </p:txBody>
      </p:sp>
      <p:sp>
        <p:nvSpPr>
          <p:cNvPr id="4" name="Slide Number Placeholder 3">
            <a:extLst>
              <a:ext uri="{FF2B5EF4-FFF2-40B4-BE49-F238E27FC236}">
                <a16:creationId xmlns:a16="http://schemas.microsoft.com/office/drawing/2014/main" id="{02B45C71-9B89-D9A0-B343-99F0388B9BE3}"/>
              </a:ext>
            </a:extLst>
          </p:cNvPr>
          <p:cNvSpPr>
            <a:spLocks noGrp="1"/>
          </p:cNvSpPr>
          <p:nvPr>
            <p:ph type="sldNum" sz="quarter" idx="5"/>
          </p:nvPr>
        </p:nvSpPr>
        <p:spPr/>
        <p:txBody>
          <a:bodyPr/>
          <a:lstStyle/>
          <a:p>
            <a:fld id="{13AFE1A4-0A45-453D-A823-FBDE329F22DD}" type="slidenum">
              <a:rPr lang="en-US" smtClean="0"/>
              <a:t>5</a:t>
            </a:fld>
            <a:endParaRPr lang="en-US"/>
          </a:p>
        </p:txBody>
      </p:sp>
      <p:sp>
        <p:nvSpPr>
          <p:cNvPr id="5" name="Header Placeholder 4">
            <a:extLst>
              <a:ext uri="{FF2B5EF4-FFF2-40B4-BE49-F238E27FC236}">
                <a16:creationId xmlns:a16="http://schemas.microsoft.com/office/drawing/2014/main" id="{2F4F1394-2DB7-22DC-470B-9981402D7D23}"/>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1353776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85422" y="4450933"/>
            <a:ext cx="5978988" cy="4140243"/>
          </a:xfrm>
        </p:spPr>
        <p:txBody>
          <a:bodyPr>
            <a:normAutofit/>
          </a:bodyPr>
          <a:lstStyle/>
          <a:p>
            <a:r>
              <a:rPr lang="en-US" sz="1200" b="0" i="0" kern="1200" dirty="0">
                <a:solidFill>
                  <a:schemeClr val="tx1"/>
                </a:solidFill>
                <a:effectLst/>
                <a:latin typeface="+mn-lt"/>
                <a:ea typeface="+mn-ea"/>
                <a:cs typeface="+mn-cs"/>
              </a:rPr>
              <a:t>The JOC addresses various repair, maintenance, demolition, and minor construction needs.</a:t>
            </a:r>
          </a:p>
          <a:p>
            <a:r>
              <a:rPr lang="en-US" sz="1200" b="0" i="0" kern="1200" dirty="0">
                <a:solidFill>
                  <a:schemeClr val="tx1"/>
                </a:solidFill>
                <a:effectLst/>
                <a:latin typeface="+mn-lt"/>
                <a:ea typeface="+mn-ea"/>
                <a:cs typeface="+mn-cs"/>
              </a:rPr>
              <a:t>Project Types Include:</a:t>
            </a:r>
          </a:p>
          <a:p>
            <a:pPr lvl="1"/>
            <a:r>
              <a:rPr lang="en-US" sz="1200" b="0" i="0" kern="1200" dirty="0">
                <a:solidFill>
                  <a:schemeClr val="tx1"/>
                </a:solidFill>
                <a:effectLst/>
                <a:latin typeface="+mn-lt"/>
                <a:ea typeface="+mn-ea"/>
                <a:cs typeface="+mn-cs"/>
              </a:rPr>
              <a:t>Sustainment, Restoration, and Modernization (SRM)</a:t>
            </a:r>
          </a:p>
          <a:p>
            <a:pPr lvl="1"/>
            <a:r>
              <a:rPr lang="en-US" sz="1200" b="0" i="0" kern="1200" dirty="0">
                <a:solidFill>
                  <a:schemeClr val="tx1"/>
                </a:solidFill>
                <a:effectLst/>
                <a:latin typeface="+mn-lt"/>
                <a:ea typeface="+mn-ea"/>
                <a:cs typeface="+mn-cs"/>
              </a:rPr>
              <a:t>Simplified base repair requirements</a:t>
            </a:r>
          </a:p>
          <a:p>
            <a:pPr lvl="1"/>
            <a:r>
              <a:rPr lang="en-US" sz="1200" b="0" i="0" kern="1200" dirty="0">
                <a:solidFill>
                  <a:schemeClr val="tx1"/>
                </a:solidFill>
                <a:effectLst/>
                <a:latin typeface="+mn-lt"/>
                <a:ea typeface="+mn-ea"/>
                <a:cs typeface="+mn-cs"/>
              </a:rPr>
              <a:t>Civil works operations and maintenance</a:t>
            </a:r>
          </a:p>
          <a:p>
            <a:pPr lvl="1"/>
            <a:r>
              <a:rPr lang="en-US" sz="1200" b="0" i="0" kern="1200" dirty="0">
                <a:solidFill>
                  <a:schemeClr val="tx1"/>
                </a:solidFill>
                <a:effectLst/>
                <a:latin typeface="+mn-lt"/>
                <a:ea typeface="+mn-ea"/>
                <a:cs typeface="+mn-cs"/>
              </a:rPr>
              <a:t>Small renovations</a:t>
            </a:r>
          </a:p>
          <a:p>
            <a:pPr lvl="1"/>
            <a:r>
              <a:rPr lang="en-US" sz="1200" b="0" i="0" kern="1200" dirty="0">
                <a:solidFill>
                  <a:schemeClr val="tx1"/>
                </a:solidFill>
                <a:effectLst/>
                <a:latin typeface="+mn-lt"/>
                <a:ea typeface="+mn-ea"/>
                <a:cs typeface="+mn-cs"/>
              </a:rPr>
              <a:t>Real property repair and maintenance</a:t>
            </a:r>
          </a:p>
          <a:p>
            <a:r>
              <a:rPr lang="en-US" sz="1200" b="0" i="0" kern="1200" dirty="0">
                <a:solidFill>
                  <a:schemeClr val="tx1"/>
                </a:solidFill>
                <a:effectLst/>
                <a:latin typeface="+mn-lt"/>
                <a:ea typeface="+mn-ea"/>
                <a:cs typeface="+mn-cs"/>
              </a:rPr>
              <a:t>Financial Scope:</a:t>
            </a:r>
          </a:p>
          <a:p>
            <a:pPr lvl="1"/>
            <a:r>
              <a:rPr lang="en-US" sz="1200" b="0" i="0" kern="1200" dirty="0">
                <a:solidFill>
                  <a:schemeClr val="tx1"/>
                </a:solidFill>
                <a:effectLst/>
                <a:latin typeface="+mn-lt"/>
                <a:ea typeface="+mn-ea"/>
                <a:cs typeface="+mn-cs"/>
              </a:rPr>
              <a:t>For construction acquisitions, projects must exceed the Micro-Purchase Threshold (MPT).</a:t>
            </a:r>
          </a:p>
          <a:p>
            <a:pPr lvl="1"/>
            <a:r>
              <a:rPr lang="en-US" sz="1200" b="0" i="0" kern="1200" dirty="0">
                <a:solidFill>
                  <a:schemeClr val="tx1"/>
                </a:solidFill>
                <a:effectLst/>
                <a:latin typeface="+mn-lt"/>
                <a:ea typeface="+mn-ea"/>
                <a:cs typeface="+mn-cs"/>
              </a:rPr>
              <a:t>Currently, the MPT for construction acquisitions is $15,000.</a:t>
            </a:r>
          </a:p>
          <a:p>
            <a:pPr lvl="1"/>
            <a:r>
              <a:rPr lang="en-US" sz="1200" b="0" i="0" kern="1200" dirty="0">
                <a:solidFill>
                  <a:schemeClr val="tx1"/>
                </a:solidFill>
                <a:effectLst/>
                <a:latin typeface="+mn-lt"/>
                <a:ea typeface="+mn-ea"/>
                <a:cs typeface="+mn-cs"/>
              </a:rPr>
              <a:t>(In accordance with FAR 2.101 Definitions)</a:t>
            </a:r>
          </a:p>
          <a:p>
            <a:br>
              <a:rPr lang="en-US" dirty="0"/>
            </a:br>
            <a:endParaRPr lang="en-US" sz="1200" b="0" dirty="0">
              <a:solidFill>
                <a:schemeClr val="tx1"/>
              </a:solidFill>
              <a:latin typeface="Arial"/>
              <a:cs typeface="Arial" panose="020B0604020202020204" pitchFamily="34" charset="0"/>
            </a:endParaRPr>
          </a:p>
        </p:txBody>
      </p:sp>
      <p:sp>
        <p:nvSpPr>
          <p:cNvPr id="4" name="Slide Number Placeholder 3"/>
          <p:cNvSpPr>
            <a:spLocks noGrp="1"/>
          </p:cNvSpPr>
          <p:nvPr>
            <p:ph type="sldNum" sz="quarter" idx="10"/>
          </p:nvPr>
        </p:nvSpPr>
        <p:spPr/>
        <p:txBody>
          <a:bodyPr/>
          <a:lstStyle/>
          <a:p>
            <a:fld id="{6C574044-705B-4BA9-9528-EF24541C28D0}" type="slidenum">
              <a:rPr lang="en-US" smtClean="0">
                <a:solidFill>
                  <a:prstClr val="black"/>
                </a:solidFill>
              </a:rPr>
              <a:pPr/>
              <a:t>6</a:t>
            </a:fld>
            <a:endParaRPr lang="en-US">
              <a:solidFill>
                <a:prstClr val="black"/>
              </a:solidFill>
            </a:endParaRPr>
          </a:p>
        </p:txBody>
      </p:sp>
      <p:sp>
        <p:nvSpPr>
          <p:cNvPr id="5" name="TextBox 4">
            <a:extLst>
              <a:ext uri="{FF2B5EF4-FFF2-40B4-BE49-F238E27FC236}">
                <a16:creationId xmlns:a16="http://schemas.microsoft.com/office/drawing/2014/main" id="{60743397-DE66-8AF9-84E4-8F555347F802}"/>
              </a:ext>
            </a:extLst>
          </p:cNvPr>
          <p:cNvSpPr txBox="1"/>
          <p:nvPr/>
        </p:nvSpPr>
        <p:spPr>
          <a:xfrm>
            <a:off x="1884680" y="3328065"/>
            <a:ext cx="1342390" cy="519825"/>
          </a:xfrm>
          <a:prstGeom prst="rect">
            <a:avLst/>
          </a:prstGeom>
          <a:solidFill>
            <a:srgbClr val="FFFF00"/>
          </a:solidFill>
        </p:spPr>
        <p:txBody>
          <a:bodyPr wrap="square" rtlCol="0">
            <a:spAutoFit/>
          </a:bodyPr>
          <a:lstStyle/>
          <a:p>
            <a:pPr algn="ctr"/>
            <a:r>
              <a:rPr lang="en-US" sz="1400"/>
              <a:t>Need to add in Credentials</a:t>
            </a:r>
          </a:p>
        </p:txBody>
      </p:sp>
      <p:sp>
        <p:nvSpPr>
          <p:cNvPr id="6" name="Header Placeholder 5">
            <a:extLst>
              <a:ext uri="{FF2B5EF4-FFF2-40B4-BE49-F238E27FC236}">
                <a16:creationId xmlns:a16="http://schemas.microsoft.com/office/drawing/2014/main" id="{6AE936F4-B205-33A5-1833-C05CE576C138}"/>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4216219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F099E-119C-58F0-857A-520D306931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F9D4B7-76FF-AC8C-3A88-DA08C5769C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2A119F-B45B-594E-3010-EF884FAB852A}"/>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a:cs typeface="Arial"/>
              </a:rPr>
              <a:t>Read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a:cs typeface="Arial"/>
            </a:endParaRPr>
          </a:p>
        </p:txBody>
      </p:sp>
      <p:sp>
        <p:nvSpPr>
          <p:cNvPr id="4" name="Slide Number Placeholder 3">
            <a:extLst>
              <a:ext uri="{FF2B5EF4-FFF2-40B4-BE49-F238E27FC236}">
                <a16:creationId xmlns:a16="http://schemas.microsoft.com/office/drawing/2014/main" id="{04B04EBD-0570-4127-9F25-7B6DC3961C21}"/>
              </a:ext>
            </a:extLst>
          </p:cNvPr>
          <p:cNvSpPr>
            <a:spLocks noGrp="1"/>
          </p:cNvSpPr>
          <p:nvPr>
            <p:ph type="sldNum" sz="quarter" idx="10"/>
          </p:nvPr>
        </p:nvSpPr>
        <p:spPr/>
        <p:txBody>
          <a:bodyPr/>
          <a:lstStyle/>
          <a:p>
            <a:fld id="{13AFE1A4-0A45-453D-A823-FBDE329F22DD}" type="slidenum">
              <a:rPr lang="en-US" smtClean="0"/>
              <a:t>7</a:t>
            </a:fld>
            <a:endParaRPr lang="en-US"/>
          </a:p>
        </p:txBody>
      </p:sp>
      <p:sp>
        <p:nvSpPr>
          <p:cNvPr id="5" name="Header Placeholder 4">
            <a:extLst>
              <a:ext uri="{FF2B5EF4-FFF2-40B4-BE49-F238E27FC236}">
                <a16:creationId xmlns:a16="http://schemas.microsoft.com/office/drawing/2014/main" id="{C0162974-05B4-26D2-50E2-B06D8CED4E1E}"/>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2394504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6E094-4A4E-01F7-5B0D-64B6E66DAE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20703-26E4-602E-F8DF-1F8ED0DA3F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165BE8-E3FB-A692-6BB9-3F632899EFB3}"/>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a:cs typeface="Arial"/>
              </a:rPr>
              <a:t>Read Slide</a:t>
            </a:r>
          </a:p>
        </p:txBody>
      </p:sp>
      <p:sp>
        <p:nvSpPr>
          <p:cNvPr id="4" name="Slide Number Placeholder 3">
            <a:extLst>
              <a:ext uri="{FF2B5EF4-FFF2-40B4-BE49-F238E27FC236}">
                <a16:creationId xmlns:a16="http://schemas.microsoft.com/office/drawing/2014/main" id="{C7C57E96-8F31-1DDA-9D04-04DC4B496BB6}"/>
              </a:ext>
            </a:extLst>
          </p:cNvPr>
          <p:cNvSpPr>
            <a:spLocks noGrp="1"/>
          </p:cNvSpPr>
          <p:nvPr>
            <p:ph type="sldNum" sz="quarter" idx="10"/>
          </p:nvPr>
        </p:nvSpPr>
        <p:spPr/>
        <p:txBody>
          <a:bodyPr/>
          <a:lstStyle/>
          <a:p>
            <a:fld id="{13AFE1A4-0A45-453D-A823-FBDE329F22DD}" type="slidenum">
              <a:rPr lang="en-US" smtClean="0"/>
              <a:t>8</a:t>
            </a:fld>
            <a:endParaRPr lang="en-US"/>
          </a:p>
        </p:txBody>
      </p:sp>
      <p:sp>
        <p:nvSpPr>
          <p:cNvPr id="5" name="Header Placeholder 4">
            <a:extLst>
              <a:ext uri="{FF2B5EF4-FFF2-40B4-BE49-F238E27FC236}">
                <a16:creationId xmlns:a16="http://schemas.microsoft.com/office/drawing/2014/main" id="{9AD5F6D7-7CA1-189C-F9C0-5CAFF65DC9F0}"/>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120845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C6336-36EE-5EC4-91D0-CA15AEE9E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263733-ADF4-B7E2-B431-C8EE3F5EA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485D7A-4002-58DD-B0F3-4A162CB6246C}"/>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a:cs typeface="Arial"/>
              </a:rPr>
              <a:t>Here are a few items that con not be used with the JOC.</a:t>
            </a:r>
          </a:p>
        </p:txBody>
      </p:sp>
      <p:sp>
        <p:nvSpPr>
          <p:cNvPr id="4" name="Slide Number Placeholder 3">
            <a:extLst>
              <a:ext uri="{FF2B5EF4-FFF2-40B4-BE49-F238E27FC236}">
                <a16:creationId xmlns:a16="http://schemas.microsoft.com/office/drawing/2014/main" id="{FB10D811-126E-EFDA-90C7-32EAF4BD7FED}"/>
              </a:ext>
            </a:extLst>
          </p:cNvPr>
          <p:cNvSpPr>
            <a:spLocks noGrp="1"/>
          </p:cNvSpPr>
          <p:nvPr>
            <p:ph type="sldNum" sz="quarter" idx="10"/>
          </p:nvPr>
        </p:nvSpPr>
        <p:spPr/>
        <p:txBody>
          <a:bodyPr/>
          <a:lstStyle/>
          <a:p>
            <a:fld id="{13AFE1A4-0A45-453D-A823-FBDE329F22DD}" type="slidenum">
              <a:rPr lang="en-US" smtClean="0"/>
              <a:t>9</a:t>
            </a:fld>
            <a:endParaRPr lang="en-US"/>
          </a:p>
        </p:txBody>
      </p:sp>
      <p:sp>
        <p:nvSpPr>
          <p:cNvPr id="5" name="Header Placeholder 4">
            <a:extLst>
              <a:ext uri="{FF2B5EF4-FFF2-40B4-BE49-F238E27FC236}">
                <a16:creationId xmlns:a16="http://schemas.microsoft.com/office/drawing/2014/main" id="{74513F32-6C16-CB5D-7BF0-1DEA52D25AA0}"/>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16161578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54B4A-A0A3-743C-3C05-97F34B3E6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3970B-70CA-FC00-38E9-4C2A3EAE0B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96C1C-6D07-E2C1-1DED-052A973F2B0D}"/>
              </a:ext>
            </a:extLst>
          </p:cNvPr>
          <p:cNvSpPr>
            <a:spLocks noGrp="1"/>
          </p:cNvSpPr>
          <p:nvPr>
            <p:ph type="body" idx="1"/>
          </p:nvPr>
        </p:nvSpPr>
        <p:spPr>
          <a:xfrm>
            <a:off x="632178" y="4450933"/>
            <a:ext cx="5813778" cy="4333721"/>
          </a:xfrm>
        </p:spPr>
        <p:txBody>
          <a:bodyPr/>
          <a:lstStyle/>
          <a:p>
            <a:pPr marL="0" marR="0">
              <a:buNone/>
            </a:pPr>
            <a:r>
              <a:rPr lang="it-IT" sz="1200" dirty="0">
                <a:effectLst/>
                <a:latin typeface="Calibri" panose="020F0502020204030204" pitchFamily="34" charset="0"/>
                <a:ea typeface="Aptos" panose="020B0004020202020204" pitchFamily="34" charset="0"/>
                <a:cs typeface="Aptos" panose="020B0004020202020204" pitchFamily="34" charset="0"/>
              </a:rPr>
              <a:t>Nella will talk this slide.</a:t>
            </a:r>
            <a:endParaRPr lang="en-US" sz="1400" dirty="0">
              <a:effectLst/>
              <a:latin typeface="Aptos" panose="020B0004020202020204" pitchFamily="34" charset="0"/>
              <a:ea typeface="Aptos" panose="020B0004020202020204" pitchFamily="34" charset="0"/>
              <a:cs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a:cs typeface="Arial"/>
            </a:endParaRPr>
          </a:p>
        </p:txBody>
      </p:sp>
      <p:sp>
        <p:nvSpPr>
          <p:cNvPr id="4" name="Slide Number Placeholder 3">
            <a:extLst>
              <a:ext uri="{FF2B5EF4-FFF2-40B4-BE49-F238E27FC236}">
                <a16:creationId xmlns:a16="http://schemas.microsoft.com/office/drawing/2014/main" id="{6AA5E009-DDC1-F6E4-CC4E-DB24C1C6BECA}"/>
              </a:ext>
            </a:extLst>
          </p:cNvPr>
          <p:cNvSpPr>
            <a:spLocks noGrp="1"/>
          </p:cNvSpPr>
          <p:nvPr>
            <p:ph type="sldNum" sz="quarter" idx="10"/>
          </p:nvPr>
        </p:nvSpPr>
        <p:spPr/>
        <p:txBody>
          <a:bodyPr/>
          <a:lstStyle/>
          <a:p>
            <a:fld id="{13AFE1A4-0A45-453D-A823-FBDE329F22DD}" type="slidenum">
              <a:rPr lang="en-US" smtClean="0"/>
              <a:t>10</a:t>
            </a:fld>
            <a:endParaRPr lang="en-US"/>
          </a:p>
        </p:txBody>
      </p:sp>
      <p:sp>
        <p:nvSpPr>
          <p:cNvPr id="5" name="Header Placeholder 4">
            <a:extLst>
              <a:ext uri="{FF2B5EF4-FFF2-40B4-BE49-F238E27FC236}">
                <a16:creationId xmlns:a16="http://schemas.microsoft.com/office/drawing/2014/main" id="{90F8901D-CFB7-D3C1-936E-A624EE7DA1F2}"/>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3321873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6DA24-2D3B-F506-1594-9EFC05016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785B7-2811-732C-FAC1-4BB8EC1E43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D6947B-6456-B047-2619-DBECE3FA6856}"/>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Aptos" panose="020B0004020202020204" pitchFamily="34" charset="0"/>
              </a:rPr>
              <a:t>Nella will talk this slide.</a:t>
            </a: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a:extLst>
              <a:ext uri="{FF2B5EF4-FFF2-40B4-BE49-F238E27FC236}">
                <a16:creationId xmlns:a16="http://schemas.microsoft.com/office/drawing/2014/main" id="{EBE0C051-8B95-CBC6-1F24-EF0D920FCB29}"/>
              </a:ext>
            </a:extLst>
          </p:cNvPr>
          <p:cNvSpPr>
            <a:spLocks noGrp="1"/>
          </p:cNvSpPr>
          <p:nvPr>
            <p:ph type="sldNum" sz="quarter" idx="10"/>
          </p:nvPr>
        </p:nvSpPr>
        <p:spPr/>
        <p:txBody>
          <a:bodyPr/>
          <a:lstStyle/>
          <a:p>
            <a:fld id="{13AFE1A4-0A45-453D-A823-FBDE329F22DD}" type="slidenum">
              <a:rPr lang="en-US" smtClean="0"/>
              <a:t>11</a:t>
            </a:fld>
            <a:endParaRPr lang="en-US"/>
          </a:p>
        </p:txBody>
      </p:sp>
      <p:sp>
        <p:nvSpPr>
          <p:cNvPr id="5" name="Header Placeholder 4">
            <a:extLst>
              <a:ext uri="{FF2B5EF4-FFF2-40B4-BE49-F238E27FC236}">
                <a16:creationId xmlns:a16="http://schemas.microsoft.com/office/drawing/2014/main" id="{49144745-FA72-1C3B-0BA3-9DABB7F49EF3}"/>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4041078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3EB04-B86E-8819-72C7-03DF00EC7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17D491-C86B-D728-22A0-D3DBA7CF1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7574D5-78DF-A7CC-A227-40DEB489F3B8}"/>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Aptos" panose="020B0004020202020204" pitchFamily="34" charset="0"/>
              </a:rPr>
              <a:t>Nella will talk this slide.</a:t>
            </a: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a:extLst>
              <a:ext uri="{FF2B5EF4-FFF2-40B4-BE49-F238E27FC236}">
                <a16:creationId xmlns:a16="http://schemas.microsoft.com/office/drawing/2014/main" id="{8E7DC4CD-B3A6-3A3A-315B-4FDFE0B8D578}"/>
              </a:ext>
            </a:extLst>
          </p:cNvPr>
          <p:cNvSpPr>
            <a:spLocks noGrp="1"/>
          </p:cNvSpPr>
          <p:nvPr>
            <p:ph type="sldNum" sz="quarter" idx="10"/>
          </p:nvPr>
        </p:nvSpPr>
        <p:spPr/>
        <p:txBody>
          <a:bodyPr/>
          <a:lstStyle/>
          <a:p>
            <a:fld id="{13AFE1A4-0A45-453D-A823-FBDE329F22DD}" type="slidenum">
              <a:rPr lang="en-US" smtClean="0"/>
              <a:t>12</a:t>
            </a:fld>
            <a:endParaRPr lang="en-US"/>
          </a:p>
        </p:txBody>
      </p:sp>
      <p:sp>
        <p:nvSpPr>
          <p:cNvPr id="5" name="Header Placeholder 4">
            <a:extLst>
              <a:ext uri="{FF2B5EF4-FFF2-40B4-BE49-F238E27FC236}">
                <a16:creationId xmlns:a16="http://schemas.microsoft.com/office/drawing/2014/main" id="{3810AA99-D59D-0A16-64F9-0D8FF1DA3F37}"/>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520991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162CA-10A5-417B-333E-B13957C469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CE9A2-404E-5D7A-6BC1-08A3609576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054EA5-34E9-4384-4488-8F4DED63ACFF}"/>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Aptos" panose="020B0004020202020204" pitchFamily="34" charset="0"/>
              </a:rPr>
              <a:t>Nella will talk this slide.</a:t>
            </a: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a:extLst>
              <a:ext uri="{FF2B5EF4-FFF2-40B4-BE49-F238E27FC236}">
                <a16:creationId xmlns:a16="http://schemas.microsoft.com/office/drawing/2014/main" id="{617849CA-0EE7-AE0A-3B2D-51CA4C8BE2C3}"/>
              </a:ext>
            </a:extLst>
          </p:cNvPr>
          <p:cNvSpPr>
            <a:spLocks noGrp="1"/>
          </p:cNvSpPr>
          <p:nvPr>
            <p:ph type="sldNum" sz="quarter" idx="10"/>
          </p:nvPr>
        </p:nvSpPr>
        <p:spPr/>
        <p:txBody>
          <a:bodyPr/>
          <a:lstStyle/>
          <a:p>
            <a:fld id="{13AFE1A4-0A45-453D-A823-FBDE329F22DD}" type="slidenum">
              <a:rPr lang="en-US" smtClean="0"/>
              <a:t>13</a:t>
            </a:fld>
            <a:endParaRPr lang="en-US"/>
          </a:p>
        </p:txBody>
      </p:sp>
      <p:sp>
        <p:nvSpPr>
          <p:cNvPr id="5" name="Header Placeholder 4">
            <a:extLst>
              <a:ext uri="{FF2B5EF4-FFF2-40B4-BE49-F238E27FC236}">
                <a16:creationId xmlns:a16="http://schemas.microsoft.com/office/drawing/2014/main" id="{0414CDC9-3353-C5E7-AF30-373556B9C2FC}"/>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2876448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76D02-E77A-3C44-0CC1-51CF086F38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524DC6-62BB-C783-8C65-06385EB22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F195B6-5B7F-0262-5B83-6031148DD27A}"/>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Aptos" panose="020B0004020202020204" pitchFamily="34" charset="0"/>
              </a:rPr>
              <a:t>Nella will talk this slide.</a:t>
            </a: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a:extLst>
              <a:ext uri="{FF2B5EF4-FFF2-40B4-BE49-F238E27FC236}">
                <a16:creationId xmlns:a16="http://schemas.microsoft.com/office/drawing/2014/main" id="{286E2A13-884E-1F12-D868-D28BD440542B}"/>
              </a:ext>
            </a:extLst>
          </p:cNvPr>
          <p:cNvSpPr>
            <a:spLocks noGrp="1"/>
          </p:cNvSpPr>
          <p:nvPr>
            <p:ph type="sldNum" sz="quarter" idx="10"/>
          </p:nvPr>
        </p:nvSpPr>
        <p:spPr/>
        <p:txBody>
          <a:bodyPr/>
          <a:lstStyle/>
          <a:p>
            <a:fld id="{13AFE1A4-0A45-453D-A823-FBDE329F22DD}" type="slidenum">
              <a:rPr lang="en-US" smtClean="0"/>
              <a:t>14</a:t>
            </a:fld>
            <a:endParaRPr lang="en-US"/>
          </a:p>
        </p:txBody>
      </p:sp>
      <p:sp>
        <p:nvSpPr>
          <p:cNvPr id="5" name="Header Placeholder 4">
            <a:extLst>
              <a:ext uri="{FF2B5EF4-FFF2-40B4-BE49-F238E27FC236}">
                <a16:creationId xmlns:a16="http://schemas.microsoft.com/office/drawing/2014/main" id="{8621CBE5-B603-76BD-A1E4-BC64FB1EC2F7}"/>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3034330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7F4F9-52A8-D94F-6450-F2E91B639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4FF2C-D186-D762-1BD5-CB4C029370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B11C29-0D22-E29C-4BF5-CC7E975CDE03}"/>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Aptos" panose="020B0004020202020204" pitchFamily="34" charset="0"/>
              </a:rPr>
              <a:t>Nella will talk this slide.</a:t>
            </a: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a:extLst>
              <a:ext uri="{FF2B5EF4-FFF2-40B4-BE49-F238E27FC236}">
                <a16:creationId xmlns:a16="http://schemas.microsoft.com/office/drawing/2014/main" id="{B8DD4FCF-F9E6-2686-2776-094DCB4DE20B}"/>
              </a:ext>
            </a:extLst>
          </p:cNvPr>
          <p:cNvSpPr>
            <a:spLocks noGrp="1"/>
          </p:cNvSpPr>
          <p:nvPr>
            <p:ph type="sldNum" sz="quarter" idx="10"/>
          </p:nvPr>
        </p:nvSpPr>
        <p:spPr/>
        <p:txBody>
          <a:bodyPr/>
          <a:lstStyle/>
          <a:p>
            <a:fld id="{13AFE1A4-0A45-453D-A823-FBDE329F22DD}" type="slidenum">
              <a:rPr lang="en-US" smtClean="0"/>
              <a:t>15</a:t>
            </a:fld>
            <a:endParaRPr lang="en-US"/>
          </a:p>
        </p:txBody>
      </p:sp>
      <p:sp>
        <p:nvSpPr>
          <p:cNvPr id="5" name="Header Placeholder 4">
            <a:extLst>
              <a:ext uri="{FF2B5EF4-FFF2-40B4-BE49-F238E27FC236}">
                <a16:creationId xmlns:a16="http://schemas.microsoft.com/office/drawing/2014/main" id="{984EAE83-77D9-64F5-B3F5-E0B216766C37}"/>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40824918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C5C06-5B60-3D3E-93F3-82552F8AEA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6DC0EB-78DA-B1A6-3C5B-580FD02A08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59A07B-DFD7-BADF-2ECC-AC9A705F2FA6}"/>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Aptos" panose="020B0004020202020204" pitchFamily="34" charset="0"/>
              </a:rPr>
              <a:t>Nella will talk this slide.</a:t>
            </a: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a:extLst>
              <a:ext uri="{FF2B5EF4-FFF2-40B4-BE49-F238E27FC236}">
                <a16:creationId xmlns:a16="http://schemas.microsoft.com/office/drawing/2014/main" id="{DC90BAB3-4F41-A64B-34AE-5D361949C124}"/>
              </a:ext>
            </a:extLst>
          </p:cNvPr>
          <p:cNvSpPr>
            <a:spLocks noGrp="1"/>
          </p:cNvSpPr>
          <p:nvPr>
            <p:ph type="sldNum" sz="quarter" idx="10"/>
          </p:nvPr>
        </p:nvSpPr>
        <p:spPr/>
        <p:txBody>
          <a:bodyPr/>
          <a:lstStyle/>
          <a:p>
            <a:fld id="{13AFE1A4-0A45-453D-A823-FBDE329F22DD}" type="slidenum">
              <a:rPr lang="en-US" smtClean="0"/>
              <a:t>16</a:t>
            </a:fld>
            <a:endParaRPr lang="en-US"/>
          </a:p>
        </p:txBody>
      </p:sp>
      <p:sp>
        <p:nvSpPr>
          <p:cNvPr id="5" name="Header Placeholder 4">
            <a:extLst>
              <a:ext uri="{FF2B5EF4-FFF2-40B4-BE49-F238E27FC236}">
                <a16:creationId xmlns:a16="http://schemas.microsoft.com/office/drawing/2014/main" id="{457365C6-4194-8F94-B25E-E2C5B1E233E0}"/>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20695967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24E42-7FA3-59B8-5D82-0E140C76C3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EAF0F3-9BD9-B126-EA4D-60FAB44C25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6213DC-A5B6-7A3D-138C-E84F4503EED5}"/>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Google Sans Text"/>
              </a:rPr>
              <a:t>The key takeaway is this: for any listed construction-related tasks valued over $15,000, the JOC is our go-to contracting method. For anything under that amount, we would use other micro-purchase procedures.</a:t>
            </a:r>
            <a:endParaRPr lang="en-US" b="1" dirty="0">
              <a:latin typeface="Arial"/>
              <a:cs typeface="Arial"/>
            </a:endParaRPr>
          </a:p>
        </p:txBody>
      </p:sp>
      <p:sp>
        <p:nvSpPr>
          <p:cNvPr id="4" name="Slide Number Placeholder 3">
            <a:extLst>
              <a:ext uri="{FF2B5EF4-FFF2-40B4-BE49-F238E27FC236}">
                <a16:creationId xmlns:a16="http://schemas.microsoft.com/office/drawing/2014/main" id="{1195ED58-22B3-DF9F-8285-C157A87BF53A}"/>
              </a:ext>
            </a:extLst>
          </p:cNvPr>
          <p:cNvSpPr>
            <a:spLocks noGrp="1"/>
          </p:cNvSpPr>
          <p:nvPr>
            <p:ph type="sldNum" sz="quarter" idx="10"/>
          </p:nvPr>
        </p:nvSpPr>
        <p:spPr/>
        <p:txBody>
          <a:bodyPr/>
          <a:lstStyle/>
          <a:p>
            <a:fld id="{13AFE1A4-0A45-453D-A823-FBDE329F22DD}" type="slidenum">
              <a:rPr lang="en-US" smtClean="0"/>
              <a:t>17</a:t>
            </a:fld>
            <a:endParaRPr lang="en-US"/>
          </a:p>
        </p:txBody>
      </p:sp>
      <p:sp>
        <p:nvSpPr>
          <p:cNvPr id="5" name="Header Placeholder 4">
            <a:extLst>
              <a:ext uri="{FF2B5EF4-FFF2-40B4-BE49-F238E27FC236}">
                <a16:creationId xmlns:a16="http://schemas.microsoft.com/office/drawing/2014/main" id="{B62C5D25-2086-18D2-83F5-FD1BAB5F522E}"/>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2832620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AF79D-D90D-0D71-1974-CF53BB43E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5B610-286B-5FCB-571C-75BE03EF86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0C10FF-B102-21B7-D052-B69551EA798E}"/>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a:cs typeface="Arial"/>
              </a:rPr>
              <a:t>Sample of a Task Order.</a:t>
            </a:r>
          </a:p>
        </p:txBody>
      </p:sp>
      <p:sp>
        <p:nvSpPr>
          <p:cNvPr id="4" name="Slide Number Placeholder 3">
            <a:extLst>
              <a:ext uri="{FF2B5EF4-FFF2-40B4-BE49-F238E27FC236}">
                <a16:creationId xmlns:a16="http://schemas.microsoft.com/office/drawing/2014/main" id="{B80C9642-039D-2EF6-E84F-73C36A95C24B}"/>
              </a:ext>
            </a:extLst>
          </p:cNvPr>
          <p:cNvSpPr>
            <a:spLocks noGrp="1"/>
          </p:cNvSpPr>
          <p:nvPr>
            <p:ph type="sldNum" sz="quarter" idx="10"/>
          </p:nvPr>
        </p:nvSpPr>
        <p:spPr/>
        <p:txBody>
          <a:bodyPr/>
          <a:lstStyle/>
          <a:p>
            <a:fld id="{13AFE1A4-0A45-453D-A823-FBDE329F22DD}" type="slidenum">
              <a:rPr lang="en-US" smtClean="0"/>
              <a:t>18</a:t>
            </a:fld>
            <a:endParaRPr lang="en-US"/>
          </a:p>
        </p:txBody>
      </p:sp>
      <p:sp>
        <p:nvSpPr>
          <p:cNvPr id="5" name="Header Placeholder 4">
            <a:extLst>
              <a:ext uri="{FF2B5EF4-FFF2-40B4-BE49-F238E27FC236}">
                <a16:creationId xmlns:a16="http://schemas.microsoft.com/office/drawing/2014/main" id="{E7CE2034-9F9A-BA63-2EEB-BE0635382C65}"/>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31261193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4BBEA-D2AD-E44D-CF76-8C99D98B75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9980B-F81A-F059-6583-F1DA0A9DB0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5FF8E-1CF6-B7DE-B896-B79EA8DA5F1E}"/>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a:cs typeface="Arial"/>
              </a:rPr>
              <a:t>Sample of a TOPR Proposal</a:t>
            </a:r>
          </a:p>
        </p:txBody>
      </p:sp>
      <p:sp>
        <p:nvSpPr>
          <p:cNvPr id="4" name="Slide Number Placeholder 3">
            <a:extLst>
              <a:ext uri="{FF2B5EF4-FFF2-40B4-BE49-F238E27FC236}">
                <a16:creationId xmlns:a16="http://schemas.microsoft.com/office/drawing/2014/main" id="{71129270-596F-F146-05B2-5148BF71B6BE}"/>
              </a:ext>
            </a:extLst>
          </p:cNvPr>
          <p:cNvSpPr>
            <a:spLocks noGrp="1"/>
          </p:cNvSpPr>
          <p:nvPr>
            <p:ph type="sldNum" sz="quarter" idx="10"/>
          </p:nvPr>
        </p:nvSpPr>
        <p:spPr/>
        <p:txBody>
          <a:bodyPr/>
          <a:lstStyle/>
          <a:p>
            <a:fld id="{13AFE1A4-0A45-453D-A823-FBDE329F22DD}" type="slidenum">
              <a:rPr lang="en-US" smtClean="0"/>
              <a:t>19</a:t>
            </a:fld>
            <a:endParaRPr lang="en-US"/>
          </a:p>
        </p:txBody>
      </p:sp>
      <p:sp>
        <p:nvSpPr>
          <p:cNvPr id="5" name="Header Placeholder 4">
            <a:extLst>
              <a:ext uri="{FF2B5EF4-FFF2-40B4-BE49-F238E27FC236}">
                <a16:creationId xmlns:a16="http://schemas.microsoft.com/office/drawing/2014/main" id="{D8178307-8320-3AE7-3B66-E4F54B14E06D}"/>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39549983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DE446-35E6-0719-D87B-418393C27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89C87E-9718-56E3-D05D-1CD13F6741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EEA671-64EB-9DCF-C614-B8BA51EDCE92}"/>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a:cs typeface="Arial"/>
              </a:rPr>
              <a:t>Let cover some basic business practices that will help you.</a:t>
            </a:r>
          </a:p>
        </p:txBody>
      </p:sp>
      <p:sp>
        <p:nvSpPr>
          <p:cNvPr id="4" name="Slide Number Placeholder 3">
            <a:extLst>
              <a:ext uri="{FF2B5EF4-FFF2-40B4-BE49-F238E27FC236}">
                <a16:creationId xmlns:a16="http://schemas.microsoft.com/office/drawing/2014/main" id="{105F7B0E-E142-020B-84FA-57F8FF9DFCC6}"/>
              </a:ext>
            </a:extLst>
          </p:cNvPr>
          <p:cNvSpPr>
            <a:spLocks noGrp="1"/>
          </p:cNvSpPr>
          <p:nvPr>
            <p:ph type="sldNum" sz="quarter" idx="10"/>
          </p:nvPr>
        </p:nvSpPr>
        <p:spPr/>
        <p:txBody>
          <a:bodyPr/>
          <a:lstStyle/>
          <a:p>
            <a:fld id="{13AFE1A4-0A45-453D-A823-FBDE329F22DD}" type="slidenum">
              <a:rPr lang="en-US" smtClean="0"/>
              <a:t>20</a:t>
            </a:fld>
            <a:endParaRPr lang="en-US"/>
          </a:p>
        </p:txBody>
      </p:sp>
      <p:sp>
        <p:nvSpPr>
          <p:cNvPr id="5" name="Header Placeholder 4">
            <a:extLst>
              <a:ext uri="{FF2B5EF4-FFF2-40B4-BE49-F238E27FC236}">
                <a16:creationId xmlns:a16="http://schemas.microsoft.com/office/drawing/2014/main" id="{C382AB13-F331-053B-3483-0D241D1594F8}"/>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26031720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C25F1-045E-38B3-D4AD-03556840C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A7557-E57D-A422-8443-7A55AB6F87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92AFC4-70D7-3764-CC37-213A35501E82}"/>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a:cs typeface="Arial"/>
              </a:rPr>
              <a:t>Read Slide</a:t>
            </a:r>
          </a:p>
        </p:txBody>
      </p:sp>
      <p:sp>
        <p:nvSpPr>
          <p:cNvPr id="4" name="Slide Number Placeholder 3">
            <a:extLst>
              <a:ext uri="{FF2B5EF4-FFF2-40B4-BE49-F238E27FC236}">
                <a16:creationId xmlns:a16="http://schemas.microsoft.com/office/drawing/2014/main" id="{A2000DEA-D29A-6449-456B-13BBEB97DB74}"/>
              </a:ext>
            </a:extLst>
          </p:cNvPr>
          <p:cNvSpPr>
            <a:spLocks noGrp="1"/>
          </p:cNvSpPr>
          <p:nvPr>
            <p:ph type="sldNum" sz="quarter" idx="10"/>
          </p:nvPr>
        </p:nvSpPr>
        <p:spPr/>
        <p:txBody>
          <a:bodyPr/>
          <a:lstStyle/>
          <a:p>
            <a:fld id="{13AFE1A4-0A45-453D-A823-FBDE329F22DD}" type="slidenum">
              <a:rPr lang="en-US" smtClean="0"/>
              <a:t>21</a:t>
            </a:fld>
            <a:endParaRPr lang="en-US"/>
          </a:p>
        </p:txBody>
      </p:sp>
      <p:sp>
        <p:nvSpPr>
          <p:cNvPr id="5" name="Header Placeholder 4">
            <a:extLst>
              <a:ext uri="{FF2B5EF4-FFF2-40B4-BE49-F238E27FC236}">
                <a16:creationId xmlns:a16="http://schemas.microsoft.com/office/drawing/2014/main" id="{390D56F6-CE85-51AA-72B3-A03DC444D9B5}"/>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40534728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F45F2-EF4E-B849-02B7-5EEC87041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2B7EB6-33FF-7408-C0F1-DB89F26172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4FA58-7C84-BD22-6A90-F642095419EC}"/>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a:cs typeface="Arial"/>
              </a:rPr>
              <a:t>Read Slide</a:t>
            </a:r>
          </a:p>
        </p:txBody>
      </p:sp>
      <p:sp>
        <p:nvSpPr>
          <p:cNvPr id="4" name="Slide Number Placeholder 3">
            <a:extLst>
              <a:ext uri="{FF2B5EF4-FFF2-40B4-BE49-F238E27FC236}">
                <a16:creationId xmlns:a16="http://schemas.microsoft.com/office/drawing/2014/main" id="{C73327CA-2065-B77F-453D-F239383AEBDE}"/>
              </a:ext>
            </a:extLst>
          </p:cNvPr>
          <p:cNvSpPr>
            <a:spLocks noGrp="1"/>
          </p:cNvSpPr>
          <p:nvPr>
            <p:ph type="sldNum" sz="quarter" idx="10"/>
          </p:nvPr>
        </p:nvSpPr>
        <p:spPr/>
        <p:txBody>
          <a:bodyPr/>
          <a:lstStyle/>
          <a:p>
            <a:fld id="{13AFE1A4-0A45-453D-A823-FBDE329F22DD}" type="slidenum">
              <a:rPr lang="en-US" smtClean="0"/>
              <a:t>22</a:t>
            </a:fld>
            <a:endParaRPr lang="en-US"/>
          </a:p>
        </p:txBody>
      </p:sp>
      <p:sp>
        <p:nvSpPr>
          <p:cNvPr id="5" name="Header Placeholder 4">
            <a:extLst>
              <a:ext uri="{FF2B5EF4-FFF2-40B4-BE49-F238E27FC236}">
                <a16:creationId xmlns:a16="http://schemas.microsoft.com/office/drawing/2014/main" id="{4758266B-7879-47BF-F4D1-39737B91EC00}"/>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35509463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6BD05-7DA2-064B-9037-CC9F15BD2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9CDED-35A3-6528-B2FC-3B17C59C48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B7AE2-B7EE-0EA3-A71E-103BC33207E3}"/>
              </a:ext>
            </a:extLst>
          </p:cNvPr>
          <p:cNvSpPr>
            <a:spLocks noGrp="1"/>
          </p:cNvSpPr>
          <p:nvPr>
            <p:ph type="body" idx="1"/>
          </p:nvPr>
        </p:nvSpPr>
        <p:spPr>
          <a:xfrm>
            <a:off x="632178" y="4450933"/>
            <a:ext cx="5813778" cy="4333721"/>
          </a:xfrm>
        </p:spPr>
        <p:txBody>
          <a:bodyPr/>
          <a:lstStyle/>
          <a:p>
            <a:pPr algn="l">
              <a:lnSpc>
                <a:spcPts val="1800"/>
              </a:lnSpc>
              <a:buNone/>
            </a:pPr>
            <a:r>
              <a:rPr lang="en-US" b="0" dirty="0">
                <a:solidFill>
                  <a:srgbClr val="1F1F1F"/>
                </a:solidFill>
                <a:effectLst/>
                <a:latin typeface="Google Sans Text"/>
              </a:rPr>
              <a:t>SAM Registration Requirements</a:t>
            </a:r>
            <a:endParaRPr lang="en-US" b="1" dirty="0">
              <a:solidFill>
                <a:srgbClr val="1F1F1F"/>
              </a:solidFill>
              <a:effectLst/>
              <a:latin typeface="Google Sans Text"/>
            </a:endParaRPr>
          </a:p>
          <a:p>
            <a:pPr lvl="1" algn="l">
              <a:spcAft>
                <a:spcPts val="900"/>
              </a:spcAft>
              <a:buFont typeface="Arial" panose="020B0604020202020204" pitchFamily="34" charset="0"/>
              <a:buChar char="•"/>
            </a:pPr>
            <a:r>
              <a:rPr lang="en-US" b="0" i="0" dirty="0">
                <a:solidFill>
                  <a:srgbClr val="1F1F1F"/>
                </a:solidFill>
                <a:effectLst/>
                <a:latin typeface="Google Sans Text"/>
              </a:rPr>
              <a:t> Mandatory for All Offerors:</a:t>
            </a:r>
          </a:p>
          <a:p>
            <a:pPr marL="742950" lvl="1" indent="-285750" algn="l">
              <a:spcAft>
                <a:spcPts val="900"/>
              </a:spcAft>
              <a:buFont typeface="Arial" panose="020B0604020202020204" pitchFamily="34" charset="0"/>
              <a:buChar char="•"/>
            </a:pPr>
            <a:r>
              <a:rPr lang="en-US" b="0" i="0" dirty="0">
                <a:solidFill>
                  <a:srgbClr val="1F1F1F"/>
                </a:solidFill>
                <a:effectLst/>
                <a:latin typeface="Google Sans Text"/>
              </a:rPr>
              <a:t>Registration in SAM (System for Award Management) is required for everyone, including Joint Ventures (JVs).</a:t>
            </a:r>
          </a:p>
          <a:p>
            <a:pPr marL="742950" lvl="1" indent="-285750" algn="l">
              <a:spcAft>
                <a:spcPts val="900"/>
              </a:spcAft>
              <a:buFont typeface="Arial" panose="020B0604020202020204" pitchFamily="34" charset="0"/>
              <a:buChar char="•"/>
            </a:pPr>
            <a:r>
              <a:rPr lang="en-US" b="0" i="0" dirty="0">
                <a:solidFill>
                  <a:srgbClr val="1F1F1F"/>
                </a:solidFill>
                <a:effectLst/>
                <a:latin typeface="Google Sans Text"/>
              </a:rPr>
              <a:t>Your registration must be active from the time you submit your proposal through the final contract award.</a:t>
            </a:r>
          </a:p>
          <a:p>
            <a:pPr marL="742950" lvl="1" indent="-285750" algn="l">
              <a:spcAft>
                <a:spcPts val="900"/>
              </a:spcAft>
              <a:buFont typeface="Arial" panose="020B0604020202020204" pitchFamily="34" charset="0"/>
              <a:buChar char="•"/>
            </a:pPr>
            <a:r>
              <a:rPr lang="en-US" b="0" i="1" dirty="0">
                <a:solidFill>
                  <a:srgbClr val="1F1F1F"/>
                </a:solidFill>
                <a:effectLst/>
                <a:latin typeface="Google Sans Text"/>
              </a:rPr>
              <a:t>Warning:</a:t>
            </a:r>
            <a:r>
              <a:rPr lang="en-US" b="0" i="0" dirty="0">
                <a:solidFill>
                  <a:srgbClr val="1F1F1F"/>
                </a:solidFill>
                <a:effectLst/>
                <a:latin typeface="Google Sans Text"/>
              </a:rPr>
              <a:t> Inactive or missing registration may lead to disqualification.</a:t>
            </a:r>
          </a:p>
          <a:p>
            <a:pPr marL="742950" lvl="1" indent="-285750" algn="l">
              <a:spcAft>
                <a:spcPts val="900"/>
              </a:spcAft>
              <a:buFont typeface="Arial" panose="020B0604020202020204" pitchFamily="34" charset="0"/>
              <a:buChar char="•"/>
            </a:pPr>
            <a:endParaRPr lang="en-US" b="0" i="0" dirty="0">
              <a:solidFill>
                <a:srgbClr val="1F1F1F"/>
              </a:solidFill>
              <a:effectLst/>
              <a:latin typeface="Google Sans Text"/>
            </a:endParaRPr>
          </a:p>
          <a:p>
            <a:pPr algn="l">
              <a:spcAft>
                <a:spcPts val="900"/>
              </a:spcAft>
              <a:buFont typeface="Arial" panose="020B0604020202020204" pitchFamily="34" charset="0"/>
              <a:buChar char="•"/>
            </a:pPr>
            <a:r>
              <a:rPr lang="en-US" b="0" i="0" dirty="0">
                <a:solidFill>
                  <a:srgbClr val="1F1F1F"/>
                </a:solidFill>
                <a:effectLst/>
                <a:latin typeface="Google Sans Text"/>
              </a:rPr>
              <a:t>Keep Your Information Current:</a:t>
            </a:r>
          </a:p>
          <a:p>
            <a:pPr marL="742950" lvl="1" indent="-285750" algn="l">
              <a:spcAft>
                <a:spcPts val="900"/>
              </a:spcAft>
              <a:buFont typeface="Arial" panose="020B0604020202020204" pitchFamily="34" charset="0"/>
              <a:buChar char="•"/>
            </a:pPr>
            <a:r>
              <a:rPr lang="en-US" b="0" i="0" dirty="0">
                <a:solidFill>
                  <a:srgbClr val="1F1F1F"/>
                </a:solidFill>
                <a:effectLst/>
                <a:latin typeface="Google Sans Text"/>
              </a:rPr>
              <a:t>You are responsible for ensuring your "FAR &amp; DFARS Report" in SAM is complete and accurate.</a:t>
            </a:r>
          </a:p>
          <a:p>
            <a:pPr marL="742950" lvl="1" indent="-285750" algn="l">
              <a:spcAft>
                <a:spcPts val="900"/>
              </a:spcAft>
              <a:buFont typeface="Arial" panose="020B0604020202020204" pitchFamily="34" charset="0"/>
              <a:buChar char="•"/>
            </a:pPr>
            <a:r>
              <a:rPr lang="en-US" b="0" i="0" dirty="0">
                <a:solidFill>
                  <a:srgbClr val="1F1F1F"/>
                </a:solidFill>
                <a:effectLst/>
                <a:latin typeface="Google Sans Text"/>
              </a:rPr>
              <a:t>This includes all your representations and certifications.</a:t>
            </a:r>
          </a:p>
          <a:p>
            <a:pPr marL="457200" lvl="1" indent="0" algn="l">
              <a:spcAft>
                <a:spcPts val="900"/>
              </a:spcAft>
              <a:buFont typeface="Arial" panose="020B0604020202020204" pitchFamily="34" charset="0"/>
              <a:buNone/>
            </a:pPr>
            <a:endParaRPr lang="en-US" b="0" i="0" dirty="0">
              <a:solidFill>
                <a:srgbClr val="1F1F1F"/>
              </a:solidFill>
              <a:effectLst/>
              <a:latin typeface="Google Sans Text"/>
            </a:endParaRPr>
          </a:p>
          <a:p>
            <a:pPr algn="l">
              <a:buFont typeface="Arial" panose="020B0604020202020204" pitchFamily="34" charset="0"/>
              <a:buChar char="•"/>
            </a:pPr>
            <a:r>
              <a:rPr lang="en-US" b="0" i="0" dirty="0">
                <a:solidFill>
                  <a:srgbClr val="1F1F1F"/>
                </a:solidFill>
                <a:effectLst/>
                <a:latin typeface="Google Sans Text"/>
              </a:rPr>
              <a:t>Special Rule for Non-U.S. Offerors:</a:t>
            </a:r>
          </a:p>
          <a:p>
            <a:pPr marL="742950" lvl="1" indent="-285750" algn="l">
              <a:spcAft>
                <a:spcPts val="900"/>
              </a:spcAft>
              <a:buFont typeface="Arial" panose="020B0604020202020204" pitchFamily="34" charset="0"/>
              <a:buChar char="•"/>
            </a:pPr>
            <a:r>
              <a:rPr lang="en-US" b="0" i="0" dirty="0">
                <a:solidFill>
                  <a:srgbClr val="1F1F1F"/>
                </a:solidFill>
                <a:effectLst/>
                <a:latin typeface="Google Sans Text"/>
              </a:rPr>
              <a:t>All foreign companies (including Italian firms) must first obtain a NATO CAGE (NCAGE) Code.</a:t>
            </a:r>
          </a:p>
          <a:p>
            <a:pPr marL="742950" lvl="1" indent="-285750" algn="l">
              <a:spcAft>
                <a:spcPts val="900"/>
              </a:spcAft>
              <a:buFont typeface="Arial" panose="020B0604020202020204" pitchFamily="34" charset="0"/>
              <a:buChar char="•"/>
            </a:pPr>
            <a:r>
              <a:rPr lang="en-US" b="0" i="0" dirty="0">
                <a:solidFill>
                  <a:srgbClr val="1F1F1F"/>
                </a:solidFill>
                <a:effectLst/>
                <a:latin typeface="Google Sans Text"/>
              </a:rPr>
              <a:t>You cannot register in SAM without an NCAGE code.</a:t>
            </a:r>
          </a:p>
          <a:p>
            <a:pPr marL="742950" lvl="1" indent="-285750" algn="l">
              <a:buFont typeface="Arial" panose="020B0604020202020204" pitchFamily="34" charset="0"/>
              <a:buChar char="•"/>
            </a:pPr>
            <a:r>
              <a:rPr lang="en-US" b="0" i="0" dirty="0">
                <a:solidFill>
                  <a:srgbClr val="1F1F1F"/>
                </a:solidFill>
                <a:effectLst/>
                <a:latin typeface="Google Sans Text"/>
              </a:rPr>
              <a:t>Obtain your NCAGE code from the official NCAGE website.</a:t>
            </a:r>
          </a:p>
        </p:txBody>
      </p:sp>
      <p:sp>
        <p:nvSpPr>
          <p:cNvPr id="4" name="Slide Number Placeholder 3">
            <a:extLst>
              <a:ext uri="{FF2B5EF4-FFF2-40B4-BE49-F238E27FC236}">
                <a16:creationId xmlns:a16="http://schemas.microsoft.com/office/drawing/2014/main" id="{EC506570-1132-C988-59DB-3AC6D5A9A1E1}"/>
              </a:ext>
            </a:extLst>
          </p:cNvPr>
          <p:cNvSpPr>
            <a:spLocks noGrp="1"/>
          </p:cNvSpPr>
          <p:nvPr>
            <p:ph type="sldNum" sz="quarter" idx="10"/>
          </p:nvPr>
        </p:nvSpPr>
        <p:spPr/>
        <p:txBody>
          <a:bodyPr/>
          <a:lstStyle/>
          <a:p>
            <a:fld id="{13AFE1A4-0A45-453D-A823-FBDE329F22DD}" type="slidenum">
              <a:rPr lang="en-US" smtClean="0"/>
              <a:t>23</a:t>
            </a:fld>
            <a:endParaRPr lang="en-US"/>
          </a:p>
        </p:txBody>
      </p:sp>
      <p:sp>
        <p:nvSpPr>
          <p:cNvPr id="5" name="Header Placeholder 4">
            <a:extLst>
              <a:ext uri="{FF2B5EF4-FFF2-40B4-BE49-F238E27FC236}">
                <a16:creationId xmlns:a16="http://schemas.microsoft.com/office/drawing/2014/main" id="{0C65C123-EAFC-2899-62A1-0C65980EAD16}"/>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13894792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03049-6E35-BA40-8885-2540C080F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531-399E-E3F9-D5D1-009F87825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C87EBC-5078-85D3-3686-1BA6000CF7FF}"/>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a:cs typeface="Arial"/>
              </a:rPr>
              <a:t>Read Slide</a:t>
            </a:r>
          </a:p>
        </p:txBody>
      </p:sp>
      <p:sp>
        <p:nvSpPr>
          <p:cNvPr id="4" name="Slide Number Placeholder 3">
            <a:extLst>
              <a:ext uri="{FF2B5EF4-FFF2-40B4-BE49-F238E27FC236}">
                <a16:creationId xmlns:a16="http://schemas.microsoft.com/office/drawing/2014/main" id="{4CD908F0-2B70-0820-64AA-0E1B281FEDBB}"/>
              </a:ext>
            </a:extLst>
          </p:cNvPr>
          <p:cNvSpPr>
            <a:spLocks noGrp="1"/>
          </p:cNvSpPr>
          <p:nvPr>
            <p:ph type="sldNum" sz="quarter" idx="10"/>
          </p:nvPr>
        </p:nvSpPr>
        <p:spPr/>
        <p:txBody>
          <a:bodyPr/>
          <a:lstStyle/>
          <a:p>
            <a:fld id="{13AFE1A4-0A45-453D-A823-FBDE329F22DD}" type="slidenum">
              <a:rPr lang="en-US" smtClean="0"/>
              <a:t>24</a:t>
            </a:fld>
            <a:endParaRPr lang="en-US"/>
          </a:p>
        </p:txBody>
      </p:sp>
      <p:sp>
        <p:nvSpPr>
          <p:cNvPr id="5" name="Header Placeholder 4">
            <a:extLst>
              <a:ext uri="{FF2B5EF4-FFF2-40B4-BE49-F238E27FC236}">
                <a16:creationId xmlns:a16="http://schemas.microsoft.com/office/drawing/2014/main" id="{C11AD35A-3F82-EAAF-1C82-5F93598E61D8}"/>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15779636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2A41F-BFC8-391A-C323-9E2752639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D2D4E-789D-FD5C-2A90-766810ED07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32F59-38D9-86DB-0FAC-84CF68B9C4F8}"/>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Aptos" panose="020B0004020202020204" pitchFamily="34" charset="0"/>
              </a:rPr>
              <a:t>Nella will talk this slide.</a:t>
            </a: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a:cs typeface="Arial"/>
            </a:endParaRPr>
          </a:p>
        </p:txBody>
      </p:sp>
      <p:sp>
        <p:nvSpPr>
          <p:cNvPr id="4" name="Slide Number Placeholder 3">
            <a:extLst>
              <a:ext uri="{FF2B5EF4-FFF2-40B4-BE49-F238E27FC236}">
                <a16:creationId xmlns:a16="http://schemas.microsoft.com/office/drawing/2014/main" id="{E2B8C564-837F-5CF1-46D4-538DE4A4E5DE}"/>
              </a:ext>
            </a:extLst>
          </p:cNvPr>
          <p:cNvSpPr>
            <a:spLocks noGrp="1"/>
          </p:cNvSpPr>
          <p:nvPr>
            <p:ph type="sldNum" sz="quarter" idx="10"/>
          </p:nvPr>
        </p:nvSpPr>
        <p:spPr/>
        <p:txBody>
          <a:bodyPr/>
          <a:lstStyle/>
          <a:p>
            <a:fld id="{13AFE1A4-0A45-453D-A823-FBDE329F22DD}" type="slidenum">
              <a:rPr lang="en-US" smtClean="0"/>
              <a:t>25</a:t>
            </a:fld>
            <a:endParaRPr lang="en-US"/>
          </a:p>
        </p:txBody>
      </p:sp>
      <p:sp>
        <p:nvSpPr>
          <p:cNvPr id="5" name="Header Placeholder 4">
            <a:extLst>
              <a:ext uri="{FF2B5EF4-FFF2-40B4-BE49-F238E27FC236}">
                <a16:creationId xmlns:a16="http://schemas.microsoft.com/office/drawing/2014/main" id="{FF41097C-8B94-69F7-6588-CBBB032BC17C}"/>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587605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CAFAF-C202-D5A3-2DE6-4AFB786A66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88619-25E8-1F92-FF97-0E364E9B12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5210A5-8711-6F6E-1455-09CF9BAEA30D}"/>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Aptos" panose="020B0004020202020204" pitchFamily="34" charset="0"/>
              </a:rPr>
              <a:t>Nella will talk this slide.</a:t>
            </a: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a:cs typeface="Arial"/>
            </a:endParaRPr>
          </a:p>
        </p:txBody>
      </p:sp>
      <p:sp>
        <p:nvSpPr>
          <p:cNvPr id="4" name="Slide Number Placeholder 3">
            <a:extLst>
              <a:ext uri="{FF2B5EF4-FFF2-40B4-BE49-F238E27FC236}">
                <a16:creationId xmlns:a16="http://schemas.microsoft.com/office/drawing/2014/main" id="{169C6DE7-0066-B69A-D739-EC02E49450CA}"/>
              </a:ext>
            </a:extLst>
          </p:cNvPr>
          <p:cNvSpPr>
            <a:spLocks noGrp="1"/>
          </p:cNvSpPr>
          <p:nvPr>
            <p:ph type="sldNum" sz="quarter" idx="10"/>
          </p:nvPr>
        </p:nvSpPr>
        <p:spPr/>
        <p:txBody>
          <a:bodyPr/>
          <a:lstStyle/>
          <a:p>
            <a:fld id="{13AFE1A4-0A45-453D-A823-FBDE329F22DD}" type="slidenum">
              <a:rPr lang="en-US" smtClean="0"/>
              <a:t>26</a:t>
            </a:fld>
            <a:endParaRPr lang="en-US"/>
          </a:p>
        </p:txBody>
      </p:sp>
      <p:sp>
        <p:nvSpPr>
          <p:cNvPr id="5" name="Header Placeholder 4">
            <a:extLst>
              <a:ext uri="{FF2B5EF4-FFF2-40B4-BE49-F238E27FC236}">
                <a16:creationId xmlns:a16="http://schemas.microsoft.com/office/drawing/2014/main" id="{5D493692-F4A7-869A-E4ED-A55CDD325765}"/>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6819695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967F8-055D-8ADB-C30B-CCB2AF3C6E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1DAE48-279F-0490-F55D-B2CF746C3B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CE869-2FA9-18FA-43B6-E5FB913C44CA}"/>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Aptos" panose="020B0004020202020204" pitchFamily="34" charset="0"/>
              </a:rPr>
              <a:t>Nella will talk this slide.</a:t>
            </a: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a:extLst>
              <a:ext uri="{FF2B5EF4-FFF2-40B4-BE49-F238E27FC236}">
                <a16:creationId xmlns:a16="http://schemas.microsoft.com/office/drawing/2014/main" id="{4CCFAB84-2E4D-A281-34FC-93467A0D70D6}"/>
              </a:ext>
            </a:extLst>
          </p:cNvPr>
          <p:cNvSpPr>
            <a:spLocks noGrp="1"/>
          </p:cNvSpPr>
          <p:nvPr>
            <p:ph type="sldNum" sz="quarter" idx="10"/>
          </p:nvPr>
        </p:nvSpPr>
        <p:spPr/>
        <p:txBody>
          <a:bodyPr/>
          <a:lstStyle/>
          <a:p>
            <a:fld id="{13AFE1A4-0A45-453D-A823-FBDE329F22DD}" type="slidenum">
              <a:rPr lang="en-US" smtClean="0"/>
              <a:t>27</a:t>
            </a:fld>
            <a:endParaRPr lang="en-US"/>
          </a:p>
        </p:txBody>
      </p:sp>
      <p:sp>
        <p:nvSpPr>
          <p:cNvPr id="5" name="Header Placeholder 4">
            <a:extLst>
              <a:ext uri="{FF2B5EF4-FFF2-40B4-BE49-F238E27FC236}">
                <a16:creationId xmlns:a16="http://schemas.microsoft.com/office/drawing/2014/main" id="{8CA4210D-66CB-CDB0-47B1-6149F40FE8F9}"/>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2747517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0B89B-A441-945F-A441-D4282DC63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9D1AC-D6D5-C256-CFE8-CF3360226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CD2E4-0583-9B62-41DD-DD0F9E43A3B5}"/>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a:cs typeface="Arial"/>
              </a:rPr>
              <a:t>BRIEFED BY CIV DEPUTY</a:t>
            </a:r>
          </a:p>
        </p:txBody>
      </p:sp>
      <p:sp>
        <p:nvSpPr>
          <p:cNvPr id="4" name="Slide Number Placeholder 3">
            <a:extLst>
              <a:ext uri="{FF2B5EF4-FFF2-40B4-BE49-F238E27FC236}">
                <a16:creationId xmlns:a16="http://schemas.microsoft.com/office/drawing/2014/main" id="{0DF655C1-5B9E-E869-CB95-0564C08B0C30}"/>
              </a:ext>
            </a:extLst>
          </p:cNvPr>
          <p:cNvSpPr>
            <a:spLocks noGrp="1"/>
          </p:cNvSpPr>
          <p:nvPr>
            <p:ph type="sldNum" sz="quarter" idx="10"/>
          </p:nvPr>
        </p:nvSpPr>
        <p:spPr/>
        <p:txBody>
          <a:bodyPr/>
          <a:lstStyle/>
          <a:p>
            <a:fld id="{13AFE1A4-0A45-453D-A823-FBDE329F22DD}" type="slidenum">
              <a:rPr lang="en-US" smtClean="0"/>
              <a:t>28</a:t>
            </a:fld>
            <a:endParaRPr lang="en-US"/>
          </a:p>
        </p:txBody>
      </p:sp>
      <p:sp>
        <p:nvSpPr>
          <p:cNvPr id="5" name="Header Placeholder 4">
            <a:extLst>
              <a:ext uri="{FF2B5EF4-FFF2-40B4-BE49-F238E27FC236}">
                <a16:creationId xmlns:a16="http://schemas.microsoft.com/office/drawing/2014/main" id="{98E51C43-E1CE-8B6A-3DFD-CB080A082630}"/>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20389325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8B3B7-D12A-6ED9-8F63-FDE6749C8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2CA7A-A2C1-F63D-974D-E4CA64B61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AA728-E7CB-E1F5-A360-02A86F7F0959}"/>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Aptos" panose="020B0004020202020204" pitchFamily="34" charset="0"/>
              </a:rPr>
              <a:t>Nella will talk this slide.</a:t>
            </a: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a:extLst>
              <a:ext uri="{FF2B5EF4-FFF2-40B4-BE49-F238E27FC236}">
                <a16:creationId xmlns:a16="http://schemas.microsoft.com/office/drawing/2014/main" id="{F16F5BBF-1F0B-9E6A-F957-F4B28A82FDD2}"/>
              </a:ext>
            </a:extLst>
          </p:cNvPr>
          <p:cNvSpPr>
            <a:spLocks noGrp="1"/>
          </p:cNvSpPr>
          <p:nvPr>
            <p:ph type="sldNum" sz="quarter" idx="10"/>
          </p:nvPr>
        </p:nvSpPr>
        <p:spPr/>
        <p:txBody>
          <a:bodyPr/>
          <a:lstStyle/>
          <a:p>
            <a:fld id="{13AFE1A4-0A45-453D-A823-FBDE329F22DD}" type="slidenum">
              <a:rPr lang="en-US" smtClean="0"/>
              <a:t>29</a:t>
            </a:fld>
            <a:endParaRPr lang="en-US"/>
          </a:p>
        </p:txBody>
      </p:sp>
      <p:sp>
        <p:nvSpPr>
          <p:cNvPr id="5" name="Header Placeholder 4">
            <a:extLst>
              <a:ext uri="{FF2B5EF4-FFF2-40B4-BE49-F238E27FC236}">
                <a16:creationId xmlns:a16="http://schemas.microsoft.com/office/drawing/2014/main" id="{ED1CDB73-8B02-491C-1AAA-2AB1D40D39D9}"/>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9252289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1AD44-313C-6BD4-3B9D-47A21045D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B8F90-244A-263E-15B0-501F997C4D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914D91-2B45-B9DB-3D93-CF46891E9F28}"/>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Aptos" panose="020B0004020202020204" pitchFamily="34" charset="0"/>
              </a:rPr>
              <a:t>Nella will talk this slide.</a:t>
            </a: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a:extLst>
              <a:ext uri="{FF2B5EF4-FFF2-40B4-BE49-F238E27FC236}">
                <a16:creationId xmlns:a16="http://schemas.microsoft.com/office/drawing/2014/main" id="{617CA901-9A85-05B3-C6EC-5CA37B3BFCFC}"/>
              </a:ext>
            </a:extLst>
          </p:cNvPr>
          <p:cNvSpPr>
            <a:spLocks noGrp="1"/>
          </p:cNvSpPr>
          <p:nvPr>
            <p:ph type="sldNum" sz="quarter" idx="10"/>
          </p:nvPr>
        </p:nvSpPr>
        <p:spPr/>
        <p:txBody>
          <a:bodyPr/>
          <a:lstStyle/>
          <a:p>
            <a:fld id="{13AFE1A4-0A45-453D-A823-FBDE329F22DD}" type="slidenum">
              <a:rPr lang="en-US" smtClean="0"/>
              <a:t>30</a:t>
            </a:fld>
            <a:endParaRPr lang="en-US"/>
          </a:p>
        </p:txBody>
      </p:sp>
      <p:sp>
        <p:nvSpPr>
          <p:cNvPr id="5" name="Header Placeholder 4">
            <a:extLst>
              <a:ext uri="{FF2B5EF4-FFF2-40B4-BE49-F238E27FC236}">
                <a16:creationId xmlns:a16="http://schemas.microsoft.com/office/drawing/2014/main" id="{F520F3DE-8D5D-71CD-C5AB-70A5832026C1}"/>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8633675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01242-C49E-072A-E494-AFC98E6F3D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E45725-F76B-57B3-9D71-58378566CE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B7D51-4387-249A-E7C7-AC1F9A6F43EA}"/>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a:cs typeface="Arial"/>
            </a:endParaRPr>
          </a:p>
        </p:txBody>
      </p:sp>
      <p:sp>
        <p:nvSpPr>
          <p:cNvPr id="4" name="Slide Number Placeholder 3">
            <a:extLst>
              <a:ext uri="{FF2B5EF4-FFF2-40B4-BE49-F238E27FC236}">
                <a16:creationId xmlns:a16="http://schemas.microsoft.com/office/drawing/2014/main" id="{883CAB11-66F8-FAF9-BF42-664DE91557FC}"/>
              </a:ext>
            </a:extLst>
          </p:cNvPr>
          <p:cNvSpPr>
            <a:spLocks noGrp="1"/>
          </p:cNvSpPr>
          <p:nvPr>
            <p:ph type="sldNum" sz="quarter" idx="10"/>
          </p:nvPr>
        </p:nvSpPr>
        <p:spPr/>
        <p:txBody>
          <a:bodyPr/>
          <a:lstStyle/>
          <a:p>
            <a:fld id="{13AFE1A4-0A45-453D-A823-FBDE329F22DD}" type="slidenum">
              <a:rPr lang="en-US" smtClean="0"/>
              <a:t>31</a:t>
            </a:fld>
            <a:endParaRPr lang="en-US"/>
          </a:p>
        </p:txBody>
      </p:sp>
      <p:sp>
        <p:nvSpPr>
          <p:cNvPr id="5" name="Header Placeholder 4">
            <a:extLst>
              <a:ext uri="{FF2B5EF4-FFF2-40B4-BE49-F238E27FC236}">
                <a16:creationId xmlns:a16="http://schemas.microsoft.com/office/drawing/2014/main" id="{55EBF6F3-39B1-B32E-2161-C05602678714}"/>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36741511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75A7C-8C4E-CEE1-D57E-954C274701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999CAD-2CEC-98FA-07C5-0C28D5F34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51A1B6-C980-BD01-808D-1D3DE7890CE3}"/>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Aptos" panose="020B0004020202020204" pitchFamily="34" charset="0"/>
              </a:rPr>
              <a:t>Nella will talk this slide.</a:t>
            </a: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a:extLst>
              <a:ext uri="{FF2B5EF4-FFF2-40B4-BE49-F238E27FC236}">
                <a16:creationId xmlns:a16="http://schemas.microsoft.com/office/drawing/2014/main" id="{3A0FC8D4-EFD2-7B3D-B3FE-3069439BE272}"/>
              </a:ext>
            </a:extLst>
          </p:cNvPr>
          <p:cNvSpPr>
            <a:spLocks noGrp="1"/>
          </p:cNvSpPr>
          <p:nvPr>
            <p:ph type="sldNum" sz="quarter" idx="10"/>
          </p:nvPr>
        </p:nvSpPr>
        <p:spPr/>
        <p:txBody>
          <a:bodyPr/>
          <a:lstStyle/>
          <a:p>
            <a:fld id="{13AFE1A4-0A45-453D-A823-FBDE329F22DD}" type="slidenum">
              <a:rPr lang="en-US" smtClean="0"/>
              <a:t>32</a:t>
            </a:fld>
            <a:endParaRPr lang="en-US"/>
          </a:p>
        </p:txBody>
      </p:sp>
      <p:sp>
        <p:nvSpPr>
          <p:cNvPr id="5" name="Header Placeholder 4">
            <a:extLst>
              <a:ext uri="{FF2B5EF4-FFF2-40B4-BE49-F238E27FC236}">
                <a16:creationId xmlns:a16="http://schemas.microsoft.com/office/drawing/2014/main" id="{E59F3930-12DB-CEB5-6CE5-4DE2465566A1}"/>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5632105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9F309-FC0B-12CE-7BA6-149BA9C68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EFBCB1-11F3-8063-4249-20553513D0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50B57F-050E-5891-4908-691CA598C21E}"/>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a:cs typeface="Arial"/>
              </a:rPr>
              <a:t>ANY QUESTION not of a </a:t>
            </a:r>
            <a:r>
              <a:rPr kumimoji="0" lang="en-US" sz="1600" b="1" i="0" u="none" strike="noStrike" kern="1200" cap="none" spc="0" normalizeH="0" baseline="0" noProof="0" dirty="0">
                <a:ln>
                  <a:noFill/>
                </a:ln>
                <a:solidFill>
                  <a:prstClr val="black"/>
                </a:solidFill>
                <a:effectLst/>
                <a:uLnTx/>
                <a:uFillTx/>
                <a:latin typeface="Arial" panose="020B0604020202020204"/>
                <a:ea typeface="+mn-ea"/>
                <a:cs typeface="+mn-cs"/>
              </a:rPr>
              <a:t>technical nature and pertaining to this presentation</a:t>
            </a:r>
            <a:r>
              <a:rPr lang="en-US" b="1" dirty="0">
                <a:latin typeface="Arial"/>
                <a:cs typeface="Arial"/>
              </a:rPr>
              <a:t>? </a:t>
            </a:r>
          </a:p>
        </p:txBody>
      </p:sp>
      <p:sp>
        <p:nvSpPr>
          <p:cNvPr id="4" name="Slide Number Placeholder 3">
            <a:extLst>
              <a:ext uri="{FF2B5EF4-FFF2-40B4-BE49-F238E27FC236}">
                <a16:creationId xmlns:a16="http://schemas.microsoft.com/office/drawing/2014/main" id="{9A33E1E9-4FB5-2FF7-C6E2-BD9820D1DF1A}"/>
              </a:ext>
            </a:extLst>
          </p:cNvPr>
          <p:cNvSpPr>
            <a:spLocks noGrp="1"/>
          </p:cNvSpPr>
          <p:nvPr>
            <p:ph type="sldNum" sz="quarter" idx="10"/>
          </p:nvPr>
        </p:nvSpPr>
        <p:spPr/>
        <p:txBody>
          <a:bodyPr/>
          <a:lstStyle/>
          <a:p>
            <a:fld id="{13AFE1A4-0A45-453D-A823-FBDE329F22DD}" type="slidenum">
              <a:rPr lang="en-US" smtClean="0"/>
              <a:t>33</a:t>
            </a:fld>
            <a:endParaRPr lang="en-US"/>
          </a:p>
        </p:txBody>
      </p:sp>
      <p:sp>
        <p:nvSpPr>
          <p:cNvPr id="5" name="Header Placeholder 4">
            <a:extLst>
              <a:ext uri="{FF2B5EF4-FFF2-40B4-BE49-F238E27FC236}">
                <a16:creationId xmlns:a16="http://schemas.microsoft.com/office/drawing/2014/main" id="{93A5F55F-D8EF-8738-B43C-B3087DF353E8}"/>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27300483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5E34D-479B-FC6A-FED3-CCA62B255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79B10-EB29-7002-B342-A6EBC111A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08DB9E-7CB5-711B-81EA-49828B165EA5}"/>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a:cs typeface="Arial"/>
              </a:rPr>
              <a:t>Our next speaker will be Mr. </a:t>
            </a:r>
            <a:r>
              <a:rPr kumimoji="0" lang="en-US" altLang="en-US" sz="1800" b="1" i="0" u="none" strike="noStrike" kern="0" cap="none" spc="0" normalizeH="0" baseline="0" noProof="0" dirty="0">
                <a:ln>
                  <a:noFill/>
                </a:ln>
                <a:solidFill>
                  <a:srgbClr val="000000"/>
                </a:solidFill>
                <a:effectLst/>
                <a:uLnTx/>
                <a:uFillTx/>
                <a:latin typeface="Arial" panose="020B0604020202020204"/>
                <a:ea typeface="+mn-ea"/>
                <a:cs typeface="Arial"/>
              </a:rPr>
              <a:t>McNease legal counsel. </a:t>
            </a:r>
            <a:endParaRPr lang="en-US" b="1" dirty="0">
              <a:latin typeface="Arial"/>
              <a:cs typeface="Arial"/>
            </a:endParaRPr>
          </a:p>
        </p:txBody>
      </p:sp>
      <p:sp>
        <p:nvSpPr>
          <p:cNvPr id="4" name="Slide Number Placeholder 3">
            <a:extLst>
              <a:ext uri="{FF2B5EF4-FFF2-40B4-BE49-F238E27FC236}">
                <a16:creationId xmlns:a16="http://schemas.microsoft.com/office/drawing/2014/main" id="{50FCE7B8-0583-451E-32B6-B1D6089A9F32}"/>
              </a:ext>
            </a:extLst>
          </p:cNvPr>
          <p:cNvSpPr>
            <a:spLocks noGrp="1"/>
          </p:cNvSpPr>
          <p:nvPr>
            <p:ph type="sldNum" sz="quarter" idx="10"/>
          </p:nvPr>
        </p:nvSpPr>
        <p:spPr/>
        <p:txBody>
          <a:bodyPr/>
          <a:lstStyle/>
          <a:p>
            <a:fld id="{13AFE1A4-0A45-453D-A823-FBDE329F22DD}" type="slidenum">
              <a:rPr lang="en-US" smtClean="0"/>
              <a:t>34</a:t>
            </a:fld>
            <a:endParaRPr lang="en-US"/>
          </a:p>
        </p:txBody>
      </p:sp>
      <p:sp>
        <p:nvSpPr>
          <p:cNvPr id="5" name="Header Placeholder 4">
            <a:extLst>
              <a:ext uri="{FF2B5EF4-FFF2-40B4-BE49-F238E27FC236}">
                <a16:creationId xmlns:a16="http://schemas.microsoft.com/office/drawing/2014/main" id="{DF704E21-FDED-065D-19D0-00008E8DE7D7}"/>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12978246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DD514-4210-AC2D-A38B-BB56EACFA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C0D59-52E2-00A6-8334-52D2BCA8E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22BCE8-43DA-5F6A-DA92-74E91050ECA6}"/>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a:cs typeface="Arial"/>
            </a:endParaRPr>
          </a:p>
        </p:txBody>
      </p:sp>
      <p:sp>
        <p:nvSpPr>
          <p:cNvPr id="4" name="Slide Number Placeholder 3">
            <a:extLst>
              <a:ext uri="{FF2B5EF4-FFF2-40B4-BE49-F238E27FC236}">
                <a16:creationId xmlns:a16="http://schemas.microsoft.com/office/drawing/2014/main" id="{57536801-ED41-8B4C-6EBA-CF9382B8D1C1}"/>
              </a:ext>
            </a:extLst>
          </p:cNvPr>
          <p:cNvSpPr>
            <a:spLocks noGrp="1"/>
          </p:cNvSpPr>
          <p:nvPr>
            <p:ph type="sldNum" sz="quarter" idx="10"/>
          </p:nvPr>
        </p:nvSpPr>
        <p:spPr/>
        <p:txBody>
          <a:bodyPr/>
          <a:lstStyle/>
          <a:p>
            <a:fld id="{13AFE1A4-0A45-453D-A823-FBDE329F22DD}" type="slidenum">
              <a:rPr lang="en-US" smtClean="0"/>
              <a:t>35</a:t>
            </a:fld>
            <a:endParaRPr lang="en-US"/>
          </a:p>
        </p:txBody>
      </p:sp>
      <p:sp>
        <p:nvSpPr>
          <p:cNvPr id="5" name="Header Placeholder 4">
            <a:extLst>
              <a:ext uri="{FF2B5EF4-FFF2-40B4-BE49-F238E27FC236}">
                <a16:creationId xmlns:a16="http://schemas.microsoft.com/office/drawing/2014/main" id="{11C8BD6C-64F6-875E-8DD9-4B9A009DBDBD}"/>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34189923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EBF03-162E-A7BD-3356-BC7908900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CCCCA-2AAF-C870-9773-56F6991B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B9DB76-6020-0DFA-7CD1-F4D184FFA7B8}"/>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a:cs typeface="Arial"/>
            </a:endParaRPr>
          </a:p>
        </p:txBody>
      </p:sp>
      <p:sp>
        <p:nvSpPr>
          <p:cNvPr id="4" name="Slide Number Placeholder 3">
            <a:extLst>
              <a:ext uri="{FF2B5EF4-FFF2-40B4-BE49-F238E27FC236}">
                <a16:creationId xmlns:a16="http://schemas.microsoft.com/office/drawing/2014/main" id="{9E087AC5-D7EC-8D13-80AE-A3D361E96DA9}"/>
              </a:ext>
            </a:extLst>
          </p:cNvPr>
          <p:cNvSpPr>
            <a:spLocks noGrp="1"/>
          </p:cNvSpPr>
          <p:nvPr>
            <p:ph type="sldNum" sz="quarter" idx="10"/>
          </p:nvPr>
        </p:nvSpPr>
        <p:spPr/>
        <p:txBody>
          <a:bodyPr/>
          <a:lstStyle/>
          <a:p>
            <a:fld id="{13AFE1A4-0A45-453D-A823-FBDE329F22DD}" type="slidenum">
              <a:rPr lang="en-US" smtClean="0"/>
              <a:t>36</a:t>
            </a:fld>
            <a:endParaRPr lang="en-US"/>
          </a:p>
        </p:txBody>
      </p:sp>
      <p:sp>
        <p:nvSpPr>
          <p:cNvPr id="5" name="Header Placeholder 4">
            <a:extLst>
              <a:ext uri="{FF2B5EF4-FFF2-40B4-BE49-F238E27FC236}">
                <a16:creationId xmlns:a16="http://schemas.microsoft.com/office/drawing/2014/main" id="{8124262A-9A02-8528-6138-79CEA93E8122}"/>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19041107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53BFC-9DC7-B71F-B87F-AAF1A9DE7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09927-3564-1C31-0BE8-E30C67AE05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DFFCA9-B6C2-2F5B-DFCC-89AEA402B80D}"/>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a:cs typeface="Arial"/>
              </a:rPr>
              <a:t>BRIEFED BY CIV DEPUTY</a:t>
            </a:r>
          </a:p>
        </p:txBody>
      </p:sp>
      <p:sp>
        <p:nvSpPr>
          <p:cNvPr id="4" name="Slide Number Placeholder 3">
            <a:extLst>
              <a:ext uri="{FF2B5EF4-FFF2-40B4-BE49-F238E27FC236}">
                <a16:creationId xmlns:a16="http://schemas.microsoft.com/office/drawing/2014/main" id="{F8E24752-3075-415C-99CC-8736FF78BD8E}"/>
              </a:ext>
            </a:extLst>
          </p:cNvPr>
          <p:cNvSpPr>
            <a:spLocks noGrp="1"/>
          </p:cNvSpPr>
          <p:nvPr>
            <p:ph type="sldNum" sz="quarter" idx="10"/>
          </p:nvPr>
        </p:nvSpPr>
        <p:spPr/>
        <p:txBody>
          <a:bodyPr/>
          <a:lstStyle/>
          <a:p>
            <a:fld id="{13AFE1A4-0A45-453D-A823-FBDE329F22DD}" type="slidenum">
              <a:rPr lang="en-US" smtClean="0"/>
              <a:t>37</a:t>
            </a:fld>
            <a:endParaRPr lang="en-US"/>
          </a:p>
        </p:txBody>
      </p:sp>
      <p:sp>
        <p:nvSpPr>
          <p:cNvPr id="5" name="Header Placeholder 4">
            <a:extLst>
              <a:ext uri="{FF2B5EF4-FFF2-40B4-BE49-F238E27FC236}">
                <a16:creationId xmlns:a16="http://schemas.microsoft.com/office/drawing/2014/main" id="{BEDB788C-B127-D7C7-C170-BBBE6E82CF9F}"/>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25524645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E38A3-0FAF-507C-CBBF-C4A13C5A7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B4979-80E8-06EE-5F0A-9A8E4A5FF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613C62-0699-CD26-06FC-FFB99A208ECE}"/>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a:cs typeface="Arial"/>
            </a:endParaRPr>
          </a:p>
        </p:txBody>
      </p:sp>
      <p:sp>
        <p:nvSpPr>
          <p:cNvPr id="4" name="Slide Number Placeholder 3">
            <a:extLst>
              <a:ext uri="{FF2B5EF4-FFF2-40B4-BE49-F238E27FC236}">
                <a16:creationId xmlns:a16="http://schemas.microsoft.com/office/drawing/2014/main" id="{4F798D8A-1F1E-80EE-18B4-DD63B75B8CB8}"/>
              </a:ext>
            </a:extLst>
          </p:cNvPr>
          <p:cNvSpPr>
            <a:spLocks noGrp="1"/>
          </p:cNvSpPr>
          <p:nvPr>
            <p:ph type="sldNum" sz="quarter" idx="10"/>
          </p:nvPr>
        </p:nvSpPr>
        <p:spPr/>
        <p:txBody>
          <a:bodyPr/>
          <a:lstStyle/>
          <a:p>
            <a:fld id="{13AFE1A4-0A45-453D-A823-FBDE329F22DD}" type="slidenum">
              <a:rPr lang="en-US" smtClean="0"/>
              <a:t>38</a:t>
            </a:fld>
            <a:endParaRPr lang="en-US"/>
          </a:p>
        </p:txBody>
      </p:sp>
      <p:sp>
        <p:nvSpPr>
          <p:cNvPr id="5" name="Header Placeholder 4">
            <a:extLst>
              <a:ext uri="{FF2B5EF4-FFF2-40B4-BE49-F238E27FC236}">
                <a16:creationId xmlns:a16="http://schemas.microsoft.com/office/drawing/2014/main" id="{29F4D9F8-7BDB-3F7E-4D47-80941BB04DD5}"/>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28023238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37B72-B187-FC7A-F186-C4A6C1D15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3924C-3B60-2DB9-6CFB-8F7229B06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8A2F6-0EBD-450B-1653-3E6D02E90A52}"/>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a:cs typeface="Arial"/>
            </a:endParaRPr>
          </a:p>
        </p:txBody>
      </p:sp>
      <p:sp>
        <p:nvSpPr>
          <p:cNvPr id="4" name="Slide Number Placeholder 3">
            <a:extLst>
              <a:ext uri="{FF2B5EF4-FFF2-40B4-BE49-F238E27FC236}">
                <a16:creationId xmlns:a16="http://schemas.microsoft.com/office/drawing/2014/main" id="{EFD2BEC8-7B0E-5838-4C25-3DD3A833099F}"/>
              </a:ext>
            </a:extLst>
          </p:cNvPr>
          <p:cNvSpPr>
            <a:spLocks noGrp="1"/>
          </p:cNvSpPr>
          <p:nvPr>
            <p:ph type="sldNum" sz="quarter" idx="10"/>
          </p:nvPr>
        </p:nvSpPr>
        <p:spPr/>
        <p:txBody>
          <a:bodyPr/>
          <a:lstStyle/>
          <a:p>
            <a:fld id="{13AFE1A4-0A45-453D-A823-FBDE329F22DD}" type="slidenum">
              <a:rPr lang="en-US" smtClean="0"/>
              <a:t>39</a:t>
            </a:fld>
            <a:endParaRPr lang="en-US"/>
          </a:p>
        </p:txBody>
      </p:sp>
      <p:sp>
        <p:nvSpPr>
          <p:cNvPr id="5" name="Header Placeholder 4">
            <a:extLst>
              <a:ext uri="{FF2B5EF4-FFF2-40B4-BE49-F238E27FC236}">
                <a16:creationId xmlns:a16="http://schemas.microsoft.com/office/drawing/2014/main" id="{05543C66-CA4E-0ECB-8080-227E68EAC307}"/>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22986062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3C7C5-9C5D-C638-4075-A44A9A9E6E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30A78-47D8-E832-D89C-8E2BE7F9B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AB2ACF-51ED-5A9C-799D-F21A338B1478}"/>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a:cs typeface="Arial"/>
            </a:endParaRPr>
          </a:p>
        </p:txBody>
      </p:sp>
      <p:sp>
        <p:nvSpPr>
          <p:cNvPr id="4" name="Slide Number Placeholder 3">
            <a:extLst>
              <a:ext uri="{FF2B5EF4-FFF2-40B4-BE49-F238E27FC236}">
                <a16:creationId xmlns:a16="http://schemas.microsoft.com/office/drawing/2014/main" id="{D6378126-361B-0795-0D49-EE64CF0DD150}"/>
              </a:ext>
            </a:extLst>
          </p:cNvPr>
          <p:cNvSpPr>
            <a:spLocks noGrp="1"/>
          </p:cNvSpPr>
          <p:nvPr>
            <p:ph type="sldNum" sz="quarter" idx="10"/>
          </p:nvPr>
        </p:nvSpPr>
        <p:spPr/>
        <p:txBody>
          <a:bodyPr/>
          <a:lstStyle/>
          <a:p>
            <a:fld id="{13AFE1A4-0A45-453D-A823-FBDE329F22DD}" type="slidenum">
              <a:rPr lang="en-US" smtClean="0"/>
              <a:t>40</a:t>
            </a:fld>
            <a:endParaRPr lang="en-US"/>
          </a:p>
        </p:txBody>
      </p:sp>
      <p:sp>
        <p:nvSpPr>
          <p:cNvPr id="5" name="Header Placeholder 4">
            <a:extLst>
              <a:ext uri="{FF2B5EF4-FFF2-40B4-BE49-F238E27FC236}">
                <a16:creationId xmlns:a16="http://schemas.microsoft.com/office/drawing/2014/main" id="{901FABE9-F4D1-C445-98D4-CD63EA906068}"/>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30304777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1C9F-419B-0651-4118-E4D5512AFB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376ED-9B74-4D28-8B06-8F1AA33DE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14C127-DA6F-9847-E138-C00875A6DE2C}"/>
              </a:ext>
            </a:extLst>
          </p:cNvPr>
          <p:cNvSpPr>
            <a:spLocks noGrp="1"/>
          </p:cNvSpPr>
          <p:nvPr>
            <p:ph type="body" idx="1"/>
          </p:nvPr>
        </p:nvSpPr>
        <p:spPr>
          <a:xfrm>
            <a:off x="632178" y="4450933"/>
            <a:ext cx="5813778" cy="433372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a:ea typeface="+mn-ea"/>
                <a:cs typeface="Arial"/>
              </a:rPr>
              <a:t>ANY QUESTION not of a </a:t>
            </a:r>
            <a:r>
              <a:rPr kumimoji="0" lang="en-US" sz="1600" b="1" i="0" u="none" strike="noStrike" kern="1200" cap="none" spc="0" normalizeH="0" baseline="0" noProof="0" dirty="0">
                <a:ln>
                  <a:noFill/>
                </a:ln>
                <a:solidFill>
                  <a:prstClr val="black"/>
                </a:solidFill>
                <a:effectLst/>
                <a:uLnTx/>
                <a:uFillTx/>
                <a:latin typeface="Arial" panose="020B0604020202020204"/>
                <a:ea typeface="+mn-ea"/>
                <a:cs typeface="+mn-cs"/>
              </a:rPr>
              <a:t>technical nature and pertaining to this presentation</a:t>
            </a:r>
            <a:r>
              <a:rPr kumimoji="0" lang="en-US" sz="1200" b="1" i="0" u="none" strike="noStrike" kern="1200" cap="none" spc="0" normalizeH="0" baseline="0" noProof="0" dirty="0">
                <a:ln>
                  <a:noFill/>
                </a:ln>
                <a:solidFill>
                  <a:prstClr val="black"/>
                </a:solidFill>
                <a:effectLst/>
                <a:uLnTx/>
                <a:uFillTx/>
                <a:latin typeface="Arial"/>
                <a:ea typeface="+mn-ea"/>
                <a:cs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a:cs typeface="Arial"/>
            </a:endParaRPr>
          </a:p>
        </p:txBody>
      </p:sp>
      <p:sp>
        <p:nvSpPr>
          <p:cNvPr id="4" name="Slide Number Placeholder 3">
            <a:extLst>
              <a:ext uri="{FF2B5EF4-FFF2-40B4-BE49-F238E27FC236}">
                <a16:creationId xmlns:a16="http://schemas.microsoft.com/office/drawing/2014/main" id="{49EFB666-B806-A9AB-5934-B390A0070829}"/>
              </a:ext>
            </a:extLst>
          </p:cNvPr>
          <p:cNvSpPr>
            <a:spLocks noGrp="1"/>
          </p:cNvSpPr>
          <p:nvPr>
            <p:ph type="sldNum" sz="quarter" idx="10"/>
          </p:nvPr>
        </p:nvSpPr>
        <p:spPr/>
        <p:txBody>
          <a:bodyPr/>
          <a:lstStyle/>
          <a:p>
            <a:fld id="{13AFE1A4-0A45-453D-A823-FBDE329F22DD}" type="slidenum">
              <a:rPr lang="en-US" smtClean="0"/>
              <a:t>41</a:t>
            </a:fld>
            <a:endParaRPr lang="en-US"/>
          </a:p>
        </p:txBody>
      </p:sp>
      <p:sp>
        <p:nvSpPr>
          <p:cNvPr id="5" name="Header Placeholder 4">
            <a:extLst>
              <a:ext uri="{FF2B5EF4-FFF2-40B4-BE49-F238E27FC236}">
                <a16:creationId xmlns:a16="http://schemas.microsoft.com/office/drawing/2014/main" id="{0B776CA2-ADCB-9626-CA18-01D8F9B761C5}"/>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1470463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ubtitle, Content and Bump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17252" y="6193640"/>
            <a:ext cx="7352812" cy="369332"/>
          </a:xfrm>
        </p:spPr>
        <p:txBody>
          <a:bodyPr vert="horz" wrap="square" lIns="182880" tIns="45720" rIns="91440" bIns="45720" rtlCol="0" anchor="t" anchorCtr="0">
            <a:spAutoFit/>
          </a:bodyPr>
          <a:lstStyle>
            <a:lvl1pPr marL="0" indent="0">
              <a:buFont typeface="Arial" panose="020B0604020202020204" pitchFamily="34" charset="0"/>
              <a:buNone/>
              <a:defRPr lang="en-US" sz="2000" b="1" i="1" smtClean="0">
                <a:solidFill>
                  <a:schemeClr val="tx1"/>
                </a:solidFill>
                <a:ea typeface="+mj-ea"/>
              </a:defRPr>
            </a:lvl1pPr>
            <a:lvl2pPr>
              <a:defRPr lang="en-US" smtClean="0"/>
            </a:lvl2pPr>
            <a:lvl3pPr>
              <a:defRPr lang="en-US" smtClean="0"/>
            </a:lvl3pPr>
            <a:lvl4pPr>
              <a:defRPr lang="en-US" smtClean="0"/>
            </a:lvl4pPr>
            <a:lvl5pPr>
              <a:defRPr lang="en-US"/>
            </a:lvl5pPr>
          </a:lstStyle>
          <a:p>
            <a:pPr marL="0" lvl="0">
              <a:spcBef>
                <a:spcPct val="0"/>
              </a:spcBef>
            </a:pPr>
            <a:r>
              <a:rPr lang="en-US"/>
              <a:t>Click to add bumper</a:t>
            </a:r>
          </a:p>
        </p:txBody>
      </p:sp>
      <p:sp>
        <p:nvSpPr>
          <p:cNvPr id="32" name="Title Placeholder 1"/>
          <p:cNvSpPr>
            <a:spLocks noGrp="1"/>
          </p:cNvSpPr>
          <p:nvPr>
            <p:ph type="title" hasCustomPrompt="1"/>
          </p:nvPr>
        </p:nvSpPr>
        <p:spPr bwMode="gray">
          <a:xfrm>
            <a:off x="836761" y="99565"/>
            <a:ext cx="7955280" cy="480131"/>
          </a:xfrm>
          <a:prstGeom prst="rect">
            <a:avLst/>
          </a:prstGeom>
        </p:spPr>
        <p:txBody>
          <a:bodyPr vert="horz" lIns="182880" tIns="45720" rIns="91440" bIns="45720" rtlCol="0" anchor="t" anchorCtr="0">
            <a:spAutoFit/>
          </a:bodyPr>
          <a:lstStyle>
            <a:lvl1pPr marL="0">
              <a:defRPr>
                <a:solidFill>
                  <a:schemeClr val="tx1"/>
                </a:solidFill>
              </a:defRPr>
            </a:lvl1pPr>
          </a:lstStyle>
          <a:p>
            <a:pPr marL="0" lvl="0"/>
            <a:r>
              <a:rPr lang="en-US"/>
              <a:t>Slide Title — Arial 28 Bold</a:t>
            </a:r>
          </a:p>
        </p:txBody>
      </p:sp>
      <p:sp>
        <p:nvSpPr>
          <p:cNvPr id="37" name="Text Placeholder 36"/>
          <p:cNvSpPr>
            <a:spLocks noGrp="1"/>
          </p:cNvSpPr>
          <p:nvPr>
            <p:ph type="body" sz="quarter" idx="14"/>
          </p:nvPr>
        </p:nvSpPr>
        <p:spPr>
          <a:xfrm>
            <a:off x="836761" y="683879"/>
            <a:ext cx="7955280" cy="914400"/>
          </a:xfrm>
        </p:spPr>
        <p:txBody>
          <a:bodyPr/>
          <a:lstStyle>
            <a:lvl1pPr marL="228600" indent="-228600">
              <a:buFont typeface="Wingdings" panose="05000000000000000000" pitchFamily="2" charset="2"/>
              <a:buChar char="ü"/>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4"/>
          </p:nvPr>
        </p:nvSpPr>
        <p:spPr>
          <a:xfrm>
            <a:off x="4076700" y="6737503"/>
            <a:ext cx="990600" cy="107722"/>
          </a:xfrm>
          <a:prstGeom prst="rect">
            <a:avLst/>
          </a:prstGeom>
        </p:spPr>
        <p:txBody>
          <a:bodyPr vert="horz" wrap="square" lIns="0" tIns="0" rIns="0" bIns="0" rtlCol="0" anchor="ctr">
            <a:spAutoFit/>
          </a:bodyPr>
          <a:lstStyle>
            <a:lvl1pPr>
              <a:defRPr kumimoji="0" lang="en-US" sz="700" b="1" i="0" u="none" strike="noStrike" kern="600" cap="none" spc="0" normalizeH="0" baseline="0" smtClean="0">
                <a:ln>
                  <a:noFill/>
                </a:ln>
                <a:solidFill>
                  <a:prstClr val="black"/>
                </a:solidFill>
                <a:effectLst/>
                <a:uLnTx/>
                <a:uFillTx/>
                <a:latin typeface="Arial" panose="020B0604020202020204" pitchFamily="34" charset="0"/>
                <a:cs typeface="Arial" panose="020B0604020202020204" pitchFamily="34" charset="0"/>
              </a:defRPr>
            </a:lvl1pPr>
          </a:lstStyle>
          <a:p>
            <a:pPr algn="ctr"/>
            <a:fld id="{C097D8A2-1060-445D-9A44-8315A403614E}" type="slidenum">
              <a:rPr lang="en-US" smtClean="0"/>
              <a:pPr algn="ctr"/>
              <a:t>‹#›</a:t>
            </a:fld>
            <a:endParaRPr lang="en-US"/>
          </a:p>
        </p:txBody>
      </p:sp>
      <p:sp>
        <p:nvSpPr>
          <p:cNvPr id="8" name="Text Placeholder 2"/>
          <p:cNvSpPr>
            <a:spLocks noGrp="1"/>
          </p:cNvSpPr>
          <p:nvPr>
            <p:ph type="body" sz="quarter" idx="18" hasCustomPrompt="1"/>
          </p:nvPr>
        </p:nvSpPr>
        <p:spPr>
          <a:xfrm>
            <a:off x="5118100" y="6742889"/>
            <a:ext cx="2537995" cy="96950"/>
          </a:xfrm>
        </p:spPr>
        <p:txBody>
          <a:bodyPr wrap="square" lIns="0" tIns="0" rIns="18288" bIns="0" anchor="ctr" anchorCtr="0">
            <a:spAutoFit/>
          </a:bodyPr>
          <a:lstStyle>
            <a:lvl1pPr marL="0" indent="0" algn="r">
              <a:buFontTx/>
              <a:buNone/>
              <a:defRPr sz="700" b="0"/>
            </a:lvl1pPr>
            <a:lvl2pPr marL="457200" indent="0" algn="r">
              <a:buFontTx/>
              <a:buNone/>
              <a:defRPr sz="700" b="0"/>
            </a:lvl2pPr>
            <a:lvl3pPr marL="914400" indent="0" algn="r">
              <a:buFontTx/>
              <a:buNone/>
              <a:defRPr sz="700" b="0"/>
            </a:lvl3pPr>
            <a:lvl4pPr marL="1371600" indent="0" algn="r">
              <a:buFontTx/>
              <a:buNone/>
              <a:defRPr sz="700" b="0"/>
            </a:lvl4pPr>
            <a:lvl5pPr marL="1828800" indent="0" algn="r">
              <a:buFontTx/>
              <a:buNone/>
              <a:defRPr sz="700" b="0"/>
            </a:lvl5pPr>
          </a:lstStyle>
          <a:p>
            <a:pPr lvl="0"/>
            <a:r>
              <a:rPr lang="en-US"/>
              <a:t>POC Name/Phone Number – if necessary— Arial 7</a:t>
            </a:r>
          </a:p>
        </p:txBody>
      </p:sp>
    </p:spTree>
    <p:extLst>
      <p:ext uri="{BB962C8B-B14F-4D97-AF65-F5344CB8AC3E}">
        <p14:creationId xmlns:p14="http://schemas.microsoft.com/office/powerpoint/2010/main" val="3889041106"/>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Facer_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2621" y="5330180"/>
            <a:ext cx="7231380" cy="528561"/>
          </a:xfrm>
        </p:spPr>
        <p:txBody>
          <a:bodyPr/>
          <a:lstStyle>
            <a:lvl1pPr marL="171450" indent="-171450">
              <a:buFont typeface="Arial" panose="020B0604020202020204" pitchFamily="34" charset="0"/>
              <a:buChar char="•"/>
              <a:defRPr sz="1200" b="1"/>
            </a:lvl1pPr>
            <a:lvl2pPr marL="227013" indent="-173038">
              <a:buFont typeface="Wingdings" panose="05000000000000000000" pitchFamily="2" charset="2"/>
              <a:buChar char="ü"/>
              <a:defRPr sz="1000"/>
            </a:lvl2pPr>
            <a:lvl3pPr marL="400050" indent="-168275">
              <a:defRPr sz="1000"/>
            </a:lvl3pPr>
            <a:lvl4pPr marL="574675" indent="-174625">
              <a:defRPr sz="1000"/>
            </a:lvl4pPr>
            <a:lvl5pPr marL="741363" indent="-168275">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p:cNvSpPr>
            <a:spLocks noGrp="1"/>
          </p:cNvSpPr>
          <p:nvPr>
            <p:ph type="title" hasCustomPrompt="1"/>
          </p:nvPr>
        </p:nvSpPr>
        <p:spPr>
          <a:xfrm>
            <a:off x="6237688" y="135118"/>
            <a:ext cx="3004633" cy="479425"/>
          </a:xfrm>
          <a:prstGeom prst="rect">
            <a:avLst/>
          </a:prstGeom>
        </p:spPr>
        <p:txBody>
          <a:bodyPr lIns="91440"/>
          <a:lstStyle>
            <a:lvl1pPr>
              <a:defRPr>
                <a:solidFill>
                  <a:schemeClr val="tx1"/>
                </a:solidFill>
              </a:defRPr>
            </a:lvl1pPr>
          </a:lstStyle>
          <a:p>
            <a:r>
              <a:rPr lang="en-US"/>
              <a:t>Click to edit title</a:t>
            </a:r>
          </a:p>
        </p:txBody>
      </p:sp>
      <p:sp>
        <p:nvSpPr>
          <p:cNvPr id="8" name="Classification top"/>
          <p:cNvSpPr txBox="1"/>
          <p:nvPr userDrawn="1"/>
        </p:nvSpPr>
        <p:spPr bwMode="white">
          <a:xfrm>
            <a:off x="3657600" y="0"/>
            <a:ext cx="1828800" cy="160338"/>
          </a:xfrm>
          <a:prstGeom prst="rect">
            <a:avLst/>
          </a:prstGeom>
          <a:noFill/>
        </p:spPr>
        <p:txBody>
          <a:bodyPr wrap="none" lIns="0" tIns="9144" rIns="0" bIns="18288"/>
          <a:lstStyle/>
          <a:p>
            <a:pPr algn="ctr" eaLnBrk="1" fontAlgn="auto" hangingPunct="1">
              <a:spcBef>
                <a:spcPts val="0"/>
              </a:spcBef>
              <a:spcAft>
                <a:spcPts val="0"/>
              </a:spcAft>
              <a:defRPr/>
            </a:pPr>
            <a:r>
              <a:rPr lang="en-US" sz="700" b="1" kern="600">
                <a:solidFill>
                  <a:schemeClr val="tx1"/>
                </a:solidFill>
                <a:latin typeface="Arial" panose="020B0604020202020204" pitchFamily="34" charset="0"/>
                <a:cs typeface="Arial" panose="020B0604020202020204" pitchFamily="34" charset="0"/>
              </a:rPr>
              <a:t>CUI</a:t>
            </a:r>
          </a:p>
        </p:txBody>
      </p:sp>
      <p:sp>
        <p:nvSpPr>
          <p:cNvPr id="9" name="Classification bottom"/>
          <p:cNvSpPr txBox="1"/>
          <p:nvPr userDrawn="1"/>
        </p:nvSpPr>
        <p:spPr bwMode="black">
          <a:xfrm>
            <a:off x="841248" y="128234"/>
            <a:ext cx="5393094" cy="480131"/>
          </a:xfrm>
          <a:prstGeom prst="rect">
            <a:avLst/>
          </a:prstGeom>
        </p:spPr>
        <p:txBody>
          <a:bodyPr vert="horz" wrap="square" lIns="45720" tIns="45720" rIns="0" bIns="45720" rtlCol="0" anchor="t" anchorCtr="0">
            <a:spAutoFit/>
          </a:bodyPr>
          <a:lstStyle>
            <a:lvl1pPr defTabSz="914400" eaLnBrk="1" latinLnBrk="0" hangingPunct="1">
              <a:lnSpc>
                <a:spcPct val="90000"/>
              </a:lnSpc>
              <a:buNone/>
              <a:defRPr sz="2800" b="1">
                <a:latin typeface="+mj-lt"/>
                <a:ea typeface="+mj-ea"/>
                <a:cs typeface="+mj-cs"/>
              </a:defRPr>
            </a:lvl1pPr>
          </a:lstStyle>
          <a:p>
            <a:pPr lvl="0"/>
            <a:r>
              <a:rPr lang="en-US" sz="2800"/>
              <a:t>AMC</a:t>
            </a:r>
            <a:r>
              <a:rPr lang="en-US" sz="2800" baseline="0"/>
              <a:t> Campaign Plan Linkage </a:t>
            </a:r>
            <a:r>
              <a:rPr lang="en-US" sz="2800"/>
              <a:t>–</a:t>
            </a:r>
          </a:p>
        </p:txBody>
      </p:sp>
      <p:graphicFrame>
        <p:nvGraphicFramePr>
          <p:cNvPr id="6" name="Table 5"/>
          <p:cNvGraphicFramePr>
            <a:graphicFrameLocks noGrp="1"/>
          </p:cNvGraphicFramePr>
          <p:nvPr userDrawn="1">
            <p:extLst>
              <p:ext uri="{D42A27DB-BD31-4B8C-83A1-F6EECF244321}">
                <p14:modId xmlns:p14="http://schemas.microsoft.com/office/powerpoint/2010/main" val="1359156079"/>
              </p:ext>
            </p:extLst>
          </p:nvPr>
        </p:nvGraphicFramePr>
        <p:xfrm>
          <a:off x="0" y="804301"/>
          <a:ext cx="997527" cy="731520"/>
        </p:xfrm>
        <a:graphic>
          <a:graphicData uri="http://schemas.openxmlformats.org/drawingml/2006/table">
            <a:tbl>
              <a:tblPr firstRow="1" bandRow="1">
                <a:tableStyleId>{2D5ABB26-0587-4C30-8999-92F81FD0307C}</a:tableStyleId>
              </a:tblPr>
              <a:tblGrid>
                <a:gridCol w="997527">
                  <a:extLst>
                    <a:ext uri="{9D8B030D-6E8A-4147-A177-3AD203B41FA5}">
                      <a16:colId xmlns:a16="http://schemas.microsoft.com/office/drawing/2014/main" val="20000"/>
                    </a:ext>
                  </a:extLst>
                </a:gridCol>
              </a:tblGrid>
              <a:tr h="137076">
                <a:tc>
                  <a:txBody>
                    <a:bodyPr/>
                    <a:lstStyle/>
                    <a:p>
                      <a:pPr algn="r"/>
                      <a:r>
                        <a:rPr lang="en-US" sz="1000" b="1"/>
                        <a:t>EVENT CHAIR:</a:t>
                      </a:r>
                    </a:p>
                  </a:txBody>
                  <a:tcPr marL="0" marR="45720"/>
                </a:tc>
                <a:extLst>
                  <a:ext uri="{0D108BD9-81ED-4DB2-BD59-A6C34878D82A}">
                    <a16:rowId xmlns:a16="http://schemas.microsoft.com/office/drawing/2014/main" val="10000"/>
                  </a:ext>
                </a:extLst>
              </a:tr>
              <a:tr h="157732">
                <a:tc>
                  <a:txBody>
                    <a:bodyPr/>
                    <a:lstStyle/>
                    <a:p>
                      <a:pPr algn="r"/>
                      <a:r>
                        <a:rPr lang="en-US" sz="1000" b="1"/>
                        <a:t>EVENT TOR:</a:t>
                      </a:r>
                    </a:p>
                  </a:txBody>
                  <a:tcPr marL="0" marR="45720"/>
                </a:tc>
                <a:extLst>
                  <a:ext uri="{0D108BD9-81ED-4DB2-BD59-A6C34878D82A}">
                    <a16:rowId xmlns:a16="http://schemas.microsoft.com/office/drawing/2014/main" val="10001"/>
                  </a:ext>
                </a:extLst>
              </a:tr>
              <a:tr h="0">
                <a:tc>
                  <a:txBody>
                    <a:bodyPr/>
                    <a:lstStyle/>
                    <a:p>
                      <a:pPr algn="r"/>
                      <a:r>
                        <a:rPr lang="en-US" sz="1000" b="1"/>
                        <a:t>OTHER:</a:t>
                      </a:r>
                    </a:p>
                  </a:txBody>
                  <a:tcPr marL="0" marR="45720"/>
                </a:tc>
                <a:extLst>
                  <a:ext uri="{0D108BD9-81ED-4DB2-BD59-A6C34878D82A}">
                    <a16:rowId xmlns:a16="http://schemas.microsoft.com/office/drawing/2014/main" val="10002"/>
                  </a:ext>
                </a:extLst>
              </a:tr>
            </a:tbl>
          </a:graphicData>
        </a:graphic>
      </p:graphicFrame>
      <p:graphicFrame>
        <p:nvGraphicFramePr>
          <p:cNvPr id="15" name="Table 14"/>
          <p:cNvGraphicFramePr>
            <a:graphicFrameLocks noGrp="1"/>
          </p:cNvGraphicFramePr>
          <p:nvPr userDrawn="1">
            <p:extLst>
              <p:ext uri="{D42A27DB-BD31-4B8C-83A1-F6EECF244321}">
                <p14:modId xmlns:p14="http://schemas.microsoft.com/office/powerpoint/2010/main" val="1965747977"/>
              </p:ext>
            </p:extLst>
          </p:nvPr>
        </p:nvGraphicFramePr>
        <p:xfrm>
          <a:off x="0" y="1532783"/>
          <a:ext cx="997527" cy="731520"/>
        </p:xfrm>
        <a:graphic>
          <a:graphicData uri="http://schemas.openxmlformats.org/drawingml/2006/table">
            <a:tbl>
              <a:tblPr firstRow="1" bandRow="1">
                <a:tableStyleId>{2D5ABB26-0587-4C30-8999-92F81FD0307C}</a:tableStyleId>
              </a:tblPr>
              <a:tblGrid>
                <a:gridCol w="997527">
                  <a:extLst>
                    <a:ext uri="{9D8B030D-6E8A-4147-A177-3AD203B41FA5}">
                      <a16:colId xmlns:a16="http://schemas.microsoft.com/office/drawing/2014/main" val="20000"/>
                    </a:ext>
                  </a:extLst>
                </a:gridCol>
              </a:tblGrid>
              <a:tr h="137076">
                <a:tc>
                  <a:txBody>
                    <a:bodyPr/>
                    <a:lstStyle/>
                    <a:p>
                      <a:pPr algn="r"/>
                      <a:r>
                        <a:rPr lang="en-US" sz="1000" b="1"/>
                        <a:t>AMC Staff</a:t>
                      </a:r>
                    </a:p>
                  </a:txBody>
                  <a:tcPr marL="0" marR="45720"/>
                </a:tc>
                <a:extLst>
                  <a:ext uri="{0D108BD9-81ED-4DB2-BD59-A6C34878D82A}">
                    <a16:rowId xmlns:a16="http://schemas.microsoft.com/office/drawing/2014/main" val="10000"/>
                  </a:ext>
                </a:extLst>
              </a:tr>
              <a:tr h="157732">
                <a:tc>
                  <a:txBody>
                    <a:bodyPr/>
                    <a:lstStyle/>
                    <a:p>
                      <a:pPr algn="l"/>
                      <a:r>
                        <a:rPr lang="en-US" sz="1000" b="1"/>
                        <a:t>OPR:</a:t>
                      </a:r>
                    </a:p>
                  </a:txBody>
                  <a:tcPr marL="45720" marR="45720"/>
                </a:tc>
                <a:extLst>
                  <a:ext uri="{0D108BD9-81ED-4DB2-BD59-A6C34878D82A}">
                    <a16:rowId xmlns:a16="http://schemas.microsoft.com/office/drawing/2014/main" val="10001"/>
                  </a:ext>
                </a:extLst>
              </a:tr>
              <a:tr h="0">
                <a:tc>
                  <a:txBody>
                    <a:bodyPr/>
                    <a:lstStyle/>
                    <a:p>
                      <a:pPr algn="l"/>
                      <a:r>
                        <a:rPr lang="en-US" sz="1000" b="1"/>
                        <a:t>OCR:</a:t>
                      </a:r>
                    </a:p>
                  </a:txBody>
                  <a:tcPr marL="45720" marR="45720"/>
                </a:tc>
                <a:extLst>
                  <a:ext uri="{0D108BD9-81ED-4DB2-BD59-A6C34878D82A}">
                    <a16:rowId xmlns:a16="http://schemas.microsoft.com/office/drawing/2014/main" val="10002"/>
                  </a:ext>
                </a:extLst>
              </a:tr>
            </a:tbl>
          </a:graphicData>
        </a:graphic>
      </p:graphicFrame>
      <p:sp>
        <p:nvSpPr>
          <p:cNvPr id="18" name="Text Placeholder 16"/>
          <p:cNvSpPr>
            <a:spLocks noGrp="1"/>
          </p:cNvSpPr>
          <p:nvPr>
            <p:ph type="body" sz="quarter" idx="12" hasCustomPrompt="1"/>
          </p:nvPr>
        </p:nvSpPr>
        <p:spPr>
          <a:xfrm>
            <a:off x="372229" y="1785351"/>
            <a:ext cx="1540073" cy="150813"/>
          </a:xfrm>
        </p:spPr>
        <p:txBody>
          <a:bodyPr lIns="45720" rIns="45720">
            <a:noAutofit/>
          </a:bodyPr>
          <a:lstStyle>
            <a:lvl1pPr marL="0" indent="0">
              <a:buNone/>
              <a:defRPr sz="1000"/>
            </a:lvl1pPr>
            <a:lvl2pPr>
              <a:defRPr sz="1000"/>
            </a:lvl2pPr>
            <a:lvl3pPr>
              <a:defRPr sz="1000"/>
            </a:lvl3pPr>
            <a:lvl4pPr>
              <a:defRPr sz="1000"/>
            </a:lvl4pPr>
            <a:lvl5pPr>
              <a:defRPr sz="1000"/>
            </a:lvl5pPr>
          </a:lstStyle>
          <a:p>
            <a:pPr lvl="0"/>
            <a:r>
              <a:rPr lang="en-US"/>
              <a:t>Click to enter OPR</a:t>
            </a:r>
          </a:p>
        </p:txBody>
      </p:sp>
      <p:sp>
        <p:nvSpPr>
          <p:cNvPr id="19" name="Text Placeholder 16"/>
          <p:cNvSpPr>
            <a:spLocks noGrp="1"/>
          </p:cNvSpPr>
          <p:nvPr>
            <p:ph type="body" sz="quarter" idx="13" hasCustomPrompt="1"/>
          </p:nvPr>
        </p:nvSpPr>
        <p:spPr>
          <a:xfrm>
            <a:off x="372229" y="2036681"/>
            <a:ext cx="1540073" cy="150813"/>
          </a:xfrm>
        </p:spPr>
        <p:txBody>
          <a:bodyPr lIns="45720" rIns="45720">
            <a:noAutofit/>
          </a:bodyPr>
          <a:lstStyle>
            <a:lvl1pPr marL="0" indent="0">
              <a:buNone/>
              <a:defRPr sz="1000"/>
            </a:lvl1pPr>
            <a:lvl2pPr>
              <a:defRPr sz="1000"/>
            </a:lvl2pPr>
            <a:lvl3pPr>
              <a:defRPr sz="1000"/>
            </a:lvl3pPr>
            <a:lvl4pPr>
              <a:defRPr sz="1000"/>
            </a:lvl4pPr>
            <a:lvl5pPr>
              <a:defRPr sz="1000"/>
            </a:lvl5pPr>
          </a:lstStyle>
          <a:p>
            <a:pPr lvl="0"/>
            <a:r>
              <a:rPr lang="en-US"/>
              <a:t>Click to enter OCR</a:t>
            </a:r>
          </a:p>
        </p:txBody>
      </p:sp>
      <p:cxnSp>
        <p:nvCxnSpPr>
          <p:cNvPr id="20" name="Straight Connector 19"/>
          <p:cNvCxnSpPr/>
          <p:nvPr userDrawn="1"/>
        </p:nvCxnSpPr>
        <p:spPr>
          <a:xfrm flipV="1">
            <a:off x="1912620" y="708660"/>
            <a:ext cx="0" cy="60416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a:off x="1912620" y="5105400"/>
            <a:ext cx="72313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 Placeholder 22"/>
          <p:cNvSpPr>
            <a:spLocks noGrp="1"/>
          </p:cNvSpPr>
          <p:nvPr>
            <p:ph type="body" sz="quarter" idx="14" hasCustomPrompt="1"/>
          </p:nvPr>
        </p:nvSpPr>
        <p:spPr>
          <a:xfrm>
            <a:off x="0" y="2512189"/>
            <a:ext cx="1912938" cy="1125309"/>
          </a:xfrm>
        </p:spPr>
        <p:txBody>
          <a:bodyPr vert="horz" lIns="45720" tIns="45720" rIns="45720" bIns="45720" rtlCol="0">
            <a:normAutofit/>
          </a:bodyPr>
          <a:lstStyle>
            <a:lvl1pPr marL="741363" indent="-741363">
              <a:defRPr lang="en-US" sz="1200" b="1" smtClean="0"/>
            </a:lvl1pPr>
            <a:lvl2pPr>
              <a:defRPr lang="en-US" sz="1000" smtClean="0"/>
            </a:lvl2pPr>
            <a:lvl3pPr>
              <a:defRPr lang="en-US" sz="1000" smtClean="0"/>
            </a:lvl3pPr>
            <a:lvl4pPr>
              <a:defRPr lang="en-US" sz="1000" smtClean="0"/>
            </a:lvl4pPr>
            <a:lvl5pPr>
              <a:defRPr lang="en-US" sz="1000"/>
            </a:lvl5pPr>
          </a:lstStyle>
          <a:p>
            <a:pPr marL="0" lvl="0" indent="0"/>
            <a:r>
              <a:rPr lang="en-US"/>
              <a:t>Click to edit Internal:</a:t>
            </a:r>
          </a:p>
          <a:p>
            <a:pPr marL="227013" lvl="1" indent="-173038">
              <a:buFont typeface="Wingdings" panose="05000000000000000000" pitchFamily="2" charset="2"/>
              <a:buChar char="ü"/>
            </a:pPr>
            <a:r>
              <a:rPr lang="en-US"/>
              <a:t>Second level</a:t>
            </a:r>
          </a:p>
          <a:p>
            <a:pPr marL="400050" lvl="2" indent="-168275"/>
            <a:r>
              <a:rPr lang="en-US"/>
              <a:t>Third level</a:t>
            </a:r>
          </a:p>
          <a:p>
            <a:pPr marL="574675" lvl="3" indent="-174625"/>
            <a:r>
              <a:rPr lang="en-US"/>
              <a:t>Fourth level</a:t>
            </a:r>
          </a:p>
          <a:p>
            <a:pPr marL="741363" lvl="4" indent="-168275"/>
            <a:r>
              <a:rPr lang="en-US"/>
              <a:t>Fifth level</a:t>
            </a:r>
          </a:p>
        </p:txBody>
      </p:sp>
      <p:sp>
        <p:nvSpPr>
          <p:cNvPr id="24" name="Text Placeholder 22"/>
          <p:cNvSpPr>
            <a:spLocks noGrp="1"/>
          </p:cNvSpPr>
          <p:nvPr>
            <p:ph type="body" sz="quarter" idx="15" hasCustomPrompt="1"/>
          </p:nvPr>
        </p:nvSpPr>
        <p:spPr>
          <a:xfrm>
            <a:off x="0" y="3631164"/>
            <a:ext cx="1912938" cy="1125309"/>
          </a:xfrm>
        </p:spPr>
        <p:txBody>
          <a:bodyPr vert="horz" lIns="45720" tIns="45720" rIns="45720" bIns="45720" rtlCol="0">
            <a:normAutofit/>
          </a:bodyPr>
          <a:lstStyle>
            <a:lvl1pPr marL="228600" indent="-228600">
              <a:defRPr lang="en-US" sz="1200" b="1" kern="1200" dirty="0" smtClean="0">
                <a:solidFill>
                  <a:schemeClr val="tx1"/>
                </a:solidFill>
                <a:latin typeface="+mn-lt"/>
                <a:ea typeface="+mn-ea"/>
                <a:cs typeface="+mn-cs"/>
              </a:defRPr>
            </a:lvl1pPr>
            <a:lvl2pPr>
              <a:defRPr lang="en-US" sz="1000" smtClean="0"/>
            </a:lvl2pPr>
            <a:lvl3pPr>
              <a:defRPr lang="en-US" sz="1000" smtClean="0"/>
            </a:lvl3pPr>
            <a:lvl4pPr>
              <a:defRPr lang="en-US" sz="1000" smtClean="0"/>
            </a:lvl4pPr>
            <a:lvl5pPr>
              <a:defRPr lang="en-US" sz="1000"/>
            </a:lvl5pPr>
          </a:lstStyle>
          <a:p>
            <a:pPr marL="0" lvl="0" indent="0" algn="l" defTabSz="914400" rtl="0" eaLnBrk="1" latinLnBrk="0" hangingPunct="1">
              <a:lnSpc>
                <a:spcPct val="90000"/>
              </a:lnSpc>
              <a:spcBef>
                <a:spcPts val="1000"/>
              </a:spcBef>
              <a:buFont typeface="Arial" panose="020B0604020202020204" pitchFamily="34" charset="0"/>
              <a:buChar char="•"/>
            </a:pPr>
            <a:r>
              <a:rPr lang="en-US"/>
              <a:t>Click to edit External:</a:t>
            </a:r>
          </a:p>
          <a:p>
            <a:pPr marL="227013" lvl="1" indent="-173038">
              <a:buFont typeface="Wingdings" panose="05000000000000000000" pitchFamily="2" charset="2"/>
              <a:buChar char="ü"/>
            </a:pPr>
            <a:r>
              <a:rPr lang="en-US"/>
              <a:t>Second level</a:t>
            </a:r>
          </a:p>
          <a:p>
            <a:pPr marL="400050" lvl="2" indent="-168275"/>
            <a:r>
              <a:rPr lang="en-US"/>
              <a:t>Third level</a:t>
            </a:r>
          </a:p>
          <a:p>
            <a:pPr marL="574675" lvl="3" indent="-174625"/>
            <a:r>
              <a:rPr lang="en-US"/>
              <a:t>Fourth level</a:t>
            </a:r>
          </a:p>
          <a:p>
            <a:pPr marL="741363" lvl="4" indent="-168275"/>
            <a:r>
              <a:rPr lang="en-US"/>
              <a:t>Fifth level</a:t>
            </a:r>
          </a:p>
        </p:txBody>
      </p:sp>
      <p:sp>
        <p:nvSpPr>
          <p:cNvPr id="26" name="TextBox 25"/>
          <p:cNvSpPr txBox="1"/>
          <p:nvPr userDrawn="1"/>
        </p:nvSpPr>
        <p:spPr>
          <a:xfrm>
            <a:off x="19304" y="2297636"/>
            <a:ext cx="1064715" cy="258532"/>
          </a:xfrm>
          <a:prstGeom prst="rect">
            <a:avLst/>
          </a:prstGeom>
        </p:spPr>
        <p:txBody>
          <a:bodyPr vert="horz" lIns="91440" tIns="45720" rIns="91440" bIns="45720" rtlCol="0">
            <a:normAutofit/>
          </a:bodyPr>
          <a:lstStyle>
            <a:lvl1pPr marL="0" lvl="0" indent="0" defTabSz="914400" eaLnBrk="1" latinLnBrk="0" hangingPunct="1">
              <a:lnSpc>
                <a:spcPct val="90000"/>
              </a:lnSpc>
              <a:spcBef>
                <a:spcPts val="1000"/>
              </a:spcBef>
              <a:buFont typeface="Arial" panose="020B0604020202020204" pitchFamily="34" charset="0"/>
              <a:buNone/>
              <a:defRPr sz="1200" b="1">
                <a:latin typeface="+mn-lt"/>
              </a:defRPr>
            </a:lvl1pPr>
            <a:lvl2pPr marL="227013" lvl="1" indent="-173038" defTabSz="914400" eaLnBrk="1" latinLnBrk="0" hangingPunct="1">
              <a:lnSpc>
                <a:spcPct val="90000"/>
              </a:lnSpc>
              <a:spcBef>
                <a:spcPts val="500"/>
              </a:spcBef>
              <a:buFont typeface="Wingdings" panose="05000000000000000000" pitchFamily="2" charset="2"/>
              <a:buChar char="ü"/>
              <a:defRPr sz="1000">
                <a:latin typeface="+mn-lt"/>
              </a:defRPr>
            </a:lvl2pPr>
            <a:lvl3pPr marL="400050" lvl="2" indent="-168275" defTabSz="914400" eaLnBrk="1" latinLnBrk="0" hangingPunct="1">
              <a:lnSpc>
                <a:spcPct val="90000"/>
              </a:lnSpc>
              <a:spcBef>
                <a:spcPts val="500"/>
              </a:spcBef>
              <a:buFont typeface="Arial" panose="020B0604020202020204" pitchFamily="34" charset="0"/>
              <a:buChar char="•"/>
              <a:defRPr sz="1000">
                <a:latin typeface="+mn-lt"/>
              </a:defRPr>
            </a:lvl3pPr>
            <a:lvl4pPr marL="574675" lvl="3" indent="-174625" defTabSz="914400" eaLnBrk="1" latinLnBrk="0" hangingPunct="1">
              <a:lnSpc>
                <a:spcPct val="90000"/>
              </a:lnSpc>
              <a:spcBef>
                <a:spcPts val="500"/>
              </a:spcBef>
              <a:buFont typeface="Arial" panose="020B0604020202020204" pitchFamily="34" charset="0"/>
              <a:buChar char="•"/>
              <a:defRPr sz="1000">
                <a:latin typeface="+mn-lt"/>
              </a:defRPr>
            </a:lvl4pPr>
            <a:lvl5pPr marL="741363" lvl="4" indent="-168275" defTabSz="914400" eaLnBrk="1" latinLnBrk="0" hangingPunct="1">
              <a:lnSpc>
                <a:spcPct val="90000"/>
              </a:lnSpc>
              <a:spcBef>
                <a:spcPts val="500"/>
              </a:spcBef>
              <a:buFont typeface="Arial" panose="020B0604020202020204" pitchFamily="34" charset="0"/>
              <a:buChar char="•"/>
              <a:defRPr sz="1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pPr lvl="0"/>
            <a:r>
              <a:rPr lang="en-US"/>
              <a:t>Participants</a:t>
            </a:r>
          </a:p>
        </p:txBody>
      </p:sp>
      <p:sp>
        <p:nvSpPr>
          <p:cNvPr id="28" name="TextBox 27"/>
          <p:cNvSpPr txBox="1"/>
          <p:nvPr userDrawn="1"/>
        </p:nvSpPr>
        <p:spPr>
          <a:xfrm>
            <a:off x="19304" y="4760892"/>
            <a:ext cx="1257833" cy="258532"/>
          </a:xfrm>
          <a:prstGeom prst="rect">
            <a:avLst/>
          </a:prstGeom>
        </p:spPr>
        <p:txBody>
          <a:bodyPr vert="horz" lIns="91440" tIns="45720" rIns="91440" bIns="45720" rtlCol="0">
            <a:normAutofit fontScale="92500"/>
          </a:bodyPr>
          <a:lstStyle>
            <a:lvl1pPr marL="0" lvl="0" indent="0" defTabSz="914400" eaLnBrk="1" latinLnBrk="0" hangingPunct="1">
              <a:lnSpc>
                <a:spcPct val="90000"/>
              </a:lnSpc>
              <a:spcBef>
                <a:spcPts val="1000"/>
              </a:spcBef>
              <a:buFont typeface="Arial" panose="020B0604020202020204" pitchFamily="34" charset="0"/>
              <a:buNone/>
              <a:defRPr sz="1200" b="1">
                <a:latin typeface="+mn-lt"/>
              </a:defRPr>
            </a:lvl1pPr>
            <a:lvl2pPr marL="227013" lvl="1" indent="-173038" defTabSz="914400" eaLnBrk="1" latinLnBrk="0" hangingPunct="1">
              <a:lnSpc>
                <a:spcPct val="90000"/>
              </a:lnSpc>
              <a:spcBef>
                <a:spcPts val="500"/>
              </a:spcBef>
              <a:buFont typeface="Wingdings" panose="05000000000000000000" pitchFamily="2" charset="2"/>
              <a:buChar char="ü"/>
              <a:defRPr sz="1000">
                <a:latin typeface="+mn-lt"/>
              </a:defRPr>
            </a:lvl2pPr>
            <a:lvl3pPr marL="400050" lvl="2" indent="-168275" defTabSz="914400" eaLnBrk="1" latinLnBrk="0" hangingPunct="1">
              <a:lnSpc>
                <a:spcPct val="90000"/>
              </a:lnSpc>
              <a:spcBef>
                <a:spcPts val="500"/>
              </a:spcBef>
              <a:buFont typeface="Arial" panose="020B0604020202020204" pitchFamily="34" charset="0"/>
              <a:buChar char="•"/>
              <a:defRPr sz="1000">
                <a:latin typeface="+mn-lt"/>
              </a:defRPr>
            </a:lvl3pPr>
            <a:lvl4pPr marL="574675" lvl="3" indent="-174625" defTabSz="914400" eaLnBrk="1" latinLnBrk="0" hangingPunct="1">
              <a:lnSpc>
                <a:spcPct val="90000"/>
              </a:lnSpc>
              <a:spcBef>
                <a:spcPts val="500"/>
              </a:spcBef>
              <a:buFont typeface="Arial" panose="020B0604020202020204" pitchFamily="34" charset="0"/>
              <a:buChar char="•"/>
              <a:defRPr sz="1000">
                <a:latin typeface="+mn-lt"/>
              </a:defRPr>
            </a:lvl4pPr>
            <a:lvl5pPr marL="741363" lvl="4" indent="-168275" defTabSz="914400" eaLnBrk="1" latinLnBrk="0" hangingPunct="1">
              <a:lnSpc>
                <a:spcPct val="90000"/>
              </a:lnSpc>
              <a:spcBef>
                <a:spcPts val="500"/>
              </a:spcBef>
              <a:buFont typeface="Arial" panose="020B0604020202020204" pitchFamily="34" charset="0"/>
              <a:buChar char="•"/>
              <a:defRPr sz="1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pPr lvl="0"/>
            <a:r>
              <a:rPr lang="en-US"/>
              <a:t>AMC Staff OPR:</a:t>
            </a:r>
          </a:p>
        </p:txBody>
      </p:sp>
      <p:sp>
        <p:nvSpPr>
          <p:cNvPr id="29" name="TextBox 28"/>
          <p:cNvSpPr txBox="1"/>
          <p:nvPr userDrawn="1"/>
        </p:nvSpPr>
        <p:spPr>
          <a:xfrm>
            <a:off x="1931926" y="5129541"/>
            <a:ext cx="5080993" cy="258532"/>
          </a:xfrm>
          <a:prstGeom prst="rect">
            <a:avLst/>
          </a:prstGeom>
        </p:spPr>
        <p:txBody>
          <a:bodyPr vert="horz" lIns="91440" tIns="45720" rIns="91440" bIns="45720" rtlCol="0">
            <a:normAutofit/>
          </a:bodyPr>
          <a:lstStyle>
            <a:lvl1pPr marL="0" lvl="0" indent="0" defTabSz="914400" eaLnBrk="1" latinLnBrk="0" hangingPunct="1">
              <a:lnSpc>
                <a:spcPct val="90000"/>
              </a:lnSpc>
              <a:spcBef>
                <a:spcPts val="1000"/>
              </a:spcBef>
              <a:buFont typeface="Arial" panose="020B0604020202020204" pitchFamily="34" charset="0"/>
              <a:buNone/>
              <a:defRPr sz="1200" b="1">
                <a:latin typeface="+mn-lt"/>
              </a:defRPr>
            </a:lvl1pPr>
            <a:lvl2pPr marL="227013" lvl="1" indent="-173038" defTabSz="914400" eaLnBrk="1" latinLnBrk="0" hangingPunct="1">
              <a:lnSpc>
                <a:spcPct val="90000"/>
              </a:lnSpc>
              <a:spcBef>
                <a:spcPts val="500"/>
              </a:spcBef>
              <a:buFont typeface="Wingdings" panose="05000000000000000000" pitchFamily="2" charset="2"/>
              <a:buChar char="ü"/>
              <a:defRPr sz="1000">
                <a:latin typeface="+mn-lt"/>
              </a:defRPr>
            </a:lvl2pPr>
            <a:lvl3pPr marL="400050" lvl="2" indent="-168275" defTabSz="914400" eaLnBrk="1" latinLnBrk="0" hangingPunct="1">
              <a:lnSpc>
                <a:spcPct val="90000"/>
              </a:lnSpc>
              <a:spcBef>
                <a:spcPts val="500"/>
              </a:spcBef>
              <a:buFont typeface="Arial" panose="020B0604020202020204" pitchFamily="34" charset="0"/>
              <a:buChar char="•"/>
              <a:defRPr sz="1000">
                <a:latin typeface="+mn-lt"/>
              </a:defRPr>
            </a:lvl3pPr>
            <a:lvl4pPr marL="574675" lvl="3" indent="-174625" defTabSz="914400" eaLnBrk="1" latinLnBrk="0" hangingPunct="1">
              <a:lnSpc>
                <a:spcPct val="90000"/>
              </a:lnSpc>
              <a:spcBef>
                <a:spcPts val="500"/>
              </a:spcBef>
              <a:buFont typeface="Arial" panose="020B0604020202020204" pitchFamily="34" charset="0"/>
              <a:buChar char="•"/>
              <a:defRPr sz="1000">
                <a:latin typeface="+mn-lt"/>
              </a:defRPr>
            </a:lvl4pPr>
            <a:lvl5pPr marL="741363" lvl="4" indent="-168275" defTabSz="914400" eaLnBrk="1" latinLnBrk="0" hangingPunct="1">
              <a:lnSpc>
                <a:spcPct val="90000"/>
              </a:lnSpc>
              <a:spcBef>
                <a:spcPts val="500"/>
              </a:spcBef>
              <a:buFont typeface="Arial" panose="020B0604020202020204" pitchFamily="34" charset="0"/>
              <a:buChar char="•"/>
              <a:defRPr sz="1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pPr lvl="0"/>
            <a:r>
              <a:rPr lang="en-US"/>
              <a:t>Macro Context – Purpose of Event:</a:t>
            </a:r>
          </a:p>
        </p:txBody>
      </p:sp>
      <p:sp>
        <p:nvSpPr>
          <p:cNvPr id="31" name="TextBox 30"/>
          <p:cNvSpPr txBox="1"/>
          <p:nvPr userDrawn="1"/>
        </p:nvSpPr>
        <p:spPr>
          <a:xfrm>
            <a:off x="1931926" y="5815678"/>
            <a:ext cx="5080993" cy="258532"/>
          </a:xfrm>
          <a:prstGeom prst="rect">
            <a:avLst/>
          </a:prstGeom>
        </p:spPr>
        <p:txBody>
          <a:bodyPr vert="horz" lIns="91440" tIns="45720" rIns="91440" bIns="45720" rtlCol="0">
            <a:normAutofit/>
          </a:bodyPr>
          <a:lstStyle>
            <a:lvl1pPr marL="0" lvl="0" indent="0" defTabSz="914400" eaLnBrk="1" latinLnBrk="0" hangingPunct="1">
              <a:lnSpc>
                <a:spcPct val="90000"/>
              </a:lnSpc>
              <a:spcBef>
                <a:spcPts val="1000"/>
              </a:spcBef>
              <a:buFont typeface="Arial" panose="020B0604020202020204" pitchFamily="34" charset="0"/>
              <a:buNone/>
              <a:defRPr sz="1200" b="1">
                <a:latin typeface="+mn-lt"/>
              </a:defRPr>
            </a:lvl1pPr>
            <a:lvl2pPr marL="227013" lvl="1" indent="-173038" defTabSz="914400" eaLnBrk="1" latinLnBrk="0" hangingPunct="1">
              <a:lnSpc>
                <a:spcPct val="90000"/>
              </a:lnSpc>
              <a:spcBef>
                <a:spcPts val="500"/>
              </a:spcBef>
              <a:buFont typeface="Wingdings" panose="05000000000000000000" pitchFamily="2" charset="2"/>
              <a:buChar char="ü"/>
              <a:defRPr sz="1000">
                <a:latin typeface="+mn-lt"/>
              </a:defRPr>
            </a:lvl2pPr>
            <a:lvl3pPr marL="400050" lvl="2" indent="-168275" defTabSz="914400" eaLnBrk="1" latinLnBrk="0" hangingPunct="1">
              <a:lnSpc>
                <a:spcPct val="90000"/>
              </a:lnSpc>
              <a:spcBef>
                <a:spcPts val="500"/>
              </a:spcBef>
              <a:buFont typeface="Arial" panose="020B0604020202020204" pitchFamily="34" charset="0"/>
              <a:buChar char="•"/>
              <a:defRPr sz="1000">
                <a:latin typeface="+mn-lt"/>
              </a:defRPr>
            </a:lvl3pPr>
            <a:lvl4pPr marL="574675" lvl="3" indent="-174625" defTabSz="914400" eaLnBrk="1" latinLnBrk="0" hangingPunct="1">
              <a:lnSpc>
                <a:spcPct val="90000"/>
              </a:lnSpc>
              <a:spcBef>
                <a:spcPts val="500"/>
              </a:spcBef>
              <a:buFont typeface="Arial" panose="020B0604020202020204" pitchFamily="34" charset="0"/>
              <a:buChar char="•"/>
              <a:defRPr sz="1000">
                <a:latin typeface="+mn-lt"/>
              </a:defRPr>
            </a:lvl4pPr>
            <a:lvl5pPr marL="741363" lvl="4" indent="-168275" defTabSz="914400" eaLnBrk="1" latinLnBrk="0" hangingPunct="1">
              <a:lnSpc>
                <a:spcPct val="90000"/>
              </a:lnSpc>
              <a:spcBef>
                <a:spcPts val="500"/>
              </a:spcBef>
              <a:buFont typeface="Arial" panose="020B0604020202020204" pitchFamily="34" charset="0"/>
              <a:buChar char="•"/>
              <a:defRPr sz="1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pPr lvl="0"/>
            <a:r>
              <a:rPr lang="en-US"/>
              <a:t>Guidance / Decision:</a:t>
            </a:r>
          </a:p>
        </p:txBody>
      </p:sp>
      <p:sp>
        <p:nvSpPr>
          <p:cNvPr id="32" name="Text Placeholder 22"/>
          <p:cNvSpPr>
            <a:spLocks noGrp="1"/>
          </p:cNvSpPr>
          <p:nvPr>
            <p:ph type="body" sz="quarter" idx="16" hasCustomPrompt="1"/>
          </p:nvPr>
        </p:nvSpPr>
        <p:spPr>
          <a:xfrm>
            <a:off x="1912620" y="6013813"/>
            <a:ext cx="7231380" cy="567580"/>
          </a:xfrm>
        </p:spPr>
        <p:txBody>
          <a:bodyPr vert="horz" lIns="91440" tIns="45720" rIns="91440" bIns="45720" rtlCol="0">
            <a:normAutofit/>
          </a:bodyPr>
          <a:lstStyle>
            <a:lvl1pPr>
              <a:defRPr lang="en-US" sz="1200" b="1" dirty="0" smtClean="0"/>
            </a:lvl1pPr>
            <a:lvl2pPr>
              <a:defRPr lang="en-US" sz="1000" dirty="0" smtClean="0"/>
            </a:lvl2pPr>
            <a:lvl3pPr>
              <a:defRPr lang="en-US" sz="1000" dirty="0" smtClean="0"/>
            </a:lvl3pPr>
            <a:lvl4pPr>
              <a:defRPr lang="en-US" sz="1000" dirty="0" smtClean="0"/>
            </a:lvl4pPr>
            <a:lvl5pPr>
              <a:defRPr lang="en-US" sz="1000" dirty="0"/>
            </a:lvl5pPr>
          </a:lstStyle>
          <a:p>
            <a:pPr marL="171450" lvl="0" indent="-171450"/>
            <a:r>
              <a:rPr lang="en-US"/>
              <a:t>Click to edit text:</a:t>
            </a:r>
          </a:p>
          <a:p>
            <a:pPr marL="227013" lvl="1" indent="-173038">
              <a:buFont typeface="Wingdings" panose="05000000000000000000" pitchFamily="2" charset="2"/>
              <a:buChar char="ü"/>
            </a:pPr>
            <a:r>
              <a:rPr lang="en-US"/>
              <a:t>Second level</a:t>
            </a:r>
          </a:p>
          <a:p>
            <a:pPr marL="400050" lvl="2" indent="-168275"/>
            <a:r>
              <a:rPr lang="en-US"/>
              <a:t>Third level</a:t>
            </a:r>
          </a:p>
          <a:p>
            <a:pPr marL="574675" lvl="3" indent="-174625"/>
            <a:r>
              <a:rPr lang="en-US"/>
              <a:t>Fourth level</a:t>
            </a:r>
          </a:p>
          <a:p>
            <a:pPr marL="741363" lvl="4" indent="-168275"/>
            <a:r>
              <a:rPr lang="en-US"/>
              <a:t>Fifth level</a:t>
            </a:r>
          </a:p>
        </p:txBody>
      </p:sp>
      <p:sp>
        <p:nvSpPr>
          <p:cNvPr id="25" name="Classification bottom"/>
          <p:cNvSpPr txBox="1"/>
          <p:nvPr userDrawn="1"/>
        </p:nvSpPr>
        <p:spPr bwMode="black">
          <a:xfrm>
            <a:off x="0" y="6753453"/>
            <a:ext cx="1188720" cy="107722"/>
          </a:xfrm>
          <a:prstGeom prst="rect">
            <a:avLst/>
          </a:prstGeom>
          <a:noFill/>
        </p:spPr>
        <p:txBody>
          <a:bodyPr wrap="none" lIns="45720" tIns="0" rIns="0" bIns="0" anchor="b" anchorCtr="0">
            <a:noAutofit/>
          </a:bodyPr>
          <a:lstStyle/>
          <a:p>
            <a:pPr>
              <a:defRPr/>
            </a:pPr>
            <a:r>
              <a:rPr lang="en-US" sz="700" b="1" kern="600">
                <a:solidFill>
                  <a:prstClr val="black"/>
                </a:solidFill>
                <a:cs typeface="Arial" panose="020B0604020202020204" pitchFamily="34" charset="0"/>
              </a:rPr>
              <a:t>CUI</a:t>
            </a:r>
          </a:p>
        </p:txBody>
      </p:sp>
      <p:sp>
        <p:nvSpPr>
          <p:cNvPr id="60" name="Slide Number Placeholder 5" hidden="1"/>
          <p:cNvSpPr>
            <a:spLocks noGrp="1"/>
          </p:cNvSpPr>
          <p:nvPr>
            <p:ph type="sldNum" sz="quarter" idx="4"/>
          </p:nvPr>
        </p:nvSpPr>
        <p:spPr>
          <a:xfrm>
            <a:off x="3505200" y="6737503"/>
            <a:ext cx="2133600" cy="107722"/>
          </a:xfrm>
          <a:prstGeom prst="rect">
            <a:avLst/>
          </a:prstGeom>
        </p:spPr>
        <p:txBody>
          <a:bodyPr vert="horz" lIns="0" tIns="0" rIns="0" bIns="0" rtlCol="0" anchor="ctr">
            <a:spAutoFit/>
          </a:bodyPr>
          <a:lstStyle>
            <a:lvl1pPr>
              <a:defRPr kumimoji="0" lang="en-US" sz="700" b="1" i="0" u="none" strike="noStrike" kern="600" cap="none" spc="0" normalizeH="0" baseline="0" smtClean="0">
                <a:ln>
                  <a:noFill/>
                </a:ln>
                <a:solidFill>
                  <a:prstClr val="black"/>
                </a:solidFill>
                <a:effectLst/>
                <a:uLnTx/>
                <a:uFillTx/>
                <a:latin typeface="Arial" panose="020B0604020202020204" pitchFamily="34" charset="0"/>
                <a:cs typeface="Arial" panose="020B0604020202020204" pitchFamily="34" charset="0"/>
              </a:defRPr>
            </a:lvl1pPr>
          </a:lstStyle>
          <a:p>
            <a:pPr algn="ctr"/>
            <a:fld id="{C097D8A2-1060-445D-9A44-8315A403614E}" type="slidenum">
              <a:rPr lang="en-US" smtClean="0"/>
              <a:pPr algn="ctr"/>
              <a:t>‹#›</a:t>
            </a:fld>
            <a:endParaRPr lang="en-US"/>
          </a:p>
        </p:txBody>
      </p:sp>
      <p:pic>
        <p:nvPicPr>
          <p:cNvPr id="62" name="Picture 6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52772" y="810998"/>
            <a:ext cx="7229231" cy="4164743"/>
          </a:xfrm>
          <a:prstGeom prst="rect">
            <a:avLst/>
          </a:prstGeom>
        </p:spPr>
      </p:pic>
      <p:sp>
        <p:nvSpPr>
          <p:cNvPr id="64" name="TextBox 63"/>
          <p:cNvSpPr txBox="1"/>
          <p:nvPr userDrawn="1"/>
        </p:nvSpPr>
        <p:spPr>
          <a:xfrm>
            <a:off x="7217460" y="4979419"/>
            <a:ext cx="1166987" cy="92333"/>
          </a:xfrm>
          <a:prstGeom prst="rect">
            <a:avLst/>
          </a:prstGeom>
          <a:noFill/>
        </p:spPr>
        <p:txBody>
          <a:bodyPr wrap="none" lIns="0" tIns="0" rIns="0" bIns="0" rtlCol="0">
            <a:spAutoFit/>
          </a:bodyPr>
          <a:lstStyle>
            <a:defPPr>
              <a:defRPr lang="en-US"/>
            </a:defPPr>
            <a:lvl1pPr algn="r" defTabSz="457200">
              <a:defRPr sz="600">
                <a:solidFill>
                  <a:prstClr val="black"/>
                </a:solidFill>
                <a:latin typeface=" Arial"/>
              </a:defRPr>
            </a:lvl1pPr>
          </a:lstStyle>
          <a:p>
            <a:pPr eaLnBrk="0" fontAlgn="base" hangingPunct="0">
              <a:spcBef>
                <a:spcPct val="0"/>
              </a:spcBef>
              <a:spcAft>
                <a:spcPct val="0"/>
              </a:spcAft>
            </a:pPr>
            <a:r>
              <a:rPr lang="en-US"/>
              <a:t>Version 14.1 As of 17 March 2021</a:t>
            </a:r>
          </a:p>
        </p:txBody>
      </p:sp>
      <p:pic>
        <p:nvPicPr>
          <p:cNvPr id="5" name="Picture 4" descr="Logo&#10;&#10;Description automatically generated">
            <a:extLst>
              <a:ext uri="{FF2B5EF4-FFF2-40B4-BE49-F238E27FC236}">
                <a16:creationId xmlns:a16="http://schemas.microsoft.com/office/drawing/2014/main" id="{42FBE76F-24B4-0696-A458-026125CCDFD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394" y="58950"/>
            <a:ext cx="547055" cy="681750"/>
          </a:xfrm>
          <a:prstGeom prst="rect">
            <a:avLst/>
          </a:prstGeom>
        </p:spPr>
      </p:pic>
    </p:spTree>
    <p:extLst>
      <p:ext uri="{BB962C8B-B14F-4D97-AF65-F5344CB8AC3E}">
        <p14:creationId xmlns:p14="http://schemas.microsoft.com/office/powerpoint/2010/main" val="3765676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6761" y="104037"/>
            <a:ext cx="7955280" cy="480131"/>
          </a:xfrm>
        </p:spPr>
        <p:txBody>
          <a:bodyPr vert="horz" lIns="182880" tIns="45720" rIns="91440" bIns="45720" rtlCol="0" anchor="t" anchorCtr="0">
            <a:spAutoFit/>
          </a:bodyPr>
          <a:lstStyle>
            <a:lvl1pPr>
              <a:defRPr lang="en-US" dirty="0"/>
            </a:lvl1pPr>
          </a:lstStyle>
          <a:p>
            <a:pPr lvl="0"/>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3459192" y="6646189"/>
            <a:ext cx="2225616" cy="184666"/>
          </a:xfrm>
          <a:prstGeom prst="rect">
            <a:avLst/>
          </a:prstGeom>
        </p:spPr>
        <p:txBody>
          <a:bodyPr/>
          <a:lstStyle/>
          <a:p>
            <a:fld id="{0B6897B9-BC6F-4148-A245-DB7D118EAB72}" type="slidenum">
              <a:rPr lang="en-US" smtClean="0"/>
              <a:t>‹#›</a:t>
            </a:fld>
            <a:endParaRPr lang="en-US"/>
          </a:p>
        </p:txBody>
      </p:sp>
    </p:spTree>
    <p:extLst>
      <p:ext uri="{BB962C8B-B14F-4D97-AF65-F5344CB8AC3E}">
        <p14:creationId xmlns:p14="http://schemas.microsoft.com/office/powerpoint/2010/main" val="3122625468"/>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6761" y="100584"/>
            <a:ext cx="7955280" cy="480131"/>
          </a:xfrm>
        </p:spPr>
        <p:txBody>
          <a:bodyPr vert="horz" lIns="182880" tIns="45720" rIns="91440" bIns="45720" rtlCol="0" anchor="t" anchorCtr="0">
            <a:spAutoFit/>
          </a:bodyPr>
          <a:lstStyle>
            <a:lvl1pPr>
              <a:defRPr lang="en-US" dirty="0"/>
            </a:lvl1pPr>
          </a:lstStyle>
          <a:p>
            <a:pPr lvl="0"/>
            <a:r>
              <a:rPr lang="en-US"/>
              <a:t>Click to edit Master title style</a:t>
            </a:r>
            <a:endParaRPr lang="en-US" dirty="0"/>
          </a:p>
        </p:txBody>
      </p:sp>
      <p:sp>
        <p:nvSpPr>
          <p:cNvPr id="5" name="Slide Number Placeholder 4"/>
          <p:cNvSpPr>
            <a:spLocks noGrp="1"/>
          </p:cNvSpPr>
          <p:nvPr>
            <p:ph type="sldNum" sz="quarter" idx="12"/>
          </p:nvPr>
        </p:nvSpPr>
        <p:spPr>
          <a:xfrm>
            <a:off x="3459192" y="6646189"/>
            <a:ext cx="2225616" cy="184666"/>
          </a:xfrm>
          <a:prstGeom prst="rect">
            <a:avLst/>
          </a:prstGeom>
        </p:spPr>
        <p:txBody>
          <a:bodyPr/>
          <a:lstStyle/>
          <a:p>
            <a:fld id="{1A3C3F5D-9F0A-4D26-898B-10DC4C85EEE6}" type="slidenum">
              <a:rPr lang="en-US" smtClean="0"/>
              <a:t>‹#›</a:t>
            </a:fld>
            <a:endParaRPr lang="en-US" dirty="0"/>
          </a:p>
        </p:txBody>
      </p:sp>
    </p:spTree>
    <p:extLst>
      <p:ext uri="{BB962C8B-B14F-4D97-AF65-F5344CB8AC3E}">
        <p14:creationId xmlns:p14="http://schemas.microsoft.com/office/powerpoint/2010/main" val="2601272074"/>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705694C-9236-47F9-A27B-87E72C6784F7}" type="slidenum">
              <a:rPr lang="en-US" smtClean="0"/>
              <a:t>‹#›</a:t>
            </a:fld>
            <a:endParaRPr lang="en-US"/>
          </a:p>
        </p:txBody>
      </p:sp>
      <p:sp>
        <p:nvSpPr>
          <p:cNvPr id="7" name="Title Placeholder 1">
            <a:extLst>
              <a:ext uri="{FF2B5EF4-FFF2-40B4-BE49-F238E27FC236}">
                <a16:creationId xmlns:a16="http://schemas.microsoft.com/office/drawing/2014/main" id="{5DD8E3FC-8957-A902-20D7-588B65676D98}"/>
              </a:ext>
            </a:extLst>
          </p:cNvPr>
          <p:cNvSpPr txBox="1">
            <a:spLocks/>
          </p:cNvSpPr>
          <p:nvPr userDrawn="1"/>
        </p:nvSpPr>
        <p:spPr bwMode="gray">
          <a:xfrm>
            <a:off x="836761" y="99565"/>
            <a:ext cx="7955280" cy="480131"/>
          </a:xfrm>
          <a:prstGeom prst="rect">
            <a:avLst/>
          </a:prstGeom>
        </p:spPr>
        <p:txBody>
          <a:bodyPr vert="horz" lIns="182880" tIns="45720" rIns="91440" bIns="45720" rtlCol="0" anchor="t" anchorCtr="0">
            <a:spAutoFit/>
          </a:bodyPr>
          <a:lstStyle>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Arial" panose="020B0604020202020204" pitchFamily="34" charset="0"/>
                <a:cs typeface="Arial" panose="020B0604020202020204" pitchFamily="34" charset="0"/>
              </a:rPr>
              <a:t>Slide Title — Arial 28 Bold</a:t>
            </a:r>
          </a:p>
        </p:txBody>
      </p:sp>
      <p:sp>
        <p:nvSpPr>
          <p:cNvPr id="8" name="Text Placeholder 36">
            <a:extLst>
              <a:ext uri="{FF2B5EF4-FFF2-40B4-BE49-F238E27FC236}">
                <a16:creationId xmlns:a16="http://schemas.microsoft.com/office/drawing/2014/main" id="{E09A2D0B-7DAE-03BF-EC9B-917AF0BD5625}"/>
              </a:ext>
            </a:extLst>
          </p:cNvPr>
          <p:cNvSpPr>
            <a:spLocks noGrp="1"/>
          </p:cNvSpPr>
          <p:nvPr>
            <p:ph type="body" sz="quarter" idx="14"/>
          </p:nvPr>
        </p:nvSpPr>
        <p:spPr>
          <a:xfrm>
            <a:off x="836761" y="683879"/>
            <a:ext cx="7955280" cy="914400"/>
          </a:xfrm>
          <a:prstGeom prst="rect">
            <a:avLst/>
          </a:prstGeom>
        </p:spPr>
        <p:txBody>
          <a:bodyPr/>
          <a:lstStyle>
            <a:lvl1pPr marL="228600" indent="-228600">
              <a:buFont typeface="Wingdings" panose="05000000000000000000" pitchFamily="2" charset="2"/>
              <a:buChar char="ü"/>
              <a:defRPr b="1"/>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0228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836760" y="99565"/>
            <a:ext cx="8232971" cy="480131"/>
          </a:xfrm>
          <a:prstGeom prst="rect">
            <a:avLst/>
          </a:prstGeom>
        </p:spPr>
        <p:txBody>
          <a:bodyPr vert="horz" wrap="square" lIns="182880" tIns="45720" rIns="91440" bIns="45720" rtlCol="0" anchor="t" anchorCtr="0">
            <a:spAutoFit/>
          </a:bodyPr>
          <a:lstStyle/>
          <a:p>
            <a:pPr marL="0" lvl="0"/>
            <a:r>
              <a:rPr kumimoji="0" lang="en-US" sz="2800" b="1" i="0" u="none" strike="noStrike" kern="1200" cap="none" spc="0" normalizeH="0" baseline="0" noProof="0">
                <a:ln>
                  <a:noFill/>
                </a:ln>
                <a:solidFill>
                  <a:prstClr val="black"/>
                </a:solidFill>
                <a:effectLst/>
                <a:uLnTx/>
                <a:uFillTx/>
                <a:latin typeface="Arial" panose="020B0604020202020204"/>
                <a:ea typeface="+mj-ea"/>
                <a:cs typeface="+mj-cs"/>
              </a:rPr>
              <a:t>Click to edit Master title style – Arial 28pt Bold</a:t>
            </a:r>
            <a:endParaRPr lang="en-US"/>
          </a:p>
        </p:txBody>
      </p:sp>
      <p:sp>
        <p:nvSpPr>
          <p:cNvPr id="3" name="Text Placeholder 2"/>
          <p:cNvSpPr>
            <a:spLocks noGrp="1"/>
          </p:cNvSpPr>
          <p:nvPr>
            <p:ph type="body" idx="1"/>
          </p:nvPr>
        </p:nvSpPr>
        <p:spPr>
          <a:xfrm>
            <a:off x="836761" y="711257"/>
            <a:ext cx="7772400" cy="4351338"/>
          </a:xfrm>
          <a:prstGeom prst="rect">
            <a:avLst/>
          </a:prstGeom>
        </p:spPr>
        <p:txBody>
          <a:bodyPr vert="horz" lIns="91440" tIns="45720" rIns="91440" bIns="45720" rtlCol="0">
            <a:no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Arial" panose="020B060402020202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Arial" panose="020B060402020202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Arial" panose="020B060402020202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Fifth level</a:t>
            </a:r>
          </a:p>
          <a:p>
            <a:pPr lvl="4"/>
            <a:endParaRPr lang="en-US"/>
          </a:p>
        </p:txBody>
      </p:sp>
      <p:sp>
        <p:nvSpPr>
          <p:cNvPr id="7" name="Classification Top"/>
          <p:cNvSpPr txBox="1">
            <a:spLocks/>
          </p:cNvSpPr>
          <p:nvPr userDrawn="1"/>
        </p:nvSpPr>
        <p:spPr bwMode="white">
          <a:xfrm>
            <a:off x="781050" y="0"/>
            <a:ext cx="7886700" cy="107722"/>
          </a:xfrm>
          <a:prstGeom prst="rect">
            <a:avLst/>
          </a:prstGeom>
        </p:spPr>
        <p:txBody>
          <a:bodyPr vert="horz" lIns="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 b="1">
                <a:solidFill>
                  <a:schemeClr val="tx1"/>
                </a:solidFill>
              </a:rPr>
              <a:t>CUI</a:t>
            </a:r>
          </a:p>
        </p:txBody>
      </p:sp>
      <p:sp>
        <p:nvSpPr>
          <p:cNvPr id="33" name="Classification bottom"/>
          <p:cNvSpPr txBox="1"/>
          <p:nvPr userDrawn="1"/>
        </p:nvSpPr>
        <p:spPr bwMode="black">
          <a:xfrm>
            <a:off x="0" y="6753453"/>
            <a:ext cx="1188720" cy="107722"/>
          </a:xfrm>
          <a:prstGeom prst="rect">
            <a:avLst/>
          </a:prstGeom>
          <a:noFill/>
        </p:spPr>
        <p:txBody>
          <a:bodyPr wrap="none" lIns="45720" tIns="0" rIns="0" bIns="0" anchor="b" anchorCtr="0">
            <a:noAutofit/>
          </a:bodyPr>
          <a:lstStyle/>
          <a:p>
            <a:pPr>
              <a:defRPr/>
            </a:pPr>
            <a:r>
              <a:rPr lang="en-US" sz="700" b="1" kern="600">
                <a:solidFill>
                  <a:prstClr val="black"/>
                </a:solidFill>
                <a:cs typeface="Arial" panose="020B0604020202020204" pitchFamily="34" charset="0"/>
              </a:rPr>
              <a:t>CUI</a:t>
            </a:r>
          </a:p>
        </p:txBody>
      </p:sp>
      <p:grpSp>
        <p:nvGrpSpPr>
          <p:cNvPr id="4" name="Group 3"/>
          <p:cNvGrpSpPr/>
          <p:nvPr userDrawn="1"/>
        </p:nvGrpSpPr>
        <p:grpSpPr>
          <a:xfrm>
            <a:off x="7662672" y="6125553"/>
            <a:ext cx="1408176" cy="734917"/>
            <a:chOff x="7662672" y="6108192"/>
            <a:chExt cx="1408176" cy="734917"/>
          </a:xfrm>
        </p:grpSpPr>
        <p:sp>
          <p:nvSpPr>
            <p:cNvPr id="60" name="Round Same Side Corner Rectangle 59"/>
            <p:cNvSpPr/>
            <p:nvPr userDrawn="1"/>
          </p:nvSpPr>
          <p:spPr>
            <a:xfrm>
              <a:off x="7662672" y="6135624"/>
              <a:ext cx="1408176" cy="706828"/>
            </a:xfrm>
            <a:prstGeom prst="round2SameRect">
              <a:avLst>
                <a:gd name="adj1" fmla="val 9581"/>
                <a:gd name="adj2" fmla="val 0"/>
              </a:avLst>
            </a:prstGeom>
            <a:gradFill>
              <a:gsLst>
                <a:gs pos="59000">
                  <a:sysClr val="window" lastClr="FFFFFF">
                    <a:alpha val="20000"/>
                    <a:lumMod val="60000"/>
                  </a:sysClr>
                </a:gs>
                <a:gs pos="67000">
                  <a:sysClr val="window" lastClr="FFFFFF">
                    <a:alpha val="20000"/>
                  </a:sysClr>
                </a:gs>
                <a:gs pos="100000">
                  <a:sysClr val="window" lastClr="FFFFFF">
                    <a:alpha val="20000"/>
                    <a:lumMod val="20000"/>
                  </a:sysClr>
                </a:gs>
                <a:gs pos="23000">
                  <a:sysClr val="windowText" lastClr="000000">
                    <a:lumMod val="52000"/>
                    <a:lumOff val="48000"/>
                    <a:alpha val="20000"/>
                  </a:sysClr>
                </a:gs>
                <a:gs pos="9000">
                  <a:sysClr val="windowText" lastClr="000000">
                    <a:alpha val="20000"/>
                    <a:lumMod val="0"/>
                    <a:lumOff val="100000"/>
                  </a:sysClr>
                </a:gs>
                <a:gs pos="35000">
                  <a:sysClr val="windowText" lastClr="000000">
                    <a:lumMod val="95000"/>
                    <a:lumOff val="5000"/>
                    <a:alpha val="20000"/>
                  </a:sysClr>
                </a:gs>
                <a:gs pos="43000">
                  <a:sysClr val="window" lastClr="FFFFFF">
                    <a:alpha val="20000"/>
                    <a:lumMod val="100000"/>
                  </a:sysClr>
                </a:gs>
              </a:gsLst>
              <a:lin ang="33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71" name="Round Same Side Corner Rectangle 70"/>
            <p:cNvSpPr/>
            <p:nvPr userDrawn="1"/>
          </p:nvSpPr>
          <p:spPr>
            <a:xfrm>
              <a:off x="7666210" y="6108192"/>
              <a:ext cx="1399032" cy="731520"/>
            </a:xfrm>
            <a:prstGeom prst="round2SameRect">
              <a:avLst>
                <a:gd name="adj1" fmla="val 9581"/>
                <a:gd name="adj2" fmla="val 0"/>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72" name="Round Same Side Corner Rectangle 71"/>
            <p:cNvSpPr/>
            <p:nvPr userDrawn="1"/>
          </p:nvSpPr>
          <p:spPr>
            <a:xfrm>
              <a:off x="7662672" y="6136281"/>
              <a:ext cx="1408176" cy="706828"/>
            </a:xfrm>
            <a:prstGeom prst="round2SameRect">
              <a:avLst>
                <a:gd name="adj1" fmla="val 9581"/>
                <a:gd name="adj2" fmla="val 0"/>
              </a:avLst>
            </a:prstGeom>
            <a:gradFill>
              <a:gsLst>
                <a:gs pos="0">
                  <a:sysClr val="windowText" lastClr="000000">
                    <a:lumMod val="52000"/>
                    <a:lumOff val="48000"/>
                    <a:alpha val="17000"/>
                  </a:sysClr>
                </a:gs>
                <a:gs pos="68000">
                  <a:sysClr val="windowText" lastClr="000000">
                    <a:lumMod val="95000"/>
                    <a:lumOff val="5000"/>
                    <a:alpha val="20000"/>
                  </a:sysClr>
                </a:gs>
                <a:gs pos="34000">
                  <a:sysClr val="windowText" lastClr="000000">
                    <a:lumMod val="85000"/>
                    <a:lumOff val="15000"/>
                    <a:alpha val="20000"/>
                  </a:sysClr>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61" name="Round Same Side Corner Rectangle 60"/>
            <p:cNvSpPr/>
            <p:nvPr userDrawn="1"/>
          </p:nvSpPr>
          <p:spPr>
            <a:xfrm>
              <a:off x="7662672" y="6135624"/>
              <a:ext cx="1408176" cy="706828"/>
            </a:xfrm>
            <a:prstGeom prst="round2SameRect">
              <a:avLst>
                <a:gd name="adj1" fmla="val 9581"/>
                <a:gd name="adj2" fmla="val 0"/>
              </a:avLst>
            </a:prstGeom>
            <a:gradFill>
              <a:gsLst>
                <a:gs pos="73000">
                  <a:sysClr val="window" lastClr="FFFFFF">
                    <a:lumMod val="75000"/>
                  </a:sysClr>
                </a:gs>
                <a:gs pos="91000">
                  <a:srgbClr val="7F7F7F"/>
                </a:gs>
                <a:gs pos="0">
                  <a:sysClr val="window" lastClr="FFFFFF">
                    <a:lumMod val="85000"/>
                  </a:sysClr>
                </a:gs>
                <a:gs pos="13000">
                  <a:sysClr val="window" lastClr="FFFFFF">
                    <a:lumMod val="95000"/>
                  </a:sysClr>
                </a:gs>
                <a:gs pos="34000">
                  <a:sysClr val="window" lastClr="FFFFFF">
                    <a:lumMod val="75000"/>
                  </a:sysClr>
                </a:gs>
                <a:gs pos="100000">
                  <a:sysClr val="windowText" lastClr="000000">
                    <a:lumMod val="50000"/>
                    <a:lumOff val="50000"/>
                  </a:sysClr>
                </a:gs>
                <a:gs pos="48000">
                  <a:sysClr val="window" lastClr="FFFFFF">
                    <a:lumMod val="95000"/>
                  </a:sysClr>
                </a:gs>
              </a:gsLst>
              <a:lin ang="42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grpSp>
          <p:nvGrpSpPr>
            <p:cNvPr id="74" name="AMC"/>
            <p:cNvGrpSpPr>
              <a:grpSpLocks noChangeAspect="1"/>
            </p:cNvGrpSpPr>
            <p:nvPr userDrawn="1"/>
          </p:nvGrpSpPr>
          <p:grpSpPr bwMode="auto">
            <a:xfrm>
              <a:off x="7857433" y="6251059"/>
              <a:ext cx="398631" cy="467776"/>
              <a:chOff x="3311" y="1094"/>
              <a:chExt cx="1816" cy="2131"/>
            </a:xfrm>
          </p:grpSpPr>
          <p:sp>
            <p:nvSpPr>
              <p:cNvPr id="75" name="WHITE bkgrnd"/>
              <p:cNvSpPr>
                <a:spLocks/>
              </p:cNvSpPr>
              <p:nvPr/>
            </p:nvSpPr>
            <p:spPr bwMode="auto">
              <a:xfrm>
                <a:off x="3333" y="1116"/>
                <a:ext cx="1772" cy="2086"/>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solidFill>
                    <a:prstClr val="black"/>
                  </a:solidFill>
                  <a:latin typeface="Adobe Garamond Pro" panose="02020502060506020403" pitchFamily="18" charset="0"/>
                </a:endParaRPr>
              </a:p>
            </p:txBody>
          </p:sp>
          <p:sp>
            <p:nvSpPr>
              <p:cNvPr id="76" name="BLACK outline"/>
              <p:cNvSpPr>
                <a:spLocks noEditPoints="1"/>
              </p:cNvSpPr>
              <p:nvPr/>
            </p:nvSpPr>
            <p:spPr bwMode="auto">
              <a:xfrm>
                <a:off x="3311" y="1094"/>
                <a:ext cx="1816" cy="2131"/>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solidFill>
                    <a:prstClr val="black"/>
                  </a:solidFill>
                  <a:latin typeface="Adobe Garamond Pro" panose="02020502060506020403" pitchFamily="18" charset="0"/>
                </a:endParaRPr>
              </a:p>
            </p:txBody>
          </p:sp>
          <p:sp>
            <p:nvSpPr>
              <p:cNvPr id="77" name="BLUE"/>
              <p:cNvSpPr>
                <a:spLocks/>
              </p:cNvSpPr>
              <p:nvPr/>
            </p:nvSpPr>
            <p:spPr bwMode="auto">
              <a:xfrm>
                <a:off x="4219" y="1369"/>
                <a:ext cx="797" cy="1744"/>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solidFill>
                    <a:prstClr val="black"/>
                  </a:solidFill>
                  <a:latin typeface="Adobe Garamond Pro" panose="02020502060506020403" pitchFamily="18" charset="0"/>
                </a:endParaRPr>
              </a:p>
            </p:txBody>
          </p:sp>
          <p:sp>
            <p:nvSpPr>
              <p:cNvPr id="78" name="RED"/>
              <p:cNvSpPr>
                <a:spLocks/>
              </p:cNvSpPr>
              <p:nvPr/>
            </p:nvSpPr>
            <p:spPr bwMode="auto">
              <a:xfrm>
                <a:off x="3422" y="1369"/>
                <a:ext cx="797" cy="1744"/>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solidFill>
                    <a:prstClr val="black"/>
                  </a:solidFill>
                  <a:latin typeface="Adobe Garamond Pro" panose="02020502060506020403" pitchFamily="18" charset="0"/>
                </a:endParaRPr>
              </a:p>
            </p:txBody>
          </p:sp>
        </p:grpSp>
      </p:grpSp>
      <p:pic>
        <p:nvPicPr>
          <p:cNvPr id="5" name="Picture 4" descr="Logo&#10;&#10;Description automatically generated">
            <a:extLst>
              <a:ext uri="{FF2B5EF4-FFF2-40B4-BE49-F238E27FC236}">
                <a16:creationId xmlns:a16="http://schemas.microsoft.com/office/drawing/2014/main" id="{18416AC3-C637-8923-68C1-1E20A1108A8A}"/>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8849" y="107722"/>
            <a:ext cx="534988" cy="668551"/>
          </a:xfrm>
          <a:prstGeom prst="rect">
            <a:avLst/>
          </a:prstGeom>
        </p:spPr>
      </p:pic>
      <p:pic>
        <p:nvPicPr>
          <p:cNvPr id="11" name="Picture 10" descr="Logo&#10;&#10;Description automatically generated">
            <a:extLst>
              <a:ext uri="{FF2B5EF4-FFF2-40B4-BE49-F238E27FC236}">
                <a16:creationId xmlns:a16="http://schemas.microsoft.com/office/drawing/2014/main" id="{07F82492-D803-D9F1-BC54-87F8167A88A9}"/>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425211" y="6255085"/>
            <a:ext cx="485078" cy="498368"/>
          </a:xfrm>
          <a:prstGeom prst="rect">
            <a:avLst/>
          </a:prstGeom>
        </p:spPr>
      </p:pic>
    </p:spTree>
    <p:extLst>
      <p:ext uri="{BB962C8B-B14F-4D97-AF65-F5344CB8AC3E}">
        <p14:creationId xmlns:p14="http://schemas.microsoft.com/office/powerpoint/2010/main" val="252263355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2" r:id="rId3"/>
    <p:sldLayoutId id="2147483715" r:id="rId4"/>
    <p:sldLayoutId id="2147483716" r:id="rId5"/>
  </p:sldLayoutIdLst>
  <p:transition spd="slow">
    <p:fade/>
  </p:transition>
  <p:hf sldNum="0" hdr="0" ftr="0" dt="0"/>
  <p:txStyles>
    <p:titleStyle>
      <a:lvl1pPr marL="0" algn="l" defTabSz="914400" rtl="0" eaLnBrk="1" latinLnBrk="0" hangingPunct="1">
        <a:lnSpc>
          <a:spcPct val="90000"/>
        </a:lnSpc>
        <a:spcBef>
          <a:spcPct val="0"/>
        </a:spcBef>
        <a:buNone/>
        <a:defRPr lang="en-US" sz="2800" b="1" kern="1200" dirty="0">
          <a:solidFill>
            <a:srgbClr val="7F7F73"/>
          </a:solidFill>
          <a:latin typeface="Arial" panose="020B0604020202020204" pitchFamily="34" charset="0"/>
          <a:ea typeface="+mj-ea"/>
          <a:cs typeface="Arial" panose="020B0604020202020204" pitchFamily="34" charset="0"/>
        </a:defRPr>
      </a:lvl1pPr>
    </p:titleStyle>
    <p:bodyStyle>
      <a:lvl1pPr marL="228600" marR="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lang="en-US" sz="2400" b="1" kern="1200" dirty="0" smtClean="0">
          <a:solidFill>
            <a:schemeClr val="tx1"/>
          </a:solidFill>
          <a:latin typeface="Arial" panose="020B0604020202020204" pitchFamily="34" charset="0"/>
          <a:ea typeface="+mn-ea"/>
          <a:cs typeface="Arial" panose="020B0604020202020204" pitchFamily="34" charset="0"/>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4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0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574675" indent="-228600" algn="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792">
          <p15:clr>
            <a:srgbClr val="F26B43"/>
          </p15:clr>
        </p15:guide>
        <p15:guide id="3" pos="5352">
          <p15:clr>
            <a:srgbClr val="F26B43"/>
          </p15:clr>
        </p15:guide>
        <p15:guide id="4" orient="horz" pos="1104">
          <p15:clr>
            <a:srgbClr val="F26B43"/>
          </p15:clr>
        </p15:guide>
        <p15:guide id="5" orient="horz" pos="2376">
          <p15:clr>
            <a:srgbClr val="F26B43"/>
          </p15:clr>
        </p15:guide>
        <p15:guide id="6" orient="horz" pos="3432">
          <p15:clr>
            <a:srgbClr val="F26B43"/>
          </p15:clr>
        </p15:guide>
        <p15:guide id="7" pos="5760">
          <p15:clr>
            <a:srgbClr val="F26B43"/>
          </p15:clr>
        </p15:guide>
        <p15:guide id="8" orient="horz">
          <p15:clr>
            <a:srgbClr val="F26B43"/>
          </p15:clr>
        </p15:guide>
        <p15:guide id="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5.jpg"/><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19.jpg"/><Relationship Id="rId4" Type="http://schemas.openxmlformats.org/officeDocument/2006/relationships/image" Target="../media/image18.jp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www.sam.gov/"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hyperlink" Target="https://eportal.nspa.nato.int/AC135Public/default.aspx" TargetMode="External"/><Relationship Id="rId4" Type="http://schemas.openxmlformats.org/officeDocument/2006/relationships/hyperlink" Target="https://cage.dla.mil/Home/UsageAgree"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hyperlink" Target="http://www.dlis.dla.mil/Forms/Form_AC135.asp"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http://acquisition.gov/"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2A31E3AC-971F-4130-3846-D8CF0239C602}"/>
              </a:ext>
            </a:extLst>
          </p:cNvPr>
          <p:cNvSpPr txBox="1">
            <a:spLocks/>
          </p:cNvSpPr>
          <p:nvPr/>
        </p:nvSpPr>
        <p:spPr>
          <a:xfrm>
            <a:off x="3459192" y="6661630"/>
            <a:ext cx="2225616" cy="18466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A3C3F5D-9F0A-4D26-898B-10DC4C85EEE6}" type="slidenum">
              <a:rPr lang="en-US" smtClean="0"/>
              <a:pPr/>
              <a:t>1</a:t>
            </a:fld>
            <a:endParaRPr lang="en-US" dirty="0"/>
          </a:p>
        </p:txBody>
      </p:sp>
      <p:pic>
        <p:nvPicPr>
          <p:cNvPr id="5" name="Picture 4">
            <a:extLst>
              <a:ext uri="{FF2B5EF4-FFF2-40B4-BE49-F238E27FC236}">
                <a16:creationId xmlns:a16="http://schemas.microsoft.com/office/drawing/2014/main" id="{BA14133B-D33C-4871-1EE8-753484449EBE}"/>
              </a:ext>
            </a:extLst>
          </p:cNvPr>
          <p:cNvPicPr>
            <a:picLocks noChangeAspect="1"/>
          </p:cNvPicPr>
          <p:nvPr/>
        </p:nvPicPr>
        <p:blipFill>
          <a:blip r:embed="rId3"/>
          <a:stretch>
            <a:fillRect/>
          </a:stretch>
        </p:blipFill>
        <p:spPr>
          <a:xfrm>
            <a:off x="0" y="0"/>
            <a:ext cx="9144000" cy="6858000"/>
          </a:xfrm>
          <a:prstGeom prst="rect">
            <a:avLst/>
          </a:prstGeom>
        </p:spPr>
      </p:pic>
      <p:sp>
        <p:nvSpPr>
          <p:cNvPr id="6" name="TextBox 5">
            <a:extLst>
              <a:ext uri="{FF2B5EF4-FFF2-40B4-BE49-F238E27FC236}">
                <a16:creationId xmlns:a16="http://schemas.microsoft.com/office/drawing/2014/main" id="{86B29E87-13C0-72A5-C10D-068E86658358}"/>
              </a:ext>
            </a:extLst>
          </p:cNvPr>
          <p:cNvSpPr txBox="1"/>
          <p:nvPr/>
        </p:nvSpPr>
        <p:spPr>
          <a:xfrm>
            <a:off x="1994458" y="4504576"/>
            <a:ext cx="4784713" cy="1015663"/>
          </a:xfrm>
          <a:prstGeom prst="rect">
            <a:avLst/>
          </a:prstGeom>
          <a:noFill/>
          <a:effectLst>
            <a:outerShdw blurRad="50800" dist="38100" dir="5400000" algn="t" rotWithShape="0">
              <a:prstClr val="black">
                <a:alpha val="40000"/>
              </a:prstClr>
            </a:outerShdw>
          </a:effectLst>
        </p:spPr>
        <p:txBody>
          <a:bodyPr wrap="square" rtlCol="0">
            <a:spAutoFit/>
          </a:bodyPr>
          <a:lstStyle/>
          <a:p>
            <a:pPr lvl="0" algn="ctr">
              <a:defRPr/>
            </a:pPr>
            <a:r>
              <a:rPr lang="en-US" sz="1400" b="1" dirty="0">
                <a:solidFill>
                  <a:prstClr val="white"/>
                </a:solidFill>
                <a:cs typeface="Arial Bold" panose="020B0704020202020204" pitchFamily="34" charset="0"/>
              </a:rPr>
              <a:t>414</a:t>
            </a:r>
            <a:r>
              <a:rPr lang="en-US" sz="1400" b="1" baseline="30000" dirty="0">
                <a:solidFill>
                  <a:prstClr val="white"/>
                </a:solidFill>
                <a:cs typeface="Arial Bold" panose="020B0704020202020204" pitchFamily="34" charset="0"/>
              </a:rPr>
              <a:t>th</a:t>
            </a:r>
            <a:r>
              <a:rPr lang="en-US" sz="1400" b="1" dirty="0">
                <a:solidFill>
                  <a:prstClr val="white"/>
                </a:solidFill>
                <a:cs typeface="Arial Bold" panose="020B0704020202020204" pitchFamily="34" charset="0"/>
              </a:rPr>
              <a:t> Contracting Support Brigade</a:t>
            </a:r>
          </a:p>
          <a:p>
            <a:pPr lvl="0" algn="ctr">
              <a:defRPr/>
            </a:pPr>
            <a:r>
              <a:rPr lang="en-US" sz="1600" b="1" dirty="0">
                <a:solidFill>
                  <a:prstClr val="white"/>
                </a:solidFill>
                <a:cs typeface="Arial Bold" panose="020B0704020202020204" pitchFamily="34" charset="0"/>
              </a:rPr>
              <a:t>Contracting Officer: Cappello, Sebastiana</a:t>
            </a:r>
          </a:p>
          <a:p>
            <a:pPr lvl="0" algn="ctr">
              <a:defRPr/>
            </a:pPr>
            <a:r>
              <a:rPr lang="en-US" sz="1600" b="1" dirty="0">
                <a:solidFill>
                  <a:prstClr val="white"/>
                </a:solidFill>
                <a:cs typeface="Arial Bold" panose="020B0704020202020204" pitchFamily="34" charset="0"/>
              </a:rPr>
              <a:t>Contract Specialist: SSG Anglin, Lew</a:t>
            </a:r>
            <a:r>
              <a:rPr lang="en-US" sz="1200" b="1" dirty="0">
                <a:solidFill>
                  <a:prstClr val="white"/>
                </a:solidFill>
                <a:effectLst>
                  <a:outerShdw blurRad="38100" dist="38100" dir="2700000" algn="tl">
                    <a:srgbClr val="000000">
                      <a:alpha val="43137"/>
                    </a:srgbClr>
                  </a:outerShdw>
                </a:effectLst>
                <a:latin typeface="G.I. 530" pitchFamily="2" charset="0"/>
                <a:cs typeface="Arial" pitchFamily="34"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G.I. 530" pitchFamily="2" charset="0"/>
              <a:cs typeface="Arial" pitchFamily="34" charset="0"/>
            </a:endParaRPr>
          </a:p>
        </p:txBody>
      </p:sp>
      <p:sp>
        <p:nvSpPr>
          <p:cNvPr id="7" name="Title 1">
            <a:extLst>
              <a:ext uri="{FF2B5EF4-FFF2-40B4-BE49-F238E27FC236}">
                <a16:creationId xmlns:a16="http://schemas.microsoft.com/office/drawing/2014/main" id="{00059121-D0AC-F2E7-4D4C-1084A3164EEE}"/>
              </a:ext>
            </a:extLst>
          </p:cNvPr>
          <p:cNvSpPr txBox="1">
            <a:spLocks/>
          </p:cNvSpPr>
          <p:nvPr/>
        </p:nvSpPr>
        <p:spPr>
          <a:xfrm>
            <a:off x="3240481" y="3793160"/>
            <a:ext cx="4478214" cy="498598"/>
          </a:xfrm>
          <a:prstGeom prst="rect">
            <a:avLst/>
          </a:prstGeom>
        </p:spPr>
        <p:txBody>
          <a:bodyPr/>
          <a:lstStyle>
            <a:lvl1pPr marL="0" algn="l" defTabSz="914400" rtl="0" eaLnBrk="1" latinLnBrk="0" hangingPunct="1">
              <a:lnSpc>
                <a:spcPct val="90000"/>
              </a:lnSpc>
              <a:spcBef>
                <a:spcPct val="0"/>
              </a:spcBef>
              <a:buNone/>
              <a:defRPr lang="en-US" sz="2800" b="1" kern="1200" dirty="0">
                <a:solidFill>
                  <a:srgbClr val="7F7F73"/>
                </a:solidFill>
                <a:latin typeface="Arial" panose="020B0604020202020204" pitchFamily="34" charset="0"/>
                <a:ea typeface="+mj-ea"/>
                <a:cs typeface="Arial" panose="020B0604020202020204" pitchFamily="34" charset="0"/>
              </a:defRPr>
            </a:lvl1pPr>
          </a:lstStyle>
          <a:p>
            <a:endParaRPr lang="en-US" sz="2000" dirty="0">
              <a:solidFill>
                <a:schemeClr val="tx1"/>
              </a:solidFill>
              <a:effectLst>
                <a:outerShdw blurRad="38100" dist="38100" dir="2700000" algn="tl">
                  <a:srgbClr val="000000">
                    <a:alpha val="43137"/>
                  </a:srgbClr>
                </a:outerShdw>
              </a:effectLst>
              <a:highlight>
                <a:srgbClr val="F8E533"/>
              </a:highlight>
              <a:latin typeface="G.I. 750" pitchFamily="2" charset="0"/>
            </a:endParaRPr>
          </a:p>
        </p:txBody>
      </p:sp>
      <p:pic>
        <p:nvPicPr>
          <p:cNvPr id="10" name="Picture 9" descr="Logo&#10;&#10;Description automatically generated">
            <a:extLst>
              <a:ext uri="{FF2B5EF4-FFF2-40B4-BE49-F238E27FC236}">
                <a16:creationId xmlns:a16="http://schemas.microsoft.com/office/drawing/2014/main" id="{9A2239B1-E685-4E2A-3808-1827BC103CC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96608" y="91746"/>
            <a:ext cx="1784418" cy="1784418"/>
          </a:xfrm>
          <a:prstGeom prst="rect">
            <a:avLst/>
          </a:prstGeom>
        </p:spPr>
      </p:pic>
      <p:sp>
        <p:nvSpPr>
          <p:cNvPr id="3" name="TextBox 2">
            <a:extLst>
              <a:ext uri="{FF2B5EF4-FFF2-40B4-BE49-F238E27FC236}">
                <a16:creationId xmlns:a16="http://schemas.microsoft.com/office/drawing/2014/main" id="{7D6D7C5D-5726-1E38-67D4-685E612351C0}"/>
              </a:ext>
            </a:extLst>
          </p:cNvPr>
          <p:cNvSpPr txBox="1"/>
          <p:nvPr/>
        </p:nvSpPr>
        <p:spPr>
          <a:xfrm>
            <a:off x="7587343" y="6292298"/>
            <a:ext cx="1467068" cy="369332"/>
          </a:xfrm>
          <a:prstGeom prst="rect">
            <a:avLst/>
          </a:prstGeom>
          <a:noFill/>
          <a:effectLst>
            <a:outerShdw blurRad="50800" dist="38100" dir="5400000" algn="t" rotWithShape="0">
              <a:prstClr val="black">
                <a:alpha val="40000"/>
              </a:prstClr>
            </a:outerShdw>
          </a:effectLst>
        </p:spPr>
        <p:txBody>
          <a:bodyPr wrap="none" rtlCol="0">
            <a:spAutoFit/>
          </a:bodyPr>
          <a:lstStyle/>
          <a:p>
            <a:r>
              <a:rPr lang="en-US" dirty="0">
                <a:solidFill>
                  <a:schemeClr val="bg1"/>
                </a:solidFill>
              </a:rPr>
              <a:t>26MAR2026</a:t>
            </a:r>
          </a:p>
        </p:txBody>
      </p:sp>
      <p:sp>
        <p:nvSpPr>
          <p:cNvPr id="2" name="Title 1">
            <a:extLst>
              <a:ext uri="{FF2B5EF4-FFF2-40B4-BE49-F238E27FC236}">
                <a16:creationId xmlns:a16="http://schemas.microsoft.com/office/drawing/2014/main" id="{8B0F3282-80C9-499E-AA44-F80DF6656ABF}"/>
              </a:ext>
            </a:extLst>
          </p:cNvPr>
          <p:cNvSpPr txBox="1">
            <a:spLocks/>
          </p:cNvSpPr>
          <p:nvPr/>
        </p:nvSpPr>
        <p:spPr>
          <a:xfrm>
            <a:off x="519343" y="3186626"/>
            <a:ext cx="8105313" cy="484748"/>
          </a:xfrm>
          <a:prstGeom prst="rect">
            <a:avLst/>
          </a:prstGeom>
        </p:spPr>
        <p:txBody>
          <a:bodyPr lIns="91440" tIns="45720" rIns="91440" bIns="45720" anchor="t"/>
          <a:lstStyle>
            <a:lvl1pPr marL="0" algn="l" defTabSz="914400" rtl="0" eaLnBrk="1" latinLnBrk="0" hangingPunct="1">
              <a:lnSpc>
                <a:spcPct val="90000"/>
              </a:lnSpc>
              <a:spcBef>
                <a:spcPct val="0"/>
              </a:spcBef>
              <a:buNone/>
              <a:defRPr lang="en-US" sz="2800" b="1" kern="1200" dirty="0">
                <a:solidFill>
                  <a:srgbClr val="7F7F73"/>
                </a:solidFill>
                <a:latin typeface="Arial" panose="020B0604020202020204" pitchFamily="34" charset="0"/>
                <a:ea typeface="+mj-ea"/>
                <a:cs typeface="Arial" panose="020B0604020202020204" pitchFamily="34" charset="0"/>
              </a:defRPr>
            </a:lvl1pPr>
          </a:lstStyle>
          <a:p>
            <a:pPr lvl="0">
              <a:lnSpc>
                <a:spcPct val="100000"/>
              </a:lnSpc>
              <a:spcBef>
                <a:spcPts val="0"/>
              </a:spcBef>
              <a:defRPr/>
            </a:pPr>
            <a:r>
              <a:rPr lang="en-US" dirty="0">
                <a:solidFill>
                  <a:prstClr val="white"/>
                </a:solidFill>
              </a:rPr>
              <a:t>JOC Pre-Proposal Conference - 26 March 2026 </a:t>
            </a:r>
          </a:p>
        </p:txBody>
      </p:sp>
    </p:spTree>
    <p:extLst>
      <p:ext uri="{BB962C8B-B14F-4D97-AF65-F5344CB8AC3E}">
        <p14:creationId xmlns:p14="http://schemas.microsoft.com/office/powerpoint/2010/main" val="1263441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
            <a:extLst>
              <a:ext uri="{FF2B5EF4-FFF2-40B4-BE49-F238E27FC236}">
                <a16:creationId xmlns:a16="http://schemas.microsoft.com/office/drawing/2014/main" id="{286F5BF4-FD0A-F5AF-F223-173E9D03BDC7}"/>
              </a:ext>
            </a:extLst>
          </p:cNvPr>
          <p:cNvSpPr txBox="1">
            <a:spLocks/>
          </p:cNvSpPr>
          <p:nvPr/>
        </p:nvSpPr>
        <p:spPr>
          <a:xfrm>
            <a:off x="3874903" y="6525092"/>
            <a:ext cx="990600" cy="24622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sz="700" kern="600">
              <a:solidFill>
                <a:prstClr val="black"/>
              </a:solidFill>
              <a:latin typeface="Arial Bold" panose="020B0704020202020204" pitchFamily="34" charset="0"/>
              <a:cs typeface="Arial Bold" panose="020B0704020202020204" pitchFamily="34" charset="0"/>
            </a:endParaRPr>
          </a:p>
        </p:txBody>
      </p:sp>
      <p:sp>
        <p:nvSpPr>
          <p:cNvPr id="9" name="TextBox 8">
            <a:extLst>
              <a:ext uri="{FF2B5EF4-FFF2-40B4-BE49-F238E27FC236}">
                <a16:creationId xmlns:a16="http://schemas.microsoft.com/office/drawing/2014/main" id="{5A344CFA-B4FC-B5CA-A43B-655A4A0370BA}"/>
              </a:ext>
            </a:extLst>
          </p:cNvPr>
          <p:cNvSpPr txBox="1"/>
          <p:nvPr/>
        </p:nvSpPr>
        <p:spPr>
          <a:xfrm>
            <a:off x="3523475" y="6418990"/>
            <a:ext cx="2097049" cy="261610"/>
          </a:xfrm>
          <a:prstGeom prst="rect">
            <a:avLst/>
          </a:prstGeom>
          <a:noFill/>
        </p:spPr>
        <p:txBody>
          <a:bodyPr wrap="none" rtlCol="0">
            <a:spAutoFit/>
          </a:bodyPr>
          <a:lstStyle/>
          <a:p>
            <a:r>
              <a:rPr lang="en-US" sz="1100" dirty="0"/>
              <a:t>Prepared by: SSG Anglin, Lew</a:t>
            </a:r>
          </a:p>
        </p:txBody>
      </p:sp>
      <p:sp>
        <p:nvSpPr>
          <p:cNvPr id="2" name="TextBox 1">
            <a:extLst>
              <a:ext uri="{FF2B5EF4-FFF2-40B4-BE49-F238E27FC236}">
                <a16:creationId xmlns:a16="http://schemas.microsoft.com/office/drawing/2014/main" id="{D60EBEF5-52AD-1C55-CA28-7AB64BFAEEB2}"/>
              </a:ext>
            </a:extLst>
          </p:cNvPr>
          <p:cNvSpPr txBox="1"/>
          <p:nvPr/>
        </p:nvSpPr>
        <p:spPr>
          <a:xfrm>
            <a:off x="820565" y="177400"/>
            <a:ext cx="7603587" cy="523220"/>
          </a:xfrm>
          <a:prstGeom prst="rect">
            <a:avLst/>
          </a:prstGeom>
          <a:noFill/>
        </p:spPr>
        <p:txBody>
          <a:bodyPr wrap="square" rtlCol="0">
            <a:spAutoFit/>
          </a:bodyPr>
          <a:lstStyle/>
          <a:p>
            <a:pPr algn="ctr"/>
            <a:r>
              <a:rPr lang="en-US" sz="2800" b="1" dirty="0"/>
              <a:t>Ground Rules and Procedures</a:t>
            </a:r>
          </a:p>
        </p:txBody>
      </p:sp>
      <p:sp>
        <p:nvSpPr>
          <p:cNvPr id="4" name="TextBox 3">
            <a:extLst>
              <a:ext uri="{FF2B5EF4-FFF2-40B4-BE49-F238E27FC236}">
                <a16:creationId xmlns:a16="http://schemas.microsoft.com/office/drawing/2014/main" id="{ECCA15CB-5D8A-AA3E-CBA9-5CF24AA7211D}"/>
              </a:ext>
            </a:extLst>
          </p:cNvPr>
          <p:cNvSpPr txBox="1"/>
          <p:nvPr/>
        </p:nvSpPr>
        <p:spPr>
          <a:xfrm>
            <a:off x="438628" y="1718446"/>
            <a:ext cx="8451542" cy="4062651"/>
          </a:xfrm>
          <a:prstGeom prst="rect">
            <a:avLst/>
          </a:prstGeom>
          <a:noFill/>
        </p:spPr>
        <p:txBody>
          <a:bodyPr wrap="square" rtlCol="0">
            <a:spAutoFit/>
          </a:bodyPr>
          <a:lstStyle/>
          <a:p>
            <a:pPr marL="342900" indent="-342900">
              <a:buAutoNum type="arabicPeriod"/>
            </a:pPr>
            <a:r>
              <a:rPr lang="en-US" sz="1600" dirty="0"/>
              <a:t>Keep side conversations to a minimum.</a:t>
            </a:r>
          </a:p>
          <a:p>
            <a:pPr marL="342900" indent="-342900">
              <a:buAutoNum type="arabicPeriod"/>
            </a:pPr>
            <a:endParaRPr lang="en-US" sz="1600" dirty="0"/>
          </a:p>
          <a:p>
            <a:pPr marL="342900" indent="-342900">
              <a:buAutoNum type="arabicPeriod"/>
            </a:pPr>
            <a:r>
              <a:rPr lang="en-US" sz="1600" dirty="0"/>
              <a:t>Take notes and save question(s) until called upon. </a:t>
            </a:r>
          </a:p>
          <a:p>
            <a:endParaRPr lang="en-US" sz="1600" dirty="0"/>
          </a:p>
          <a:p>
            <a:r>
              <a:rPr lang="en-US" sz="1600" dirty="0"/>
              <a:t>3.   </a:t>
            </a:r>
            <a:r>
              <a:rPr lang="en-US" sz="1600" b="1" dirty="0"/>
              <a:t>No technical discussions will be held in this conference.</a:t>
            </a:r>
          </a:p>
          <a:p>
            <a:pPr marL="342900" indent="-342900">
              <a:buAutoNum type="arabicPeriod"/>
            </a:pPr>
            <a:endParaRPr lang="en-US" sz="1600" dirty="0"/>
          </a:p>
          <a:p>
            <a:r>
              <a:rPr lang="en-US" sz="1600" dirty="0"/>
              <a:t>4.    All question(s) will need to be in accordance with:</a:t>
            </a:r>
          </a:p>
          <a:p>
            <a:r>
              <a:rPr lang="en-US" sz="1600" dirty="0"/>
              <a:t> </a:t>
            </a:r>
          </a:p>
          <a:p>
            <a:pPr marL="742950" lvl="1" indent="-285750">
              <a:buFont typeface="Arial" panose="020B0604020202020204" pitchFamily="34" charset="0"/>
              <a:buChar char="•"/>
            </a:pPr>
            <a:r>
              <a:rPr lang="en-US" sz="1600" b="1" dirty="0"/>
              <a:t>L.1.7* Questions and Answers (Q&amp;A): </a:t>
            </a:r>
            <a:r>
              <a:rPr lang="en-US" sz="1600" dirty="0"/>
              <a:t>Offerors may submit questions as part of the Q&amp;A period to the primary POCs (see section L.1.5) no later 01 April 2026, 11:00 AM Central European Time (CET). In accordance with the RFO's goal of streamlined communication, the Government will provide responses via the "Addendum/Notice" feature on https://sam.gov.</a:t>
            </a:r>
            <a:endParaRPr lang="en-US" sz="2000" dirty="0"/>
          </a:p>
          <a:p>
            <a:pPr lvl="8"/>
            <a:endParaRPr lang="en-US" sz="2000" dirty="0"/>
          </a:p>
          <a:p>
            <a:pPr marL="0" lvl="8"/>
            <a:r>
              <a:rPr lang="en-US" sz="1500" dirty="0"/>
              <a:t>*Refer to selection L.1.7 can be found in </a:t>
            </a:r>
            <a:r>
              <a:rPr kumimoji="0" lang="en-US" sz="1500" b="0" i="0" u="none" strike="noStrike" kern="1200" cap="none" spc="0" normalizeH="0" baseline="0" noProof="0" dirty="0">
                <a:ln>
                  <a:noFill/>
                </a:ln>
                <a:solidFill>
                  <a:prstClr val="black"/>
                </a:solidFill>
                <a:effectLst/>
                <a:uLnTx/>
                <a:uFillTx/>
                <a:latin typeface="Arial" panose="020B0604020202020204"/>
                <a:ea typeface="+mn-ea"/>
                <a:cs typeface="+mn-cs"/>
              </a:rPr>
              <a:t>Amendment</a:t>
            </a:r>
            <a:r>
              <a:rPr lang="en-US" sz="1500" dirty="0"/>
              <a:t> W912PF26RA002 001 for additional instruction.</a:t>
            </a:r>
          </a:p>
        </p:txBody>
      </p:sp>
    </p:spTree>
    <p:extLst>
      <p:ext uri="{BB962C8B-B14F-4D97-AF65-F5344CB8AC3E}">
        <p14:creationId xmlns:p14="http://schemas.microsoft.com/office/powerpoint/2010/main" val="2986121654"/>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D2C4E-4EA7-8953-607D-CE33745B43D1}"/>
            </a:ext>
          </a:extLst>
        </p:cNvPr>
        <p:cNvGrpSpPr/>
        <p:nvPr/>
      </p:nvGrpSpPr>
      <p:grpSpPr>
        <a:xfrm>
          <a:off x="0" y="0"/>
          <a:ext cx="0" cy="0"/>
          <a:chOff x="0" y="0"/>
          <a:chExt cx="0" cy="0"/>
        </a:xfrm>
      </p:grpSpPr>
      <p:sp>
        <p:nvSpPr>
          <p:cNvPr id="10" name="Title Placeholder 1">
            <a:extLst>
              <a:ext uri="{FF2B5EF4-FFF2-40B4-BE49-F238E27FC236}">
                <a16:creationId xmlns:a16="http://schemas.microsoft.com/office/drawing/2014/main" id="{D20054BC-CF94-7F27-5029-11720F5254C0}"/>
              </a:ext>
            </a:extLst>
          </p:cNvPr>
          <p:cNvSpPr txBox="1">
            <a:spLocks/>
          </p:cNvSpPr>
          <p:nvPr/>
        </p:nvSpPr>
        <p:spPr>
          <a:xfrm>
            <a:off x="820566" y="86688"/>
            <a:ext cx="7603587" cy="523220"/>
          </a:xfrm>
          <a:prstGeom prst="rect">
            <a:avLst/>
          </a:prstGeom>
        </p:spPr>
        <p:txBody>
          <a:bodyPr vert="horz" wrap="square" lIns="182880" tIns="45720" rIns="91440" bIns="45720" rtlCol="0" anchor="t" anchorCtr="0">
            <a:spAutoFit/>
          </a:bodyPr>
          <a:lst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a:lstStyle>
          <a:p>
            <a:pPr>
              <a:defRPr/>
            </a:pPr>
            <a:r>
              <a:rPr lang="en-US" dirty="0">
                <a:solidFill>
                  <a:prstClr val="black"/>
                </a:solidFill>
                <a:latin typeface="Arial Bold"/>
                <a:cs typeface="Arial Bold"/>
              </a:rPr>
              <a:t>Pre-Proposal Conference Agenda</a:t>
            </a:r>
            <a:endParaRPr lang="en-US" dirty="0">
              <a:solidFill>
                <a:srgbClr val="00B050"/>
              </a:solidFill>
              <a:latin typeface="Arial Bold"/>
              <a:cs typeface="Arial Bold"/>
            </a:endParaRPr>
          </a:p>
        </p:txBody>
      </p:sp>
      <p:sp>
        <p:nvSpPr>
          <p:cNvPr id="13" name="Slide Number Placeholder 1">
            <a:extLst>
              <a:ext uri="{FF2B5EF4-FFF2-40B4-BE49-F238E27FC236}">
                <a16:creationId xmlns:a16="http://schemas.microsoft.com/office/drawing/2014/main" id="{9D48DA59-4EB7-A77A-1E9F-06A96FC1EFD3}"/>
              </a:ext>
            </a:extLst>
          </p:cNvPr>
          <p:cNvSpPr txBox="1">
            <a:spLocks/>
          </p:cNvSpPr>
          <p:nvPr/>
        </p:nvSpPr>
        <p:spPr>
          <a:xfrm>
            <a:off x="3874903" y="6525092"/>
            <a:ext cx="990600" cy="24622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sz="700" kern="600">
              <a:solidFill>
                <a:prstClr val="black"/>
              </a:solidFill>
              <a:latin typeface="Arial Bold" panose="020B0704020202020204" pitchFamily="34" charset="0"/>
              <a:cs typeface="Arial Bold" panose="020B0704020202020204" pitchFamily="34" charset="0"/>
            </a:endParaRPr>
          </a:p>
        </p:txBody>
      </p:sp>
      <p:sp>
        <p:nvSpPr>
          <p:cNvPr id="9" name="TextBox 8">
            <a:extLst>
              <a:ext uri="{FF2B5EF4-FFF2-40B4-BE49-F238E27FC236}">
                <a16:creationId xmlns:a16="http://schemas.microsoft.com/office/drawing/2014/main" id="{97A833E2-1FD2-B1D8-90B4-F7B54FC8ED05}"/>
              </a:ext>
            </a:extLst>
          </p:cNvPr>
          <p:cNvSpPr txBox="1"/>
          <p:nvPr/>
        </p:nvSpPr>
        <p:spPr>
          <a:xfrm>
            <a:off x="3523475" y="6418990"/>
            <a:ext cx="2097049" cy="261610"/>
          </a:xfrm>
          <a:prstGeom prst="rect">
            <a:avLst/>
          </a:prstGeom>
          <a:noFill/>
        </p:spPr>
        <p:txBody>
          <a:bodyPr wrap="none" rtlCol="0">
            <a:spAutoFit/>
          </a:bodyPr>
          <a:lstStyle/>
          <a:p>
            <a:r>
              <a:rPr lang="en-US" sz="1100" dirty="0"/>
              <a:t>Prepared by: SSG Anglin, Lew</a:t>
            </a:r>
          </a:p>
        </p:txBody>
      </p:sp>
      <p:sp>
        <p:nvSpPr>
          <p:cNvPr id="3" name="TextBox 2">
            <a:extLst>
              <a:ext uri="{FF2B5EF4-FFF2-40B4-BE49-F238E27FC236}">
                <a16:creationId xmlns:a16="http://schemas.microsoft.com/office/drawing/2014/main" id="{3AA2C5BE-952C-1C80-572D-31BE8F9D8553}"/>
              </a:ext>
            </a:extLst>
          </p:cNvPr>
          <p:cNvSpPr txBox="1"/>
          <p:nvPr/>
        </p:nvSpPr>
        <p:spPr>
          <a:xfrm>
            <a:off x="1063709" y="1084863"/>
            <a:ext cx="7603587" cy="5078313"/>
          </a:xfrm>
          <a:prstGeom prst="rect">
            <a:avLst/>
          </a:prstGeom>
          <a:noFill/>
        </p:spPr>
        <p:txBody>
          <a:bodyPr wrap="square" rtlCol="0">
            <a:spAutoFit/>
          </a:bodyPr>
          <a:lstStyle/>
          <a:p>
            <a:pPr marL="285750" indent="-285750">
              <a:buFont typeface="Wingdings" panose="05000000000000000000" pitchFamily="2" charset="2"/>
              <a:buChar char="q"/>
            </a:pPr>
            <a:r>
              <a:rPr lang="en-US" b="1" dirty="0"/>
              <a:t>Team Introductions</a:t>
            </a:r>
          </a:p>
          <a:p>
            <a:endParaRPr lang="en-US" dirty="0"/>
          </a:p>
          <a:p>
            <a:pPr marL="285750" indent="-285750">
              <a:buFont typeface="Wingdings" panose="05000000000000000000" pitchFamily="2" charset="2"/>
              <a:buChar char="q"/>
            </a:pPr>
            <a:r>
              <a:rPr lang="en-US" b="1" dirty="0"/>
              <a:t>Job Order Contract (JOC) Scope</a:t>
            </a:r>
          </a:p>
          <a:p>
            <a:endParaRPr lang="en-US" dirty="0"/>
          </a:p>
          <a:p>
            <a:pPr marL="285750" indent="-285750">
              <a:buFont typeface="Wingdings" panose="05000000000000000000" pitchFamily="2" charset="2"/>
              <a:buChar char="q"/>
            </a:pPr>
            <a:r>
              <a:rPr lang="en-US" b="1" dirty="0"/>
              <a:t>Italy Price Schedule and Bidding Coefficients</a:t>
            </a:r>
          </a:p>
          <a:p>
            <a:endParaRPr lang="en-US" dirty="0"/>
          </a:p>
          <a:p>
            <a:pPr marL="285750" indent="-285750">
              <a:buFont typeface="Wingdings" panose="05000000000000000000" pitchFamily="2" charset="2"/>
              <a:buChar char="q"/>
            </a:pPr>
            <a:r>
              <a:rPr lang="en-US" b="1" dirty="0"/>
              <a:t>JOC Task Order Process Overview</a:t>
            </a:r>
          </a:p>
          <a:p>
            <a:endParaRPr lang="en-US" dirty="0"/>
          </a:p>
          <a:p>
            <a:pPr marL="285750" indent="-285750">
              <a:buFont typeface="Wingdings" panose="05000000000000000000" pitchFamily="2" charset="2"/>
              <a:buChar char="q"/>
            </a:pPr>
            <a:r>
              <a:rPr lang="en-US" b="1" dirty="0"/>
              <a:t>JOC Sample Task Order</a:t>
            </a:r>
          </a:p>
          <a:p>
            <a:endParaRPr lang="en-US" dirty="0"/>
          </a:p>
          <a:p>
            <a:pPr marL="285750" indent="-285750">
              <a:buFont typeface="Wingdings" panose="05000000000000000000" pitchFamily="2" charset="2"/>
              <a:buChar char="q"/>
            </a:pPr>
            <a:r>
              <a:rPr lang="en-US" b="1" dirty="0"/>
              <a:t>JOC</a:t>
            </a:r>
            <a:r>
              <a:rPr lang="en-US" dirty="0"/>
              <a:t> </a:t>
            </a:r>
            <a:r>
              <a:rPr lang="en-US" b="1" dirty="0"/>
              <a:t>Sample TOPR Proposal</a:t>
            </a:r>
          </a:p>
          <a:p>
            <a:endParaRPr lang="en-US" dirty="0"/>
          </a:p>
          <a:p>
            <a:pPr marL="285750" indent="-285750">
              <a:buFont typeface="Wingdings" panose="05000000000000000000" pitchFamily="2" charset="2"/>
              <a:buChar char="q"/>
            </a:pPr>
            <a:r>
              <a:rPr lang="en-US" b="1" dirty="0"/>
              <a:t>Doing Business with the 414</a:t>
            </a:r>
            <a:r>
              <a:rPr lang="en-US" b="1" baseline="30000" dirty="0"/>
              <a:t>th</a:t>
            </a:r>
            <a:r>
              <a:rPr lang="en-US" b="1" dirty="0"/>
              <a:t> CSB</a:t>
            </a:r>
          </a:p>
          <a:p>
            <a:endParaRPr lang="en-US" dirty="0"/>
          </a:p>
          <a:p>
            <a:pPr marL="285750" indent="-285750">
              <a:buFont typeface="Wingdings" panose="05000000000000000000" pitchFamily="2" charset="2"/>
              <a:buChar char="q"/>
            </a:pPr>
            <a:r>
              <a:rPr lang="en-US" b="1" dirty="0"/>
              <a:t>JOC Solicitation</a:t>
            </a:r>
          </a:p>
          <a:p>
            <a:endParaRPr lang="en-US" dirty="0"/>
          </a:p>
          <a:p>
            <a:pPr marL="285750" indent="-285750">
              <a:buFont typeface="Wingdings" panose="05000000000000000000" pitchFamily="2" charset="2"/>
              <a:buChar char="q"/>
            </a:pPr>
            <a:r>
              <a:rPr lang="en-US" b="1" dirty="0"/>
              <a:t>QUESTIONS?</a:t>
            </a:r>
            <a:endParaRPr lang="en-US" dirty="0"/>
          </a:p>
          <a:p>
            <a:r>
              <a:rPr lang="en-US" dirty="0"/>
              <a:t> </a:t>
            </a:r>
          </a:p>
        </p:txBody>
      </p:sp>
    </p:spTree>
    <p:extLst>
      <p:ext uri="{BB962C8B-B14F-4D97-AF65-F5344CB8AC3E}">
        <p14:creationId xmlns:p14="http://schemas.microsoft.com/office/powerpoint/2010/main" val="3373815223"/>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D1661-8FEC-E386-825E-BC5265AAF546}"/>
            </a:ext>
          </a:extLst>
        </p:cNvPr>
        <p:cNvGrpSpPr/>
        <p:nvPr/>
      </p:nvGrpSpPr>
      <p:grpSpPr>
        <a:xfrm>
          <a:off x="0" y="0"/>
          <a:ext cx="0" cy="0"/>
          <a:chOff x="0" y="0"/>
          <a:chExt cx="0" cy="0"/>
        </a:xfrm>
      </p:grpSpPr>
      <p:sp>
        <p:nvSpPr>
          <p:cNvPr id="10" name="Title Placeholder 1">
            <a:extLst>
              <a:ext uri="{FF2B5EF4-FFF2-40B4-BE49-F238E27FC236}">
                <a16:creationId xmlns:a16="http://schemas.microsoft.com/office/drawing/2014/main" id="{F8F368ED-036D-D0FC-DC2C-4117110C5C7E}"/>
              </a:ext>
            </a:extLst>
          </p:cNvPr>
          <p:cNvSpPr txBox="1">
            <a:spLocks/>
          </p:cNvSpPr>
          <p:nvPr/>
        </p:nvSpPr>
        <p:spPr>
          <a:xfrm>
            <a:off x="820566" y="86688"/>
            <a:ext cx="7603587" cy="523220"/>
          </a:xfrm>
          <a:prstGeom prst="rect">
            <a:avLst/>
          </a:prstGeom>
        </p:spPr>
        <p:txBody>
          <a:bodyPr vert="horz" wrap="square" lIns="182880" tIns="45720" rIns="91440" bIns="45720" rtlCol="0" anchor="t" anchorCtr="0">
            <a:spAutoFit/>
          </a:bodyPr>
          <a:lst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a:lstStyle>
          <a:p>
            <a:pPr>
              <a:defRPr/>
            </a:pPr>
            <a:r>
              <a:rPr lang="en-US" dirty="0">
                <a:solidFill>
                  <a:prstClr val="black"/>
                </a:solidFill>
                <a:latin typeface="Arial Bold"/>
                <a:cs typeface="Arial Bold"/>
              </a:rPr>
              <a:t>Team Introductions</a:t>
            </a:r>
            <a:endParaRPr lang="en-US" dirty="0">
              <a:solidFill>
                <a:srgbClr val="00B050"/>
              </a:solidFill>
              <a:latin typeface="Arial Bold"/>
              <a:cs typeface="Arial Bold"/>
            </a:endParaRPr>
          </a:p>
        </p:txBody>
      </p:sp>
      <p:sp>
        <p:nvSpPr>
          <p:cNvPr id="13" name="Slide Number Placeholder 1">
            <a:extLst>
              <a:ext uri="{FF2B5EF4-FFF2-40B4-BE49-F238E27FC236}">
                <a16:creationId xmlns:a16="http://schemas.microsoft.com/office/drawing/2014/main" id="{4F5760F3-ECEB-6891-18BF-1AF69A4F62F8}"/>
              </a:ext>
            </a:extLst>
          </p:cNvPr>
          <p:cNvSpPr txBox="1">
            <a:spLocks/>
          </p:cNvSpPr>
          <p:nvPr/>
        </p:nvSpPr>
        <p:spPr>
          <a:xfrm>
            <a:off x="3874903" y="6525092"/>
            <a:ext cx="990600" cy="24622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sz="700" kern="600">
              <a:solidFill>
                <a:prstClr val="black"/>
              </a:solidFill>
              <a:latin typeface="Arial Bold" panose="020B0704020202020204" pitchFamily="34" charset="0"/>
              <a:cs typeface="Arial Bold" panose="020B0704020202020204" pitchFamily="34" charset="0"/>
            </a:endParaRPr>
          </a:p>
        </p:txBody>
      </p:sp>
      <p:sp>
        <p:nvSpPr>
          <p:cNvPr id="9" name="TextBox 8">
            <a:extLst>
              <a:ext uri="{FF2B5EF4-FFF2-40B4-BE49-F238E27FC236}">
                <a16:creationId xmlns:a16="http://schemas.microsoft.com/office/drawing/2014/main" id="{E6C1062B-64A8-23B6-68D9-669ECA761228}"/>
              </a:ext>
            </a:extLst>
          </p:cNvPr>
          <p:cNvSpPr txBox="1"/>
          <p:nvPr/>
        </p:nvSpPr>
        <p:spPr>
          <a:xfrm>
            <a:off x="3523475" y="6418990"/>
            <a:ext cx="2097049" cy="261610"/>
          </a:xfrm>
          <a:prstGeom prst="rect">
            <a:avLst/>
          </a:prstGeom>
          <a:noFill/>
        </p:spPr>
        <p:txBody>
          <a:bodyPr wrap="none" rtlCol="0">
            <a:spAutoFit/>
          </a:bodyPr>
          <a:lstStyle/>
          <a:p>
            <a:r>
              <a:rPr lang="en-US" sz="1100" dirty="0"/>
              <a:t>Prepared by: SSG Anglin, Lew</a:t>
            </a:r>
          </a:p>
        </p:txBody>
      </p:sp>
      <p:sp>
        <p:nvSpPr>
          <p:cNvPr id="7" name="TextBox 7">
            <a:extLst>
              <a:ext uri="{FF2B5EF4-FFF2-40B4-BE49-F238E27FC236}">
                <a16:creationId xmlns:a16="http://schemas.microsoft.com/office/drawing/2014/main" id="{2E92C266-9B67-9D83-0608-67EF2CCA3E7C}"/>
              </a:ext>
            </a:extLst>
          </p:cNvPr>
          <p:cNvSpPr txBox="1">
            <a:spLocks noChangeArrowheads="1"/>
          </p:cNvSpPr>
          <p:nvPr/>
        </p:nvSpPr>
        <p:spPr bwMode="auto">
          <a:xfrm>
            <a:off x="1248388" y="2786666"/>
            <a:ext cx="262651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dirty="0">
                <a:ln>
                  <a:noFill/>
                </a:ln>
                <a:solidFill>
                  <a:srgbClr val="000000"/>
                </a:solidFill>
                <a:effectLst/>
                <a:uLnTx/>
                <a:uFillTx/>
                <a:latin typeface="+mn-lt"/>
                <a:cs typeface="Arial"/>
              </a:rPr>
              <a:t>Sebastiana Cappello</a:t>
            </a:r>
            <a:endParaRPr kumimoji="0" lang="en-US" altLang="en-US" sz="1800" b="1" i="0" u="none" strike="noStrike" kern="0" cap="none" spc="0" normalizeH="0" baseline="0" noProof="0" dirty="0">
              <a:ln>
                <a:noFill/>
              </a:ln>
              <a:solidFill>
                <a:srgbClr val="000000"/>
              </a:solidFill>
              <a:effectLst/>
              <a:uLnTx/>
              <a:uFillTx/>
              <a:latin typeface="+mn-lt"/>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1" u="none" strike="noStrike" kern="0" cap="none" spc="0" normalizeH="0" baseline="0" noProof="0" dirty="0">
                <a:ln>
                  <a:noFill/>
                </a:ln>
                <a:solidFill>
                  <a:srgbClr val="000000"/>
                </a:solidFill>
                <a:effectLst/>
                <a:uLnTx/>
                <a:uFillTx/>
                <a:latin typeface="+mn-lt"/>
              </a:rPr>
              <a:t>Contracting Officer </a:t>
            </a:r>
          </a:p>
        </p:txBody>
      </p:sp>
      <p:sp>
        <p:nvSpPr>
          <p:cNvPr id="8" name="TextBox 7">
            <a:extLst>
              <a:ext uri="{FF2B5EF4-FFF2-40B4-BE49-F238E27FC236}">
                <a16:creationId xmlns:a16="http://schemas.microsoft.com/office/drawing/2014/main" id="{8B77E70C-E4AB-FBE4-79FA-771F1E8C93B9}"/>
              </a:ext>
            </a:extLst>
          </p:cNvPr>
          <p:cNvSpPr txBox="1">
            <a:spLocks noChangeArrowheads="1"/>
          </p:cNvSpPr>
          <p:nvPr/>
        </p:nvSpPr>
        <p:spPr bwMode="auto">
          <a:xfrm>
            <a:off x="1248388" y="4189864"/>
            <a:ext cx="222754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dirty="0">
                <a:ln>
                  <a:noFill/>
                </a:ln>
                <a:solidFill>
                  <a:srgbClr val="000000"/>
                </a:solidFill>
                <a:effectLst/>
                <a:uLnTx/>
                <a:uFillTx/>
                <a:latin typeface="+mn-lt"/>
              </a:rPr>
              <a:t>SSG Anglin, Lew</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1" u="none" strike="noStrike" kern="0" cap="none" spc="0" normalizeH="0" baseline="0" noProof="0" dirty="0">
                <a:ln>
                  <a:noFill/>
                </a:ln>
                <a:solidFill>
                  <a:srgbClr val="000000"/>
                </a:solidFill>
                <a:effectLst/>
                <a:uLnTx/>
                <a:uFillTx/>
                <a:latin typeface="+mn-lt"/>
              </a:rPr>
              <a:t>Contract Specialist</a:t>
            </a:r>
          </a:p>
        </p:txBody>
      </p:sp>
      <p:sp>
        <p:nvSpPr>
          <p:cNvPr id="11" name="TextBox 7">
            <a:extLst>
              <a:ext uri="{FF2B5EF4-FFF2-40B4-BE49-F238E27FC236}">
                <a16:creationId xmlns:a16="http://schemas.microsoft.com/office/drawing/2014/main" id="{A6976E6C-9A58-88B3-9D0F-E24DED5DC07F}"/>
              </a:ext>
            </a:extLst>
          </p:cNvPr>
          <p:cNvSpPr txBox="1">
            <a:spLocks noChangeArrowheads="1"/>
          </p:cNvSpPr>
          <p:nvPr/>
        </p:nvSpPr>
        <p:spPr bwMode="auto">
          <a:xfrm>
            <a:off x="4798690" y="4170725"/>
            <a:ext cx="37894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dirty="0">
                <a:ln>
                  <a:noFill/>
                </a:ln>
                <a:solidFill>
                  <a:srgbClr val="000000"/>
                </a:solidFill>
                <a:effectLst/>
                <a:uLnTx/>
                <a:uFillTx/>
                <a:latin typeface="+mn-lt"/>
                <a:cs typeface="Arial"/>
              </a:rPr>
              <a:t>Massimiliano Bozzolan </a:t>
            </a:r>
            <a:endParaRPr kumimoji="0" lang="en-US" altLang="en-US" sz="1800" b="1" i="0" u="none" strike="noStrike" kern="0" cap="none" spc="0" normalizeH="0" baseline="0" noProof="0" dirty="0">
              <a:ln>
                <a:noFill/>
              </a:ln>
              <a:solidFill>
                <a:srgbClr val="000000"/>
              </a:solidFill>
              <a:effectLst/>
              <a:uLnTx/>
              <a:uFillTx/>
              <a:latin typeface="+mn-lt"/>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1" u="none" strike="noStrike" kern="0" cap="none" spc="0" normalizeH="0" baseline="0" noProof="0" dirty="0">
                <a:ln>
                  <a:noFill/>
                </a:ln>
                <a:solidFill>
                  <a:srgbClr val="000000"/>
                </a:solidFill>
                <a:effectLst/>
                <a:uLnTx/>
                <a:uFillTx/>
                <a:latin typeface="+mn-lt"/>
                <a:cs typeface="Arial"/>
              </a:rPr>
              <a:t>JOC – Contract </a:t>
            </a:r>
            <a:r>
              <a:rPr kumimoji="0" lang="en-US" sz="1800" b="0" i="1" u="none" strike="noStrike" kern="0" cap="none" spc="0" normalizeH="0" baseline="0" noProof="0" dirty="0">
                <a:ln>
                  <a:noFill/>
                </a:ln>
                <a:solidFill>
                  <a:srgbClr val="000000"/>
                </a:solidFill>
                <a:effectLst/>
                <a:uLnTx/>
                <a:uFillTx/>
                <a:latin typeface="+mn-lt"/>
              </a:rPr>
              <a:t>Specialist Support</a:t>
            </a:r>
          </a:p>
        </p:txBody>
      </p:sp>
      <p:sp>
        <p:nvSpPr>
          <p:cNvPr id="14" name="TextBox 13">
            <a:extLst>
              <a:ext uri="{FF2B5EF4-FFF2-40B4-BE49-F238E27FC236}">
                <a16:creationId xmlns:a16="http://schemas.microsoft.com/office/drawing/2014/main" id="{B7088FED-2F74-872F-ADE3-FD8A4D166703}"/>
              </a:ext>
            </a:extLst>
          </p:cNvPr>
          <p:cNvSpPr txBox="1"/>
          <p:nvPr/>
        </p:nvSpPr>
        <p:spPr>
          <a:xfrm>
            <a:off x="4798690" y="2777936"/>
            <a:ext cx="4345310" cy="923330"/>
          </a:xfrm>
          <a:prstGeom prst="rect">
            <a:avLst/>
          </a:prstGeom>
          <a:noFill/>
        </p:spPr>
        <p:txBody>
          <a:bodyPr wrap="square">
            <a:spAutoFit/>
          </a:bodyPr>
          <a:lstStyle/>
          <a:p>
            <a:pPr>
              <a:buNone/>
            </a:pPr>
            <a:r>
              <a:rPr lang="en-US" b="1" dirty="0"/>
              <a:t>Tausha Beins </a:t>
            </a:r>
          </a:p>
          <a:p>
            <a:pPr>
              <a:buNone/>
            </a:pPr>
            <a:r>
              <a:rPr lang="en-US" dirty="0">
                <a:effectLst/>
              </a:rPr>
              <a:t>Chief, Construction Management Branch</a:t>
            </a:r>
            <a:endParaRPr lang="en-US" dirty="0"/>
          </a:p>
          <a:p>
            <a:pPr>
              <a:buNone/>
            </a:pPr>
            <a:r>
              <a:rPr lang="en-US" dirty="0">
                <a:effectLst/>
              </a:rPr>
              <a:t>Directorate of Public Works, USAG Italy </a:t>
            </a:r>
            <a:endParaRPr lang="en-US" dirty="0"/>
          </a:p>
        </p:txBody>
      </p:sp>
      <p:sp>
        <p:nvSpPr>
          <p:cNvPr id="15" name="TextBox 7">
            <a:extLst>
              <a:ext uri="{FF2B5EF4-FFF2-40B4-BE49-F238E27FC236}">
                <a16:creationId xmlns:a16="http://schemas.microsoft.com/office/drawing/2014/main" id="{0BCB452F-3403-3D52-CAAC-E5E518FB1B09}"/>
              </a:ext>
            </a:extLst>
          </p:cNvPr>
          <p:cNvSpPr txBox="1">
            <a:spLocks noChangeArrowheads="1"/>
          </p:cNvSpPr>
          <p:nvPr/>
        </p:nvSpPr>
        <p:spPr bwMode="auto">
          <a:xfrm>
            <a:off x="1248388" y="5267843"/>
            <a:ext cx="237224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dirty="0">
                <a:ln>
                  <a:noFill/>
                </a:ln>
                <a:solidFill>
                  <a:srgbClr val="000000"/>
                </a:solidFill>
                <a:effectLst/>
                <a:uLnTx/>
                <a:uFillTx/>
                <a:latin typeface="+mn-lt"/>
                <a:cs typeface="Arial"/>
              </a:rPr>
              <a:t>Matthew McNease</a:t>
            </a:r>
            <a:endParaRPr kumimoji="0" lang="en-US" altLang="en-US" sz="1800" b="1" i="0" u="none" strike="noStrike" kern="0" cap="none" spc="0" normalizeH="0" baseline="0" noProof="0" dirty="0">
              <a:ln>
                <a:noFill/>
              </a:ln>
              <a:solidFill>
                <a:srgbClr val="000000"/>
              </a:solidFill>
              <a:effectLst/>
              <a:uLnTx/>
              <a:uFillTx/>
              <a:latin typeface="+mn-lt"/>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1" u="none" strike="noStrike" kern="0" cap="none" spc="0" normalizeH="0" baseline="0" noProof="0" dirty="0">
                <a:ln>
                  <a:noFill/>
                </a:ln>
                <a:solidFill>
                  <a:srgbClr val="000000"/>
                </a:solidFill>
                <a:effectLst/>
                <a:uLnTx/>
                <a:uFillTx/>
                <a:latin typeface="+mn-lt"/>
              </a:rPr>
              <a:t>Office of Counsel</a:t>
            </a:r>
          </a:p>
        </p:txBody>
      </p:sp>
      <p:sp>
        <p:nvSpPr>
          <p:cNvPr id="12" name="TextBox 7">
            <a:extLst>
              <a:ext uri="{FF2B5EF4-FFF2-40B4-BE49-F238E27FC236}">
                <a16:creationId xmlns:a16="http://schemas.microsoft.com/office/drawing/2014/main" id="{5FA9F419-24CB-CBAB-9558-B709AB2FE51A}"/>
              </a:ext>
            </a:extLst>
          </p:cNvPr>
          <p:cNvSpPr txBox="1">
            <a:spLocks noChangeArrowheads="1"/>
          </p:cNvSpPr>
          <p:nvPr/>
        </p:nvSpPr>
        <p:spPr bwMode="auto">
          <a:xfrm>
            <a:off x="620110" y="1509256"/>
            <a:ext cx="39518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dirty="0">
                <a:ln>
                  <a:noFill/>
                </a:ln>
                <a:solidFill>
                  <a:srgbClr val="000000"/>
                </a:solidFill>
                <a:effectLst/>
                <a:uLnTx/>
                <a:uFillTx/>
                <a:latin typeface="+mn-lt"/>
                <a:cs typeface="Arial"/>
              </a:rPr>
              <a:t>414</a:t>
            </a:r>
            <a:r>
              <a:rPr kumimoji="0" lang="en-US" altLang="en-US" sz="1800" b="1" i="0" u="none" strike="noStrike" kern="0" cap="none" spc="0" normalizeH="0" baseline="30000" noProof="0" dirty="0">
                <a:ln>
                  <a:noFill/>
                </a:ln>
                <a:solidFill>
                  <a:srgbClr val="000000"/>
                </a:solidFill>
                <a:effectLst/>
                <a:uLnTx/>
                <a:uFillTx/>
                <a:latin typeface="+mn-lt"/>
                <a:cs typeface="Arial"/>
              </a:rPr>
              <a:t>th</a:t>
            </a:r>
            <a:r>
              <a:rPr kumimoji="0" lang="en-US" altLang="en-US" sz="1800" b="1" i="0" u="none" strike="noStrike" kern="0" cap="none" spc="0" normalizeH="0" baseline="0" noProof="0" dirty="0">
                <a:ln>
                  <a:noFill/>
                </a:ln>
                <a:solidFill>
                  <a:srgbClr val="000000"/>
                </a:solidFill>
                <a:effectLst/>
                <a:uLnTx/>
                <a:uFillTx/>
                <a:latin typeface="+mn-lt"/>
                <a:cs typeface="Arial"/>
              </a:rPr>
              <a:t> Contracting Support Brigade</a:t>
            </a:r>
            <a:endParaRPr kumimoji="0" lang="en-US" altLang="en-US" sz="1800" b="0" i="1" u="none" strike="noStrike" kern="0" cap="none" spc="0" normalizeH="0" baseline="0" noProof="0" dirty="0">
              <a:ln>
                <a:noFill/>
              </a:ln>
              <a:solidFill>
                <a:srgbClr val="000000"/>
              </a:solidFill>
              <a:effectLst/>
              <a:uLnTx/>
              <a:uFillTx/>
              <a:latin typeface="+mn-lt"/>
            </a:endParaRPr>
          </a:p>
        </p:txBody>
      </p:sp>
      <p:sp>
        <p:nvSpPr>
          <p:cNvPr id="16" name="TextBox 15">
            <a:extLst>
              <a:ext uri="{FF2B5EF4-FFF2-40B4-BE49-F238E27FC236}">
                <a16:creationId xmlns:a16="http://schemas.microsoft.com/office/drawing/2014/main" id="{77600645-3609-26BD-A27F-C3DB8C9C2987}"/>
              </a:ext>
            </a:extLst>
          </p:cNvPr>
          <p:cNvSpPr txBox="1"/>
          <p:nvPr/>
        </p:nvSpPr>
        <p:spPr>
          <a:xfrm>
            <a:off x="4865503" y="1509256"/>
            <a:ext cx="4345310" cy="369332"/>
          </a:xfrm>
          <a:prstGeom prst="rect">
            <a:avLst/>
          </a:prstGeom>
          <a:noFill/>
        </p:spPr>
        <p:txBody>
          <a:bodyPr wrap="square">
            <a:spAutoFit/>
          </a:bodyPr>
          <a:lstStyle/>
          <a:p>
            <a:pPr>
              <a:buNone/>
            </a:pPr>
            <a:r>
              <a:rPr lang="en-US" b="1" dirty="0"/>
              <a:t>US Army Garrison – Italy </a:t>
            </a:r>
            <a:endParaRPr lang="en-US" dirty="0"/>
          </a:p>
        </p:txBody>
      </p:sp>
    </p:spTree>
    <p:extLst>
      <p:ext uri="{BB962C8B-B14F-4D97-AF65-F5344CB8AC3E}">
        <p14:creationId xmlns:p14="http://schemas.microsoft.com/office/powerpoint/2010/main" val="561192394"/>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3BC26-7419-E28E-44A8-6E221D483A40}"/>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81ADB39C-651C-69F7-29C8-C93DFEB02F97}"/>
              </a:ext>
            </a:extLst>
          </p:cNvPr>
          <p:cNvSpPr txBox="1">
            <a:spLocks/>
          </p:cNvSpPr>
          <p:nvPr/>
        </p:nvSpPr>
        <p:spPr>
          <a:xfrm>
            <a:off x="4076700" y="6691916"/>
            <a:ext cx="990600" cy="24622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sz="700" kern="600" dirty="0">
              <a:solidFill>
                <a:prstClr val="black"/>
              </a:solidFill>
              <a:latin typeface="Arial Bold" panose="020B0704020202020204" pitchFamily="34" charset="0"/>
              <a:cs typeface="Arial Bold" panose="020B0704020202020204" pitchFamily="34" charset="0"/>
            </a:endParaRPr>
          </a:p>
        </p:txBody>
      </p:sp>
      <p:sp>
        <p:nvSpPr>
          <p:cNvPr id="8" name="TextBox 7">
            <a:extLst>
              <a:ext uri="{FF2B5EF4-FFF2-40B4-BE49-F238E27FC236}">
                <a16:creationId xmlns:a16="http://schemas.microsoft.com/office/drawing/2014/main" id="{B5B04615-3E97-4775-8AC4-2A92D1BC5309}"/>
              </a:ext>
            </a:extLst>
          </p:cNvPr>
          <p:cNvSpPr txBox="1"/>
          <p:nvPr/>
        </p:nvSpPr>
        <p:spPr>
          <a:xfrm>
            <a:off x="6832022" y="4078431"/>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5" name="TextBox 14">
            <a:extLst>
              <a:ext uri="{FF2B5EF4-FFF2-40B4-BE49-F238E27FC236}">
                <a16:creationId xmlns:a16="http://schemas.microsoft.com/office/drawing/2014/main" id="{D5143128-7A87-7C7A-ED21-7B9B233A5866}"/>
              </a:ext>
            </a:extLst>
          </p:cNvPr>
          <p:cNvSpPr txBox="1"/>
          <p:nvPr/>
        </p:nvSpPr>
        <p:spPr>
          <a:xfrm>
            <a:off x="3523475" y="6430306"/>
            <a:ext cx="2097049" cy="261610"/>
          </a:xfrm>
          <a:prstGeom prst="rect">
            <a:avLst/>
          </a:prstGeom>
          <a:noFill/>
        </p:spPr>
        <p:txBody>
          <a:bodyPr wrap="none" rtlCol="0">
            <a:spAutoFit/>
          </a:bodyPr>
          <a:lstStyle/>
          <a:p>
            <a:r>
              <a:rPr lang="en-US" sz="1100" dirty="0"/>
              <a:t>Prepared by: SSG Anglin, Lew</a:t>
            </a:r>
          </a:p>
        </p:txBody>
      </p:sp>
      <p:sp>
        <p:nvSpPr>
          <p:cNvPr id="29" name="TextBox 28">
            <a:extLst>
              <a:ext uri="{FF2B5EF4-FFF2-40B4-BE49-F238E27FC236}">
                <a16:creationId xmlns:a16="http://schemas.microsoft.com/office/drawing/2014/main" id="{3D37D596-4956-1DBD-7DB0-00EFE2774968}"/>
              </a:ext>
            </a:extLst>
          </p:cNvPr>
          <p:cNvSpPr txBox="1"/>
          <p:nvPr/>
        </p:nvSpPr>
        <p:spPr>
          <a:xfrm>
            <a:off x="2172854" y="90041"/>
            <a:ext cx="4798290" cy="523220"/>
          </a:xfrm>
          <a:prstGeom prst="rect">
            <a:avLst/>
          </a:prstGeom>
          <a:noFill/>
        </p:spPr>
        <p:txBody>
          <a:bodyPr wrap="square">
            <a:spAutoFit/>
          </a:bodyPr>
          <a:lstStyle/>
          <a:p>
            <a:pPr algn="ctr"/>
            <a:r>
              <a:rPr lang="en-US" sz="2800" b="1" dirty="0"/>
              <a:t>Disclaimer</a:t>
            </a:r>
          </a:p>
        </p:txBody>
      </p:sp>
      <p:sp>
        <p:nvSpPr>
          <p:cNvPr id="2" name="TextBox 1">
            <a:extLst>
              <a:ext uri="{FF2B5EF4-FFF2-40B4-BE49-F238E27FC236}">
                <a16:creationId xmlns:a16="http://schemas.microsoft.com/office/drawing/2014/main" id="{D518EFAA-E795-AF60-001E-74F64CF03347}"/>
              </a:ext>
            </a:extLst>
          </p:cNvPr>
          <p:cNvSpPr txBox="1"/>
          <p:nvPr/>
        </p:nvSpPr>
        <p:spPr>
          <a:xfrm>
            <a:off x="1156138" y="2175641"/>
            <a:ext cx="6957848" cy="2308324"/>
          </a:xfrm>
          <a:prstGeom prst="rect">
            <a:avLst/>
          </a:prstGeom>
          <a:noFill/>
        </p:spPr>
        <p:txBody>
          <a:bodyPr wrap="square" rtlCol="0">
            <a:spAutoFit/>
          </a:bodyPr>
          <a:lstStyle/>
          <a:p>
            <a:r>
              <a:rPr lang="en-US" sz="2400" b="1" dirty="0"/>
              <a:t>Any comments or explanations shared during today’s </a:t>
            </a:r>
            <a:r>
              <a:rPr lang="en-US" sz="2400" b="1" dirty="0">
                <a:latin typeface="+mj-lt"/>
              </a:rPr>
              <a:t>presentation</a:t>
            </a:r>
            <a:r>
              <a:rPr lang="en-US" sz="2400" b="1" dirty="0"/>
              <a:t> are intended for general informational purposes only and do not modify or override the terms and conditions of any resulting solicitation or subsequent contract.</a:t>
            </a:r>
          </a:p>
        </p:txBody>
      </p:sp>
    </p:spTree>
    <p:extLst>
      <p:ext uri="{BB962C8B-B14F-4D97-AF65-F5344CB8AC3E}">
        <p14:creationId xmlns:p14="http://schemas.microsoft.com/office/powerpoint/2010/main" val="2553596036"/>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145EC5-7368-1029-728A-64D733264294}"/>
              </a:ext>
            </a:extLst>
          </p:cNvPr>
          <p:cNvSpPr txBox="1"/>
          <p:nvPr/>
        </p:nvSpPr>
        <p:spPr>
          <a:xfrm>
            <a:off x="3731984" y="6449770"/>
            <a:ext cx="2097049" cy="261610"/>
          </a:xfrm>
          <a:prstGeom prst="rect">
            <a:avLst/>
          </a:prstGeom>
          <a:noFill/>
        </p:spPr>
        <p:txBody>
          <a:bodyPr wrap="none" rtlCol="0">
            <a:spAutoFit/>
          </a:bodyPr>
          <a:lstStyle/>
          <a:p>
            <a:r>
              <a:rPr lang="en-US" sz="1100" dirty="0"/>
              <a:t>Prepared by: SSG Anglin, Lew</a:t>
            </a:r>
          </a:p>
        </p:txBody>
      </p:sp>
      <p:pic>
        <p:nvPicPr>
          <p:cNvPr id="3" name="Picture 2">
            <a:extLst>
              <a:ext uri="{FF2B5EF4-FFF2-40B4-BE49-F238E27FC236}">
                <a16:creationId xmlns:a16="http://schemas.microsoft.com/office/drawing/2014/main" id="{62E6B4ED-4255-A6B3-6998-88AB0847A407}"/>
              </a:ext>
            </a:extLst>
          </p:cNvPr>
          <p:cNvPicPr>
            <a:picLocks noChangeAspect="1"/>
          </p:cNvPicPr>
          <p:nvPr/>
        </p:nvPicPr>
        <p:blipFill>
          <a:blip r:embed="rId3"/>
          <a:stretch>
            <a:fillRect/>
          </a:stretch>
        </p:blipFill>
        <p:spPr>
          <a:xfrm>
            <a:off x="2496742" y="763167"/>
            <a:ext cx="3817485" cy="3623376"/>
          </a:xfrm>
          <a:prstGeom prst="rect">
            <a:avLst/>
          </a:prstGeom>
        </p:spPr>
      </p:pic>
      <p:sp>
        <p:nvSpPr>
          <p:cNvPr id="7" name="TextBox 6">
            <a:extLst>
              <a:ext uri="{FF2B5EF4-FFF2-40B4-BE49-F238E27FC236}">
                <a16:creationId xmlns:a16="http://schemas.microsoft.com/office/drawing/2014/main" id="{CC2EE7D5-C775-DF3D-4263-6D3BC7624DD8}"/>
              </a:ext>
            </a:extLst>
          </p:cNvPr>
          <p:cNvSpPr txBox="1"/>
          <p:nvPr/>
        </p:nvSpPr>
        <p:spPr>
          <a:xfrm>
            <a:off x="427845" y="4386543"/>
            <a:ext cx="8716155" cy="1815882"/>
          </a:xfrm>
          <a:prstGeom prst="rect">
            <a:avLst/>
          </a:prstGeom>
          <a:noFill/>
        </p:spPr>
        <p:txBody>
          <a:bodyPr wrap="square">
            <a:spAutoFit/>
          </a:bodyPr>
          <a:lstStyle/>
          <a:p>
            <a:pPr algn="l"/>
            <a:r>
              <a:rPr lang="en-US" sz="1600" b="0" i="0" u="none" strike="noStrike" baseline="0" dirty="0">
                <a:solidFill>
                  <a:srgbClr val="000000"/>
                </a:solidFill>
                <a:cs typeface="Arial" panose="020B0604020202020204" pitchFamily="34" charset="0"/>
              </a:rPr>
              <a:t>T</a:t>
            </a:r>
            <a:r>
              <a:rPr lang="en-US" sz="1600" b="0" i="0" u="none" strike="noStrike" baseline="0" dirty="0">
                <a:solidFill>
                  <a:srgbClr val="221F1F"/>
                </a:solidFill>
                <a:cs typeface="Arial" panose="020B0604020202020204" pitchFamily="34" charset="0"/>
              </a:rPr>
              <a:t>he JOC will be used to </a:t>
            </a:r>
            <a:r>
              <a:rPr lang="en-US" sz="1600" b="0" i="0" u="none" strike="noStrike" baseline="0" dirty="0">
                <a:solidFill>
                  <a:srgbClr val="000000"/>
                </a:solidFill>
                <a:cs typeface="Arial" panose="020B0604020202020204" pitchFamily="34" charset="0"/>
              </a:rPr>
              <a:t>fulfill repair, maintenance, demolition and minor construction</a:t>
            </a:r>
          </a:p>
          <a:p>
            <a:pPr algn="l"/>
            <a:r>
              <a:rPr lang="en-US" sz="1600" b="0" i="0" u="none" strike="noStrike" baseline="0" dirty="0">
                <a:solidFill>
                  <a:srgbClr val="000000"/>
                </a:solidFill>
                <a:cs typeface="Arial" panose="020B0604020202020204" pitchFamily="34" charset="0"/>
              </a:rPr>
              <a:t>requirements on a variety of projects ranging from Sustainment, Restoration, and</a:t>
            </a:r>
          </a:p>
          <a:p>
            <a:pPr algn="l"/>
            <a:r>
              <a:rPr lang="en-US" sz="1600" b="0" i="0" u="none" strike="noStrike" baseline="0" dirty="0">
                <a:solidFill>
                  <a:srgbClr val="000000"/>
                </a:solidFill>
                <a:cs typeface="Arial" panose="020B0604020202020204" pitchFamily="34" charset="0"/>
              </a:rPr>
              <a:t>Modernization (SRM), simplified acquisition of base repair requirements, civil works</a:t>
            </a:r>
          </a:p>
          <a:p>
            <a:pPr algn="l"/>
            <a:r>
              <a:rPr lang="en-US" sz="1600" b="0" i="0" u="none" strike="noStrike" baseline="0" dirty="0">
                <a:solidFill>
                  <a:srgbClr val="000000"/>
                </a:solidFill>
                <a:cs typeface="Arial" panose="020B0604020202020204" pitchFamily="34" charset="0"/>
              </a:rPr>
              <a:t>operations and maintenance, small renovations, real property repair and maintenance</a:t>
            </a:r>
          </a:p>
          <a:p>
            <a:pPr algn="l"/>
            <a:r>
              <a:rPr lang="en-US" sz="1600" b="0" i="0" u="none" strike="noStrike" baseline="0" dirty="0">
                <a:solidFill>
                  <a:srgbClr val="000000"/>
                </a:solidFill>
                <a:cs typeface="Arial" panose="020B0604020202020204" pitchFamily="34" charset="0"/>
              </a:rPr>
              <a:t>with an estimated value more than the micro-purchase threshold (MPT) for acquisitions</a:t>
            </a:r>
          </a:p>
          <a:p>
            <a:pPr algn="l"/>
            <a:r>
              <a:rPr lang="en-US" sz="1600" b="0" i="0" u="none" strike="noStrike" baseline="0" dirty="0">
                <a:solidFill>
                  <a:srgbClr val="000000"/>
                </a:solidFill>
                <a:cs typeface="Arial" panose="020B0604020202020204" pitchFamily="34" charset="0"/>
              </a:rPr>
              <a:t>of construction. At the time of this revision the MPT is $15,000.00 in accordance with</a:t>
            </a:r>
          </a:p>
          <a:p>
            <a:pPr algn="l"/>
            <a:r>
              <a:rPr lang="en-US" sz="1600" b="0" i="0" u="none" strike="noStrike" baseline="0" dirty="0">
                <a:solidFill>
                  <a:srgbClr val="000000"/>
                </a:solidFill>
                <a:cs typeface="Arial" panose="020B0604020202020204" pitchFamily="34" charset="0"/>
              </a:rPr>
              <a:t>Federal Acquisition Regulation (FAR) 2.101 Definitions.</a:t>
            </a:r>
            <a:endParaRPr lang="en-US" sz="1600" dirty="0">
              <a:cs typeface="Arial" panose="020B0604020202020204" pitchFamily="34" charset="0"/>
            </a:endParaRPr>
          </a:p>
        </p:txBody>
      </p:sp>
      <p:sp>
        <p:nvSpPr>
          <p:cNvPr id="5" name="Title 3">
            <a:extLst>
              <a:ext uri="{FF2B5EF4-FFF2-40B4-BE49-F238E27FC236}">
                <a16:creationId xmlns:a16="http://schemas.microsoft.com/office/drawing/2014/main" id="{F3C8F2C7-5C54-960B-E9B4-B523248DE40C}"/>
              </a:ext>
            </a:extLst>
          </p:cNvPr>
          <p:cNvSpPr txBox="1">
            <a:spLocks/>
          </p:cNvSpPr>
          <p:nvPr/>
        </p:nvSpPr>
        <p:spPr bwMode="gray">
          <a:xfrm>
            <a:off x="427845" y="111771"/>
            <a:ext cx="7955280" cy="480131"/>
          </a:xfrm>
          <a:prstGeom prst="rect">
            <a:avLst/>
          </a:prstGeom>
        </p:spPr>
        <p:txBody>
          <a:bodyPr vert="horz" wrap="square" lIns="182880" tIns="45720" rIns="91440" bIns="45720" rtlCol="0" anchor="t" anchorCtr="0">
            <a:spAutoFit/>
          </a:bodyPr>
          <a:lstStyle>
            <a:lvl1pPr marL="0" algn="l" defTabSz="914400" rtl="0" eaLnBrk="1" latinLnBrk="0" hangingPunct="1">
              <a:lnSpc>
                <a:spcPct val="90000"/>
              </a:lnSpc>
              <a:spcBef>
                <a:spcPct val="0"/>
              </a:spcBef>
              <a:buNone/>
              <a:defRPr lang="en-US" sz="2800" b="1" kern="1200" dirty="0">
                <a:solidFill>
                  <a:srgbClr val="7F7F73"/>
                </a:solidFill>
                <a:latin typeface="Arial" panose="020B0604020202020204" pitchFamily="34" charset="0"/>
                <a:ea typeface="+mj-ea"/>
                <a:cs typeface="Arial" panose="020B0604020202020204" pitchFamily="34" charset="0"/>
              </a:defRPr>
            </a:lvl1pPr>
          </a:lstStyle>
          <a:p>
            <a:pPr algn="ctr"/>
            <a:r>
              <a:rPr lang="en-US" dirty="0">
                <a:solidFill>
                  <a:schemeClr val="tx1"/>
                </a:solidFill>
              </a:rPr>
              <a:t>Job Order Contract (JOC) Scope</a:t>
            </a:r>
            <a:endParaRPr lang="en-US" dirty="0"/>
          </a:p>
        </p:txBody>
      </p:sp>
    </p:spTree>
    <p:extLst>
      <p:ext uri="{BB962C8B-B14F-4D97-AF65-F5344CB8AC3E}">
        <p14:creationId xmlns:p14="http://schemas.microsoft.com/office/powerpoint/2010/main" val="36180283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E9373-AFE6-6139-13EA-4C6B8FD3EF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ACC43-B3EF-5BD3-05FC-308D518758C9}"/>
              </a:ext>
            </a:extLst>
          </p:cNvPr>
          <p:cNvSpPr>
            <a:spLocks noGrp="1"/>
          </p:cNvSpPr>
          <p:nvPr>
            <p:ph type="title"/>
          </p:nvPr>
        </p:nvSpPr>
        <p:spPr>
          <a:xfrm>
            <a:off x="729185" y="230176"/>
            <a:ext cx="7955280" cy="480131"/>
          </a:xfrm>
        </p:spPr>
        <p:txBody>
          <a:bodyPr/>
          <a:lstStyle/>
          <a:p>
            <a:pPr algn="ctr"/>
            <a:r>
              <a:rPr lang="en-US" dirty="0">
                <a:solidFill>
                  <a:schemeClr val="tx1"/>
                </a:solidFill>
              </a:rPr>
              <a:t>414</a:t>
            </a:r>
            <a:r>
              <a:rPr lang="en-US" baseline="30000" dirty="0">
                <a:solidFill>
                  <a:schemeClr val="tx1"/>
                </a:solidFill>
              </a:rPr>
              <a:t>th</a:t>
            </a:r>
            <a:r>
              <a:rPr lang="en-US" dirty="0">
                <a:solidFill>
                  <a:schemeClr val="tx1"/>
                </a:solidFill>
              </a:rPr>
              <a:t> CSB – </a:t>
            </a:r>
            <a:r>
              <a:rPr lang="en-US" dirty="0">
                <a:solidFill>
                  <a:schemeClr val="tx1"/>
                </a:solidFill>
                <a:latin typeface="Arial"/>
                <a:ea typeface="ＭＳ Ｐゴシック"/>
                <a:cs typeface="Arial"/>
              </a:rPr>
              <a:t>JOC Award Intent / Overview</a:t>
            </a:r>
            <a:endParaRPr lang="en-US" dirty="0">
              <a:solidFill>
                <a:schemeClr val="tx1"/>
              </a:solidFill>
            </a:endParaRPr>
          </a:p>
        </p:txBody>
      </p:sp>
      <p:sp>
        <p:nvSpPr>
          <p:cNvPr id="4" name="TextBox 3">
            <a:extLst>
              <a:ext uri="{FF2B5EF4-FFF2-40B4-BE49-F238E27FC236}">
                <a16:creationId xmlns:a16="http://schemas.microsoft.com/office/drawing/2014/main" id="{5E35B33B-7D7C-F512-DA37-CD4205A19B33}"/>
              </a:ext>
            </a:extLst>
          </p:cNvPr>
          <p:cNvSpPr txBox="1"/>
          <p:nvPr/>
        </p:nvSpPr>
        <p:spPr>
          <a:xfrm>
            <a:off x="3523475" y="6366214"/>
            <a:ext cx="2097049" cy="261610"/>
          </a:xfrm>
          <a:prstGeom prst="rect">
            <a:avLst/>
          </a:prstGeom>
          <a:noFill/>
        </p:spPr>
        <p:txBody>
          <a:bodyPr wrap="none" rtlCol="0">
            <a:spAutoFit/>
          </a:bodyPr>
          <a:lstStyle/>
          <a:p>
            <a:r>
              <a:rPr lang="en-US" sz="1100" dirty="0"/>
              <a:t>Prepared by: SSG Anglin, Lew</a:t>
            </a:r>
          </a:p>
        </p:txBody>
      </p:sp>
      <p:sp>
        <p:nvSpPr>
          <p:cNvPr id="8" name="TextBox 7">
            <a:extLst>
              <a:ext uri="{FF2B5EF4-FFF2-40B4-BE49-F238E27FC236}">
                <a16:creationId xmlns:a16="http://schemas.microsoft.com/office/drawing/2014/main" id="{20D06C56-CFB5-A43D-C08B-9E827B7287F1}"/>
              </a:ext>
            </a:extLst>
          </p:cNvPr>
          <p:cNvSpPr txBox="1"/>
          <p:nvPr/>
        </p:nvSpPr>
        <p:spPr>
          <a:xfrm>
            <a:off x="503475" y="1399031"/>
            <a:ext cx="7955280" cy="4524315"/>
          </a:xfrm>
          <a:prstGeom prst="rect">
            <a:avLst/>
          </a:prstGeom>
          <a:noFill/>
        </p:spPr>
        <p:txBody>
          <a:bodyPr wrap="square">
            <a:spAutoFit/>
          </a:bodyPr>
          <a:lstStyle/>
          <a:p>
            <a:pPr marL="285750" indent="-285750">
              <a:buFont typeface="Arial" panose="020B0604020202020204" pitchFamily="34" charset="0"/>
              <a:buChar char="•"/>
            </a:pPr>
            <a:r>
              <a:rPr lang="en-US" dirty="0"/>
              <a:t>Indefinite-Delivery, Indefinite-Quantity (IDIQ), Single Award Task Order Contract (SATOC) Contract Award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Total Contract Value: Not to exceed $40 Million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Contract Term: 5-year base ordering period, with one 6-month option to extend the term of the contract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Ordering Period: 15 May 2026 through 14 May 2031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Types of Work: A project fundamentally for building renovations (e.g., roof repairs), repair replacement of major building systems (electrical, mechanical, HVAC), civil works (concrete asphalt roads, pavements, earthwork, drainage structures), or environmental project.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Task Order Range: Minimum $5,000 / Maximum $2,000,000</a:t>
            </a:r>
          </a:p>
        </p:txBody>
      </p:sp>
    </p:spTree>
    <p:extLst>
      <p:ext uri="{BB962C8B-B14F-4D97-AF65-F5344CB8AC3E}">
        <p14:creationId xmlns:p14="http://schemas.microsoft.com/office/powerpoint/2010/main" val="24977968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87E5-2116-6C65-4338-A76C9AC91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4B8AC-216A-70AA-0377-6C1BF59D8D47}"/>
              </a:ext>
            </a:extLst>
          </p:cNvPr>
          <p:cNvSpPr>
            <a:spLocks noGrp="1"/>
          </p:cNvSpPr>
          <p:nvPr>
            <p:ph type="title"/>
          </p:nvPr>
        </p:nvSpPr>
        <p:spPr>
          <a:xfrm>
            <a:off x="836761" y="104037"/>
            <a:ext cx="7955280" cy="480131"/>
          </a:xfrm>
        </p:spPr>
        <p:txBody>
          <a:bodyPr/>
          <a:lstStyle/>
          <a:p>
            <a:pPr algn="ctr"/>
            <a:r>
              <a:rPr lang="en-US" dirty="0">
                <a:solidFill>
                  <a:schemeClr val="tx1"/>
                </a:solidFill>
                <a:latin typeface="Arial"/>
                <a:ea typeface="ＭＳ Ｐゴシック"/>
                <a:cs typeface="Arial"/>
              </a:rPr>
              <a:t>JOC Benefits</a:t>
            </a:r>
            <a:endParaRPr lang="en-US" dirty="0">
              <a:solidFill>
                <a:schemeClr val="tx1"/>
              </a:solidFill>
            </a:endParaRPr>
          </a:p>
        </p:txBody>
      </p:sp>
      <p:sp>
        <p:nvSpPr>
          <p:cNvPr id="4" name="TextBox 3">
            <a:extLst>
              <a:ext uri="{FF2B5EF4-FFF2-40B4-BE49-F238E27FC236}">
                <a16:creationId xmlns:a16="http://schemas.microsoft.com/office/drawing/2014/main" id="{46F53311-BA4D-9950-6679-2F8AE5C0BBC1}"/>
              </a:ext>
            </a:extLst>
          </p:cNvPr>
          <p:cNvSpPr txBox="1"/>
          <p:nvPr/>
        </p:nvSpPr>
        <p:spPr>
          <a:xfrm>
            <a:off x="3523475" y="6366214"/>
            <a:ext cx="2097049" cy="261610"/>
          </a:xfrm>
          <a:prstGeom prst="rect">
            <a:avLst/>
          </a:prstGeom>
          <a:noFill/>
        </p:spPr>
        <p:txBody>
          <a:bodyPr wrap="none" rtlCol="0">
            <a:spAutoFit/>
          </a:bodyPr>
          <a:lstStyle/>
          <a:p>
            <a:r>
              <a:rPr lang="en-US" sz="1100" dirty="0"/>
              <a:t>Prepared by: SSG Anglin, Lew</a:t>
            </a:r>
          </a:p>
        </p:txBody>
      </p:sp>
      <p:sp>
        <p:nvSpPr>
          <p:cNvPr id="7" name="TextBox 6">
            <a:extLst>
              <a:ext uri="{FF2B5EF4-FFF2-40B4-BE49-F238E27FC236}">
                <a16:creationId xmlns:a16="http://schemas.microsoft.com/office/drawing/2014/main" id="{887B91A9-616A-4323-FCE1-65B892E07734}"/>
              </a:ext>
            </a:extLst>
          </p:cNvPr>
          <p:cNvSpPr txBox="1"/>
          <p:nvPr/>
        </p:nvSpPr>
        <p:spPr>
          <a:xfrm>
            <a:off x="652262" y="1351532"/>
            <a:ext cx="7839474" cy="4247317"/>
          </a:xfrm>
          <a:prstGeom prst="rect">
            <a:avLst/>
          </a:prstGeom>
          <a:noFill/>
        </p:spPr>
        <p:txBody>
          <a:bodyPr wrap="square">
            <a:spAutoFit/>
          </a:bodyPr>
          <a:lstStyle/>
          <a:p>
            <a:pPr marL="457200" indent="-457200">
              <a:buFont typeface="Arial" panose="05000000000000000000" pitchFamily="2" charset="2"/>
              <a:buChar char="•"/>
            </a:pPr>
            <a:r>
              <a:rPr lang="en-US" dirty="0">
                <a:solidFill>
                  <a:schemeClr val="tx1"/>
                </a:solidFill>
                <a:ea typeface="ＭＳ Ｐゴシック"/>
                <a:cs typeface="Arial"/>
              </a:rPr>
              <a:t>Reduced procurement lead times</a:t>
            </a:r>
          </a:p>
          <a:p>
            <a:pPr marL="457200" indent="-457200">
              <a:buFont typeface="Arial" panose="05000000000000000000" pitchFamily="2" charset="2"/>
              <a:buChar char="•"/>
            </a:pPr>
            <a:endParaRPr lang="en-US" dirty="0">
              <a:solidFill>
                <a:schemeClr val="tx1"/>
              </a:solidFill>
            </a:endParaRPr>
          </a:p>
          <a:p>
            <a:pPr marL="457200" indent="-457200">
              <a:buFont typeface="Arial" panose="05000000000000000000" pitchFamily="2" charset="2"/>
              <a:buChar char="•"/>
            </a:pPr>
            <a:r>
              <a:rPr lang="en-US" dirty="0">
                <a:solidFill>
                  <a:schemeClr val="tx1"/>
                </a:solidFill>
                <a:ea typeface="ＭＳ Ｐゴシック"/>
                <a:cs typeface="Arial"/>
              </a:rPr>
              <a:t>Fast and timely delivery of projects</a:t>
            </a:r>
          </a:p>
          <a:p>
            <a:pPr marL="457200" indent="-457200">
              <a:buFont typeface="Arial" panose="05000000000000000000" pitchFamily="2" charset="2"/>
              <a:buChar char="•"/>
            </a:pPr>
            <a:endParaRPr lang="en-US" dirty="0">
              <a:solidFill>
                <a:schemeClr val="tx1"/>
              </a:solidFill>
              <a:ea typeface="ＭＳ Ｐゴシック"/>
              <a:cs typeface="Arial"/>
            </a:endParaRPr>
          </a:p>
          <a:p>
            <a:pPr marL="457200" indent="-457200">
              <a:buFont typeface="Arial" panose="05000000000000000000" pitchFamily="2" charset="2"/>
              <a:buChar char="•"/>
            </a:pPr>
            <a:r>
              <a:rPr lang="en-US" dirty="0">
                <a:solidFill>
                  <a:schemeClr val="tx1"/>
                </a:solidFill>
                <a:ea typeface="ＭＳ Ｐゴシック"/>
                <a:cs typeface="Arial"/>
              </a:rPr>
              <a:t>Low overhead cost of construction, procurement, and delivery</a:t>
            </a:r>
          </a:p>
          <a:p>
            <a:pPr marL="457200" indent="-457200">
              <a:buFont typeface="Arial" panose="05000000000000000000" pitchFamily="2" charset="2"/>
              <a:buChar char="•"/>
            </a:pPr>
            <a:endParaRPr lang="en-US" dirty="0">
              <a:solidFill>
                <a:schemeClr val="tx1"/>
              </a:solidFill>
              <a:ea typeface="ＭＳ Ｐゴシック"/>
              <a:cs typeface="Arial"/>
            </a:endParaRPr>
          </a:p>
          <a:p>
            <a:pPr marL="457200" indent="-457200">
              <a:buFont typeface="Arial" panose="05000000000000000000" pitchFamily="2" charset="2"/>
              <a:buChar char="•"/>
            </a:pPr>
            <a:r>
              <a:rPr lang="en-US" dirty="0">
                <a:solidFill>
                  <a:schemeClr val="tx1"/>
                </a:solidFill>
                <a:ea typeface="ＭＳ Ｐゴシック"/>
                <a:cs typeface="Arial"/>
              </a:rPr>
              <a:t>Transparency with itemized unit pricing</a:t>
            </a:r>
          </a:p>
          <a:p>
            <a:pPr marL="457200" indent="-457200">
              <a:buFont typeface="Arial" panose="05000000000000000000" pitchFamily="2" charset="2"/>
              <a:buChar char="•"/>
            </a:pPr>
            <a:endParaRPr lang="en-US" dirty="0">
              <a:solidFill>
                <a:schemeClr val="tx1"/>
              </a:solidFill>
              <a:ea typeface="ＭＳ Ｐゴシック"/>
              <a:cs typeface="Arial"/>
            </a:endParaRPr>
          </a:p>
          <a:p>
            <a:pPr marL="457200" indent="-457200">
              <a:buFont typeface="Arial" panose="05000000000000000000" pitchFamily="2" charset="2"/>
              <a:buChar char="•"/>
            </a:pPr>
            <a:r>
              <a:rPr lang="en-US" dirty="0">
                <a:solidFill>
                  <a:schemeClr val="tx1"/>
                </a:solidFill>
                <a:ea typeface="ＭＳ Ｐゴシック"/>
                <a:cs typeface="Arial"/>
              </a:rPr>
              <a:t>Reduced number of change orders</a:t>
            </a:r>
          </a:p>
          <a:p>
            <a:pPr marL="457200" indent="-457200">
              <a:buFont typeface="Arial" panose="05000000000000000000" pitchFamily="2" charset="2"/>
              <a:buChar char="•"/>
            </a:pPr>
            <a:endParaRPr lang="en-US" dirty="0">
              <a:solidFill>
                <a:schemeClr val="tx1"/>
              </a:solidFill>
              <a:ea typeface="ＭＳ Ｐゴシック"/>
              <a:cs typeface="Arial"/>
            </a:endParaRPr>
          </a:p>
          <a:p>
            <a:pPr marL="457200" indent="-457200">
              <a:buFont typeface="Arial" panose="05000000000000000000" pitchFamily="2" charset="2"/>
              <a:buChar char="•"/>
            </a:pPr>
            <a:r>
              <a:rPr lang="en-US" dirty="0">
                <a:solidFill>
                  <a:schemeClr val="tx1"/>
                </a:solidFill>
                <a:ea typeface="ＭＳ Ｐゴシック"/>
                <a:cs typeface="Arial"/>
              </a:rPr>
              <a:t>Standard pricing and specifications utilizing a published Unit Price Book Europe - Attachment 2</a:t>
            </a:r>
          </a:p>
          <a:p>
            <a:pPr marL="457200" indent="-457200">
              <a:buFont typeface="Arial" panose="05000000000000000000" pitchFamily="2" charset="2"/>
              <a:buChar char="•"/>
            </a:pPr>
            <a:endParaRPr lang="en-US" dirty="0">
              <a:solidFill>
                <a:schemeClr val="tx1"/>
              </a:solidFill>
              <a:ea typeface="ＭＳ Ｐゴシック"/>
              <a:cs typeface="Arial"/>
            </a:endParaRPr>
          </a:p>
          <a:p>
            <a:pPr marL="457200" indent="-457200">
              <a:buFont typeface="Arial" panose="05000000000000000000" pitchFamily="2" charset="2"/>
              <a:buChar char="•"/>
            </a:pPr>
            <a:r>
              <a:rPr lang="en-US" dirty="0">
                <a:solidFill>
                  <a:schemeClr val="tx1"/>
                </a:solidFill>
                <a:ea typeface="ＭＳ Ｐゴシック"/>
                <a:cs typeface="Arial"/>
              </a:rPr>
              <a:t>Low risk to the Government</a:t>
            </a:r>
          </a:p>
          <a:p>
            <a:pPr marL="457200" indent="-457200">
              <a:buFont typeface="Arial" panose="05000000000000000000" pitchFamily="2" charset="2"/>
              <a:buChar char="•"/>
            </a:pPr>
            <a:endParaRPr lang="en-US" sz="1800" dirty="0">
              <a:solidFill>
                <a:schemeClr val="tx1"/>
              </a:solidFill>
              <a:latin typeface="Arial"/>
              <a:ea typeface="ＭＳ Ｐゴシック"/>
              <a:cs typeface="Arial"/>
            </a:endParaRPr>
          </a:p>
        </p:txBody>
      </p:sp>
    </p:spTree>
    <p:extLst>
      <p:ext uri="{BB962C8B-B14F-4D97-AF65-F5344CB8AC3E}">
        <p14:creationId xmlns:p14="http://schemas.microsoft.com/office/powerpoint/2010/main" val="4304897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50FD5-4599-7C81-2DE3-5F6762A92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2061A-5CC7-C988-2538-565F6A4FA57E}"/>
              </a:ext>
            </a:extLst>
          </p:cNvPr>
          <p:cNvSpPr>
            <a:spLocks noGrp="1"/>
          </p:cNvSpPr>
          <p:nvPr>
            <p:ph type="title"/>
          </p:nvPr>
        </p:nvSpPr>
        <p:spPr>
          <a:xfrm>
            <a:off x="836761" y="104037"/>
            <a:ext cx="7955280" cy="480131"/>
          </a:xfrm>
        </p:spPr>
        <p:txBody>
          <a:bodyPr/>
          <a:lstStyle/>
          <a:p>
            <a:pPr algn="ctr"/>
            <a:r>
              <a:rPr lang="en-US" dirty="0">
                <a:solidFill>
                  <a:schemeClr val="tx1"/>
                </a:solidFill>
              </a:rPr>
              <a:t>JOC Limitations</a:t>
            </a:r>
          </a:p>
        </p:txBody>
      </p:sp>
      <p:sp>
        <p:nvSpPr>
          <p:cNvPr id="4" name="TextBox 3">
            <a:extLst>
              <a:ext uri="{FF2B5EF4-FFF2-40B4-BE49-F238E27FC236}">
                <a16:creationId xmlns:a16="http://schemas.microsoft.com/office/drawing/2014/main" id="{C379C64E-86B3-CE3B-690D-92AA116E872F}"/>
              </a:ext>
            </a:extLst>
          </p:cNvPr>
          <p:cNvSpPr txBox="1"/>
          <p:nvPr/>
        </p:nvSpPr>
        <p:spPr>
          <a:xfrm>
            <a:off x="3523475" y="6366214"/>
            <a:ext cx="2097049" cy="261610"/>
          </a:xfrm>
          <a:prstGeom prst="rect">
            <a:avLst/>
          </a:prstGeom>
          <a:noFill/>
        </p:spPr>
        <p:txBody>
          <a:bodyPr wrap="none" rtlCol="0">
            <a:spAutoFit/>
          </a:bodyPr>
          <a:lstStyle/>
          <a:p>
            <a:r>
              <a:rPr lang="en-US" sz="1100" dirty="0"/>
              <a:t>Prepared by: SSG Anglin, Lew</a:t>
            </a:r>
          </a:p>
        </p:txBody>
      </p:sp>
      <p:sp>
        <p:nvSpPr>
          <p:cNvPr id="7" name="TextBox 6">
            <a:extLst>
              <a:ext uri="{FF2B5EF4-FFF2-40B4-BE49-F238E27FC236}">
                <a16:creationId xmlns:a16="http://schemas.microsoft.com/office/drawing/2014/main" id="{347DCC87-F8E9-1585-638E-F776B058ADFD}"/>
              </a:ext>
            </a:extLst>
          </p:cNvPr>
          <p:cNvSpPr txBox="1"/>
          <p:nvPr/>
        </p:nvSpPr>
        <p:spPr>
          <a:xfrm>
            <a:off x="421342" y="751807"/>
            <a:ext cx="8614092" cy="5586658"/>
          </a:xfrm>
          <a:prstGeom prst="rect">
            <a:avLst/>
          </a:prstGeom>
          <a:noFill/>
        </p:spPr>
        <p:txBody>
          <a:bodyPr wrap="square">
            <a:spAutoFit/>
          </a:bodyPr>
          <a:lstStyle/>
          <a:p>
            <a:pPr>
              <a:lnSpc>
                <a:spcPct val="150000"/>
              </a:lnSpc>
            </a:pPr>
            <a:r>
              <a:rPr lang="en-US" sz="1600" dirty="0">
                <a:ea typeface="ＭＳ Ｐゴシック"/>
                <a:cs typeface="Arial"/>
              </a:rPr>
              <a:t>JOC </a:t>
            </a:r>
            <a:r>
              <a:rPr lang="en-US" sz="1600" b="1" u="sng" dirty="0">
                <a:ea typeface="ＭＳ Ｐゴシック"/>
                <a:cs typeface="Arial"/>
              </a:rPr>
              <a:t>CANNOT</a:t>
            </a:r>
            <a:r>
              <a:rPr lang="en-US" sz="1600" dirty="0">
                <a:ea typeface="ＭＳ Ｐゴシック"/>
                <a:cs typeface="Arial"/>
              </a:rPr>
              <a:t> be used for:</a:t>
            </a:r>
          </a:p>
          <a:p>
            <a:pPr marL="285750" indent="-285750" algn="l">
              <a:lnSpc>
                <a:spcPct val="150000"/>
              </a:lnSpc>
              <a:buFont typeface="Arial" panose="020B0604020202020204" pitchFamily="34" charset="0"/>
              <a:buChar char="•"/>
            </a:pPr>
            <a:r>
              <a:rPr lang="en-US" sz="1600" b="0" i="0" u="none" strike="noStrike" baseline="0" dirty="0"/>
              <a:t>Fuels</a:t>
            </a:r>
          </a:p>
          <a:p>
            <a:pPr marL="285750" indent="-285750" algn="l">
              <a:lnSpc>
                <a:spcPct val="150000"/>
              </a:lnSpc>
              <a:buFont typeface="Arial" panose="020B0604020202020204" pitchFamily="34" charset="0"/>
              <a:buChar char="•"/>
            </a:pPr>
            <a:r>
              <a:rPr lang="en-US" sz="1600" b="0" i="0" u="none" strike="noStrike" baseline="0" dirty="0"/>
              <a:t>Utilities (Contractor will perform incidental work to connection point of primary utilities)</a:t>
            </a:r>
          </a:p>
          <a:p>
            <a:pPr marL="285750" indent="-285750" algn="l">
              <a:lnSpc>
                <a:spcPct val="150000"/>
              </a:lnSpc>
              <a:buFont typeface="Arial" panose="020B0604020202020204" pitchFamily="34" charset="0"/>
              <a:buChar char="•"/>
            </a:pPr>
            <a:r>
              <a:rPr lang="en-US" sz="1600" b="0" i="0" u="none" strike="noStrike" baseline="0" dirty="0"/>
              <a:t>Construction / Administrative </a:t>
            </a:r>
            <a:r>
              <a:rPr lang="en-US" sz="1600" dirty="0"/>
              <a:t>E</a:t>
            </a:r>
            <a:r>
              <a:rPr lang="en-US" sz="1600" b="0" i="0" u="none" strike="noStrike" baseline="0" dirty="0"/>
              <a:t>quipment</a:t>
            </a:r>
          </a:p>
          <a:p>
            <a:pPr marL="285750" indent="-285750" algn="l">
              <a:lnSpc>
                <a:spcPct val="150000"/>
              </a:lnSpc>
              <a:buFont typeface="Arial" panose="020B0604020202020204" pitchFamily="34" charset="0"/>
              <a:buChar char="•"/>
            </a:pPr>
            <a:r>
              <a:rPr lang="en-US" sz="1600" b="0" i="0" u="none" strike="noStrike" baseline="0" dirty="0"/>
              <a:t>Furnishings</a:t>
            </a:r>
          </a:p>
          <a:p>
            <a:pPr marL="285750" indent="-285750" algn="l">
              <a:lnSpc>
                <a:spcPct val="150000"/>
              </a:lnSpc>
              <a:buFont typeface="Arial" panose="020B0604020202020204" pitchFamily="34" charset="0"/>
              <a:buChar char="•"/>
            </a:pPr>
            <a:r>
              <a:rPr lang="en-US" sz="1600" b="0" i="0" u="none" strike="noStrike" baseline="0" dirty="0"/>
              <a:t>Construction materials only (lumber, concrete, etc.), for other than valid JOC projects</a:t>
            </a:r>
          </a:p>
          <a:p>
            <a:pPr marL="285750" indent="-285750" algn="l">
              <a:lnSpc>
                <a:spcPct val="150000"/>
              </a:lnSpc>
              <a:buFont typeface="Arial" panose="020B0604020202020204" pitchFamily="34" charset="0"/>
              <a:buChar char="•"/>
            </a:pPr>
            <a:r>
              <a:rPr lang="en-US" sz="1600" b="0" i="0" u="none" strike="noStrike" baseline="0" dirty="0"/>
              <a:t>A-E Services (Brooks Act)</a:t>
            </a:r>
          </a:p>
          <a:p>
            <a:pPr marL="285750" indent="-285750" algn="l">
              <a:lnSpc>
                <a:spcPct val="150000"/>
              </a:lnSpc>
              <a:buFont typeface="Arial" panose="020B0604020202020204" pitchFamily="34" charset="0"/>
              <a:buChar char="•"/>
            </a:pPr>
            <a:r>
              <a:rPr lang="en-US" sz="1600" b="0" i="0" u="none" strike="noStrike" baseline="0" dirty="0"/>
              <a:t>Administrative services such as typing, transportation, reproduction, graphics, and interior design services not part of a JOC Contractor construction proposal</a:t>
            </a:r>
          </a:p>
          <a:p>
            <a:pPr marL="285750" indent="-285750" algn="l">
              <a:lnSpc>
                <a:spcPct val="150000"/>
              </a:lnSpc>
              <a:buFont typeface="Arial" panose="020B0604020202020204" pitchFamily="34" charset="0"/>
              <a:buChar char="•"/>
            </a:pPr>
            <a:r>
              <a:rPr lang="en-US" sz="1600" b="0" i="0" u="none" strike="noStrike" baseline="0" dirty="0"/>
              <a:t>Maintenance, overhaul, or repair of equipment</a:t>
            </a:r>
          </a:p>
          <a:p>
            <a:pPr marL="285750" indent="-285750" algn="l">
              <a:lnSpc>
                <a:spcPct val="150000"/>
              </a:lnSpc>
              <a:buFont typeface="Arial" panose="020B0604020202020204" pitchFamily="34" charset="0"/>
              <a:buChar char="•"/>
            </a:pPr>
            <a:r>
              <a:rPr lang="en-US" sz="1600" b="0" i="0" u="none" strike="noStrike" baseline="0" dirty="0"/>
              <a:t>Housekeeping Services</a:t>
            </a:r>
          </a:p>
          <a:p>
            <a:pPr marL="285750" indent="-285750" algn="l">
              <a:lnSpc>
                <a:spcPct val="150000"/>
              </a:lnSpc>
              <a:buFont typeface="Arial" panose="020B0604020202020204" pitchFamily="34" charset="0"/>
              <a:buChar char="•"/>
            </a:pPr>
            <a:r>
              <a:rPr lang="en-US" sz="1600" b="0" i="0" u="none" strike="noStrike" baseline="0" dirty="0"/>
              <a:t>Purchase of supplies</a:t>
            </a:r>
          </a:p>
          <a:p>
            <a:pPr marL="285750" indent="-285750" algn="l">
              <a:lnSpc>
                <a:spcPct val="150000"/>
              </a:lnSpc>
              <a:buFont typeface="Arial" panose="020B0604020202020204" pitchFamily="34" charset="0"/>
              <a:buChar char="•"/>
            </a:pPr>
            <a:r>
              <a:rPr lang="en-US" sz="1600" b="0" i="0" u="none" strike="noStrike" baseline="0" dirty="0"/>
              <a:t>No Design (Contractor will produce shop drawings incidental to the job, reflecting the plan of action and the completed project)</a:t>
            </a:r>
          </a:p>
          <a:p>
            <a:pPr marL="285750" indent="-285750" algn="l">
              <a:lnSpc>
                <a:spcPct val="150000"/>
              </a:lnSpc>
              <a:buFont typeface="Arial" panose="020B0604020202020204" pitchFamily="34" charset="0"/>
              <a:buChar char="•"/>
            </a:pPr>
            <a:r>
              <a:rPr lang="en-US" sz="1600" b="0" i="0" u="none" strike="noStrike" baseline="0" dirty="0"/>
              <a:t>For the sole purpose of abatement of lead-based paint and/or asbestos</a:t>
            </a:r>
            <a:endParaRPr lang="en-US" sz="1600" dirty="0">
              <a:solidFill>
                <a:schemeClr val="tx1"/>
              </a:solidFill>
              <a:ea typeface="ＭＳ Ｐゴシック"/>
              <a:cs typeface="Arial"/>
            </a:endParaRPr>
          </a:p>
        </p:txBody>
      </p:sp>
    </p:spTree>
    <p:extLst>
      <p:ext uri="{BB962C8B-B14F-4D97-AF65-F5344CB8AC3E}">
        <p14:creationId xmlns:p14="http://schemas.microsoft.com/office/powerpoint/2010/main" val="42032919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5AD20-E8A9-3D1D-C2C5-3F07B4425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BD307-AC46-15AB-D4C5-857746F4784F}"/>
              </a:ext>
            </a:extLst>
          </p:cNvPr>
          <p:cNvSpPr>
            <a:spLocks noGrp="1"/>
          </p:cNvSpPr>
          <p:nvPr>
            <p:ph type="title"/>
          </p:nvPr>
        </p:nvSpPr>
        <p:spPr>
          <a:xfrm>
            <a:off x="836761" y="104037"/>
            <a:ext cx="7955280" cy="867930"/>
          </a:xfrm>
        </p:spPr>
        <p:txBody>
          <a:bodyPr/>
          <a:lstStyle/>
          <a:p>
            <a:pPr algn="ctr"/>
            <a:r>
              <a:rPr lang="en-US" dirty="0">
                <a:solidFill>
                  <a:schemeClr val="tx1"/>
                </a:solidFill>
              </a:rPr>
              <a:t>JOC </a:t>
            </a:r>
            <a:r>
              <a:rPr lang="en-US" dirty="0">
                <a:solidFill>
                  <a:schemeClr val="tx1"/>
                </a:solidFill>
                <a:ea typeface="ＭＳ Ｐゴシック" charset="0"/>
              </a:rPr>
              <a:t>Pricing</a:t>
            </a:r>
            <a:br>
              <a:rPr lang="en-US" dirty="0"/>
            </a:br>
            <a:endParaRPr lang="en-US" dirty="0">
              <a:solidFill>
                <a:schemeClr val="tx1"/>
              </a:solidFill>
            </a:endParaRPr>
          </a:p>
        </p:txBody>
      </p:sp>
      <p:sp>
        <p:nvSpPr>
          <p:cNvPr id="4" name="TextBox 3">
            <a:extLst>
              <a:ext uri="{FF2B5EF4-FFF2-40B4-BE49-F238E27FC236}">
                <a16:creationId xmlns:a16="http://schemas.microsoft.com/office/drawing/2014/main" id="{B858707C-5551-AD6A-3760-D8EBD9A4E311}"/>
              </a:ext>
            </a:extLst>
          </p:cNvPr>
          <p:cNvSpPr txBox="1"/>
          <p:nvPr/>
        </p:nvSpPr>
        <p:spPr>
          <a:xfrm>
            <a:off x="3523475" y="6366214"/>
            <a:ext cx="2097049" cy="261610"/>
          </a:xfrm>
          <a:prstGeom prst="rect">
            <a:avLst/>
          </a:prstGeom>
          <a:noFill/>
        </p:spPr>
        <p:txBody>
          <a:bodyPr wrap="none" rtlCol="0">
            <a:spAutoFit/>
          </a:bodyPr>
          <a:lstStyle/>
          <a:p>
            <a:r>
              <a:rPr lang="en-US" sz="1100" dirty="0"/>
              <a:t>Prepared by: SSG Anglin, Lew</a:t>
            </a:r>
          </a:p>
        </p:txBody>
      </p:sp>
      <p:sp>
        <p:nvSpPr>
          <p:cNvPr id="5" name="TextBox 4">
            <a:extLst>
              <a:ext uri="{FF2B5EF4-FFF2-40B4-BE49-F238E27FC236}">
                <a16:creationId xmlns:a16="http://schemas.microsoft.com/office/drawing/2014/main" id="{C6A6AF9D-326F-791B-7DB6-71B8FCEBF0D0}"/>
              </a:ext>
            </a:extLst>
          </p:cNvPr>
          <p:cNvSpPr txBox="1"/>
          <p:nvPr/>
        </p:nvSpPr>
        <p:spPr>
          <a:xfrm>
            <a:off x="836761" y="588603"/>
            <a:ext cx="7810089" cy="461665"/>
          </a:xfrm>
          <a:prstGeom prst="rect">
            <a:avLst/>
          </a:prstGeom>
          <a:noFill/>
        </p:spPr>
        <p:txBody>
          <a:bodyPr wrap="square">
            <a:spAutoFit/>
          </a:bodyPr>
          <a:lstStyle/>
          <a:p>
            <a:pPr algn="ctr"/>
            <a:r>
              <a:rPr lang="en-US" sz="2400" b="1" i="0" u="none" strike="noStrike" baseline="0" dirty="0">
                <a:latin typeface="Arial" panose="020B0604020202020204" pitchFamily="34" charset="0"/>
                <a:cs typeface="Arial" panose="020B0604020202020204" pitchFamily="34" charset="0"/>
              </a:rPr>
              <a:t>Factor 4 - Price (Coefficients)</a:t>
            </a:r>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005650EE-7049-10FB-BD4B-4FF3C719F130}"/>
              </a:ext>
            </a:extLst>
          </p:cNvPr>
          <p:cNvSpPr txBox="1"/>
          <p:nvPr/>
        </p:nvSpPr>
        <p:spPr>
          <a:xfrm>
            <a:off x="143435" y="3593502"/>
            <a:ext cx="8229599" cy="2031325"/>
          </a:xfrm>
          <a:prstGeom prst="rect">
            <a:avLst/>
          </a:prstGeom>
          <a:noFill/>
        </p:spPr>
        <p:txBody>
          <a:bodyPr wrap="square">
            <a:spAutoFit/>
          </a:bodyPr>
          <a:lstStyle/>
          <a:p>
            <a:pPr algn="l"/>
            <a:endParaRPr lang="en-US" sz="1400" b="1" i="0" u="none" strike="noStrike" baseline="0" dirty="0">
              <a:latin typeface="Arial" panose="020B0604020202020204" pitchFamily="34" charset="0"/>
              <a:cs typeface="Arial" panose="020B0604020202020204" pitchFamily="34" charset="0"/>
            </a:endParaRPr>
          </a:p>
          <a:p>
            <a:pPr marL="800100" lvl="1" indent="-342900">
              <a:buFont typeface="+mj-lt"/>
              <a:buAutoNum type="alphaUcPeriod"/>
            </a:pPr>
            <a:r>
              <a:rPr lang="en-US" sz="1400" b="1" dirty="0">
                <a:cs typeface="Arial" panose="020B0604020202020204" pitchFamily="34" charset="0"/>
              </a:rPr>
              <a:t>Normal Regular Hours Coefficient: </a:t>
            </a:r>
            <a:r>
              <a:rPr lang="en-US" sz="1400" dirty="0">
                <a:cs typeface="Arial" panose="020B0604020202020204" pitchFamily="34" charset="0"/>
              </a:rPr>
              <a:t>A single coefficient applicable to work performed during Regular Hours as defined in Section J, Attachment 3.</a:t>
            </a:r>
          </a:p>
          <a:p>
            <a:pPr marL="800100" lvl="1" indent="-342900">
              <a:buFont typeface="+mj-lt"/>
              <a:buAutoNum type="alphaUcPeriod"/>
            </a:pPr>
            <a:endParaRPr lang="en-US" sz="1400" b="1" dirty="0">
              <a:cs typeface="Arial" panose="020B0604020202020204" pitchFamily="34" charset="0"/>
            </a:endParaRPr>
          </a:p>
          <a:p>
            <a:pPr marL="800100" lvl="1" indent="-342900">
              <a:buFont typeface="+mj-lt"/>
              <a:buAutoNum type="alphaUcPeriod"/>
            </a:pPr>
            <a:r>
              <a:rPr lang="en-US" sz="1400" b="1" i="0" u="none" strike="noStrike" baseline="0" dirty="0">
                <a:cs typeface="Arial" panose="020B0604020202020204" pitchFamily="34" charset="0"/>
              </a:rPr>
              <a:t>Other Than Regular Working Hours Coefficient: </a:t>
            </a:r>
            <a:r>
              <a:rPr lang="en-US" sz="1400" b="0" i="0" u="none" strike="noStrike" baseline="0" dirty="0">
                <a:cs typeface="Arial" panose="020B0604020202020204" pitchFamily="34" charset="0"/>
              </a:rPr>
              <a:t>A separate coefficient applicable to work performed other than Regular Hours, as defined in Section J, Attachment 3.</a:t>
            </a:r>
          </a:p>
          <a:p>
            <a:pPr marL="800100" lvl="1" indent="-342900">
              <a:buFont typeface="+mj-lt"/>
              <a:buAutoNum type="alphaUcPeriod"/>
            </a:pPr>
            <a:endParaRPr lang="en-US" sz="1400" b="0" i="0" u="none" strike="noStrike" baseline="0" dirty="0">
              <a:cs typeface="Arial" panose="020B0604020202020204" pitchFamily="34" charset="0"/>
            </a:endParaRPr>
          </a:p>
          <a:p>
            <a:pPr marL="800100" lvl="1" indent="-342900">
              <a:buFont typeface="+mj-lt"/>
              <a:buAutoNum type="alphaUcPeriod"/>
            </a:pPr>
            <a:r>
              <a:rPr lang="en-US" sz="1400" b="1" i="0" u="none" strike="noStrike" baseline="0" dirty="0">
                <a:cs typeface="Arial" panose="020B0604020202020204" pitchFamily="34" charset="0"/>
              </a:rPr>
              <a:t>Non Pre-Priced Items: </a:t>
            </a:r>
            <a:r>
              <a:rPr lang="en-US" sz="1400" b="0" i="0" u="none" strike="noStrike" baseline="0" dirty="0">
                <a:cs typeface="Arial" panose="020B0604020202020204" pitchFamily="34" charset="0"/>
              </a:rPr>
              <a:t>A separate coefficient applicable to work performed Non-Pre Priced</a:t>
            </a:r>
            <a:r>
              <a:rPr lang="en-US" sz="1400" dirty="0">
                <a:cs typeface="Arial" panose="020B0604020202020204" pitchFamily="34" charset="0"/>
              </a:rPr>
              <a:t> </a:t>
            </a:r>
            <a:r>
              <a:rPr lang="en-US" sz="1400" b="0" i="0" u="none" strike="noStrike" baseline="0" dirty="0">
                <a:cs typeface="Arial" panose="020B0604020202020204" pitchFamily="34" charset="0"/>
              </a:rPr>
              <a:t>Items as defined in Section J, Attachment 3.</a:t>
            </a:r>
            <a:endParaRPr lang="en-US" sz="1400" dirty="0">
              <a:cs typeface="Arial" panose="020B0604020202020204" pitchFamily="34" charset="0"/>
            </a:endParaRPr>
          </a:p>
        </p:txBody>
      </p:sp>
      <p:sp>
        <p:nvSpPr>
          <p:cNvPr id="10" name="TextBox 9">
            <a:extLst>
              <a:ext uri="{FF2B5EF4-FFF2-40B4-BE49-F238E27FC236}">
                <a16:creationId xmlns:a16="http://schemas.microsoft.com/office/drawing/2014/main" id="{3AD5388E-0127-6A41-96FC-C368BED499D0}"/>
              </a:ext>
            </a:extLst>
          </p:cNvPr>
          <p:cNvSpPr txBox="1"/>
          <p:nvPr/>
        </p:nvSpPr>
        <p:spPr>
          <a:xfrm>
            <a:off x="560686" y="1332701"/>
            <a:ext cx="8583314" cy="2339102"/>
          </a:xfrm>
          <a:prstGeom prst="rect">
            <a:avLst/>
          </a:prstGeom>
          <a:noFill/>
        </p:spPr>
        <p:txBody>
          <a:bodyPr wrap="square">
            <a:spAutoFit/>
          </a:bodyPr>
          <a:lstStyle/>
          <a:p>
            <a:pPr algn="l"/>
            <a:r>
              <a:rPr lang="en-US" sz="1400" b="1" i="0" u="none" strike="noStrike" baseline="0" dirty="0">
                <a:cs typeface="Arial" panose="020B0604020202020204" pitchFamily="34" charset="0"/>
              </a:rPr>
              <a:t>Factor 4 - Price (Coefficients): </a:t>
            </a:r>
            <a:r>
              <a:rPr lang="en-US" sz="1400" b="0" i="0" u="none" strike="noStrike" baseline="0" dirty="0">
                <a:cs typeface="Arial" panose="020B0604020202020204" pitchFamily="34" charset="0"/>
              </a:rPr>
              <a:t>Price proposals will be evaluated for completeness,</a:t>
            </a:r>
          </a:p>
          <a:p>
            <a:pPr algn="l"/>
            <a:r>
              <a:rPr lang="en-US" sz="1400" b="0" i="0" u="none" strike="noStrike" baseline="0" dirty="0">
                <a:cs typeface="Arial" panose="020B0604020202020204" pitchFamily="34" charset="0"/>
              </a:rPr>
              <a:t>reasonableness, realism, and balance. The proposed coefficient(s) will be reviewed to</a:t>
            </a:r>
          </a:p>
          <a:p>
            <a:pPr algn="l"/>
            <a:r>
              <a:rPr lang="en-US" sz="1400" b="0" i="0" u="none" strike="noStrike" baseline="0" dirty="0">
                <a:cs typeface="Arial" panose="020B0604020202020204" pitchFamily="34" charset="0"/>
              </a:rPr>
              <a:t>determine whether they reflect a fair and reasonable price to the Government.</a:t>
            </a:r>
          </a:p>
          <a:p>
            <a:pPr algn="l"/>
            <a:r>
              <a:rPr lang="en-US" sz="1400" b="0" i="0" u="none" strike="noStrike" baseline="0" dirty="0">
                <a:cs typeface="Arial" panose="020B0604020202020204" pitchFamily="34" charset="0"/>
              </a:rPr>
              <a:t>Analysis will be performed by one or more of the following techniques to ensure a fair and</a:t>
            </a:r>
          </a:p>
          <a:p>
            <a:pPr algn="l">
              <a:spcAft>
                <a:spcPts val="600"/>
              </a:spcAft>
            </a:pPr>
            <a:r>
              <a:rPr lang="en-US" sz="1400" b="0" i="0" u="none" strike="noStrike" baseline="0" dirty="0">
                <a:cs typeface="Arial" panose="020B0604020202020204" pitchFamily="34" charset="0"/>
              </a:rPr>
              <a:t>reasonable price.</a:t>
            </a:r>
          </a:p>
          <a:p>
            <a:pPr marL="171450" indent="-171450" algn="l">
              <a:spcAft>
                <a:spcPts val="600"/>
              </a:spcAft>
              <a:buFont typeface="Arial" panose="020B0604020202020204" pitchFamily="34" charset="0"/>
              <a:buChar char="•"/>
            </a:pPr>
            <a:r>
              <a:rPr lang="en-US" sz="1400" b="0" i="0" u="none" strike="noStrike" baseline="0" dirty="0">
                <a:cs typeface="Arial" panose="020B0604020202020204" pitchFamily="34" charset="0"/>
              </a:rPr>
              <a:t>Comparison of proposed coefficients received in response to the Solicitation.</a:t>
            </a:r>
          </a:p>
          <a:p>
            <a:pPr marL="171450" indent="-171450" algn="l">
              <a:spcAft>
                <a:spcPts val="600"/>
              </a:spcAft>
              <a:buFont typeface="Arial" panose="020B0604020202020204" pitchFamily="34" charset="0"/>
              <a:buChar char="•"/>
            </a:pPr>
            <a:r>
              <a:rPr lang="en-US" sz="1400" b="0" i="0" u="none" strike="noStrike" baseline="0" dirty="0">
                <a:cs typeface="Arial" panose="020B0604020202020204" pitchFamily="34" charset="0"/>
              </a:rPr>
              <a:t>Comparison of proposed coefficients with the Government Estimate.</a:t>
            </a:r>
          </a:p>
          <a:p>
            <a:pPr marL="171450" indent="-171450" algn="l">
              <a:spcAft>
                <a:spcPts val="600"/>
              </a:spcAft>
              <a:buFont typeface="Arial" panose="020B0604020202020204" pitchFamily="34" charset="0"/>
              <a:buChar char="•"/>
            </a:pPr>
            <a:r>
              <a:rPr lang="en-US" sz="1400" b="0" i="0" u="none" strike="noStrike" baseline="0" dirty="0">
                <a:cs typeface="Arial" panose="020B0604020202020204" pitchFamily="34" charset="0"/>
              </a:rPr>
              <a:t>Comparison of proposed coefficients with available historical information.</a:t>
            </a:r>
          </a:p>
          <a:p>
            <a:pPr marL="171450" indent="-171450" algn="l">
              <a:spcAft>
                <a:spcPts val="600"/>
              </a:spcAft>
              <a:buFont typeface="Arial" panose="020B0604020202020204" pitchFamily="34" charset="0"/>
              <a:buChar char="•"/>
            </a:pPr>
            <a:r>
              <a:rPr lang="en-US" sz="1400" b="0" i="0" u="none" strike="noStrike" baseline="0" dirty="0">
                <a:cs typeface="Arial" panose="020B0604020202020204" pitchFamily="34" charset="0"/>
              </a:rPr>
              <a:t>Comparison of proposed coefficients with market average.</a:t>
            </a:r>
            <a:endParaRPr lang="en-US" sz="1400" dirty="0">
              <a:cs typeface="Arial" panose="020B0604020202020204" pitchFamily="34" charset="0"/>
            </a:endParaRPr>
          </a:p>
        </p:txBody>
      </p:sp>
      <p:sp>
        <p:nvSpPr>
          <p:cNvPr id="12" name="TextBox 11">
            <a:extLst>
              <a:ext uri="{FF2B5EF4-FFF2-40B4-BE49-F238E27FC236}">
                <a16:creationId xmlns:a16="http://schemas.microsoft.com/office/drawing/2014/main" id="{31277463-BDDC-D937-E9A7-186F6EE28701}"/>
              </a:ext>
            </a:extLst>
          </p:cNvPr>
          <p:cNvSpPr txBox="1"/>
          <p:nvPr/>
        </p:nvSpPr>
        <p:spPr>
          <a:xfrm>
            <a:off x="66592" y="5719883"/>
            <a:ext cx="9010814" cy="646331"/>
          </a:xfrm>
          <a:prstGeom prst="rect">
            <a:avLst/>
          </a:prstGeom>
          <a:noFill/>
        </p:spPr>
        <p:txBody>
          <a:bodyPr wrap="square">
            <a:spAutoFit/>
          </a:bodyPr>
          <a:lstStyle/>
          <a:p>
            <a:pPr algn="l"/>
            <a:r>
              <a:rPr lang="en-US" sz="1200" b="1" i="0" u="none" strike="noStrike" baseline="0" dirty="0">
                <a:latin typeface="Arial" panose="020B0604020202020204" pitchFamily="34" charset="0"/>
                <a:cs typeface="Arial" panose="020B0604020202020204" pitchFamily="34" charset="0"/>
              </a:rPr>
              <a:t>The Government reserves the right to conduct a price realism analysis of proposed prices to determine risk of unreasonable low proposed prices when compared to Offeror-proposed prices submitted in response to the solicitation or in comparison with the IGE</a:t>
            </a:r>
            <a:r>
              <a:rPr lang="en-US" sz="1200" b="0" i="0" u="none" strike="noStrike" baseline="0" dirty="0">
                <a:latin typeface="ArialMT"/>
              </a:rPr>
              <a:t>.</a:t>
            </a:r>
            <a:endParaRPr lang="en-US" dirty="0"/>
          </a:p>
        </p:txBody>
      </p:sp>
    </p:spTree>
    <p:extLst>
      <p:ext uri="{BB962C8B-B14F-4D97-AF65-F5344CB8AC3E}">
        <p14:creationId xmlns:p14="http://schemas.microsoft.com/office/powerpoint/2010/main" val="25709747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D4BF3-A73B-1D2A-F296-277A0401EB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278F1-8A7D-27D9-F055-358D06BE1BBB}"/>
              </a:ext>
            </a:extLst>
          </p:cNvPr>
          <p:cNvSpPr>
            <a:spLocks noGrp="1"/>
          </p:cNvSpPr>
          <p:nvPr>
            <p:ph type="title"/>
          </p:nvPr>
        </p:nvSpPr>
        <p:spPr>
          <a:xfrm>
            <a:off x="836761" y="104037"/>
            <a:ext cx="7955280" cy="867930"/>
          </a:xfrm>
        </p:spPr>
        <p:txBody>
          <a:bodyPr/>
          <a:lstStyle/>
          <a:p>
            <a:pPr algn="ctr"/>
            <a:r>
              <a:rPr lang="en-US" dirty="0">
                <a:solidFill>
                  <a:schemeClr val="tx1"/>
                </a:solidFill>
              </a:rPr>
              <a:t>JOC </a:t>
            </a:r>
            <a:r>
              <a:rPr lang="en-US" dirty="0">
                <a:solidFill>
                  <a:schemeClr val="tx1"/>
                </a:solidFill>
                <a:ea typeface="ＭＳ Ｐゴシック" charset="0"/>
              </a:rPr>
              <a:t>Pricing Continued</a:t>
            </a:r>
            <a:br>
              <a:rPr lang="en-US" dirty="0"/>
            </a:br>
            <a:endParaRPr lang="en-US" dirty="0">
              <a:solidFill>
                <a:schemeClr val="tx1"/>
              </a:solidFill>
            </a:endParaRPr>
          </a:p>
        </p:txBody>
      </p:sp>
      <p:sp>
        <p:nvSpPr>
          <p:cNvPr id="4" name="TextBox 3">
            <a:extLst>
              <a:ext uri="{FF2B5EF4-FFF2-40B4-BE49-F238E27FC236}">
                <a16:creationId xmlns:a16="http://schemas.microsoft.com/office/drawing/2014/main" id="{71AB819E-D19C-FEEF-77A6-433F61E4A33E}"/>
              </a:ext>
            </a:extLst>
          </p:cNvPr>
          <p:cNvSpPr txBox="1"/>
          <p:nvPr/>
        </p:nvSpPr>
        <p:spPr>
          <a:xfrm>
            <a:off x="3523475" y="6366214"/>
            <a:ext cx="2097049" cy="261610"/>
          </a:xfrm>
          <a:prstGeom prst="rect">
            <a:avLst/>
          </a:prstGeom>
          <a:noFill/>
        </p:spPr>
        <p:txBody>
          <a:bodyPr wrap="none" rtlCol="0">
            <a:spAutoFit/>
          </a:bodyPr>
          <a:lstStyle/>
          <a:p>
            <a:r>
              <a:rPr lang="en-US" sz="1100" dirty="0"/>
              <a:t>Prepared by: SSG Anglin, Lew</a:t>
            </a:r>
          </a:p>
        </p:txBody>
      </p:sp>
      <p:sp>
        <p:nvSpPr>
          <p:cNvPr id="7" name="TextBox 6">
            <a:extLst>
              <a:ext uri="{FF2B5EF4-FFF2-40B4-BE49-F238E27FC236}">
                <a16:creationId xmlns:a16="http://schemas.microsoft.com/office/drawing/2014/main" id="{68CB1DB1-AE42-19DA-A50F-CB744BE10211}"/>
              </a:ext>
            </a:extLst>
          </p:cNvPr>
          <p:cNvSpPr txBox="1"/>
          <p:nvPr/>
        </p:nvSpPr>
        <p:spPr>
          <a:xfrm>
            <a:off x="359321" y="1413063"/>
            <a:ext cx="8432720" cy="4031873"/>
          </a:xfrm>
          <a:prstGeom prst="rect">
            <a:avLst/>
          </a:prstGeom>
          <a:noFill/>
        </p:spPr>
        <p:txBody>
          <a:bodyPr wrap="square">
            <a:spAutoFit/>
          </a:bodyPr>
          <a:lstStyle/>
          <a:p>
            <a:pPr marL="285750" indent="-285750" algn="l">
              <a:buFont typeface="Arial" panose="020B0604020202020204" pitchFamily="34" charset="0"/>
              <a:buChar char="•"/>
            </a:pPr>
            <a:r>
              <a:rPr lang="en-US" sz="1600" b="1" i="1" u="none" strike="noStrike" baseline="0" dirty="0"/>
              <a:t>Non-Pre-Priced (NPP) Items: </a:t>
            </a:r>
            <a:r>
              <a:rPr lang="en-US" sz="1600" b="0" i="0" u="none" strike="noStrike" baseline="0" dirty="0"/>
              <a:t>Tasks not included in the Unit Price Book Europe 2025 but within the intent and general scope of the contract. NPP work may also include items that are included in the Unit Price Book Europe 2025 but require adjustments because of unusual site conditions differing from those contemplated in the contract. NPP work is discussed separately from tasks included in the Unit Price Book Europe 2025. The coefficient developed for a Pre-Priced task or item must not be applied to a NPP task or item.</a:t>
            </a:r>
          </a:p>
          <a:p>
            <a:pPr marL="285750" indent="-285750" algn="l">
              <a:buFont typeface="Arial" panose="020B0604020202020204" pitchFamily="34" charset="0"/>
              <a:buChar char="•"/>
            </a:pPr>
            <a:endParaRPr lang="en-US" sz="1600" b="0" i="0" u="none" strike="noStrike" baseline="0" dirty="0"/>
          </a:p>
          <a:p>
            <a:pPr marL="285750" indent="-285750" algn="l">
              <a:buFont typeface="Arial" panose="020B0604020202020204" pitchFamily="34" charset="0"/>
              <a:buChar char="•"/>
            </a:pPr>
            <a:r>
              <a:rPr lang="en-US" sz="1600" b="1" i="1" u="none" strike="noStrike" baseline="0" dirty="0"/>
              <a:t>Non-Pre-Priced Work: </a:t>
            </a:r>
            <a:r>
              <a:rPr lang="en-US" sz="1600" u="none" strike="noStrike" baseline="0" dirty="0"/>
              <a:t>A</a:t>
            </a:r>
            <a:r>
              <a:rPr lang="en-US" sz="1600" b="1" i="1" u="none" strike="noStrike" baseline="0" dirty="0"/>
              <a:t> </a:t>
            </a:r>
            <a:r>
              <a:rPr lang="en-US" sz="1600" b="0" i="0" u="none" strike="noStrike" baseline="0" dirty="0"/>
              <a:t>unique item not easily defined within the Unit Price Book Europe 2025 for which the Pre-Priced cost data will not be used in Task Order pricing. If the NPP portion of a project &gt; 10% of the total cost, the project is not appropriate for JOC and an order will not be issued for that particular project.</a:t>
            </a:r>
          </a:p>
          <a:p>
            <a:pPr marL="285750" indent="-285750" algn="l">
              <a:buFont typeface="Arial" panose="020B0604020202020204" pitchFamily="34" charset="0"/>
              <a:buChar char="•"/>
            </a:pPr>
            <a:endParaRPr lang="en-US" sz="1600" b="0" i="0" u="none" strike="noStrike" baseline="0" dirty="0"/>
          </a:p>
          <a:p>
            <a:pPr marL="285750" indent="-285750" algn="l">
              <a:buFont typeface="Arial" panose="020B0604020202020204" pitchFamily="34" charset="0"/>
              <a:buChar char="•"/>
            </a:pPr>
            <a:r>
              <a:rPr lang="en-US" sz="1600" b="1" i="1" u="none" strike="noStrike" baseline="0" dirty="0"/>
              <a:t>Non-Standard Hours Coefficient: </a:t>
            </a:r>
            <a:r>
              <a:rPr lang="en-US" sz="1600" b="0" i="0" u="none" strike="noStrike" baseline="0" dirty="0"/>
              <a:t>This is an optional coefficient that shall be used only when the Government specifies the requirement to complete a project during nonstandard hours.</a:t>
            </a:r>
            <a:endParaRPr lang="en-US" sz="1600" dirty="0">
              <a:solidFill>
                <a:schemeClr val="tx1"/>
              </a:solidFill>
              <a:ea typeface="ＭＳ Ｐゴシック"/>
              <a:cs typeface="Arial"/>
            </a:endParaRPr>
          </a:p>
        </p:txBody>
      </p:sp>
      <p:sp>
        <p:nvSpPr>
          <p:cNvPr id="5" name="TextBox 4">
            <a:extLst>
              <a:ext uri="{FF2B5EF4-FFF2-40B4-BE49-F238E27FC236}">
                <a16:creationId xmlns:a16="http://schemas.microsoft.com/office/drawing/2014/main" id="{45ACBC3A-70DF-D011-12B1-2BA65F763895}"/>
              </a:ext>
            </a:extLst>
          </p:cNvPr>
          <p:cNvSpPr txBox="1"/>
          <p:nvPr/>
        </p:nvSpPr>
        <p:spPr>
          <a:xfrm>
            <a:off x="1120588" y="6089215"/>
            <a:ext cx="6212367" cy="276999"/>
          </a:xfrm>
          <a:prstGeom prst="rect">
            <a:avLst/>
          </a:prstGeom>
          <a:noFill/>
        </p:spPr>
        <p:txBody>
          <a:bodyPr wrap="square" rtlCol="0">
            <a:spAutoFit/>
          </a:bodyPr>
          <a:lstStyle/>
          <a:p>
            <a:r>
              <a:rPr lang="en-US" sz="1200" b="1" dirty="0"/>
              <a:t>Solicitation (W912PF26RA002) Reference: Attachment 1, Statement of Work (SOW)</a:t>
            </a:r>
          </a:p>
        </p:txBody>
      </p:sp>
    </p:spTree>
    <p:extLst>
      <p:ext uri="{BB962C8B-B14F-4D97-AF65-F5344CB8AC3E}">
        <p14:creationId xmlns:p14="http://schemas.microsoft.com/office/powerpoint/2010/main" val="4499838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8257E-9D92-278A-7A3E-212F8DB61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0AC23-6FA6-2087-C046-44D0EAA31068}"/>
              </a:ext>
            </a:extLst>
          </p:cNvPr>
          <p:cNvSpPr>
            <a:spLocks noGrp="1"/>
          </p:cNvSpPr>
          <p:nvPr>
            <p:ph type="title"/>
          </p:nvPr>
        </p:nvSpPr>
        <p:spPr>
          <a:xfrm>
            <a:off x="836761" y="104037"/>
            <a:ext cx="7955280" cy="867930"/>
          </a:xfrm>
        </p:spPr>
        <p:txBody>
          <a:bodyPr/>
          <a:lstStyle/>
          <a:p>
            <a:pPr algn="ctr"/>
            <a:r>
              <a:rPr lang="en-US" dirty="0">
                <a:solidFill>
                  <a:schemeClr val="tx1"/>
                </a:solidFill>
              </a:rPr>
              <a:t>JOC </a:t>
            </a:r>
            <a:r>
              <a:rPr lang="en-US" dirty="0">
                <a:solidFill>
                  <a:schemeClr val="tx1"/>
                </a:solidFill>
                <a:ea typeface="ＭＳ Ｐゴシック" charset="0"/>
              </a:rPr>
              <a:t>Unit Price Book (UPB)</a:t>
            </a:r>
            <a:br>
              <a:rPr lang="en-US" dirty="0">
                <a:solidFill>
                  <a:schemeClr val="tx1"/>
                </a:solidFill>
              </a:rPr>
            </a:br>
            <a:endParaRPr lang="en-US" dirty="0">
              <a:solidFill>
                <a:schemeClr val="tx1"/>
              </a:solidFill>
            </a:endParaRPr>
          </a:p>
        </p:txBody>
      </p:sp>
      <p:sp>
        <p:nvSpPr>
          <p:cNvPr id="4" name="TextBox 3">
            <a:extLst>
              <a:ext uri="{FF2B5EF4-FFF2-40B4-BE49-F238E27FC236}">
                <a16:creationId xmlns:a16="http://schemas.microsoft.com/office/drawing/2014/main" id="{FB1A79F2-D569-FA41-C0C8-44ABBB97B584}"/>
              </a:ext>
            </a:extLst>
          </p:cNvPr>
          <p:cNvSpPr txBox="1"/>
          <p:nvPr/>
        </p:nvSpPr>
        <p:spPr>
          <a:xfrm>
            <a:off x="3523475" y="6366214"/>
            <a:ext cx="2097049" cy="261610"/>
          </a:xfrm>
          <a:prstGeom prst="rect">
            <a:avLst/>
          </a:prstGeom>
          <a:noFill/>
        </p:spPr>
        <p:txBody>
          <a:bodyPr wrap="none" rtlCol="0">
            <a:spAutoFit/>
          </a:bodyPr>
          <a:lstStyle/>
          <a:p>
            <a:r>
              <a:rPr lang="en-US" sz="1100" dirty="0"/>
              <a:t>Prepared by: SSG Anglin, Lew</a:t>
            </a:r>
          </a:p>
        </p:txBody>
      </p:sp>
      <p:sp>
        <p:nvSpPr>
          <p:cNvPr id="7" name="TextBox 6">
            <a:extLst>
              <a:ext uri="{FF2B5EF4-FFF2-40B4-BE49-F238E27FC236}">
                <a16:creationId xmlns:a16="http://schemas.microsoft.com/office/drawing/2014/main" id="{0B52FB15-CCE2-8705-D01F-019296D1223E}"/>
              </a:ext>
            </a:extLst>
          </p:cNvPr>
          <p:cNvSpPr txBox="1"/>
          <p:nvPr/>
        </p:nvSpPr>
        <p:spPr>
          <a:xfrm>
            <a:off x="233080" y="1260541"/>
            <a:ext cx="5058011" cy="5078313"/>
          </a:xfrm>
          <a:prstGeom prst="rect">
            <a:avLst/>
          </a:prstGeom>
          <a:noFill/>
        </p:spPr>
        <p:txBody>
          <a:bodyPr wrap="square">
            <a:spAutoFit/>
          </a:bodyPr>
          <a:lstStyle/>
          <a:p>
            <a:pPr marL="340995" indent="-342900">
              <a:buFont typeface="Arial" panose="020B0604020202020204" pitchFamily="34" charset="0"/>
              <a:buChar char="•"/>
              <a:defRPr/>
            </a:pPr>
            <a:r>
              <a:rPr lang="en-US" altLang="en-US" dirty="0">
                <a:ea typeface="ＭＳ Ｐゴシック"/>
                <a:cs typeface="Arial"/>
              </a:rPr>
              <a:t>A compilation of real property repair, maintenance, minor construction related tasks, etc.</a:t>
            </a:r>
          </a:p>
          <a:p>
            <a:pPr marL="340995" indent="-342900">
              <a:buFont typeface="Arial" panose="020B0604020202020204" pitchFamily="34" charset="0"/>
              <a:buChar char="•"/>
              <a:defRPr/>
            </a:pPr>
            <a:endParaRPr lang="en-US" dirty="0">
              <a:ea typeface="ＭＳ Ｐゴシック"/>
              <a:cs typeface="Arial"/>
            </a:endParaRPr>
          </a:p>
          <a:p>
            <a:pPr marL="340995" indent="-342900">
              <a:buFont typeface="Arial" panose="020B0604020202020204" pitchFamily="34" charset="0"/>
              <a:buChar char="•"/>
              <a:defRPr/>
            </a:pPr>
            <a:r>
              <a:rPr lang="en-US" altLang="en-US" dirty="0">
                <a:ea typeface="ＭＳ Ｐゴシック"/>
                <a:cs typeface="Arial"/>
              </a:rPr>
              <a:t>Integral part of contract</a:t>
            </a:r>
          </a:p>
          <a:p>
            <a:pPr marL="340995" indent="-342900">
              <a:buFont typeface="Arial" panose="020B0604020202020204" pitchFamily="34" charset="0"/>
              <a:buChar char="•"/>
              <a:defRPr/>
            </a:pPr>
            <a:endParaRPr lang="en-US" altLang="en-US" dirty="0">
              <a:ea typeface="ＭＳ Ｐゴシック"/>
              <a:cs typeface="Arial"/>
            </a:endParaRPr>
          </a:p>
          <a:p>
            <a:pPr marL="340995" indent="-342900">
              <a:buFont typeface="Arial" panose="020B0604020202020204" pitchFamily="34" charset="0"/>
              <a:buChar char="•"/>
              <a:defRPr/>
            </a:pPr>
            <a:r>
              <a:rPr lang="en-US" altLang="en-US" dirty="0">
                <a:ea typeface="ＭＳ Ｐゴシック"/>
                <a:cs typeface="Arial"/>
              </a:rPr>
              <a:t>Thousands of items</a:t>
            </a:r>
          </a:p>
          <a:p>
            <a:pPr marL="340995" indent="-342900">
              <a:buFont typeface="Arial" panose="020B0604020202020204" pitchFamily="34" charset="0"/>
              <a:buChar char="•"/>
              <a:defRPr/>
            </a:pPr>
            <a:endParaRPr lang="en-US" altLang="en-US" dirty="0">
              <a:ea typeface="ＭＳ Ｐゴシック"/>
              <a:cs typeface="Arial"/>
            </a:endParaRPr>
          </a:p>
          <a:p>
            <a:pPr marL="340995" indent="-342900">
              <a:buFont typeface="Arial" panose="020B0604020202020204" pitchFamily="34" charset="0"/>
              <a:buChar char="•"/>
              <a:defRPr/>
            </a:pPr>
            <a:r>
              <a:rPr lang="en-US" altLang="en-US" dirty="0">
                <a:ea typeface="ＭＳ Ｐゴシック"/>
                <a:cs typeface="Arial"/>
              </a:rPr>
              <a:t>Sections by trade</a:t>
            </a:r>
          </a:p>
          <a:p>
            <a:pPr marL="340995" indent="-342900">
              <a:buFont typeface="Arial" panose="020B0604020202020204" pitchFamily="34" charset="0"/>
              <a:buChar char="•"/>
              <a:defRPr/>
            </a:pPr>
            <a:endParaRPr lang="en-US" altLang="en-US" dirty="0">
              <a:ea typeface="ＭＳ Ｐゴシック"/>
              <a:cs typeface="Arial"/>
            </a:endParaRPr>
          </a:p>
          <a:p>
            <a:pPr marL="340995" indent="-342900">
              <a:buFont typeface="Arial" panose="020B0604020202020204" pitchFamily="34" charset="0"/>
              <a:buChar char="•"/>
              <a:defRPr/>
            </a:pPr>
            <a:r>
              <a:rPr lang="en-US" altLang="en-US" dirty="0">
                <a:ea typeface="ＭＳ Ｐゴシック"/>
                <a:cs typeface="Arial"/>
              </a:rPr>
              <a:t>Each item has item number, description, unit cost &amp; unit of measure</a:t>
            </a:r>
          </a:p>
          <a:p>
            <a:pPr marL="340995" indent="-342900">
              <a:buFont typeface="Arial" panose="020B0604020202020204" pitchFamily="34" charset="0"/>
              <a:buChar char="•"/>
              <a:defRPr/>
            </a:pPr>
            <a:endParaRPr lang="en-US" altLang="en-US" dirty="0">
              <a:ea typeface="ＭＳ Ｐゴシック"/>
              <a:cs typeface="Arial"/>
            </a:endParaRPr>
          </a:p>
          <a:p>
            <a:pPr marL="340995" indent="-342900">
              <a:buFont typeface="Arial" panose="020B0604020202020204" pitchFamily="34" charset="0"/>
              <a:buChar char="•"/>
              <a:defRPr/>
            </a:pPr>
            <a:r>
              <a:rPr lang="en-US" dirty="0">
                <a:ea typeface="ＭＳ Ｐゴシック"/>
                <a:cs typeface="Arial"/>
              </a:rPr>
              <a:t>All UPB costs and their respective coefficients are </a:t>
            </a:r>
            <a:r>
              <a:rPr lang="en-US" dirty="0">
                <a:solidFill>
                  <a:srgbClr val="0070C0"/>
                </a:solidFill>
                <a:ea typeface="ＭＳ Ｐゴシック"/>
                <a:cs typeface="Arial"/>
              </a:rPr>
              <a:t>established at the award of contract.</a:t>
            </a:r>
            <a:endParaRPr lang="en-US" dirty="0"/>
          </a:p>
          <a:p>
            <a:pPr>
              <a:defRPr/>
            </a:pPr>
            <a:r>
              <a:rPr lang="en-US" dirty="0">
                <a:ea typeface="ＭＳ Ｐゴシック"/>
                <a:cs typeface="Arial"/>
              </a:rPr>
              <a:t> </a:t>
            </a:r>
            <a:endParaRPr lang="en-US" dirty="0"/>
          </a:p>
          <a:p>
            <a:pPr marL="457200" indent="-457200">
              <a:buFont typeface="Arial" panose="05000000000000000000" pitchFamily="2" charset="2"/>
              <a:buChar char="•"/>
            </a:pPr>
            <a:endParaRPr lang="en-US" sz="1800" dirty="0">
              <a:solidFill>
                <a:schemeClr val="tx1"/>
              </a:solidFill>
              <a:latin typeface="Arial"/>
              <a:ea typeface="ＭＳ Ｐゴシック"/>
              <a:cs typeface="Arial"/>
            </a:endParaRPr>
          </a:p>
        </p:txBody>
      </p:sp>
      <p:pic>
        <p:nvPicPr>
          <p:cNvPr id="3" name="Picture 2" descr="A picture containing calendar&#10;&#10;AI-generated content may be incorrect.">
            <a:extLst>
              <a:ext uri="{FF2B5EF4-FFF2-40B4-BE49-F238E27FC236}">
                <a16:creationId xmlns:a16="http://schemas.microsoft.com/office/drawing/2014/main" id="{CC2899FB-1C0F-7B17-35BF-B30A0AB8A055}"/>
              </a:ext>
            </a:extLst>
          </p:cNvPr>
          <p:cNvPicPr>
            <a:picLocks noChangeAspect="1"/>
          </p:cNvPicPr>
          <p:nvPr/>
        </p:nvPicPr>
        <p:blipFill>
          <a:blip r:embed="rId3"/>
          <a:stretch>
            <a:fillRect/>
          </a:stretch>
        </p:blipFill>
        <p:spPr>
          <a:xfrm>
            <a:off x="5291091" y="1193198"/>
            <a:ext cx="3810759" cy="4924425"/>
          </a:xfrm>
          <a:prstGeom prst="rect">
            <a:avLst/>
          </a:prstGeom>
        </p:spPr>
      </p:pic>
    </p:spTree>
    <p:extLst>
      <p:ext uri="{BB962C8B-B14F-4D97-AF65-F5344CB8AC3E}">
        <p14:creationId xmlns:p14="http://schemas.microsoft.com/office/powerpoint/2010/main" val="1297047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E7A72-D47F-C12A-996E-04E9AF166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53811D-2998-D228-5B2A-EDA3CE204730}"/>
              </a:ext>
            </a:extLst>
          </p:cNvPr>
          <p:cNvSpPr>
            <a:spLocks noGrp="1"/>
          </p:cNvSpPr>
          <p:nvPr>
            <p:ph type="title"/>
          </p:nvPr>
        </p:nvSpPr>
        <p:spPr>
          <a:xfrm>
            <a:off x="836761" y="104037"/>
            <a:ext cx="7955280" cy="867930"/>
          </a:xfrm>
        </p:spPr>
        <p:txBody>
          <a:bodyPr/>
          <a:lstStyle/>
          <a:p>
            <a:pPr algn="ctr"/>
            <a:r>
              <a:rPr lang="en-US" dirty="0">
                <a:solidFill>
                  <a:schemeClr val="tx1"/>
                </a:solidFill>
              </a:rPr>
              <a:t>JOC Coefficients</a:t>
            </a:r>
            <a:br>
              <a:rPr lang="en-US" dirty="0">
                <a:solidFill>
                  <a:schemeClr val="tx1"/>
                </a:solidFill>
              </a:rPr>
            </a:br>
            <a:endParaRPr lang="en-US" dirty="0">
              <a:solidFill>
                <a:schemeClr val="tx1"/>
              </a:solidFill>
            </a:endParaRPr>
          </a:p>
        </p:txBody>
      </p:sp>
      <p:sp>
        <p:nvSpPr>
          <p:cNvPr id="4" name="TextBox 3">
            <a:extLst>
              <a:ext uri="{FF2B5EF4-FFF2-40B4-BE49-F238E27FC236}">
                <a16:creationId xmlns:a16="http://schemas.microsoft.com/office/drawing/2014/main" id="{187F66A7-762A-5D1B-04D5-749E63BF4FB4}"/>
              </a:ext>
            </a:extLst>
          </p:cNvPr>
          <p:cNvSpPr txBox="1"/>
          <p:nvPr/>
        </p:nvSpPr>
        <p:spPr>
          <a:xfrm>
            <a:off x="3523475" y="6366214"/>
            <a:ext cx="2097049" cy="261610"/>
          </a:xfrm>
          <a:prstGeom prst="rect">
            <a:avLst/>
          </a:prstGeom>
          <a:noFill/>
        </p:spPr>
        <p:txBody>
          <a:bodyPr wrap="none" rtlCol="0">
            <a:spAutoFit/>
          </a:bodyPr>
          <a:lstStyle/>
          <a:p>
            <a:r>
              <a:rPr lang="en-US" sz="1100" dirty="0"/>
              <a:t>Prepared by: SSG Anglin, Lew</a:t>
            </a:r>
          </a:p>
        </p:txBody>
      </p:sp>
      <p:sp>
        <p:nvSpPr>
          <p:cNvPr id="7" name="TextBox 6">
            <a:extLst>
              <a:ext uri="{FF2B5EF4-FFF2-40B4-BE49-F238E27FC236}">
                <a16:creationId xmlns:a16="http://schemas.microsoft.com/office/drawing/2014/main" id="{7CAF8047-10C0-2CB0-76B9-EDC0424B8D28}"/>
              </a:ext>
            </a:extLst>
          </p:cNvPr>
          <p:cNvSpPr txBox="1"/>
          <p:nvPr/>
        </p:nvSpPr>
        <p:spPr>
          <a:xfrm>
            <a:off x="142043" y="1120676"/>
            <a:ext cx="9001957" cy="1815882"/>
          </a:xfrm>
          <a:prstGeom prst="rect">
            <a:avLst/>
          </a:prstGeom>
          <a:noFill/>
        </p:spPr>
        <p:txBody>
          <a:bodyPr wrap="square">
            <a:spAutoFit/>
          </a:bodyPr>
          <a:lstStyle/>
          <a:p>
            <a:pPr algn="l"/>
            <a:r>
              <a:rPr lang="en-US" sz="1600" b="1" i="1" u="none" strike="noStrike" baseline="0" dirty="0"/>
              <a:t>Coefficient Factor or </a:t>
            </a:r>
            <a:r>
              <a:rPr lang="en-US" sz="1600" b="1" i="1" dirty="0"/>
              <a:t>C</a:t>
            </a:r>
            <a:r>
              <a:rPr lang="en-US" sz="1600" b="1" i="1" u="none" strike="noStrike" baseline="0" dirty="0"/>
              <a:t>oefficient: </a:t>
            </a:r>
            <a:r>
              <a:rPr lang="en-US" sz="1600" b="0" i="0" u="none" strike="noStrike" baseline="0" dirty="0"/>
              <a:t>Coefficient means a numerical factor that represents costs (generally indirect costs) not considered to be included in the Unit Price Book Europe 2025 prices such as general, administrative, other overhead costs, insurance, alternative payment protection, protective clothing, sales tax, and compliance with tax laws. Coefficients proposed by offerors are multiplied times the unit prices in the Unit Price Book to price a job or project on individual orders. The coefficient(s) proposed by the Offeror and accepted by the Government are incorporated in the JOC. </a:t>
            </a:r>
            <a:r>
              <a:rPr kumimoji="0" lang="en-US" altLang="en-US" sz="1600" b="0" i="0" u="none" strike="noStrike" kern="1200" cap="none" spc="0" normalizeH="0" baseline="0" noProof="0" dirty="0">
                <a:ln>
                  <a:noFill/>
                </a:ln>
                <a:solidFill>
                  <a:prstClr val="black"/>
                </a:solidFill>
                <a:effectLst/>
                <a:uLnTx/>
                <a:uFillTx/>
                <a:ea typeface="ＭＳ Ｐゴシック"/>
                <a:cs typeface="Arial"/>
              </a:rPr>
              <a:t>(7.6 of SOW Attachment 1)</a:t>
            </a:r>
            <a:endParaRPr lang="en-US" sz="1600" dirty="0">
              <a:solidFill>
                <a:schemeClr val="tx1"/>
              </a:solidFill>
              <a:ea typeface="ＭＳ Ｐゴシック"/>
              <a:cs typeface="Arial"/>
            </a:endParaRPr>
          </a:p>
        </p:txBody>
      </p:sp>
      <p:pic>
        <p:nvPicPr>
          <p:cNvPr id="3" name="Picture 1">
            <a:extLst>
              <a:ext uri="{FF2B5EF4-FFF2-40B4-BE49-F238E27FC236}">
                <a16:creationId xmlns:a16="http://schemas.microsoft.com/office/drawing/2014/main" id="{2CFFBBFA-7962-D2E9-A6E4-5AFDA3D60F3D}"/>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81665" y="3275408"/>
            <a:ext cx="4980663" cy="1355367"/>
          </a:xfrm>
          <a:prstGeom prst="rect">
            <a:avLst/>
          </a:prstGeom>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image004">
            <a:extLst>
              <a:ext uri="{FF2B5EF4-FFF2-40B4-BE49-F238E27FC236}">
                <a16:creationId xmlns:a16="http://schemas.microsoft.com/office/drawing/2014/main" id="{A9B8EA8B-E940-58F8-0D5A-306E9A7EB8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907" y="4817945"/>
            <a:ext cx="7004181" cy="1173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37074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A0579-9997-656C-EFA7-045D356F8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9A63C0-A5E1-4F19-F94F-1D618AE3DDB6}"/>
              </a:ext>
            </a:extLst>
          </p:cNvPr>
          <p:cNvSpPr>
            <a:spLocks noGrp="1"/>
          </p:cNvSpPr>
          <p:nvPr>
            <p:ph type="title"/>
          </p:nvPr>
        </p:nvSpPr>
        <p:spPr>
          <a:xfrm>
            <a:off x="836761" y="104037"/>
            <a:ext cx="7955280" cy="1255728"/>
          </a:xfrm>
        </p:spPr>
        <p:txBody>
          <a:bodyPr/>
          <a:lstStyle/>
          <a:p>
            <a:pPr algn="ctr"/>
            <a:r>
              <a:rPr lang="en-US" dirty="0">
                <a:solidFill>
                  <a:schemeClr val="tx1"/>
                </a:solidFill>
              </a:rPr>
              <a:t>JOC Coefficients Include:</a:t>
            </a:r>
            <a:br>
              <a:rPr lang="en-US" dirty="0">
                <a:solidFill>
                  <a:schemeClr val="tx1"/>
                </a:solidFill>
              </a:rPr>
            </a:br>
            <a:br>
              <a:rPr lang="en-US" dirty="0">
                <a:latin typeface="Arial"/>
                <a:ea typeface="ＭＳ Ｐゴシック"/>
                <a:cs typeface="Arial"/>
              </a:rPr>
            </a:br>
            <a:endParaRPr lang="en-US" dirty="0">
              <a:solidFill>
                <a:schemeClr val="tx1"/>
              </a:solidFill>
            </a:endParaRPr>
          </a:p>
        </p:txBody>
      </p:sp>
      <p:sp>
        <p:nvSpPr>
          <p:cNvPr id="4" name="TextBox 3">
            <a:extLst>
              <a:ext uri="{FF2B5EF4-FFF2-40B4-BE49-F238E27FC236}">
                <a16:creationId xmlns:a16="http://schemas.microsoft.com/office/drawing/2014/main" id="{5FAC9CCE-DEEE-6955-CA7D-033D37CF65E1}"/>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10" name="TextBox 9">
            <a:extLst>
              <a:ext uri="{FF2B5EF4-FFF2-40B4-BE49-F238E27FC236}">
                <a16:creationId xmlns:a16="http://schemas.microsoft.com/office/drawing/2014/main" id="{E0C7DB51-6632-7DA2-4A7D-7D84A8B56A72}"/>
              </a:ext>
            </a:extLst>
          </p:cNvPr>
          <p:cNvSpPr txBox="1"/>
          <p:nvPr/>
        </p:nvSpPr>
        <p:spPr>
          <a:xfrm>
            <a:off x="2933049" y="655064"/>
            <a:ext cx="4576438" cy="369332"/>
          </a:xfrm>
          <a:prstGeom prst="rect">
            <a:avLst/>
          </a:prstGeom>
          <a:noFill/>
        </p:spPr>
        <p:txBody>
          <a:bodyPr wrap="square">
            <a:spAutoFit/>
          </a:bodyPr>
          <a:lstStyle/>
          <a:p>
            <a:r>
              <a:rPr lang="en-US" b="1" dirty="0">
                <a:latin typeface="Arial"/>
                <a:ea typeface="ＭＳ Ｐゴシック"/>
                <a:cs typeface="Arial"/>
              </a:rPr>
              <a:t>Project-Related Costs</a:t>
            </a:r>
          </a:p>
        </p:txBody>
      </p:sp>
      <p:sp>
        <p:nvSpPr>
          <p:cNvPr id="12" name="TextBox 11">
            <a:extLst>
              <a:ext uri="{FF2B5EF4-FFF2-40B4-BE49-F238E27FC236}">
                <a16:creationId xmlns:a16="http://schemas.microsoft.com/office/drawing/2014/main" id="{328C58E8-0F9C-346C-68B1-7437CCEA6EAD}"/>
              </a:ext>
            </a:extLst>
          </p:cNvPr>
          <p:cNvSpPr txBox="1"/>
          <p:nvPr/>
        </p:nvSpPr>
        <p:spPr>
          <a:xfrm>
            <a:off x="569370" y="1271855"/>
            <a:ext cx="8133196" cy="5262979"/>
          </a:xfrm>
          <a:prstGeom prst="rect">
            <a:avLst/>
          </a:prstGeom>
          <a:noFill/>
        </p:spPr>
        <p:txBody>
          <a:bodyPr wrap="square">
            <a:spAutoFit/>
          </a:bodyPr>
          <a:lstStyle/>
          <a:p>
            <a:pPr marR="0" lvl="0">
              <a:spcBef>
                <a:spcPts val="0"/>
              </a:spcBef>
              <a:spcAft>
                <a:spcPts val="0"/>
              </a:spcAft>
            </a:pPr>
            <a:r>
              <a:rPr lang="en-US" sz="1000" dirty="0"/>
              <a:t>• </a:t>
            </a:r>
            <a:r>
              <a:rPr lang="en-US" sz="1200" dirty="0"/>
              <a:t>Project management and project supervision. </a:t>
            </a:r>
          </a:p>
          <a:p>
            <a:pPr marR="0" lvl="0">
              <a:spcBef>
                <a:spcPts val="0"/>
              </a:spcBef>
              <a:spcAft>
                <a:spcPts val="0"/>
              </a:spcAft>
            </a:pPr>
            <a:r>
              <a:rPr lang="en-US" sz="1200" dirty="0"/>
              <a:t>• Contractor adjustments to Government Unit Prices. </a:t>
            </a:r>
          </a:p>
          <a:p>
            <a:pPr marR="0" lvl="0">
              <a:spcBef>
                <a:spcPts val="0"/>
              </a:spcBef>
              <a:spcAft>
                <a:spcPts val="0"/>
              </a:spcAft>
            </a:pPr>
            <a:r>
              <a:rPr lang="en-US" sz="1200" dirty="0"/>
              <a:t>• Price quotations. </a:t>
            </a:r>
          </a:p>
          <a:p>
            <a:pPr marR="0" lvl="0">
              <a:spcBef>
                <a:spcPts val="0"/>
              </a:spcBef>
              <a:spcAft>
                <a:spcPts val="0"/>
              </a:spcAft>
            </a:pPr>
            <a:r>
              <a:rPr lang="en-US" sz="1200" dirty="0"/>
              <a:t>• Submittal preparation. </a:t>
            </a:r>
          </a:p>
          <a:p>
            <a:pPr marR="0" lvl="0">
              <a:spcBef>
                <a:spcPts val="0"/>
              </a:spcBef>
              <a:spcAft>
                <a:spcPts val="0"/>
              </a:spcAft>
            </a:pPr>
            <a:r>
              <a:rPr lang="en-US" sz="1200" dirty="0"/>
              <a:t>• Quality Control. </a:t>
            </a:r>
          </a:p>
          <a:p>
            <a:pPr marR="0" lvl="0">
              <a:spcBef>
                <a:spcPts val="0"/>
              </a:spcBef>
              <a:spcAft>
                <a:spcPts val="0"/>
              </a:spcAft>
            </a:pPr>
            <a:r>
              <a:rPr lang="en-US" sz="1200" dirty="0"/>
              <a:t>• Collaboration/face-to-face meetings with all Program/Project stakeholders (i.e. progress reviews, negotiations, etc.) </a:t>
            </a:r>
          </a:p>
          <a:p>
            <a:pPr marR="0" lvl="0">
              <a:spcBef>
                <a:spcPts val="0"/>
              </a:spcBef>
              <a:spcAft>
                <a:spcPts val="0"/>
              </a:spcAft>
            </a:pPr>
            <a:r>
              <a:rPr lang="en-US" sz="1200" dirty="0"/>
              <a:t>• Services required to complete project filings and obtain permits. </a:t>
            </a:r>
          </a:p>
          <a:p>
            <a:pPr marR="0" lvl="0">
              <a:spcBef>
                <a:spcPts val="0"/>
              </a:spcBef>
              <a:spcAft>
                <a:spcPts val="0"/>
              </a:spcAft>
            </a:pPr>
            <a:r>
              <a:rPr lang="en-US" sz="1200" dirty="0"/>
              <a:t>• Preparation and modification of sketches, drawings, submittals, as-built drawings, and other project records. 13 </a:t>
            </a:r>
          </a:p>
          <a:p>
            <a:pPr marR="0" lvl="0">
              <a:spcBef>
                <a:spcPts val="0"/>
              </a:spcBef>
              <a:spcAft>
                <a:spcPts val="0"/>
              </a:spcAft>
            </a:pPr>
            <a:r>
              <a:rPr lang="en-US" sz="1200" dirty="0"/>
              <a:t>• Incidental engineering and architectural services.</a:t>
            </a:r>
          </a:p>
          <a:p>
            <a:pPr marR="0" lvl="0">
              <a:spcBef>
                <a:spcPts val="0"/>
              </a:spcBef>
              <a:spcAft>
                <a:spcPts val="0"/>
              </a:spcAft>
            </a:pPr>
            <a:r>
              <a:rPr lang="en-US" sz="1200" dirty="0"/>
              <a:t>• Permits, licenses, and fees. </a:t>
            </a:r>
          </a:p>
          <a:p>
            <a:pPr marR="0" lvl="0">
              <a:spcBef>
                <a:spcPts val="0"/>
              </a:spcBef>
              <a:spcAft>
                <a:spcPts val="0"/>
              </a:spcAft>
            </a:pPr>
            <a:r>
              <a:rPr lang="en-US" sz="1200" dirty="0"/>
              <a:t>• Project trailer, equipment and supplies, and portable toilets for Contractor’s use. </a:t>
            </a:r>
          </a:p>
          <a:p>
            <a:pPr marR="0" lvl="0">
              <a:spcBef>
                <a:spcPts val="0"/>
              </a:spcBef>
              <a:spcAft>
                <a:spcPts val="0"/>
              </a:spcAft>
            </a:pPr>
            <a:r>
              <a:rPr lang="en-US" sz="1200" dirty="0"/>
              <a:t>• Gang boxes and storage containers for Contractor's tools, equipment and materials. </a:t>
            </a:r>
          </a:p>
          <a:p>
            <a:pPr marR="0" lvl="0">
              <a:spcBef>
                <a:spcPts val="0"/>
              </a:spcBef>
              <a:spcAft>
                <a:spcPts val="0"/>
              </a:spcAft>
            </a:pPr>
            <a:r>
              <a:rPr lang="en-US" sz="1200" dirty="0"/>
              <a:t>• Basic safety and warning signage, traffic signage, minor barricades (e.g., construction tape, etc.) and personnel safety equipment (e.g., hard hats, safety harnesses with lifeline or cabling, protective clothing, safety glasses, face shields, etc.). </a:t>
            </a:r>
          </a:p>
          <a:p>
            <a:pPr marR="0" lvl="0">
              <a:spcBef>
                <a:spcPts val="0"/>
              </a:spcBef>
              <a:spcAft>
                <a:spcPts val="0"/>
              </a:spcAft>
            </a:pPr>
            <a:r>
              <a:rPr lang="en-US" sz="1200" dirty="0"/>
              <a:t>• Meeting Government’s security requirements. </a:t>
            </a:r>
          </a:p>
          <a:p>
            <a:pPr marR="0" lvl="0">
              <a:spcBef>
                <a:spcPts val="0"/>
              </a:spcBef>
              <a:spcAft>
                <a:spcPts val="0"/>
              </a:spcAft>
            </a:pPr>
            <a:r>
              <a:rPr lang="en-US" sz="1200" dirty="0"/>
              <a:t>• Protection of Government property </a:t>
            </a:r>
          </a:p>
          <a:p>
            <a:pPr marR="0" lvl="0">
              <a:spcBef>
                <a:spcPts val="0"/>
              </a:spcBef>
              <a:spcAft>
                <a:spcPts val="0"/>
              </a:spcAft>
            </a:pPr>
            <a:r>
              <a:rPr lang="en-US" sz="1200" dirty="0"/>
              <a:t>• Removing and returning Government's furniture and furnishings (e.g. chairs, tables, pictures, etc. but excluding modular furniture, furnishings fastened to the wall or floor, safes and other furniture requiring disassembly). </a:t>
            </a:r>
          </a:p>
          <a:p>
            <a:pPr marR="0" lvl="0">
              <a:spcBef>
                <a:spcPts val="0"/>
              </a:spcBef>
              <a:spcAft>
                <a:spcPts val="0"/>
              </a:spcAft>
            </a:pPr>
            <a:r>
              <a:rPr lang="en-US" sz="1200" dirty="0"/>
              <a:t>• Sealing windows doors, and other openings with plastic to contain construction dust and debris within the work area, or to protect existing surfaces.</a:t>
            </a:r>
          </a:p>
          <a:p>
            <a:pPr marR="0" lvl="0">
              <a:spcBef>
                <a:spcPts val="0"/>
              </a:spcBef>
              <a:spcAft>
                <a:spcPts val="0"/>
              </a:spcAft>
            </a:pPr>
            <a:r>
              <a:rPr lang="en-US" sz="1200" dirty="0"/>
              <a:t>• Compliance with protection and safety laws (i.e., safety rails, face and clothing </a:t>
            </a:r>
          </a:p>
          <a:p>
            <a:pPr marR="0" lvl="0">
              <a:spcBef>
                <a:spcPts val="0"/>
              </a:spcBef>
              <a:spcAft>
                <a:spcPts val="0"/>
              </a:spcAft>
            </a:pPr>
            <a:r>
              <a:rPr lang="en-US" sz="1200" dirty="0"/>
              <a:t>• protection, etc.) • Working in extreme temperatures (below or above normal) or adverse conditions such as rain, wind, sleet or snow. Costs resulting from inadequate supply of building materials, fuel, electricity, or skilled labor. </a:t>
            </a:r>
          </a:p>
          <a:p>
            <a:pPr marR="0" lvl="0">
              <a:spcBef>
                <a:spcPts val="0"/>
              </a:spcBef>
              <a:spcAft>
                <a:spcPts val="0"/>
              </a:spcAft>
            </a:pPr>
            <a:r>
              <a:rPr lang="en-US" sz="1200" dirty="0"/>
              <a:t>• Daily clean-up.  </a:t>
            </a:r>
          </a:p>
          <a:p>
            <a:pPr marR="0" lvl="0">
              <a:spcBef>
                <a:spcPts val="0"/>
              </a:spcBef>
              <a:spcAft>
                <a:spcPts val="0"/>
              </a:spcAft>
            </a:pPr>
            <a:r>
              <a:rPr lang="en-US" sz="1200" dirty="0"/>
              <a:t>• Final professional clean-up. </a:t>
            </a:r>
          </a:p>
          <a:p>
            <a:pPr marR="0" lvl="0">
              <a:spcBef>
                <a:spcPts val="0"/>
              </a:spcBef>
              <a:spcAft>
                <a:spcPts val="0"/>
              </a:spcAft>
            </a:pPr>
            <a:r>
              <a:rPr lang="en-US" sz="1200" dirty="0"/>
              <a:t>• O&amp;M Manual. </a:t>
            </a:r>
          </a:p>
          <a:p>
            <a:pPr marR="0" lvl="0">
              <a:spcBef>
                <a:spcPts val="0"/>
              </a:spcBef>
              <a:spcAft>
                <a:spcPts val="0"/>
              </a:spcAft>
            </a:pPr>
            <a:r>
              <a:rPr lang="en-US" sz="1200" dirty="0"/>
              <a:t>• O&amp;M Training.</a:t>
            </a:r>
          </a:p>
        </p:txBody>
      </p:sp>
    </p:spTree>
    <p:extLst>
      <p:ext uri="{BB962C8B-B14F-4D97-AF65-F5344CB8AC3E}">
        <p14:creationId xmlns:p14="http://schemas.microsoft.com/office/powerpoint/2010/main" val="14693203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9A780-8329-61B6-E483-24A2E9877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B145C-C1FF-CC46-8056-602744460315}"/>
              </a:ext>
            </a:extLst>
          </p:cNvPr>
          <p:cNvSpPr>
            <a:spLocks noGrp="1"/>
          </p:cNvSpPr>
          <p:nvPr>
            <p:ph type="title"/>
          </p:nvPr>
        </p:nvSpPr>
        <p:spPr>
          <a:xfrm>
            <a:off x="836761" y="104037"/>
            <a:ext cx="7955280" cy="1255728"/>
          </a:xfrm>
        </p:spPr>
        <p:txBody>
          <a:bodyPr/>
          <a:lstStyle/>
          <a:p>
            <a:pPr algn="ctr"/>
            <a:r>
              <a:rPr lang="en-US" dirty="0">
                <a:solidFill>
                  <a:schemeClr val="tx1"/>
                </a:solidFill>
              </a:rPr>
              <a:t>JOC Coefficients Include:</a:t>
            </a:r>
            <a:br>
              <a:rPr lang="en-US" dirty="0">
                <a:solidFill>
                  <a:schemeClr val="tx1"/>
                </a:solidFill>
              </a:rPr>
            </a:br>
            <a:br>
              <a:rPr lang="en-US" dirty="0">
                <a:latin typeface="Arial"/>
                <a:ea typeface="ＭＳ Ｐゴシック"/>
                <a:cs typeface="Arial"/>
              </a:rPr>
            </a:br>
            <a:endParaRPr lang="en-US" dirty="0">
              <a:solidFill>
                <a:schemeClr val="tx1"/>
              </a:solidFill>
            </a:endParaRPr>
          </a:p>
        </p:txBody>
      </p:sp>
      <p:sp>
        <p:nvSpPr>
          <p:cNvPr id="4" name="TextBox 3">
            <a:extLst>
              <a:ext uri="{FF2B5EF4-FFF2-40B4-BE49-F238E27FC236}">
                <a16:creationId xmlns:a16="http://schemas.microsoft.com/office/drawing/2014/main" id="{5CE8EB60-4606-A2D4-41BC-F5942DD0B42D}"/>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3" name="Content Placeholder 5">
            <a:extLst>
              <a:ext uri="{FF2B5EF4-FFF2-40B4-BE49-F238E27FC236}">
                <a16:creationId xmlns:a16="http://schemas.microsoft.com/office/drawing/2014/main" id="{308792D7-833B-0317-AF70-9C9EACA68F68}"/>
              </a:ext>
            </a:extLst>
          </p:cNvPr>
          <p:cNvSpPr txBox="1">
            <a:spLocks/>
          </p:cNvSpPr>
          <p:nvPr/>
        </p:nvSpPr>
        <p:spPr>
          <a:xfrm>
            <a:off x="180261" y="953500"/>
            <a:ext cx="4391738" cy="517457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lang="en-US" sz="2400" b="1" kern="1200" dirty="0" smtClean="0">
                <a:solidFill>
                  <a:schemeClr val="tx1"/>
                </a:solidFill>
                <a:latin typeface="Arial" panose="020B0604020202020204" pitchFamily="34" charset="0"/>
                <a:ea typeface="+mn-ea"/>
                <a:cs typeface="Arial" panose="020B0604020202020204" pitchFamily="34" charset="0"/>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4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0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574675" indent="-228600" algn="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400" b="0" dirty="0">
                <a:latin typeface="+mn-lt"/>
              </a:rPr>
              <a:t>• Corporate, Regional, and Site offices (i.e. Office buildings, office spaces, office trailers, office management, office equipment and supplies, </a:t>
            </a:r>
            <a:r>
              <a:rPr lang="en-US" sz="1400" b="0" dirty="0" err="1">
                <a:latin typeface="+mn-lt"/>
              </a:rPr>
              <a:t>etc</a:t>
            </a:r>
            <a:r>
              <a:rPr lang="en-US" sz="1400" b="0" dirty="0">
                <a:latin typeface="+mn-lt"/>
              </a:rPr>
              <a:t>) </a:t>
            </a:r>
          </a:p>
          <a:p>
            <a:pPr marL="0" indent="0">
              <a:spcBef>
                <a:spcPts val="0"/>
              </a:spcBef>
              <a:buNone/>
            </a:pPr>
            <a:endParaRPr lang="en-US" sz="1400" b="0" dirty="0">
              <a:latin typeface="+mn-lt"/>
            </a:endParaRPr>
          </a:p>
          <a:p>
            <a:pPr marL="0" indent="0">
              <a:spcBef>
                <a:spcPts val="0"/>
              </a:spcBef>
              <a:buNone/>
            </a:pPr>
            <a:r>
              <a:rPr lang="en-US" sz="1400" b="0" dirty="0">
                <a:latin typeface="+mn-lt"/>
              </a:rPr>
              <a:t>• Contractor’s overhead and profit. </a:t>
            </a:r>
          </a:p>
          <a:p>
            <a:pPr marL="0" indent="0">
              <a:spcBef>
                <a:spcPts val="0"/>
              </a:spcBef>
              <a:buNone/>
            </a:pPr>
            <a:endParaRPr lang="en-US" sz="1400" b="0" dirty="0">
              <a:latin typeface="+mn-lt"/>
            </a:endParaRPr>
          </a:p>
          <a:p>
            <a:pPr marL="0" indent="0">
              <a:spcBef>
                <a:spcPts val="0"/>
              </a:spcBef>
              <a:buNone/>
            </a:pPr>
            <a:r>
              <a:rPr lang="en-US" sz="1400" b="0" dirty="0">
                <a:latin typeface="+mn-lt"/>
              </a:rPr>
              <a:t>• Subcontractor’s overhead and profit. </a:t>
            </a:r>
          </a:p>
          <a:p>
            <a:pPr marL="0" indent="0">
              <a:spcBef>
                <a:spcPts val="0"/>
              </a:spcBef>
              <a:buNone/>
            </a:pPr>
            <a:endParaRPr lang="en-US" sz="1400" b="0" dirty="0">
              <a:latin typeface="+mn-lt"/>
            </a:endParaRPr>
          </a:p>
          <a:p>
            <a:pPr marL="0" indent="0">
              <a:spcBef>
                <a:spcPts val="0"/>
              </a:spcBef>
              <a:buNone/>
            </a:pPr>
            <a:r>
              <a:rPr lang="en-US" sz="1400" b="0" dirty="0">
                <a:latin typeface="+mn-lt"/>
              </a:rPr>
              <a:t>• All associated costs with Performance and Payment Bonds (per Army Federal Regulation Supplement 17.94 2(h)) </a:t>
            </a:r>
          </a:p>
          <a:p>
            <a:pPr marL="0" indent="0">
              <a:spcBef>
                <a:spcPts val="0"/>
              </a:spcBef>
              <a:buNone/>
            </a:pPr>
            <a:endParaRPr lang="en-US" sz="1400" b="0" dirty="0">
              <a:latin typeface="+mn-lt"/>
            </a:endParaRPr>
          </a:p>
          <a:p>
            <a:pPr marL="0" indent="0">
              <a:spcBef>
                <a:spcPts val="0"/>
              </a:spcBef>
              <a:buNone/>
            </a:pPr>
            <a:r>
              <a:rPr lang="en-US" sz="1400" b="0" dirty="0">
                <a:latin typeface="+mn-lt"/>
              </a:rPr>
              <a:t>• Business taxes, contributions, memberships, corporate headquarters support (legal, financial, etc.)</a:t>
            </a:r>
          </a:p>
          <a:p>
            <a:pPr marL="0" indent="0">
              <a:spcBef>
                <a:spcPts val="0"/>
              </a:spcBef>
              <a:buNone/>
            </a:pPr>
            <a:r>
              <a:rPr lang="en-US" sz="1400" b="0" dirty="0">
                <a:latin typeface="+mn-lt"/>
              </a:rPr>
              <a:t> </a:t>
            </a:r>
          </a:p>
          <a:p>
            <a:pPr marL="0" indent="0">
              <a:spcBef>
                <a:spcPts val="0"/>
              </a:spcBef>
              <a:buNone/>
            </a:pPr>
            <a:r>
              <a:rPr lang="en-US" sz="1400" b="0" dirty="0">
                <a:latin typeface="+mn-lt"/>
              </a:rPr>
              <a:t>• Employee payroll taxes, insurances, and fringe benefits </a:t>
            </a:r>
          </a:p>
          <a:p>
            <a:pPr marL="0" indent="0">
              <a:spcBef>
                <a:spcPts val="0"/>
              </a:spcBef>
              <a:buNone/>
            </a:pPr>
            <a:endParaRPr lang="en-US" sz="1400" b="0" dirty="0">
              <a:latin typeface="+mn-lt"/>
            </a:endParaRPr>
          </a:p>
          <a:p>
            <a:pPr marL="0" indent="0">
              <a:spcBef>
                <a:spcPts val="0"/>
              </a:spcBef>
              <a:buNone/>
            </a:pPr>
            <a:r>
              <a:rPr lang="en-US" sz="1400" b="0" dirty="0">
                <a:latin typeface="+mn-lt"/>
              </a:rPr>
              <a:t>• Other insurances. </a:t>
            </a:r>
          </a:p>
          <a:p>
            <a:pPr marL="0" indent="0">
              <a:spcBef>
                <a:spcPts val="0"/>
              </a:spcBef>
              <a:buNone/>
            </a:pPr>
            <a:endParaRPr lang="en-US" sz="1400" b="0" dirty="0">
              <a:latin typeface="+mn-lt"/>
            </a:endParaRPr>
          </a:p>
          <a:p>
            <a:pPr marL="0" indent="0">
              <a:spcBef>
                <a:spcPts val="0"/>
              </a:spcBef>
              <a:buNone/>
            </a:pPr>
            <a:r>
              <a:rPr lang="en-US" sz="1400" b="0" dirty="0">
                <a:latin typeface="+mn-lt"/>
              </a:rPr>
              <a:t>• Compliance with environmental laws (overhead {indirect} cost associated with performing work in compliance with EPA/OSHA regulations including local Government requirements, including obtaining any necessary licenses and permits, reporting requirements, etc.) </a:t>
            </a:r>
          </a:p>
          <a:p>
            <a:pPr marL="0" indent="0">
              <a:spcBef>
                <a:spcPts val="0"/>
              </a:spcBef>
              <a:buNone/>
            </a:pPr>
            <a:r>
              <a:rPr lang="en-US" sz="1400" b="0" dirty="0">
                <a:latin typeface="+mn-lt"/>
              </a:rPr>
              <a:t>Job Orders, poor Subcontractor performance, currency exchange, and inflation or material cost fluctuations. </a:t>
            </a:r>
          </a:p>
        </p:txBody>
      </p:sp>
      <p:sp>
        <p:nvSpPr>
          <p:cNvPr id="8" name="TextBox 7">
            <a:extLst>
              <a:ext uri="{FF2B5EF4-FFF2-40B4-BE49-F238E27FC236}">
                <a16:creationId xmlns:a16="http://schemas.microsoft.com/office/drawing/2014/main" id="{EA5A7494-F546-0F1A-71D3-D10B35671F87}"/>
              </a:ext>
            </a:extLst>
          </p:cNvPr>
          <p:cNvSpPr txBox="1"/>
          <p:nvPr/>
        </p:nvSpPr>
        <p:spPr>
          <a:xfrm>
            <a:off x="2875769" y="584168"/>
            <a:ext cx="4576438" cy="369332"/>
          </a:xfrm>
          <a:prstGeom prst="rect">
            <a:avLst/>
          </a:prstGeom>
          <a:noFill/>
        </p:spPr>
        <p:txBody>
          <a:bodyPr wrap="square">
            <a:spAutoFit/>
          </a:bodyPr>
          <a:lstStyle/>
          <a:p>
            <a:r>
              <a:rPr lang="en-US" b="1" dirty="0">
                <a:latin typeface="Arial"/>
                <a:ea typeface="ＭＳ Ｐゴシック"/>
                <a:cs typeface="Arial"/>
              </a:rPr>
              <a:t>Business-Related Costs</a:t>
            </a:r>
          </a:p>
        </p:txBody>
      </p:sp>
      <p:sp>
        <p:nvSpPr>
          <p:cNvPr id="5" name="TextBox 4">
            <a:extLst>
              <a:ext uri="{FF2B5EF4-FFF2-40B4-BE49-F238E27FC236}">
                <a16:creationId xmlns:a16="http://schemas.microsoft.com/office/drawing/2014/main" id="{0494D088-9A36-BA51-389F-2046DD695E6F}"/>
              </a:ext>
            </a:extLst>
          </p:cNvPr>
          <p:cNvSpPr txBox="1"/>
          <p:nvPr/>
        </p:nvSpPr>
        <p:spPr>
          <a:xfrm>
            <a:off x="5620524" y="953500"/>
            <a:ext cx="2861324" cy="3385542"/>
          </a:xfrm>
          <a:prstGeom prst="rect">
            <a:avLst/>
          </a:prstGeom>
          <a:noFill/>
        </p:spPr>
        <p:txBody>
          <a:bodyPr wrap="square" rtlCol="0">
            <a:spAutoFit/>
          </a:bodyPr>
          <a:lstStyle/>
          <a:p>
            <a:r>
              <a:rPr lang="en-US" dirty="0"/>
              <a:t>• </a:t>
            </a:r>
            <a:r>
              <a:rPr lang="en-US" sz="1400" dirty="0"/>
              <a:t>Job Order development services, Government meetings, and other administrative services required by the Contract Documents. </a:t>
            </a:r>
          </a:p>
          <a:p>
            <a:endParaRPr lang="en-US" sz="1400" dirty="0"/>
          </a:p>
          <a:p>
            <a:r>
              <a:rPr lang="en-US" sz="1400" dirty="0"/>
              <a:t>• Cost of financing the work. </a:t>
            </a:r>
          </a:p>
          <a:p>
            <a:endParaRPr lang="en-US" sz="1400" dirty="0"/>
          </a:p>
          <a:p>
            <a:r>
              <a:rPr lang="en-US" sz="1400" dirty="0"/>
              <a:t>• All taxes for which a waiver is not available including material sales tax and equipment rental. </a:t>
            </a:r>
          </a:p>
          <a:p>
            <a:endParaRPr lang="en-US" sz="1400" dirty="0"/>
          </a:p>
          <a:p>
            <a:r>
              <a:rPr lang="en-US" sz="1400" dirty="0"/>
              <a:t>• Business risks such as the risk of a lower-than-expected volume of work, smaller than anticipated</a:t>
            </a:r>
          </a:p>
        </p:txBody>
      </p:sp>
    </p:spTree>
    <p:extLst>
      <p:ext uri="{BB962C8B-B14F-4D97-AF65-F5344CB8AC3E}">
        <p14:creationId xmlns:p14="http://schemas.microsoft.com/office/powerpoint/2010/main" val="12124626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89CAD-E623-5956-ED99-87B8CFE4A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58138-B3F4-D536-BEA8-C9147ABB157C}"/>
              </a:ext>
            </a:extLst>
          </p:cNvPr>
          <p:cNvSpPr>
            <a:spLocks noGrp="1"/>
          </p:cNvSpPr>
          <p:nvPr>
            <p:ph type="title"/>
          </p:nvPr>
        </p:nvSpPr>
        <p:spPr>
          <a:xfrm>
            <a:off x="836761" y="104037"/>
            <a:ext cx="7955280" cy="480131"/>
          </a:xfrm>
        </p:spPr>
        <p:txBody>
          <a:bodyPr/>
          <a:lstStyle/>
          <a:p>
            <a:pPr algn="ctr"/>
            <a:r>
              <a:rPr lang="en-US" dirty="0">
                <a:solidFill>
                  <a:schemeClr val="tx1"/>
                </a:solidFill>
              </a:rPr>
              <a:t>Italy Price Schedule and Bidding Coefficients</a:t>
            </a:r>
          </a:p>
        </p:txBody>
      </p:sp>
      <p:sp>
        <p:nvSpPr>
          <p:cNvPr id="4" name="TextBox 3">
            <a:extLst>
              <a:ext uri="{FF2B5EF4-FFF2-40B4-BE49-F238E27FC236}">
                <a16:creationId xmlns:a16="http://schemas.microsoft.com/office/drawing/2014/main" id="{D3447A7F-22F1-171A-A7DE-68BA1F55B890}"/>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5" name="Content Placeholder 1">
            <a:extLst>
              <a:ext uri="{FF2B5EF4-FFF2-40B4-BE49-F238E27FC236}">
                <a16:creationId xmlns:a16="http://schemas.microsoft.com/office/drawing/2014/main" id="{0C960E59-DEE1-962F-E9C3-2E9AA5A999D7}"/>
              </a:ext>
            </a:extLst>
          </p:cNvPr>
          <p:cNvSpPr txBox="1">
            <a:spLocks/>
          </p:cNvSpPr>
          <p:nvPr/>
        </p:nvSpPr>
        <p:spPr>
          <a:xfrm>
            <a:off x="5140170" y="2734758"/>
            <a:ext cx="4003829" cy="1711737"/>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lang="en-US" sz="2400" b="1" kern="1200" dirty="0" smtClean="0">
                <a:solidFill>
                  <a:schemeClr val="tx1"/>
                </a:solidFill>
                <a:latin typeface="Arial" panose="020B0604020202020204" pitchFamily="34" charset="0"/>
                <a:ea typeface="+mn-ea"/>
                <a:cs typeface="Arial" panose="020B0604020202020204" pitchFamily="34" charset="0"/>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4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0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574675" indent="-228600" algn="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0" dirty="0">
                <a:latin typeface="+mn-lt"/>
              </a:rPr>
              <a:t>Unit Price Book (UPB) Coefficients</a:t>
            </a:r>
          </a:p>
          <a:p>
            <a:r>
              <a:rPr lang="en-US" sz="1800" b="0" dirty="0">
                <a:latin typeface="+mn-lt"/>
              </a:rPr>
              <a:t>Offerors are required to price all Proposed Coefficients for all items.</a:t>
            </a:r>
          </a:p>
          <a:p>
            <a:r>
              <a:rPr lang="en-US" sz="1800" b="0" dirty="0">
                <a:latin typeface="+mn-lt"/>
              </a:rPr>
              <a:t>Coefficients will be contractually binging.</a:t>
            </a:r>
          </a:p>
          <a:p>
            <a:r>
              <a:rPr lang="en-US" sz="1800" b="0" dirty="0">
                <a:latin typeface="+mn-lt"/>
              </a:rPr>
              <a:t>Prices proposed will be analyzed to determine if prices are unbalanced</a:t>
            </a:r>
            <a:r>
              <a:rPr lang="en-US" sz="1800" b="0" dirty="0"/>
              <a:t>.</a:t>
            </a:r>
          </a:p>
        </p:txBody>
      </p:sp>
      <p:pic>
        <p:nvPicPr>
          <p:cNvPr id="8" name="Picture 7">
            <a:extLst>
              <a:ext uri="{FF2B5EF4-FFF2-40B4-BE49-F238E27FC236}">
                <a16:creationId xmlns:a16="http://schemas.microsoft.com/office/drawing/2014/main" id="{5793AD6B-E7A4-FFEE-FE64-6820FDC1E62E}"/>
              </a:ext>
            </a:extLst>
          </p:cNvPr>
          <p:cNvPicPr>
            <a:picLocks noChangeAspect="1"/>
          </p:cNvPicPr>
          <p:nvPr/>
        </p:nvPicPr>
        <p:blipFill>
          <a:blip r:embed="rId3"/>
          <a:stretch>
            <a:fillRect/>
          </a:stretch>
        </p:blipFill>
        <p:spPr>
          <a:xfrm>
            <a:off x="-1" y="861134"/>
            <a:ext cx="5140171" cy="5792823"/>
          </a:xfrm>
          <a:prstGeom prst="rect">
            <a:avLst/>
          </a:prstGeom>
        </p:spPr>
      </p:pic>
    </p:spTree>
    <p:extLst>
      <p:ext uri="{BB962C8B-B14F-4D97-AF65-F5344CB8AC3E}">
        <p14:creationId xmlns:p14="http://schemas.microsoft.com/office/powerpoint/2010/main" val="10512152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766E2-F02C-9A3F-24DA-9CF1E330D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F12EFA-CA63-C042-2D07-0C6A0BA8D4DB}"/>
              </a:ext>
            </a:extLst>
          </p:cNvPr>
          <p:cNvSpPr>
            <a:spLocks noGrp="1"/>
          </p:cNvSpPr>
          <p:nvPr>
            <p:ph type="title"/>
          </p:nvPr>
        </p:nvSpPr>
        <p:spPr>
          <a:xfrm>
            <a:off x="836761" y="104037"/>
            <a:ext cx="7955280" cy="480131"/>
          </a:xfrm>
        </p:spPr>
        <p:txBody>
          <a:bodyPr/>
          <a:lstStyle/>
          <a:p>
            <a:pPr algn="ctr"/>
            <a:r>
              <a:rPr lang="en-US" dirty="0">
                <a:solidFill>
                  <a:schemeClr val="tx1"/>
                </a:solidFill>
                <a:ea typeface="ＭＳ Ｐゴシック" charset="0"/>
              </a:rPr>
              <a:t>JOC Task Order Process Overview</a:t>
            </a:r>
            <a:endParaRPr lang="en-US" dirty="0">
              <a:solidFill>
                <a:schemeClr val="tx1"/>
              </a:solidFill>
            </a:endParaRPr>
          </a:p>
        </p:txBody>
      </p:sp>
      <p:sp>
        <p:nvSpPr>
          <p:cNvPr id="4" name="TextBox 3">
            <a:extLst>
              <a:ext uri="{FF2B5EF4-FFF2-40B4-BE49-F238E27FC236}">
                <a16:creationId xmlns:a16="http://schemas.microsoft.com/office/drawing/2014/main" id="{9D9F3F78-306F-ADE4-4333-8711905BE640}"/>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5" name="Content Placeholder 1">
            <a:extLst>
              <a:ext uri="{FF2B5EF4-FFF2-40B4-BE49-F238E27FC236}">
                <a16:creationId xmlns:a16="http://schemas.microsoft.com/office/drawing/2014/main" id="{84D38447-3E93-BCB4-DE87-AA7FEDF41483}"/>
              </a:ext>
            </a:extLst>
          </p:cNvPr>
          <p:cNvSpPr txBox="1">
            <a:spLocks/>
          </p:cNvSpPr>
          <p:nvPr/>
        </p:nvSpPr>
        <p:spPr>
          <a:xfrm>
            <a:off x="0" y="3381378"/>
            <a:ext cx="9054353" cy="328736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lang="en-US" sz="2400" b="1" kern="1200" dirty="0" smtClean="0">
                <a:solidFill>
                  <a:schemeClr val="tx1"/>
                </a:solidFill>
                <a:latin typeface="Arial" panose="020B0604020202020204" pitchFamily="34" charset="0"/>
                <a:ea typeface="+mn-ea"/>
                <a:cs typeface="Arial" panose="020B0604020202020204" pitchFamily="34" charset="0"/>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4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0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574675" indent="-228600" algn="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50000"/>
              </a:lnSpc>
              <a:spcBef>
                <a:spcPts val="0"/>
              </a:spcBef>
              <a:buFont typeface="+mj-lt"/>
              <a:buAutoNum type="arabicPeriod"/>
              <a:defRPr/>
            </a:pPr>
            <a:r>
              <a:rPr lang="en-US" sz="1400" dirty="0">
                <a:latin typeface="+mn-lt"/>
                <a:ea typeface="ＭＳ Ｐゴシック" charset="0"/>
              </a:rPr>
              <a:t>Project Identification</a:t>
            </a:r>
          </a:p>
          <a:p>
            <a:pPr marL="514350" indent="-514350">
              <a:lnSpc>
                <a:spcPct val="150000"/>
              </a:lnSpc>
              <a:spcBef>
                <a:spcPts val="0"/>
              </a:spcBef>
              <a:buFont typeface="+mj-lt"/>
              <a:buAutoNum type="arabicPeriod"/>
              <a:defRPr/>
            </a:pPr>
            <a:r>
              <a:rPr lang="en-US" sz="1400" dirty="0">
                <a:latin typeface="+mn-lt"/>
                <a:ea typeface="ＭＳ Ｐゴシック" charset="0"/>
              </a:rPr>
              <a:t>Joint Site Visit &amp; Scoping</a:t>
            </a:r>
          </a:p>
          <a:p>
            <a:pPr marL="514350" indent="-514350">
              <a:lnSpc>
                <a:spcPct val="150000"/>
              </a:lnSpc>
              <a:spcBef>
                <a:spcPts val="0"/>
              </a:spcBef>
              <a:buFont typeface="+mj-lt"/>
              <a:buAutoNum type="arabicPeriod"/>
              <a:defRPr/>
            </a:pPr>
            <a:r>
              <a:rPr lang="en-US" sz="1400" dirty="0">
                <a:latin typeface="+mn-lt"/>
                <a:ea typeface="ＭＳ Ｐゴシック" charset="0"/>
              </a:rPr>
              <a:t>Task Order Proposal Request (TOPR) Issued</a:t>
            </a:r>
          </a:p>
          <a:p>
            <a:pPr marL="514350" indent="-514350">
              <a:lnSpc>
                <a:spcPct val="150000"/>
              </a:lnSpc>
              <a:spcBef>
                <a:spcPts val="0"/>
              </a:spcBef>
              <a:buFont typeface="+mj-lt"/>
              <a:buAutoNum type="arabicPeriod"/>
              <a:defRPr/>
            </a:pPr>
            <a:r>
              <a:rPr lang="en-US" sz="1400" dirty="0">
                <a:latin typeface="+mn-lt"/>
                <a:ea typeface="ＭＳ Ｐゴシック" charset="0"/>
              </a:rPr>
              <a:t>Contractor Prepares Cost Estimate/Proposal via </a:t>
            </a:r>
            <a:r>
              <a:rPr lang="en-US" sz="1400" dirty="0">
                <a:latin typeface="+mn-lt"/>
              </a:rPr>
              <a:t>Professional Cost-estimating </a:t>
            </a:r>
            <a:r>
              <a:rPr lang="en-US" sz="1400" dirty="0">
                <a:latin typeface="+mn-lt"/>
                <a:ea typeface="ＭＳ Ｐゴシック" charset="0"/>
              </a:rPr>
              <a:t>software and JOCPB</a:t>
            </a:r>
          </a:p>
          <a:p>
            <a:pPr marL="514350" indent="-514350">
              <a:lnSpc>
                <a:spcPct val="150000"/>
              </a:lnSpc>
              <a:spcBef>
                <a:spcPts val="0"/>
              </a:spcBef>
              <a:buFont typeface="+mj-lt"/>
              <a:buAutoNum type="arabicPeriod"/>
              <a:defRPr/>
            </a:pPr>
            <a:r>
              <a:rPr lang="en-US" sz="1400" dirty="0">
                <a:latin typeface="+mn-lt"/>
                <a:ea typeface="ＭＳ Ｐゴシック" charset="0"/>
              </a:rPr>
              <a:t>DPW – 414</a:t>
            </a:r>
            <a:r>
              <a:rPr lang="en-US" sz="1400" baseline="30000" dirty="0">
                <a:latin typeface="+mn-lt"/>
                <a:ea typeface="ＭＳ Ｐゴシック" charset="0"/>
              </a:rPr>
              <a:t>th</a:t>
            </a:r>
            <a:r>
              <a:rPr lang="en-US" sz="1400" dirty="0">
                <a:latin typeface="+mn-lt"/>
                <a:ea typeface="ＭＳ Ｐゴシック" charset="0"/>
              </a:rPr>
              <a:t> Proposal Reviews</a:t>
            </a:r>
          </a:p>
          <a:p>
            <a:pPr marL="514350" indent="-514350">
              <a:lnSpc>
                <a:spcPct val="150000"/>
              </a:lnSpc>
              <a:spcBef>
                <a:spcPts val="0"/>
              </a:spcBef>
              <a:buFont typeface="+mj-lt"/>
              <a:buAutoNum type="arabicPeriod"/>
              <a:defRPr/>
            </a:pPr>
            <a:r>
              <a:rPr lang="en-US" sz="1400" dirty="0">
                <a:latin typeface="+mn-lt"/>
                <a:ea typeface="ＭＳ Ｐゴシック" charset="0"/>
              </a:rPr>
              <a:t>Negotiate (as necessary) </a:t>
            </a:r>
          </a:p>
          <a:p>
            <a:pPr marL="514350" indent="-514350">
              <a:lnSpc>
                <a:spcPct val="150000"/>
              </a:lnSpc>
              <a:spcBef>
                <a:spcPts val="0"/>
              </a:spcBef>
              <a:buFont typeface="+mj-lt"/>
              <a:buAutoNum type="arabicPeriod"/>
              <a:defRPr/>
            </a:pPr>
            <a:r>
              <a:rPr lang="en-US" sz="1400" dirty="0">
                <a:latin typeface="+mn-lt"/>
                <a:ea typeface="ＭＳ Ｐゴシック" charset="0"/>
              </a:rPr>
              <a:t>Finalize Pricing (as necessary) </a:t>
            </a:r>
          </a:p>
          <a:p>
            <a:pPr marL="514350" indent="-514350">
              <a:lnSpc>
                <a:spcPct val="150000"/>
              </a:lnSpc>
              <a:spcBef>
                <a:spcPts val="0"/>
              </a:spcBef>
              <a:buFont typeface="+mj-lt"/>
              <a:buAutoNum type="arabicPeriod"/>
              <a:defRPr/>
            </a:pPr>
            <a:r>
              <a:rPr lang="en-US" sz="1400" dirty="0">
                <a:latin typeface="+mn-lt"/>
                <a:ea typeface="ＭＳ Ｐゴシック" charset="0"/>
              </a:rPr>
              <a:t>Contracting Officer Issues Task Order (DD 1155) </a:t>
            </a:r>
          </a:p>
          <a:p>
            <a:pPr marL="514350" indent="-514350">
              <a:lnSpc>
                <a:spcPct val="150000"/>
              </a:lnSpc>
              <a:spcBef>
                <a:spcPts val="0"/>
              </a:spcBef>
              <a:buFont typeface="+mj-lt"/>
              <a:buAutoNum type="arabicPeriod"/>
              <a:defRPr/>
            </a:pPr>
            <a:r>
              <a:rPr lang="en-US" sz="1400" dirty="0">
                <a:latin typeface="+mn-lt"/>
                <a:ea typeface="ＭＳ Ｐゴシック" charset="0"/>
              </a:rPr>
              <a:t>Project Execution (Construction - COR) – </a:t>
            </a:r>
            <a:r>
              <a:rPr lang="en-US" sz="1400" dirty="0">
                <a:latin typeface="+mn-lt"/>
              </a:rPr>
              <a:t>CMB</a:t>
            </a:r>
            <a:r>
              <a:rPr lang="en-US" sz="1400" dirty="0">
                <a:latin typeface="+mn-lt"/>
                <a:ea typeface="ＭＳ Ｐゴシック" charset="0"/>
              </a:rPr>
              <a:t> Oversight</a:t>
            </a:r>
          </a:p>
          <a:p>
            <a:pPr marL="514350" indent="-514350">
              <a:lnSpc>
                <a:spcPct val="150000"/>
              </a:lnSpc>
              <a:spcBef>
                <a:spcPts val="0"/>
              </a:spcBef>
              <a:buFont typeface="+mj-lt"/>
              <a:buAutoNum type="arabicPeriod"/>
              <a:defRPr/>
            </a:pPr>
            <a:r>
              <a:rPr lang="en-US" sz="1400" dirty="0">
                <a:latin typeface="+mn-lt"/>
                <a:ea typeface="ＭＳ Ｐゴシック" charset="0"/>
              </a:rPr>
              <a:t>Task Order Close-out </a:t>
            </a:r>
          </a:p>
        </p:txBody>
      </p:sp>
      <p:graphicFrame>
        <p:nvGraphicFramePr>
          <p:cNvPr id="6" name="Diagram 5">
            <a:extLst>
              <a:ext uri="{FF2B5EF4-FFF2-40B4-BE49-F238E27FC236}">
                <a16:creationId xmlns:a16="http://schemas.microsoft.com/office/drawing/2014/main" id="{D2702EF0-3623-6135-C4A0-885D92DC3FC6}"/>
              </a:ext>
            </a:extLst>
          </p:cNvPr>
          <p:cNvGraphicFramePr/>
          <p:nvPr>
            <p:extLst>
              <p:ext uri="{D42A27DB-BD31-4B8C-83A1-F6EECF244321}">
                <p14:modId xmlns:p14="http://schemas.microsoft.com/office/powerpoint/2010/main" val="2714698435"/>
              </p:ext>
            </p:extLst>
          </p:nvPr>
        </p:nvGraphicFramePr>
        <p:xfrm>
          <a:off x="891988" y="708212"/>
          <a:ext cx="7270376" cy="28524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0520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2683-CBF4-CB68-D72E-BFA49B25B3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329B8-F0FD-6ADC-4895-53C91C5A5177}"/>
              </a:ext>
            </a:extLst>
          </p:cNvPr>
          <p:cNvSpPr>
            <a:spLocks noGrp="1"/>
          </p:cNvSpPr>
          <p:nvPr>
            <p:ph type="title"/>
          </p:nvPr>
        </p:nvSpPr>
        <p:spPr>
          <a:xfrm>
            <a:off x="836761" y="104037"/>
            <a:ext cx="7955280" cy="480131"/>
          </a:xfrm>
        </p:spPr>
        <p:txBody>
          <a:bodyPr/>
          <a:lstStyle/>
          <a:p>
            <a:pPr algn="ctr"/>
            <a:r>
              <a:rPr lang="en-US" dirty="0">
                <a:solidFill>
                  <a:schemeClr val="tx1"/>
                </a:solidFill>
              </a:rPr>
              <a:t>JOC Sample Task Order</a:t>
            </a:r>
          </a:p>
        </p:txBody>
      </p:sp>
      <p:sp>
        <p:nvSpPr>
          <p:cNvPr id="4" name="TextBox 3">
            <a:extLst>
              <a:ext uri="{FF2B5EF4-FFF2-40B4-BE49-F238E27FC236}">
                <a16:creationId xmlns:a16="http://schemas.microsoft.com/office/drawing/2014/main" id="{1E8BD2B1-1970-665F-1F94-CD76AFF8A9C7}"/>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grpSp>
        <p:nvGrpSpPr>
          <p:cNvPr id="5" name="Group 4">
            <a:extLst>
              <a:ext uri="{FF2B5EF4-FFF2-40B4-BE49-F238E27FC236}">
                <a16:creationId xmlns:a16="http://schemas.microsoft.com/office/drawing/2014/main" id="{7214E5B1-2F62-E999-1CCB-FA1B74B47D88}"/>
              </a:ext>
            </a:extLst>
          </p:cNvPr>
          <p:cNvGrpSpPr/>
          <p:nvPr/>
        </p:nvGrpSpPr>
        <p:grpSpPr>
          <a:xfrm>
            <a:off x="0" y="778201"/>
            <a:ext cx="9144000" cy="4734378"/>
            <a:chOff x="379523" y="1390760"/>
            <a:chExt cx="11678492" cy="4734378"/>
          </a:xfrm>
        </p:grpSpPr>
        <p:pic>
          <p:nvPicPr>
            <p:cNvPr id="6" name="Picture 5">
              <a:extLst>
                <a:ext uri="{FF2B5EF4-FFF2-40B4-BE49-F238E27FC236}">
                  <a16:creationId xmlns:a16="http://schemas.microsoft.com/office/drawing/2014/main" id="{E19DE4B8-E0B2-4392-6EEC-50B30244D54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5971147" y="1390760"/>
              <a:ext cx="5841329" cy="1877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DEFBC105-0DFA-A520-A06B-ABF0C92C0615}"/>
                </a:ext>
              </a:extLst>
            </p:cNvPr>
            <p:cNvPicPr>
              <a:picLocks noChangeAspect="1"/>
            </p:cNvPicPr>
            <p:nvPr/>
          </p:nvPicPr>
          <p:blipFill>
            <a:blip r:embed="rId4"/>
            <a:stretch>
              <a:fillRect/>
            </a:stretch>
          </p:blipFill>
          <p:spPr>
            <a:xfrm>
              <a:off x="3730441" y="3589692"/>
              <a:ext cx="2717012" cy="2535446"/>
            </a:xfrm>
            <a:prstGeom prst="rect">
              <a:avLst/>
            </a:prstGeom>
          </p:spPr>
        </p:pic>
        <p:pic>
          <p:nvPicPr>
            <p:cNvPr id="9" name="Picture 8">
              <a:extLst>
                <a:ext uri="{FF2B5EF4-FFF2-40B4-BE49-F238E27FC236}">
                  <a16:creationId xmlns:a16="http://schemas.microsoft.com/office/drawing/2014/main" id="{645B78E0-1901-B2D1-6BCC-52163908CC71}"/>
                </a:ext>
              </a:extLst>
            </p:cNvPr>
            <p:cNvPicPr>
              <a:picLocks noChangeAspect="1"/>
            </p:cNvPicPr>
            <p:nvPr/>
          </p:nvPicPr>
          <p:blipFill>
            <a:blip r:embed="rId5"/>
            <a:stretch>
              <a:fillRect/>
            </a:stretch>
          </p:blipFill>
          <p:spPr>
            <a:xfrm>
              <a:off x="6670185" y="3924926"/>
              <a:ext cx="5387830" cy="2108064"/>
            </a:xfrm>
            <a:prstGeom prst="rect">
              <a:avLst/>
            </a:prstGeom>
          </p:spPr>
        </p:pic>
        <p:pic>
          <p:nvPicPr>
            <p:cNvPr id="11" name="Picture 10" descr="Graphical user interface, text, application, email&#10;&#10;AI-generated content may be incorrect.">
              <a:extLst>
                <a:ext uri="{FF2B5EF4-FFF2-40B4-BE49-F238E27FC236}">
                  <a16:creationId xmlns:a16="http://schemas.microsoft.com/office/drawing/2014/main" id="{6F233E38-BEFF-18C8-BC03-50DF4EF390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9523" y="1551277"/>
              <a:ext cx="3293863" cy="4573861"/>
            </a:xfrm>
            <a:prstGeom prst="rect">
              <a:avLst/>
            </a:prstGeom>
          </p:spPr>
        </p:pic>
        <p:pic>
          <p:nvPicPr>
            <p:cNvPr id="13" name="Picture 12" descr="Diagram&#10;&#10;AI-generated content may be incorrect.">
              <a:extLst>
                <a:ext uri="{FF2B5EF4-FFF2-40B4-BE49-F238E27FC236}">
                  <a16:creationId xmlns:a16="http://schemas.microsoft.com/office/drawing/2014/main" id="{3F213E24-54A0-15E6-B584-DB7802ADB26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194452" y="1481470"/>
              <a:ext cx="3431907" cy="1877550"/>
            </a:xfrm>
            <a:prstGeom prst="rect">
              <a:avLst/>
            </a:prstGeom>
          </p:spPr>
        </p:pic>
      </p:grpSp>
      <p:sp>
        <p:nvSpPr>
          <p:cNvPr id="14" name="Rectangle 5">
            <a:extLst>
              <a:ext uri="{FF2B5EF4-FFF2-40B4-BE49-F238E27FC236}">
                <a16:creationId xmlns:a16="http://schemas.microsoft.com/office/drawing/2014/main" id="{E84FE1BA-B2D7-BBB4-1BED-F5CFE71E68D3}"/>
              </a:ext>
            </a:extLst>
          </p:cNvPr>
          <p:cNvSpPr>
            <a:spLocks noChangeArrowheads="1"/>
          </p:cNvSpPr>
          <p:nvPr/>
        </p:nvSpPr>
        <p:spPr bwMode="auto">
          <a:xfrm>
            <a:off x="176807" y="5512579"/>
            <a:ext cx="8790383"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sz="1400" dirty="0"/>
          </a:p>
          <a:p>
            <a:r>
              <a:rPr lang="en-US" altLang="en-US" dirty="0">
                <a:latin typeface="+mn-lt"/>
              </a:rPr>
              <a:t>The Sample Task Order is intended to be used as an </a:t>
            </a:r>
            <a:r>
              <a:rPr lang="en-US" altLang="en-US" u="sng" dirty="0">
                <a:latin typeface="+mn-lt"/>
              </a:rPr>
              <a:t>EXAMPLE ONLY. </a:t>
            </a:r>
          </a:p>
          <a:p>
            <a:r>
              <a:rPr lang="en-US" altLang="en-US" dirty="0">
                <a:latin typeface="+mn-lt"/>
              </a:rPr>
              <a:t>Unit costs and coefficients do </a:t>
            </a:r>
            <a:r>
              <a:rPr lang="en-US" altLang="en-US" u="sng" dirty="0">
                <a:latin typeface="+mn-lt"/>
              </a:rPr>
              <a:t>NOT</a:t>
            </a:r>
            <a:r>
              <a:rPr lang="en-US" altLang="en-US" dirty="0">
                <a:latin typeface="+mn-lt"/>
              </a:rPr>
              <a:t> represent actual award pricing</a:t>
            </a:r>
            <a:r>
              <a:rPr lang="en-US" altLang="en-US" dirty="0"/>
              <a:t>.</a:t>
            </a:r>
          </a:p>
        </p:txBody>
      </p:sp>
    </p:spTree>
    <p:extLst>
      <p:ext uri="{BB962C8B-B14F-4D97-AF65-F5344CB8AC3E}">
        <p14:creationId xmlns:p14="http://schemas.microsoft.com/office/powerpoint/2010/main" val="15897894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C6881-38BC-DB15-757A-F1F870C03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7D46E-3101-4A5A-DCAE-F8022289BA64}"/>
              </a:ext>
            </a:extLst>
          </p:cNvPr>
          <p:cNvSpPr>
            <a:spLocks noGrp="1"/>
          </p:cNvSpPr>
          <p:nvPr>
            <p:ph type="title"/>
          </p:nvPr>
        </p:nvSpPr>
        <p:spPr>
          <a:xfrm>
            <a:off x="836761" y="104037"/>
            <a:ext cx="7955280" cy="480131"/>
          </a:xfrm>
        </p:spPr>
        <p:txBody>
          <a:bodyPr/>
          <a:lstStyle/>
          <a:p>
            <a:pPr algn="ctr"/>
            <a:r>
              <a:rPr lang="en-US" dirty="0">
                <a:solidFill>
                  <a:schemeClr val="tx1"/>
                </a:solidFill>
              </a:rPr>
              <a:t>JOC</a:t>
            </a:r>
            <a:r>
              <a:rPr lang="en-US" b="0" dirty="0">
                <a:solidFill>
                  <a:schemeClr val="tx1"/>
                </a:solidFill>
                <a:latin typeface="Times New Roman" panose="02020603050405020304" pitchFamily="18" charset="0"/>
              </a:rPr>
              <a:t> </a:t>
            </a:r>
            <a:r>
              <a:rPr lang="en-US" dirty="0">
                <a:solidFill>
                  <a:schemeClr val="tx1"/>
                </a:solidFill>
              </a:rPr>
              <a:t>Sample TOPR Proposal – Euros</a:t>
            </a:r>
          </a:p>
        </p:txBody>
      </p:sp>
      <p:sp>
        <p:nvSpPr>
          <p:cNvPr id="4" name="TextBox 3">
            <a:extLst>
              <a:ext uri="{FF2B5EF4-FFF2-40B4-BE49-F238E27FC236}">
                <a16:creationId xmlns:a16="http://schemas.microsoft.com/office/drawing/2014/main" id="{1CA47595-32C8-C929-B073-C2CE82B6EFB1}"/>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grpSp>
        <p:nvGrpSpPr>
          <p:cNvPr id="3" name="Group 2">
            <a:extLst>
              <a:ext uri="{FF2B5EF4-FFF2-40B4-BE49-F238E27FC236}">
                <a16:creationId xmlns:a16="http://schemas.microsoft.com/office/drawing/2014/main" id="{4681EAA7-5107-F79E-1097-F62BCBBFABE5}"/>
              </a:ext>
            </a:extLst>
          </p:cNvPr>
          <p:cNvGrpSpPr/>
          <p:nvPr/>
        </p:nvGrpSpPr>
        <p:grpSpPr>
          <a:xfrm>
            <a:off x="-115410" y="971967"/>
            <a:ext cx="9197265" cy="5047586"/>
            <a:chOff x="347135" y="1200672"/>
            <a:chExt cx="10596035" cy="5047586"/>
          </a:xfrm>
        </p:grpSpPr>
        <p:sp>
          <p:nvSpPr>
            <p:cNvPr id="5" name="TextBox 4">
              <a:extLst>
                <a:ext uri="{FF2B5EF4-FFF2-40B4-BE49-F238E27FC236}">
                  <a16:creationId xmlns:a16="http://schemas.microsoft.com/office/drawing/2014/main" id="{7AC08F34-D421-0AD4-EEA6-627A0BA9495A}"/>
                </a:ext>
              </a:extLst>
            </p:cNvPr>
            <p:cNvSpPr txBox="1"/>
            <p:nvPr/>
          </p:nvSpPr>
          <p:spPr>
            <a:xfrm>
              <a:off x="7126624" y="5971255"/>
              <a:ext cx="1404552" cy="276999"/>
            </a:xfrm>
            <a:prstGeom prst="rect">
              <a:avLst/>
            </a:prstGeom>
            <a:noFill/>
          </p:spPr>
          <p:txBody>
            <a:bodyPr wrap="none" rtlCol="0">
              <a:spAutoFit/>
            </a:bodyPr>
            <a:lstStyle/>
            <a:p>
              <a:r>
                <a:rPr lang="en-US" sz="1200" i="1"/>
                <a:t>Detailed Statistics</a:t>
              </a:r>
            </a:p>
          </p:txBody>
        </p:sp>
        <p:sp>
          <p:nvSpPr>
            <p:cNvPr id="6" name="TextBox 5">
              <a:extLst>
                <a:ext uri="{FF2B5EF4-FFF2-40B4-BE49-F238E27FC236}">
                  <a16:creationId xmlns:a16="http://schemas.microsoft.com/office/drawing/2014/main" id="{912B69AD-A75A-DDDE-9FB3-FC17A7E8CC0B}"/>
                </a:ext>
              </a:extLst>
            </p:cNvPr>
            <p:cNvSpPr txBox="1"/>
            <p:nvPr/>
          </p:nvSpPr>
          <p:spPr>
            <a:xfrm>
              <a:off x="3806157" y="5966640"/>
              <a:ext cx="1500732" cy="276999"/>
            </a:xfrm>
            <a:prstGeom prst="rect">
              <a:avLst/>
            </a:prstGeom>
            <a:noFill/>
          </p:spPr>
          <p:txBody>
            <a:bodyPr wrap="none" rtlCol="0">
              <a:spAutoFit/>
            </a:bodyPr>
            <a:lstStyle/>
            <a:p>
              <a:r>
                <a:rPr lang="en-US" sz="1200" i="1" dirty="0"/>
                <a:t>Summary Statistics</a:t>
              </a:r>
            </a:p>
          </p:txBody>
        </p:sp>
        <p:sp>
          <p:nvSpPr>
            <p:cNvPr id="7" name="TextBox 6">
              <a:extLst>
                <a:ext uri="{FF2B5EF4-FFF2-40B4-BE49-F238E27FC236}">
                  <a16:creationId xmlns:a16="http://schemas.microsoft.com/office/drawing/2014/main" id="{33843C30-B14A-35EC-FBB2-168044FB7B70}"/>
                </a:ext>
              </a:extLst>
            </p:cNvPr>
            <p:cNvSpPr txBox="1"/>
            <p:nvPr/>
          </p:nvSpPr>
          <p:spPr>
            <a:xfrm>
              <a:off x="347135" y="5971259"/>
              <a:ext cx="2013693" cy="276999"/>
            </a:xfrm>
            <a:prstGeom prst="rect">
              <a:avLst/>
            </a:prstGeom>
            <a:noFill/>
          </p:spPr>
          <p:txBody>
            <a:bodyPr wrap="none" rtlCol="0">
              <a:spAutoFit/>
            </a:bodyPr>
            <a:lstStyle/>
            <a:p>
              <a:r>
                <a:rPr lang="en-US" sz="1200" i="1"/>
                <a:t>CLINs or Features of Work</a:t>
              </a:r>
            </a:p>
          </p:txBody>
        </p:sp>
        <p:pic>
          <p:nvPicPr>
            <p:cNvPr id="8" name="Picture 7" descr="Table&#10;&#10;AI-generated content may be incorrect.">
              <a:extLst>
                <a:ext uri="{FF2B5EF4-FFF2-40B4-BE49-F238E27FC236}">
                  <a16:creationId xmlns:a16="http://schemas.microsoft.com/office/drawing/2014/main" id="{0E5769EE-709B-E1E6-1A93-02E4FBCA16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8993" y="1200672"/>
              <a:ext cx="3394177" cy="4765968"/>
            </a:xfrm>
            <a:prstGeom prst="rect">
              <a:avLst/>
            </a:prstGeom>
            <a:ln w="12700">
              <a:solidFill>
                <a:schemeClr val="tx1"/>
              </a:solidFill>
            </a:ln>
          </p:spPr>
        </p:pic>
        <p:pic>
          <p:nvPicPr>
            <p:cNvPr id="9" name="Picture 8" descr="Table&#10;&#10;AI-generated content may be incorrect.">
              <a:extLst>
                <a:ext uri="{FF2B5EF4-FFF2-40B4-BE49-F238E27FC236}">
                  <a16:creationId xmlns:a16="http://schemas.microsoft.com/office/drawing/2014/main" id="{E84FA307-BEC9-D068-30E4-527102EF2D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75685" y="1200672"/>
              <a:ext cx="3573306" cy="4770910"/>
            </a:xfrm>
            <a:prstGeom prst="rect">
              <a:avLst/>
            </a:prstGeom>
            <a:ln w="12700">
              <a:solidFill>
                <a:schemeClr val="tx1"/>
              </a:solidFill>
            </a:ln>
          </p:spPr>
        </p:pic>
        <p:pic>
          <p:nvPicPr>
            <p:cNvPr id="10" name="Picture 9" descr="Table&#10;&#10;AI-generated content may be incorrect.">
              <a:extLst>
                <a:ext uri="{FF2B5EF4-FFF2-40B4-BE49-F238E27FC236}">
                  <a16:creationId xmlns:a16="http://schemas.microsoft.com/office/drawing/2014/main" id="{3B221755-E4EA-0121-0E11-0AC3DDE28E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400" y="1200672"/>
              <a:ext cx="3442283" cy="4765968"/>
            </a:xfrm>
            <a:prstGeom prst="rect">
              <a:avLst/>
            </a:prstGeom>
            <a:ln w="12700">
              <a:solidFill>
                <a:schemeClr val="tx1"/>
              </a:solidFill>
            </a:ln>
          </p:spPr>
        </p:pic>
      </p:grpSp>
    </p:spTree>
    <p:extLst>
      <p:ext uri="{BB962C8B-B14F-4D97-AF65-F5344CB8AC3E}">
        <p14:creationId xmlns:p14="http://schemas.microsoft.com/office/powerpoint/2010/main" val="986215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B549D-18FD-A43E-0D39-2082A69D4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1D406-1DAE-5018-22D0-D9C6ECE33692}"/>
              </a:ext>
            </a:extLst>
          </p:cNvPr>
          <p:cNvSpPr>
            <a:spLocks noGrp="1"/>
          </p:cNvSpPr>
          <p:nvPr>
            <p:ph type="title"/>
          </p:nvPr>
        </p:nvSpPr>
        <p:spPr>
          <a:xfrm>
            <a:off x="836761" y="104037"/>
            <a:ext cx="7955280" cy="480131"/>
          </a:xfrm>
        </p:spPr>
        <p:txBody>
          <a:bodyPr/>
          <a:lstStyle/>
          <a:p>
            <a:pPr algn="ctr"/>
            <a:r>
              <a:rPr lang="en-US" dirty="0">
                <a:solidFill>
                  <a:schemeClr val="tx1"/>
                </a:solidFill>
              </a:rPr>
              <a:t>Doing Business with the 414</a:t>
            </a:r>
            <a:r>
              <a:rPr lang="en-US" baseline="30000" dirty="0">
                <a:solidFill>
                  <a:schemeClr val="tx1"/>
                </a:solidFill>
              </a:rPr>
              <a:t>th</a:t>
            </a:r>
            <a:r>
              <a:rPr lang="en-US" dirty="0">
                <a:solidFill>
                  <a:schemeClr val="tx1"/>
                </a:solidFill>
              </a:rPr>
              <a:t> CSB</a:t>
            </a:r>
          </a:p>
        </p:txBody>
      </p:sp>
      <p:sp>
        <p:nvSpPr>
          <p:cNvPr id="4" name="TextBox 3">
            <a:extLst>
              <a:ext uri="{FF2B5EF4-FFF2-40B4-BE49-F238E27FC236}">
                <a16:creationId xmlns:a16="http://schemas.microsoft.com/office/drawing/2014/main" id="{881F52CC-58C8-5EAE-72E4-F6C9852DA05D}"/>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pic>
        <p:nvPicPr>
          <p:cNvPr id="5" name="Picture 2">
            <a:extLst>
              <a:ext uri="{FF2B5EF4-FFF2-40B4-BE49-F238E27FC236}">
                <a16:creationId xmlns:a16="http://schemas.microsoft.com/office/drawing/2014/main" id="{5C1B3593-9CEE-575A-291F-BF44D39246C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1118" y="1952201"/>
            <a:ext cx="5501764" cy="2953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11627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CBA88-1F69-2F29-706C-991E07A4B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68DE4-971F-5FD3-2B4F-D8C124219C07}"/>
              </a:ext>
            </a:extLst>
          </p:cNvPr>
          <p:cNvSpPr>
            <a:spLocks noGrp="1"/>
          </p:cNvSpPr>
          <p:nvPr>
            <p:ph type="title"/>
          </p:nvPr>
        </p:nvSpPr>
        <p:spPr>
          <a:xfrm>
            <a:off x="836761" y="104037"/>
            <a:ext cx="7955280" cy="867930"/>
          </a:xfrm>
        </p:spPr>
        <p:txBody>
          <a:bodyPr/>
          <a:lstStyle/>
          <a:p>
            <a:pPr algn="ctr"/>
            <a:r>
              <a:rPr lang="en-US" dirty="0">
                <a:solidFill>
                  <a:schemeClr val="tx1"/>
                </a:solidFill>
              </a:rPr>
              <a:t>Doing Business with the 414</a:t>
            </a:r>
            <a:r>
              <a:rPr lang="en-US" baseline="30000" dirty="0">
                <a:solidFill>
                  <a:schemeClr val="tx1"/>
                </a:solidFill>
              </a:rPr>
              <a:t>th</a:t>
            </a:r>
            <a:r>
              <a:rPr lang="en-US" dirty="0">
                <a:solidFill>
                  <a:schemeClr val="tx1"/>
                </a:solidFill>
              </a:rPr>
              <a:t> CSB</a:t>
            </a:r>
            <a:br>
              <a:rPr lang="en-US" dirty="0">
                <a:solidFill>
                  <a:schemeClr val="tx1"/>
                </a:solidFill>
              </a:rPr>
            </a:br>
            <a:r>
              <a:rPr lang="en-US" dirty="0">
                <a:solidFill>
                  <a:schemeClr val="tx1"/>
                </a:solidFill>
              </a:rPr>
              <a:t>Part 1 (Pt. 1): Overview</a:t>
            </a:r>
          </a:p>
        </p:txBody>
      </p:sp>
      <p:sp>
        <p:nvSpPr>
          <p:cNvPr id="4" name="TextBox 3">
            <a:extLst>
              <a:ext uri="{FF2B5EF4-FFF2-40B4-BE49-F238E27FC236}">
                <a16:creationId xmlns:a16="http://schemas.microsoft.com/office/drawing/2014/main" id="{64D9EBD6-DDA0-99AD-0384-009728C40C5C}"/>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5" name="TextBox 4">
            <a:extLst>
              <a:ext uri="{FF2B5EF4-FFF2-40B4-BE49-F238E27FC236}">
                <a16:creationId xmlns:a16="http://schemas.microsoft.com/office/drawing/2014/main" id="{FB4D28FE-358D-5370-26F1-D146BC52D0F6}"/>
              </a:ext>
            </a:extLst>
          </p:cNvPr>
          <p:cNvSpPr txBox="1"/>
          <p:nvPr/>
        </p:nvSpPr>
        <p:spPr>
          <a:xfrm>
            <a:off x="407080" y="1274421"/>
            <a:ext cx="8384959" cy="4416594"/>
          </a:xfrm>
          <a:prstGeom prst="rect">
            <a:avLst/>
          </a:prstGeom>
          <a:noFill/>
        </p:spPr>
        <p:txBody>
          <a:bodyPr wrap="square">
            <a:spAutoFit/>
          </a:bodyPr>
          <a:lstStyle/>
          <a:p>
            <a:pPr algn="ctr">
              <a:spcAft>
                <a:spcPts val="1200"/>
              </a:spcAft>
              <a:defRPr/>
            </a:pPr>
            <a:r>
              <a:rPr lang="en-US" altLang="en-US" sz="2800" b="1" dirty="0">
                <a:solidFill>
                  <a:schemeClr val="tx1"/>
                </a:solidFill>
                <a:ea typeface="ＭＳ Ｐゴシック" panose="020B0600070205080204" pitchFamily="34" charset="-128"/>
              </a:rPr>
              <a:t>Registration &amp; ID Numbers</a:t>
            </a:r>
          </a:p>
          <a:p>
            <a:pPr marL="342900" indent="-342900">
              <a:spcAft>
                <a:spcPts val="1200"/>
              </a:spcAft>
              <a:buFont typeface="Arial" panose="020B0604020202020204" pitchFamily="34" charset="0"/>
              <a:buChar char="•"/>
              <a:defRPr/>
            </a:pPr>
            <a:r>
              <a:rPr lang="en-US" altLang="en-US" sz="2400" dirty="0">
                <a:solidFill>
                  <a:schemeClr val="tx1"/>
                </a:solidFill>
                <a:ea typeface="ＭＳ Ｐゴシック" panose="020B0600070205080204" pitchFamily="34" charset="-128"/>
              </a:rPr>
              <a:t>Unique Entity ID (UEI) </a:t>
            </a:r>
          </a:p>
          <a:p>
            <a:pPr marL="342900" indent="-342900">
              <a:spcAft>
                <a:spcPts val="1200"/>
              </a:spcAft>
              <a:buFont typeface="Arial" panose="020B0604020202020204" pitchFamily="34" charset="0"/>
              <a:buChar char="•"/>
              <a:defRPr/>
            </a:pPr>
            <a:r>
              <a:rPr lang="en-US" altLang="en-US" sz="2400" dirty="0">
                <a:solidFill>
                  <a:schemeClr val="tx1"/>
                </a:solidFill>
                <a:ea typeface="ＭＳ Ｐゴシック" panose="020B0600070205080204" pitchFamily="34" charset="-128"/>
              </a:rPr>
              <a:t>CAGE / NCAGE Codes*</a:t>
            </a:r>
          </a:p>
          <a:p>
            <a:pPr marL="342900" indent="-342900">
              <a:spcAft>
                <a:spcPts val="1200"/>
              </a:spcAft>
              <a:buFont typeface="Arial" panose="020B0604020202020204" pitchFamily="34" charset="0"/>
              <a:buChar char="•"/>
              <a:defRPr/>
            </a:pPr>
            <a:r>
              <a:rPr lang="en-US" altLang="en-US" sz="2400" dirty="0">
                <a:solidFill>
                  <a:schemeClr val="tx1"/>
                </a:solidFill>
                <a:ea typeface="ＭＳ Ｐゴシック" panose="020B0600070205080204" pitchFamily="34" charset="-128"/>
              </a:rPr>
              <a:t>SAM Registration </a:t>
            </a:r>
          </a:p>
          <a:p>
            <a:pPr marL="342900" marR="0" lvl="0" indent="-34290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mn-cs"/>
              </a:rPr>
              <a:t>Source Selection Process </a:t>
            </a:r>
          </a:p>
          <a:p>
            <a:pPr marL="342900" marR="0" lvl="0" indent="-34290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mn-cs"/>
              </a:rPr>
              <a:t>Understanding the Solicitation </a:t>
            </a:r>
          </a:p>
          <a:p>
            <a:pPr marL="342900" marR="0" lvl="0" indent="-34290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mn-cs"/>
              </a:rPr>
              <a:t>Preparing your Proposal </a:t>
            </a:r>
          </a:p>
          <a:p>
            <a:pPr marL="342900" marR="0" lvl="0" indent="-3429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ea typeface="ＭＳ Ｐゴシック" panose="020B0600070205080204" pitchFamily="34" charset="-128"/>
                <a:cs typeface="+mn-cs"/>
              </a:rPr>
              <a:t>Section K of Solicitation</a:t>
            </a:r>
            <a:endParaRPr lang="en-US" altLang="en-US" sz="2400" dirty="0">
              <a:solidFill>
                <a:schemeClr val="tx1"/>
              </a:solidFill>
              <a:ea typeface="ＭＳ Ｐゴシック" panose="020B0600070205080204" pitchFamily="34" charset="-128"/>
            </a:endParaRPr>
          </a:p>
        </p:txBody>
      </p:sp>
      <p:sp>
        <p:nvSpPr>
          <p:cNvPr id="7" name="TextBox 6">
            <a:extLst>
              <a:ext uri="{FF2B5EF4-FFF2-40B4-BE49-F238E27FC236}">
                <a16:creationId xmlns:a16="http://schemas.microsoft.com/office/drawing/2014/main" id="{6C52909D-FCC9-480E-675A-A95DCD8CAD73}"/>
              </a:ext>
            </a:extLst>
          </p:cNvPr>
          <p:cNvSpPr txBox="1"/>
          <p:nvPr/>
        </p:nvSpPr>
        <p:spPr>
          <a:xfrm>
            <a:off x="407080" y="6111477"/>
            <a:ext cx="8731623" cy="276999"/>
          </a:xfrm>
          <a:prstGeom prst="rect">
            <a:avLst/>
          </a:prstGeom>
          <a:noFill/>
        </p:spPr>
        <p:txBody>
          <a:bodyPr wrap="square">
            <a:spAutoFit/>
          </a:bodyPr>
          <a:lstStyle/>
          <a:p>
            <a:r>
              <a:rPr kumimoji="0" lang="en-US" altLang="en-US" sz="1200" b="0" i="0" u="none" strike="noStrike" cap="none" normalizeH="0" baseline="0" dirty="0">
                <a:ln>
                  <a:noFill/>
                </a:ln>
                <a:solidFill>
                  <a:srgbClr val="000000"/>
                </a:solidFill>
                <a:effectLst/>
                <a:latin typeface="Arial" panose="020B0604020202020204" pitchFamily="34" charset="0"/>
              </a:rPr>
              <a:t>*</a:t>
            </a:r>
            <a:r>
              <a:rPr kumimoji="0" lang="en-US" altLang="en-US" sz="1200" b="1" i="0" u="none" strike="noStrike" cap="none" normalizeH="0" baseline="0" dirty="0">
                <a:ln>
                  <a:noFill/>
                </a:ln>
                <a:solidFill>
                  <a:srgbClr val="000000"/>
                </a:solidFill>
                <a:effectLst/>
                <a:latin typeface="Arial" panose="020B0604020202020204" pitchFamily="34" charset="0"/>
              </a:rPr>
              <a:t>Commercial and Government Entity (CAGE) </a:t>
            </a:r>
            <a:r>
              <a:rPr lang="en-US" altLang="en-US" sz="1200" b="1" dirty="0">
                <a:solidFill>
                  <a:srgbClr val="000000"/>
                </a:solidFill>
                <a:latin typeface="Arial" panose="020B0604020202020204" pitchFamily="34" charset="0"/>
              </a:rPr>
              <a:t>/ NATO Commercial and Government Entity (NCAGE)</a:t>
            </a:r>
            <a:endParaRPr lang="en-US" sz="1200" b="1" dirty="0"/>
          </a:p>
        </p:txBody>
      </p:sp>
    </p:spTree>
    <p:extLst>
      <p:ext uri="{BB962C8B-B14F-4D97-AF65-F5344CB8AC3E}">
        <p14:creationId xmlns:p14="http://schemas.microsoft.com/office/powerpoint/2010/main" val="18316842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53CE7-204F-DC83-F09E-A966D60CF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A2CDB-1939-A430-7941-4DE7F7A3ECE0}"/>
              </a:ext>
            </a:extLst>
          </p:cNvPr>
          <p:cNvSpPr>
            <a:spLocks noGrp="1"/>
          </p:cNvSpPr>
          <p:nvPr>
            <p:ph type="title"/>
          </p:nvPr>
        </p:nvSpPr>
        <p:spPr>
          <a:xfrm>
            <a:off x="836761" y="104037"/>
            <a:ext cx="7955280" cy="867930"/>
          </a:xfrm>
        </p:spPr>
        <p:txBody>
          <a:bodyPr/>
          <a:lstStyle/>
          <a:p>
            <a:pPr algn="ctr"/>
            <a:r>
              <a:rPr lang="en-US" dirty="0">
                <a:solidFill>
                  <a:schemeClr val="tx1"/>
                </a:solidFill>
              </a:rPr>
              <a:t>Doing Business with the 414</a:t>
            </a:r>
            <a:r>
              <a:rPr lang="en-US" baseline="30000" dirty="0">
                <a:solidFill>
                  <a:schemeClr val="tx1"/>
                </a:solidFill>
              </a:rPr>
              <a:t>th</a:t>
            </a:r>
            <a:r>
              <a:rPr lang="en-US" dirty="0">
                <a:solidFill>
                  <a:schemeClr val="tx1"/>
                </a:solidFill>
              </a:rPr>
              <a:t> CSB (Pt. 1)</a:t>
            </a:r>
            <a:br>
              <a:rPr lang="en-US" dirty="0">
                <a:solidFill>
                  <a:schemeClr val="tx1"/>
                </a:solidFill>
              </a:rPr>
            </a:br>
            <a:r>
              <a:rPr lang="en-US" dirty="0">
                <a:solidFill>
                  <a:schemeClr val="tx1"/>
                </a:solidFill>
              </a:rPr>
              <a:t>Registrations &amp; ID Numbers</a:t>
            </a:r>
          </a:p>
        </p:txBody>
      </p:sp>
      <p:sp>
        <p:nvSpPr>
          <p:cNvPr id="4" name="TextBox 3">
            <a:extLst>
              <a:ext uri="{FF2B5EF4-FFF2-40B4-BE49-F238E27FC236}">
                <a16:creationId xmlns:a16="http://schemas.microsoft.com/office/drawing/2014/main" id="{E6F499C9-56B7-8B7C-9A05-4DE9BDCDF30C}"/>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graphicFrame>
        <p:nvGraphicFramePr>
          <p:cNvPr id="3" name="Table 2">
            <a:extLst>
              <a:ext uri="{FF2B5EF4-FFF2-40B4-BE49-F238E27FC236}">
                <a16:creationId xmlns:a16="http://schemas.microsoft.com/office/drawing/2014/main" id="{B6589D98-61A0-8E26-0AC2-25E434FECAC4}"/>
              </a:ext>
            </a:extLst>
          </p:cNvPr>
          <p:cNvGraphicFramePr>
            <a:graphicFrameLocks noGrp="1"/>
          </p:cNvGraphicFramePr>
          <p:nvPr>
            <p:extLst>
              <p:ext uri="{D42A27DB-BD31-4B8C-83A1-F6EECF244321}">
                <p14:modId xmlns:p14="http://schemas.microsoft.com/office/powerpoint/2010/main" val="213380149"/>
              </p:ext>
            </p:extLst>
          </p:nvPr>
        </p:nvGraphicFramePr>
        <p:xfrm>
          <a:off x="1" y="1074200"/>
          <a:ext cx="9144001" cy="5091292"/>
        </p:xfrm>
        <a:graphic>
          <a:graphicData uri="http://schemas.openxmlformats.org/drawingml/2006/table">
            <a:tbl>
              <a:tblPr/>
              <a:tblGrid>
                <a:gridCol w="2150000">
                  <a:extLst>
                    <a:ext uri="{9D8B030D-6E8A-4147-A177-3AD203B41FA5}">
                      <a16:colId xmlns:a16="http://schemas.microsoft.com/office/drawing/2014/main" val="20000"/>
                    </a:ext>
                  </a:extLst>
                </a:gridCol>
                <a:gridCol w="3192964">
                  <a:extLst>
                    <a:ext uri="{9D8B030D-6E8A-4147-A177-3AD203B41FA5}">
                      <a16:colId xmlns:a16="http://schemas.microsoft.com/office/drawing/2014/main" val="20001"/>
                    </a:ext>
                  </a:extLst>
                </a:gridCol>
                <a:gridCol w="1936950">
                  <a:extLst>
                    <a:ext uri="{9D8B030D-6E8A-4147-A177-3AD203B41FA5}">
                      <a16:colId xmlns:a16="http://schemas.microsoft.com/office/drawing/2014/main" val="20002"/>
                    </a:ext>
                  </a:extLst>
                </a:gridCol>
                <a:gridCol w="1864087">
                  <a:extLst>
                    <a:ext uri="{9D8B030D-6E8A-4147-A177-3AD203B41FA5}">
                      <a16:colId xmlns:a16="http://schemas.microsoft.com/office/drawing/2014/main" val="20003"/>
                    </a:ext>
                  </a:extLst>
                </a:gridCol>
              </a:tblGrid>
              <a:tr h="383175">
                <a:tc>
                  <a:txBody>
                    <a:bodyPr/>
                    <a:lstStyle>
                      <a:lvl1pPr defTabSz="512763">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2763">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512763"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2"/>
                          </a:solidFill>
                          <a:effectLst/>
                          <a:latin typeface="Arial" panose="020B0604020202020204" pitchFamily="34" charset="0"/>
                        </a:rPr>
                        <a:t>System</a:t>
                      </a:r>
                    </a:p>
                  </a:txBody>
                  <a:tcPr marL="91433" marR="91433"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defTabSz="512763">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2763">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512763"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2"/>
                          </a:solidFill>
                          <a:effectLst/>
                          <a:latin typeface="Arial" panose="020B0604020202020204" pitchFamily="34" charset="0"/>
                        </a:rPr>
                        <a:t>Description</a:t>
                      </a:r>
                    </a:p>
                  </a:txBody>
                  <a:tcPr marL="91433" marR="91433"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defTabSz="512763">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2763">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512763"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2"/>
                          </a:solidFill>
                          <a:effectLst/>
                          <a:latin typeface="Arial" panose="020B0604020202020204" pitchFamily="34" charset="0"/>
                        </a:rPr>
                        <a:t>Website</a:t>
                      </a:r>
                    </a:p>
                  </a:txBody>
                  <a:tcPr marL="91433" marR="91433"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defTabSz="512763">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2763">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ctr" defTabSz="512763"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2"/>
                          </a:solidFill>
                          <a:effectLst/>
                          <a:latin typeface="Arial" panose="020B0604020202020204" pitchFamily="34" charset="0"/>
                        </a:rPr>
                        <a:t>General Timeline</a:t>
                      </a:r>
                    </a:p>
                  </a:txBody>
                  <a:tcPr marL="91433" marR="91433"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764991">
                <a:tc>
                  <a:txBody>
                    <a:bodyPr/>
                    <a:lstStyle>
                      <a:lvl1pPr defTabSz="512763">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2763">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ctr" defTabSz="512763" rtl="0" eaLnBrk="1" fontAlgn="base" latinLnBrk="0" hangingPunct="1">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mn-lt"/>
                        </a:rPr>
                        <a:t>Unique Entity Identifier (UEI)</a:t>
                      </a:r>
                    </a:p>
                  </a:txBody>
                  <a:tcPr marL="91433" marR="91433" marT="45730" marB="4573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6D5"/>
                    </a:solidFill>
                  </a:tcPr>
                </a:tc>
                <a:tc>
                  <a:txBody>
                    <a:bodyPr/>
                    <a:lstStyle>
                      <a:lvl1pPr defTabSz="512763">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2763">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ctr" defTabSz="51276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Unique nine-digit identification </a:t>
                      </a:r>
                      <a:r>
                        <a:rPr kumimoji="0" lang="en-US" altLang="en-US" sz="1600" b="1" i="0" u="none" strike="noStrike" cap="none" normalizeH="0" baseline="0" dirty="0">
                          <a:ln>
                            <a:noFill/>
                          </a:ln>
                          <a:solidFill>
                            <a:srgbClr val="000000"/>
                          </a:solidFill>
                          <a:effectLst/>
                          <a:latin typeface="Arial" panose="020B0604020202020204" pitchFamily="34" charset="0"/>
                        </a:rPr>
                        <a:t>number</a:t>
                      </a:r>
                      <a:r>
                        <a:rPr kumimoji="0" lang="en-US" altLang="en-US" sz="1600" b="0" i="0" u="none" strike="noStrike" cap="none" normalizeH="0" baseline="0" dirty="0">
                          <a:ln>
                            <a:noFill/>
                          </a:ln>
                          <a:solidFill>
                            <a:srgbClr val="000000"/>
                          </a:solidFill>
                          <a:effectLst/>
                          <a:latin typeface="Arial" panose="020B0604020202020204" pitchFamily="34" charset="0"/>
                        </a:rPr>
                        <a:t> for each physical location of your business</a:t>
                      </a:r>
                    </a:p>
                  </a:txBody>
                  <a:tcPr marL="91433" marR="91433" marT="45730" marB="4573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6D5"/>
                    </a:solidFill>
                  </a:tcPr>
                </a:tc>
                <a:tc>
                  <a:txBody>
                    <a:bodyPr/>
                    <a:lstStyle>
                      <a:lvl1pPr defTabSz="514350">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4350">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4350">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4350">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4350">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4350"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4350"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4350"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4350"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ctr" defTabSz="51435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hlinkClick r:id="rId3"/>
                        </a:rPr>
                        <a:t>https://www.sam.gov/</a:t>
                      </a:r>
                      <a:endParaRPr kumimoji="0" lang="en-US" altLang="en-US" sz="1400" b="0" i="0" u="none" strike="noStrike" cap="none" normalizeH="0" baseline="0" dirty="0">
                        <a:ln>
                          <a:noFill/>
                        </a:ln>
                        <a:solidFill>
                          <a:srgbClr val="000000"/>
                        </a:solidFill>
                        <a:effectLst/>
                        <a:latin typeface="Arial" panose="020B0604020202020204" pitchFamily="34" charset="0"/>
                      </a:endParaRPr>
                    </a:p>
                  </a:txBody>
                  <a:tcPr marL="91433" marR="91433" marT="45730" marB="4573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6D5"/>
                    </a:solidFill>
                  </a:tcPr>
                </a:tc>
                <a:tc>
                  <a:txBody>
                    <a:bodyPr/>
                    <a:lstStyle>
                      <a:lvl1pPr defTabSz="512763">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2763">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ctr" defTabSz="51276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7-10 business days</a:t>
                      </a:r>
                    </a:p>
                  </a:txBody>
                  <a:tcPr marL="91433" marR="91433" marT="45730" marB="4573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6D5"/>
                    </a:solidFill>
                  </a:tcPr>
                </a:tc>
                <a:extLst>
                  <a:ext uri="{0D108BD9-81ED-4DB2-BD59-A6C34878D82A}">
                    <a16:rowId xmlns:a16="http://schemas.microsoft.com/office/drawing/2014/main" val="10001"/>
                  </a:ext>
                </a:extLst>
              </a:tr>
              <a:tr h="1599117">
                <a:tc>
                  <a:txBody>
                    <a:bodyPr/>
                    <a:lstStyle>
                      <a:lvl1pPr defTabSz="512763">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2763">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ctr" defTabSz="512763" rtl="0" eaLnBrk="1" fontAlgn="base" latinLnBrk="0" hangingPunct="1">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mn-lt"/>
                        </a:rPr>
                        <a:t>CAGE / NCAGE</a:t>
                      </a:r>
                    </a:p>
                  </a:txBody>
                  <a:tcPr marL="91433" marR="91433" marT="45730" marB="4573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6D5"/>
                    </a:solidFill>
                  </a:tcPr>
                </a:tc>
                <a:tc>
                  <a:txBody>
                    <a:bodyPr/>
                    <a:lstStyle>
                      <a:lvl1pPr defTabSz="512763">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2763">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ctr" defTabSz="51276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Commercial and Government Entity (CAGE) Code</a:t>
                      </a:r>
                    </a:p>
                    <a:p>
                      <a:pPr marL="0" marR="0" lvl="0" indent="0" algn="ctr" defTabSz="512763" rtl="0" eaLnBrk="1" fontAlgn="base" latinLnBrk="0" hangingPunct="1">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Arial" panose="020B0604020202020204" pitchFamily="34" charset="0"/>
                      </a:endParaRPr>
                    </a:p>
                    <a:p>
                      <a:pPr marL="0" marR="0" lvl="0" indent="0" algn="ctr" defTabSz="51276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NATO Commercial and Government Entity (NCAGE) Code </a:t>
                      </a:r>
                    </a:p>
                  </a:txBody>
                  <a:tcPr marL="91433" marR="91433" marT="45730" marB="4573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6D5"/>
                    </a:solidFill>
                  </a:tcPr>
                </a:tc>
                <a:tc>
                  <a:txBody>
                    <a:bodyPr/>
                    <a:lstStyle>
                      <a:lvl1pPr defTabSz="514350">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4350">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4350">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4350">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4350">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4350"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4350"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4350"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4350"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ctr" defTabSz="51435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hlinkClick r:id="rId4"/>
                        </a:rPr>
                        <a:t>https://cage.dla.mil/Home/UsageAgree</a:t>
                      </a:r>
                      <a:endParaRPr kumimoji="0" lang="en-US" altLang="en-US" sz="1400" b="0" i="0" u="none" strike="noStrike" cap="none" normalizeH="0" baseline="0">
                        <a:ln>
                          <a:noFill/>
                        </a:ln>
                        <a:solidFill>
                          <a:srgbClr val="000000"/>
                        </a:solidFill>
                        <a:effectLst/>
                        <a:latin typeface="Arial" panose="020B0604020202020204" pitchFamily="34" charset="0"/>
                      </a:endParaRPr>
                    </a:p>
                    <a:p>
                      <a:pPr marL="0" marR="0" lvl="0" indent="0" algn="ctr" defTabSz="514350" rtl="0" eaLnBrk="1" fontAlgn="base" latinLnBrk="0" hangingPunct="1">
                        <a:lnSpc>
                          <a:spcPct val="100000"/>
                        </a:lnSpc>
                        <a:spcBef>
                          <a:spcPct val="0"/>
                        </a:spcBef>
                        <a:spcAft>
                          <a:spcPct val="0"/>
                        </a:spcAft>
                        <a:buClrTx/>
                        <a:buSzTx/>
                        <a:buFontTx/>
                        <a:buNone/>
                        <a:tabLst/>
                      </a:pPr>
                      <a:endParaRPr kumimoji="0" lang="en-US" altLang="en-US" sz="1400" b="0" i="0" u="none" strike="noStrike" cap="none" normalizeH="0" baseline="0">
                        <a:ln>
                          <a:noFill/>
                        </a:ln>
                        <a:solidFill>
                          <a:srgbClr val="000000"/>
                        </a:solidFill>
                        <a:effectLst/>
                        <a:latin typeface="Arial" panose="020B0604020202020204" pitchFamily="34" charset="0"/>
                      </a:endParaRPr>
                    </a:p>
                    <a:p>
                      <a:pPr marL="0" marR="0" lvl="0" indent="0" algn="ctr" defTabSz="51435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hlinkClick r:id="rId5"/>
                        </a:rPr>
                        <a:t>https://eportal.nspa.nato.int/AC135Public/default.aspx</a:t>
                      </a:r>
                      <a:r>
                        <a:rPr kumimoji="0" lang="en-US" altLang="en-US" sz="1400" b="0" i="0" u="none" strike="noStrike" cap="none" normalizeH="0" baseline="0">
                          <a:ln>
                            <a:noFill/>
                          </a:ln>
                          <a:solidFill>
                            <a:srgbClr val="000000"/>
                          </a:solidFill>
                          <a:effectLst/>
                          <a:latin typeface="Arial" panose="020B0604020202020204" pitchFamily="34" charset="0"/>
                        </a:rPr>
                        <a:t> </a:t>
                      </a:r>
                    </a:p>
                  </a:txBody>
                  <a:tcPr marL="91433" marR="91433" marT="45730" marB="4573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6D5"/>
                    </a:solidFill>
                  </a:tcPr>
                </a:tc>
                <a:tc>
                  <a:txBody>
                    <a:bodyPr/>
                    <a:lstStyle>
                      <a:lvl1pPr defTabSz="512763">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2763">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ctr" defTabSz="51276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7-10 business days</a:t>
                      </a:r>
                    </a:p>
                  </a:txBody>
                  <a:tcPr marL="91433" marR="91433" marT="45730" marB="4573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6D5"/>
                    </a:solidFill>
                  </a:tcPr>
                </a:tc>
                <a:extLst>
                  <a:ext uri="{0D108BD9-81ED-4DB2-BD59-A6C34878D82A}">
                    <a16:rowId xmlns:a16="http://schemas.microsoft.com/office/drawing/2014/main" val="10002"/>
                  </a:ext>
                </a:extLst>
              </a:tr>
              <a:tr h="1286355">
                <a:tc>
                  <a:txBody>
                    <a:bodyPr/>
                    <a:lstStyle>
                      <a:lvl1pPr defTabSz="512763">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2763">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ctr" defTabSz="512763" rtl="0" eaLnBrk="1" fontAlgn="base" latinLnBrk="0" hangingPunct="1">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mn-lt"/>
                        </a:rPr>
                        <a:t>SAM</a:t>
                      </a:r>
                    </a:p>
                  </a:txBody>
                  <a:tcPr marL="91433" marR="91433" marT="45730" marB="4573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6D5"/>
                    </a:solidFill>
                  </a:tcPr>
                </a:tc>
                <a:tc>
                  <a:txBody>
                    <a:bodyPr/>
                    <a:lstStyle>
                      <a:lvl1pPr defTabSz="512763">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2763">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ctr" defTabSz="51276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System for Award Management (SAM) is a registration database required for all US Federal Government Contracts and where you will find opportunities.</a:t>
                      </a:r>
                    </a:p>
                  </a:txBody>
                  <a:tcPr marL="91433" marR="91433" marT="45730" marB="4573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6D5"/>
                    </a:solidFill>
                  </a:tcPr>
                </a:tc>
                <a:tc>
                  <a:txBody>
                    <a:bodyPr/>
                    <a:lstStyle>
                      <a:lvl1pPr defTabSz="514350">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4350">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4350">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4350">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4350">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4350"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4350"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4350"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4350"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ctr" defTabSz="51435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hlinkClick r:id="rId3"/>
                        </a:rPr>
                        <a:t>https://www.sam.gov/</a:t>
                      </a:r>
                      <a:endParaRPr kumimoji="0" lang="en-US" altLang="en-US" sz="1400" b="0" i="0" u="none" strike="noStrike" cap="none" normalizeH="0" baseline="0" dirty="0">
                        <a:ln>
                          <a:noFill/>
                        </a:ln>
                        <a:solidFill>
                          <a:srgbClr val="000000"/>
                        </a:solidFill>
                        <a:effectLst/>
                        <a:latin typeface="Arial" panose="020B0604020202020204" pitchFamily="34" charset="0"/>
                      </a:endParaRPr>
                    </a:p>
                  </a:txBody>
                  <a:tcPr marL="91433" marR="91433" marT="45730" marB="4573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6D5"/>
                    </a:solidFill>
                  </a:tcPr>
                </a:tc>
                <a:tc>
                  <a:txBody>
                    <a:bodyPr/>
                    <a:lstStyle>
                      <a:lvl1pPr defTabSz="512763">
                        <a:buFont typeface="Arial" panose="020B0604020202020204" pitchFamily="34" charset="0"/>
                        <a:defRPr sz="1900">
                          <a:solidFill>
                            <a:srgbClr val="404040"/>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512763">
                        <a:buFont typeface="Arial" panose="020B0604020202020204" pitchFamily="34" charset="0"/>
                        <a:defRPr sz="1900">
                          <a:solidFill>
                            <a:srgbClr val="404040"/>
                          </a:solidFill>
                          <a:latin typeface="Arial" panose="020B0604020202020204" pitchFamily="34" charset="0"/>
                          <a:ea typeface="Arial" panose="020B0604020202020204" pitchFamily="34" charset="0"/>
                          <a:cs typeface="Arial" panose="020B0604020202020204" pitchFamily="34" charset="0"/>
                        </a:defRPr>
                      </a:lvl2pPr>
                      <a:lvl3pPr marL="11430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3pPr>
                      <a:lvl4pPr marL="16002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4pPr>
                      <a:lvl5pPr marL="2057400" indent="-228600" defTabSz="512763">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5pPr>
                      <a:lvl6pPr marL="25146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6pPr>
                      <a:lvl7pPr marL="29718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7pPr>
                      <a:lvl8pPr marL="34290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8pPr>
                      <a:lvl9pPr marL="3886200" indent="-228600" defTabSz="512763" eaLnBrk="0" fontAlgn="base" hangingPunct="0">
                        <a:spcBef>
                          <a:spcPct val="0"/>
                        </a:spcBef>
                        <a:spcAft>
                          <a:spcPct val="0"/>
                        </a:spcAft>
                        <a:buFont typeface="Arial" panose="020B0604020202020204" pitchFamily="34" charset="0"/>
                        <a:defRPr sz="1300">
                          <a:solidFill>
                            <a:srgbClr val="404040"/>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ctr" defTabSz="51276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2 weeks to go active </a:t>
                      </a:r>
                    </a:p>
                  </a:txBody>
                  <a:tcPr marL="91433" marR="91433" marT="45730" marB="4573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6D5"/>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544357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EABB3-0A9E-D0EB-8C48-D4508CB36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6D661A-71FE-EE84-FB31-7D47552CAD0D}"/>
              </a:ext>
            </a:extLst>
          </p:cNvPr>
          <p:cNvSpPr>
            <a:spLocks noGrp="1"/>
          </p:cNvSpPr>
          <p:nvPr>
            <p:ph type="title"/>
          </p:nvPr>
        </p:nvSpPr>
        <p:spPr>
          <a:xfrm>
            <a:off x="836761" y="104037"/>
            <a:ext cx="7955280" cy="1255728"/>
          </a:xfrm>
        </p:spPr>
        <p:txBody>
          <a:bodyPr/>
          <a:lstStyle/>
          <a:p>
            <a:pPr algn="ctr"/>
            <a:r>
              <a:rPr lang="en-US" dirty="0">
                <a:solidFill>
                  <a:schemeClr val="tx1"/>
                </a:solidFill>
              </a:rPr>
              <a:t>Doing Business with the 414</a:t>
            </a:r>
            <a:r>
              <a:rPr lang="en-US" baseline="30000" dirty="0">
                <a:solidFill>
                  <a:schemeClr val="tx1"/>
                </a:solidFill>
              </a:rPr>
              <a:t>th</a:t>
            </a:r>
            <a:r>
              <a:rPr lang="en-US" dirty="0">
                <a:solidFill>
                  <a:schemeClr val="tx1"/>
                </a:solidFill>
              </a:rPr>
              <a:t> CSB (Pt. 1)</a:t>
            </a:r>
            <a:br>
              <a:rPr lang="en-US" dirty="0">
                <a:solidFill>
                  <a:schemeClr val="tx1"/>
                </a:solidFill>
              </a:rPr>
            </a:br>
            <a:r>
              <a:rPr lang="en-US" dirty="0">
                <a:solidFill>
                  <a:schemeClr val="tx1"/>
                </a:solidFill>
              </a:rPr>
              <a:t>System for Award Management (SAM)</a:t>
            </a:r>
            <a:br>
              <a:rPr lang="en-US" dirty="0">
                <a:solidFill>
                  <a:schemeClr val="tx1"/>
                </a:solidFill>
              </a:rPr>
            </a:br>
            <a:r>
              <a:rPr lang="en-US" sz="2800" i="0" u="none" strike="noStrike" baseline="0" dirty="0">
                <a:solidFill>
                  <a:schemeClr val="tx1"/>
                </a:solidFill>
                <a:latin typeface="Arial-BoldMT"/>
              </a:rPr>
              <a:t>Entity Registration</a:t>
            </a:r>
            <a:endParaRPr lang="en-US" dirty="0">
              <a:solidFill>
                <a:schemeClr val="tx1"/>
              </a:solidFill>
            </a:endParaRPr>
          </a:p>
        </p:txBody>
      </p:sp>
      <p:sp>
        <p:nvSpPr>
          <p:cNvPr id="4" name="TextBox 3">
            <a:extLst>
              <a:ext uri="{FF2B5EF4-FFF2-40B4-BE49-F238E27FC236}">
                <a16:creationId xmlns:a16="http://schemas.microsoft.com/office/drawing/2014/main" id="{9F1442BB-2DCD-49AA-03C7-77B069AE75AA}"/>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pic>
        <p:nvPicPr>
          <p:cNvPr id="3" name="Picture 1">
            <a:extLst>
              <a:ext uri="{FF2B5EF4-FFF2-40B4-BE49-F238E27FC236}">
                <a16:creationId xmlns:a16="http://schemas.microsoft.com/office/drawing/2014/main" id="{309D45D8-0971-0BB5-D136-F82061D7F1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73803" y="3092547"/>
            <a:ext cx="1743075"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A052ECD1-1F64-4438-EB88-836A5483A2A0}"/>
              </a:ext>
            </a:extLst>
          </p:cNvPr>
          <p:cNvSpPr txBox="1"/>
          <p:nvPr/>
        </p:nvSpPr>
        <p:spPr>
          <a:xfrm>
            <a:off x="311586" y="1469698"/>
            <a:ext cx="7552637" cy="5016758"/>
          </a:xfrm>
          <a:prstGeom prst="rect">
            <a:avLst/>
          </a:prstGeom>
          <a:noFill/>
        </p:spPr>
        <p:txBody>
          <a:bodyPr wrap="square">
            <a:spAutoFit/>
          </a:bodyPr>
          <a:lstStyle/>
          <a:p>
            <a:pPr marL="171450" indent="-171450" algn="l">
              <a:buFont typeface="Arial" panose="020B0604020202020204" pitchFamily="34" charset="0"/>
              <a:buChar char="•"/>
            </a:pPr>
            <a:r>
              <a:rPr lang="en-US" sz="2000" b="0" i="0" u="none" strike="noStrike" baseline="0" dirty="0">
                <a:cs typeface="Arial" panose="020B0604020202020204" pitchFamily="34" charset="0"/>
              </a:rPr>
              <a:t>SAM registration is required for all Offerors, including JVs. A copy of their current "entity registration" shall be available in the SAM website, at www.sam.gov. Offerors not registered and active, at time of proposal submission and through contract award, may be determined ineligible for contract award.</a:t>
            </a:r>
          </a:p>
          <a:p>
            <a:pPr algn="l"/>
            <a:endParaRPr lang="en-US" sz="2000" b="0" i="0" u="none" strike="noStrike" baseline="0" dirty="0">
              <a:cs typeface="Arial" panose="020B0604020202020204" pitchFamily="34" charset="0"/>
            </a:endParaRPr>
          </a:p>
          <a:p>
            <a:pPr marL="171450" indent="-171450" algn="l">
              <a:buFont typeface="Arial" panose="020B0604020202020204" pitchFamily="34" charset="0"/>
              <a:buChar char="•"/>
            </a:pPr>
            <a:r>
              <a:rPr lang="en-US" sz="2000" b="0" i="0" u="none" strike="noStrike" baseline="0" dirty="0">
                <a:cs typeface="Arial" panose="020B0604020202020204" pitchFamily="34" charset="0"/>
              </a:rPr>
              <a:t>Offerors shall ensure complete, current, and accurate information under the "FAR &amp; DFARS Report," which demonstrates current and complete</a:t>
            </a:r>
            <a:r>
              <a:rPr lang="en-US" sz="2000" dirty="0">
                <a:cs typeface="Arial" panose="020B0604020202020204" pitchFamily="34" charset="0"/>
              </a:rPr>
              <a:t> </a:t>
            </a:r>
            <a:r>
              <a:rPr lang="en-US" sz="2000" b="0" i="0" u="none" strike="noStrike" baseline="0" dirty="0">
                <a:cs typeface="Arial" panose="020B0604020202020204" pitchFamily="34" charset="0"/>
              </a:rPr>
              <a:t>representations and certifications on the SAM Website.</a:t>
            </a:r>
          </a:p>
          <a:p>
            <a:pPr algn="l"/>
            <a:endParaRPr lang="en-US" sz="2000" b="0" i="0" u="none" strike="noStrike" baseline="0" dirty="0">
              <a:cs typeface="Arial" panose="020B0604020202020204" pitchFamily="34" charset="0"/>
            </a:endParaRPr>
          </a:p>
          <a:p>
            <a:pPr marL="171450" indent="-171450" algn="l">
              <a:buFont typeface="Arial" panose="020B0604020202020204" pitchFamily="34" charset="0"/>
              <a:buChar char="•"/>
            </a:pPr>
            <a:r>
              <a:rPr lang="en-US" sz="2000" b="0" i="0" u="none" strike="noStrike" baseline="0" dirty="0">
                <a:cs typeface="Arial" panose="020B0604020202020204" pitchFamily="34" charset="0"/>
              </a:rPr>
              <a:t>Non-U.S. (foreign, including Italian) Offerors ONLY: Non-U.S. offerors must obtain a NATO CAGE (NCAGE) Code instead of a CAGE Code prior to registering in the SAM database.</a:t>
            </a:r>
            <a:r>
              <a:rPr lang="en-US" sz="2000" dirty="0">
                <a:cs typeface="Arial" panose="020B0604020202020204" pitchFamily="34" charset="0"/>
              </a:rPr>
              <a:t> </a:t>
            </a:r>
            <a:r>
              <a:rPr lang="en-US" sz="2000" b="0" i="0" u="none" strike="noStrike" baseline="0" dirty="0">
                <a:cs typeface="Arial" panose="020B0604020202020204" pitchFamily="34" charset="0"/>
              </a:rPr>
              <a:t>NCAGE codes may be obtained at the NCAGE website </a:t>
            </a:r>
            <a:r>
              <a:rPr lang="en-US" sz="2000" b="0" i="0" u="none" strike="noStrike" baseline="0" dirty="0">
                <a:cs typeface="Arial" panose="020B0604020202020204" pitchFamily="34" charset="0"/>
                <a:hlinkClick r:id="rId4"/>
              </a:rPr>
              <a:t>http://www.dlis.dla.mil/Forms/Form_AC135.asp</a:t>
            </a:r>
            <a:r>
              <a:rPr lang="en-US" sz="2000" b="0" i="0" u="none" strike="noStrike" baseline="0" dirty="0">
                <a:cs typeface="Arial" panose="020B0604020202020204" pitchFamily="34" charset="0"/>
              </a:rPr>
              <a:t>. </a:t>
            </a:r>
            <a:endParaRPr lang="en-US" sz="2000" dirty="0">
              <a:cs typeface="Arial" panose="020B0604020202020204" pitchFamily="34" charset="0"/>
            </a:endParaRPr>
          </a:p>
        </p:txBody>
      </p:sp>
    </p:spTree>
    <p:extLst>
      <p:ext uri="{BB962C8B-B14F-4D97-AF65-F5344CB8AC3E}">
        <p14:creationId xmlns:p14="http://schemas.microsoft.com/office/powerpoint/2010/main" val="23536631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24E0E-249A-7876-1392-FE420D288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B28CE4-2611-299F-71DD-75BB427765B4}"/>
              </a:ext>
            </a:extLst>
          </p:cNvPr>
          <p:cNvSpPr>
            <a:spLocks noGrp="1"/>
          </p:cNvSpPr>
          <p:nvPr>
            <p:ph type="title"/>
          </p:nvPr>
        </p:nvSpPr>
        <p:spPr>
          <a:xfrm>
            <a:off x="836761" y="104037"/>
            <a:ext cx="7955280" cy="867930"/>
          </a:xfrm>
        </p:spPr>
        <p:txBody>
          <a:bodyPr/>
          <a:lstStyle/>
          <a:p>
            <a:pPr algn="ctr"/>
            <a:r>
              <a:rPr lang="en-US" dirty="0">
                <a:solidFill>
                  <a:schemeClr val="tx1"/>
                </a:solidFill>
              </a:rPr>
              <a:t>Doing Business with the 414</a:t>
            </a:r>
            <a:r>
              <a:rPr lang="en-US" baseline="30000" dirty="0">
                <a:solidFill>
                  <a:schemeClr val="tx1"/>
                </a:solidFill>
              </a:rPr>
              <a:t>th</a:t>
            </a:r>
            <a:r>
              <a:rPr lang="en-US" dirty="0">
                <a:solidFill>
                  <a:schemeClr val="tx1"/>
                </a:solidFill>
              </a:rPr>
              <a:t> CSB (Pt. 1)</a:t>
            </a:r>
            <a:br>
              <a:rPr lang="en-US" dirty="0">
                <a:solidFill>
                  <a:schemeClr val="tx1"/>
                </a:solidFill>
              </a:rPr>
            </a:br>
            <a:r>
              <a:rPr lang="en-US" dirty="0">
                <a:solidFill>
                  <a:schemeClr val="tx1"/>
                </a:solidFill>
              </a:rPr>
              <a:t>Source Selection Process Overview</a:t>
            </a:r>
          </a:p>
        </p:txBody>
      </p:sp>
      <p:sp>
        <p:nvSpPr>
          <p:cNvPr id="4" name="TextBox 3">
            <a:extLst>
              <a:ext uri="{FF2B5EF4-FFF2-40B4-BE49-F238E27FC236}">
                <a16:creationId xmlns:a16="http://schemas.microsoft.com/office/drawing/2014/main" id="{665ED7FB-242D-77A9-E656-8FA47928EF77}"/>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3" name="Content Placeholder 1">
            <a:extLst>
              <a:ext uri="{FF2B5EF4-FFF2-40B4-BE49-F238E27FC236}">
                <a16:creationId xmlns:a16="http://schemas.microsoft.com/office/drawing/2014/main" id="{47BA62E0-1AF4-DB85-7811-519F9A976F63}"/>
              </a:ext>
            </a:extLst>
          </p:cNvPr>
          <p:cNvSpPr txBox="1">
            <a:spLocks/>
          </p:cNvSpPr>
          <p:nvPr/>
        </p:nvSpPr>
        <p:spPr>
          <a:xfrm>
            <a:off x="-1" y="1201878"/>
            <a:ext cx="9144000" cy="539451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lang="en-US" sz="2400" b="1" kern="1200" dirty="0" smtClean="0">
                <a:solidFill>
                  <a:schemeClr val="tx1"/>
                </a:solidFill>
                <a:latin typeface="Arial" panose="020B0604020202020204" pitchFamily="34" charset="0"/>
                <a:ea typeface="+mn-ea"/>
                <a:cs typeface="Arial" panose="020B0604020202020204" pitchFamily="34" charset="0"/>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4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0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574675" indent="-228600" algn="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5295" indent="-455295">
              <a:lnSpc>
                <a:spcPct val="80000"/>
              </a:lnSpc>
              <a:spcAft>
                <a:spcPts val="600"/>
              </a:spcAft>
              <a:buFont typeface="Wingdings" panose="05000000000000000000" pitchFamily="2" charset="2"/>
              <a:buChar char="q"/>
            </a:pPr>
            <a:r>
              <a:rPr lang="en-US" altLang="en-US" sz="2000" b="0" dirty="0">
                <a:latin typeface="+mn-lt"/>
                <a:ea typeface="ＭＳ Ｐゴシック" panose="020B0600070205080204" pitchFamily="34" charset="-128"/>
              </a:rPr>
              <a:t>Develop Requirement &amp; Conduct Market Research</a:t>
            </a:r>
            <a:endParaRPr lang="en-US" sz="2000" b="0" dirty="0">
              <a:latin typeface="+mn-lt"/>
            </a:endParaRPr>
          </a:p>
          <a:p>
            <a:pPr marL="455295" indent="-455295">
              <a:lnSpc>
                <a:spcPct val="80000"/>
              </a:lnSpc>
              <a:spcAft>
                <a:spcPts val="600"/>
              </a:spcAft>
              <a:buFont typeface="Wingdings" panose="05000000000000000000" pitchFamily="2" charset="2"/>
              <a:buChar char="q"/>
            </a:pPr>
            <a:r>
              <a:rPr lang="en-US" altLang="en-US" sz="2000" b="0" dirty="0">
                <a:latin typeface="+mn-lt"/>
                <a:ea typeface="ＭＳ Ｐゴシック" panose="020B0600070205080204" pitchFamily="34" charset="-128"/>
              </a:rPr>
              <a:t>Develop Acquisition Strategy/Plan  </a:t>
            </a:r>
          </a:p>
          <a:p>
            <a:pPr marL="455295" indent="-455295">
              <a:lnSpc>
                <a:spcPct val="80000"/>
              </a:lnSpc>
              <a:spcAft>
                <a:spcPts val="600"/>
              </a:spcAft>
              <a:buFont typeface="Wingdings" panose="05000000000000000000" pitchFamily="2" charset="2"/>
              <a:buChar char="q"/>
            </a:pPr>
            <a:r>
              <a:rPr lang="en-US" altLang="en-US" sz="2000" b="0" dirty="0">
                <a:latin typeface="+mn-lt"/>
                <a:ea typeface="ＭＳ Ｐゴシック"/>
                <a:cs typeface="Arial"/>
              </a:rPr>
              <a:t>Government Issues Solicitation (via SAM.GOV &amp; PIEE) – </a:t>
            </a:r>
            <a:r>
              <a:rPr lang="en-US" altLang="en-US" sz="2000" dirty="0">
                <a:latin typeface="+mn-lt"/>
                <a:ea typeface="ＭＳ Ｐゴシック"/>
                <a:cs typeface="Arial"/>
              </a:rPr>
              <a:t>09 March 2026 </a:t>
            </a:r>
            <a:r>
              <a:rPr lang="en-US" altLang="en-US" sz="2000" dirty="0">
                <a:solidFill>
                  <a:srgbClr val="00B050"/>
                </a:solidFill>
                <a:latin typeface="+mn-lt"/>
                <a:ea typeface="ＭＳ Ｐゴシック"/>
                <a:cs typeface="Arial"/>
              </a:rPr>
              <a:t> </a:t>
            </a:r>
            <a:endParaRPr lang="en-US" altLang="en-US" sz="2000" dirty="0">
              <a:solidFill>
                <a:srgbClr val="00B050"/>
              </a:solidFill>
              <a:latin typeface="+mn-lt"/>
              <a:ea typeface="ＭＳ Ｐゴシック" panose="020B0600070205080204" pitchFamily="34" charset="-128"/>
            </a:endParaRPr>
          </a:p>
          <a:p>
            <a:pPr marL="1143000" lvl="3" indent="-455295">
              <a:lnSpc>
                <a:spcPct val="80000"/>
              </a:lnSpc>
              <a:spcAft>
                <a:spcPts val="600"/>
              </a:spcAft>
              <a:buFont typeface="Wingdings" panose="05000000000000000000" pitchFamily="2" charset="2"/>
              <a:buChar char="Ø"/>
            </a:pPr>
            <a:r>
              <a:rPr lang="en-US" altLang="en-US" sz="2000" dirty="0">
                <a:latin typeface="+mn-lt"/>
                <a:ea typeface="Arial" panose="020B0604020202020204" pitchFamily="34" charset="0"/>
              </a:rPr>
              <a:t>Pre-Proposal Conference / Site Visits may be held – </a:t>
            </a:r>
            <a:r>
              <a:rPr lang="en-US" altLang="en-US" sz="2000" b="1" dirty="0">
                <a:latin typeface="+mn-lt"/>
                <a:ea typeface="Arial" panose="020B0604020202020204" pitchFamily="34" charset="0"/>
              </a:rPr>
              <a:t>26 March 2026</a:t>
            </a:r>
          </a:p>
          <a:p>
            <a:pPr marL="1143000" lvl="3" indent="-455295">
              <a:lnSpc>
                <a:spcPct val="80000"/>
              </a:lnSpc>
              <a:spcAft>
                <a:spcPts val="600"/>
              </a:spcAft>
              <a:buFont typeface="Wingdings" panose="05000000000000000000" pitchFamily="2" charset="2"/>
              <a:buChar char="Ø"/>
            </a:pPr>
            <a:r>
              <a:rPr lang="en-US" altLang="en-US" sz="2000" dirty="0">
                <a:latin typeface="+mn-lt"/>
                <a:ea typeface="ＭＳ Ｐゴシック" panose="020B0600070205080204" pitchFamily="34" charset="-128"/>
              </a:rPr>
              <a:t>Offerors submit questions – </a:t>
            </a:r>
            <a:r>
              <a:rPr lang="en-US" altLang="en-US" sz="2000" b="1" dirty="0">
                <a:latin typeface="+mn-lt"/>
                <a:ea typeface="ＭＳ Ｐゴシック" panose="020B0600070205080204" pitchFamily="34" charset="-128"/>
              </a:rPr>
              <a:t>DUE by 01 APRIL 2026</a:t>
            </a:r>
          </a:p>
          <a:p>
            <a:pPr marL="1143000" lvl="3" indent="-455295">
              <a:lnSpc>
                <a:spcPct val="80000"/>
              </a:lnSpc>
              <a:spcAft>
                <a:spcPts val="600"/>
              </a:spcAft>
              <a:buFont typeface="Wingdings" panose="05000000000000000000" pitchFamily="2" charset="2"/>
              <a:buChar char="Ø"/>
            </a:pPr>
            <a:r>
              <a:rPr lang="en-US" altLang="en-US" sz="2000" b="0" dirty="0">
                <a:latin typeface="+mn-lt"/>
                <a:ea typeface="ＭＳ Ｐゴシック" panose="020B0600070205080204" pitchFamily="34" charset="-128"/>
              </a:rPr>
              <a:t>Offerors Submit Proposals – </a:t>
            </a:r>
            <a:r>
              <a:rPr lang="en-US" altLang="en-US" sz="2000" b="1" dirty="0">
                <a:latin typeface="+mn-lt"/>
                <a:ea typeface="ＭＳ Ｐゴシック" panose="020B0600070205080204" pitchFamily="34" charset="-128"/>
              </a:rPr>
              <a:t>DUE by 20 APRIL 2026</a:t>
            </a:r>
            <a:endParaRPr lang="en-US" altLang="en-US" sz="2000" b="1" dirty="0">
              <a:solidFill>
                <a:schemeClr val="accent2"/>
              </a:solidFill>
              <a:latin typeface="+mn-lt"/>
              <a:ea typeface="ＭＳ Ｐゴシック" panose="020B0600070205080204" pitchFamily="34" charset="-128"/>
            </a:endParaRPr>
          </a:p>
          <a:p>
            <a:pPr marL="455295" indent="-455295">
              <a:lnSpc>
                <a:spcPct val="80000"/>
              </a:lnSpc>
              <a:spcAft>
                <a:spcPts val="600"/>
              </a:spcAft>
              <a:buFont typeface="Wingdings" panose="05000000000000000000" pitchFamily="2" charset="2"/>
              <a:buChar char="q"/>
            </a:pPr>
            <a:r>
              <a:rPr lang="en-US" altLang="en-US" sz="2000" b="0" dirty="0">
                <a:latin typeface="+mn-lt"/>
                <a:ea typeface="ＭＳ Ｐゴシック" panose="020B0600070205080204" pitchFamily="34" charset="-128"/>
              </a:rPr>
              <a:t>Government Evaluates Proposals</a:t>
            </a:r>
          </a:p>
          <a:p>
            <a:pPr marL="455295" indent="-455295">
              <a:lnSpc>
                <a:spcPct val="80000"/>
              </a:lnSpc>
              <a:spcAft>
                <a:spcPts val="600"/>
              </a:spcAft>
              <a:buFont typeface="Wingdings" panose="05000000000000000000" pitchFamily="2" charset="2"/>
              <a:buChar char="q"/>
            </a:pPr>
            <a:r>
              <a:rPr lang="en-US" altLang="en-US" sz="2000" b="0" dirty="0">
                <a:latin typeface="+mn-lt"/>
                <a:ea typeface="ＭＳ Ｐゴシック" panose="020B0600070205080204" pitchFamily="34" charset="-128"/>
              </a:rPr>
              <a:t>If Necessary, Establish Competitive Range, Hold Discussions, &amp; Request &amp; Receive Final Proposal Revisions</a:t>
            </a:r>
          </a:p>
          <a:p>
            <a:pPr marL="455295" indent="-455295">
              <a:lnSpc>
                <a:spcPct val="80000"/>
              </a:lnSpc>
              <a:spcAft>
                <a:spcPts val="600"/>
              </a:spcAft>
              <a:buFont typeface="Wingdings" panose="05000000000000000000" pitchFamily="2" charset="2"/>
              <a:buChar char="q"/>
            </a:pPr>
            <a:r>
              <a:rPr lang="en-US" altLang="en-US" sz="2000" b="0" dirty="0">
                <a:latin typeface="+mn-lt"/>
                <a:ea typeface="ＭＳ Ｐゴシック" panose="020B0600070205080204" pitchFamily="34" charset="-128"/>
              </a:rPr>
              <a:t>Evaluate Final Proposals &amp; Make Source Selection Decision</a:t>
            </a:r>
          </a:p>
          <a:p>
            <a:pPr marL="455295" indent="-455295">
              <a:lnSpc>
                <a:spcPct val="80000"/>
              </a:lnSpc>
              <a:spcAft>
                <a:spcPts val="600"/>
              </a:spcAft>
              <a:buFont typeface="Wingdings" panose="05000000000000000000" pitchFamily="2" charset="2"/>
              <a:buChar char="q"/>
            </a:pPr>
            <a:r>
              <a:rPr lang="en-US" altLang="en-US" sz="2000" b="0" dirty="0">
                <a:latin typeface="+mn-lt"/>
                <a:ea typeface="ＭＳ Ｐゴシック" panose="020B0600070205080204" pitchFamily="34" charset="-128"/>
              </a:rPr>
              <a:t>Contract Award</a:t>
            </a:r>
          </a:p>
          <a:p>
            <a:pPr marL="455295" indent="-455295">
              <a:lnSpc>
                <a:spcPct val="80000"/>
              </a:lnSpc>
              <a:spcAft>
                <a:spcPts val="600"/>
              </a:spcAft>
              <a:buFont typeface="Wingdings" panose="05000000000000000000" pitchFamily="2" charset="2"/>
              <a:buChar char="q"/>
            </a:pPr>
            <a:r>
              <a:rPr lang="en-US" altLang="en-US" sz="2000" b="0" dirty="0">
                <a:latin typeface="+mn-lt"/>
                <a:ea typeface="ＭＳ Ｐゴシック" panose="020B0600070205080204" pitchFamily="34" charset="-128"/>
              </a:rPr>
              <a:t>Debriefings</a:t>
            </a:r>
          </a:p>
        </p:txBody>
      </p:sp>
    </p:spTree>
    <p:extLst>
      <p:ext uri="{BB962C8B-B14F-4D97-AF65-F5344CB8AC3E}">
        <p14:creationId xmlns:p14="http://schemas.microsoft.com/office/powerpoint/2010/main" val="35092020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1000"/>
                                        <p:tgtEl>
                                          <p:spTgt spid="3">
                                            <p:txEl>
                                              <p:pRg st="5" end="5"/>
                                            </p:txEl>
                                          </p:spTgt>
                                        </p:tgtEl>
                                      </p:cBhvr>
                                    </p:animEffect>
                                    <p:anim calcmode="lin" valueType="num">
                                      <p:cBhvr>
                                        <p:cTn id="2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1000"/>
                                        <p:tgtEl>
                                          <p:spTgt spid="3">
                                            <p:txEl>
                                              <p:pRg st="6" end="6"/>
                                            </p:txEl>
                                          </p:spTgt>
                                        </p:tgtEl>
                                      </p:cBhvr>
                                    </p:animEffect>
                                    <p:anim calcmode="lin" valueType="num">
                                      <p:cBhvr>
                                        <p:cTn id="3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1000"/>
                                        <p:tgtEl>
                                          <p:spTgt spid="3">
                                            <p:txEl>
                                              <p:pRg st="7" end="7"/>
                                            </p:txEl>
                                          </p:spTgt>
                                        </p:tgtEl>
                                      </p:cBhvr>
                                    </p:animEffect>
                                    <p:anim calcmode="lin" valueType="num">
                                      <p:cBhvr>
                                        <p:cTn id="3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1000"/>
                                        <p:tgtEl>
                                          <p:spTgt spid="3">
                                            <p:txEl>
                                              <p:pRg st="8" end="8"/>
                                            </p:txEl>
                                          </p:spTgt>
                                        </p:tgtEl>
                                      </p:cBhvr>
                                    </p:animEffect>
                                    <p:anim calcmode="lin" valueType="num">
                                      <p:cBhvr>
                                        <p:cTn id="4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1000"/>
                                        <p:tgtEl>
                                          <p:spTgt spid="3">
                                            <p:txEl>
                                              <p:pRg st="9" end="9"/>
                                            </p:txEl>
                                          </p:spTgt>
                                        </p:tgtEl>
                                      </p:cBhvr>
                                    </p:animEffect>
                                    <p:anim calcmode="lin" valueType="num">
                                      <p:cBhvr>
                                        <p:cTn id="5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animEffect transition="in" filter="fade">
                                      <p:cBhvr>
                                        <p:cTn id="59" dur="1000"/>
                                        <p:tgtEl>
                                          <p:spTgt spid="3">
                                            <p:txEl>
                                              <p:pRg st="10" end="10"/>
                                            </p:txEl>
                                          </p:spTgt>
                                        </p:tgtEl>
                                      </p:cBhvr>
                                    </p:animEffect>
                                    <p:anim calcmode="lin" valueType="num">
                                      <p:cBhvr>
                                        <p:cTn id="6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59A12-444F-ABCA-FE63-C922099F46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A5C5B6-E2FA-C6E8-DDDE-2E70722D3842}"/>
              </a:ext>
            </a:extLst>
          </p:cNvPr>
          <p:cNvSpPr>
            <a:spLocks noGrp="1"/>
          </p:cNvSpPr>
          <p:nvPr>
            <p:ph type="title"/>
          </p:nvPr>
        </p:nvSpPr>
        <p:spPr>
          <a:xfrm>
            <a:off x="836760" y="104037"/>
            <a:ext cx="8101051" cy="480131"/>
          </a:xfrm>
        </p:spPr>
        <p:txBody>
          <a:bodyPr/>
          <a:lstStyle/>
          <a:p>
            <a:pPr algn="ctr"/>
            <a:r>
              <a:rPr lang="en-US" dirty="0">
                <a:solidFill>
                  <a:schemeClr val="tx1"/>
                </a:solidFill>
              </a:rPr>
              <a:t>JOC Solicitation</a:t>
            </a:r>
          </a:p>
        </p:txBody>
      </p:sp>
      <p:sp>
        <p:nvSpPr>
          <p:cNvPr id="4" name="TextBox 3">
            <a:extLst>
              <a:ext uri="{FF2B5EF4-FFF2-40B4-BE49-F238E27FC236}">
                <a16:creationId xmlns:a16="http://schemas.microsoft.com/office/drawing/2014/main" id="{621789B3-7515-EED5-73FE-581E6DC22E4C}"/>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5" name="TextBox 4">
            <a:extLst>
              <a:ext uri="{FF2B5EF4-FFF2-40B4-BE49-F238E27FC236}">
                <a16:creationId xmlns:a16="http://schemas.microsoft.com/office/drawing/2014/main" id="{B3F1507E-B566-7875-77C9-2CD97DA2C943}"/>
              </a:ext>
            </a:extLst>
          </p:cNvPr>
          <p:cNvSpPr txBox="1"/>
          <p:nvPr/>
        </p:nvSpPr>
        <p:spPr>
          <a:xfrm>
            <a:off x="621921" y="3036281"/>
            <a:ext cx="8384959" cy="1107996"/>
          </a:xfrm>
          <a:prstGeom prst="rect">
            <a:avLst/>
          </a:prstGeom>
          <a:noFill/>
        </p:spPr>
        <p:txBody>
          <a:bodyPr wrap="square">
            <a:spAutoFit/>
          </a:bodyPr>
          <a:lstStyle/>
          <a:p>
            <a:pPr>
              <a:spcAft>
                <a:spcPts val="1200"/>
              </a:spcAft>
              <a:defRPr/>
            </a:pPr>
            <a:r>
              <a:rPr lang="en-US" sz="2800" i="1" dirty="0">
                <a:cs typeface="Arial"/>
              </a:rPr>
              <a:t>Go to SOLICITATION DOCUMENT via SAM.GOV</a:t>
            </a:r>
          </a:p>
          <a:p>
            <a:pPr>
              <a:spcAft>
                <a:spcPts val="1200"/>
              </a:spcAft>
              <a:defRPr/>
            </a:pPr>
            <a:endParaRPr lang="en-US" altLang="en-US" sz="2800" dirty="0">
              <a:solidFill>
                <a:schemeClr val="tx1"/>
              </a:solidFill>
              <a:ea typeface="ＭＳ Ｐゴシック" panose="020B0600070205080204" pitchFamily="34" charset="-128"/>
            </a:endParaRPr>
          </a:p>
        </p:txBody>
      </p:sp>
    </p:spTree>
    <p:extLst>
      <p:ext uri="{BB962C8B-B14F-4D97-AF65-F5344CB8AC3E}">
        <p14:creationId xmlns:p14="http://schemas.microsoft.com/office/powerpoint/2010/main" val="31842409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3C9C7-1141-1ABE-D59B-5D84C7E618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D7FF9-6397-E388-B127-476420924B33}"/>
              </a:ext>
            </a:extLst>
          </p:cNvPr>
          <p:cNvSpPr>
            <a:spLocks noGrp="1"/>
          </p:cNvSpPr>
          <p:nvPr>
            <p:ph type="title"/>
          </p:nvPr>
        </p:nvSpPr>
        <p:spPr>
          <a:xfrm>
            <a:off x="836761" y="104037"/>
            <a:ext cx="7955280" cy="480131"/>
          </a:xfrm>
        </p:spPr>
        <p:txBody>
          <a:bodyPr/>
          <a:lstStyle/>
          <a:p>
            <a:pPr algn="ctr"/>
            <a:r>
              <a:rPr lang="en-US" dirty="0">
                <a:solidFill>
                  <a:schemeClr val="tx1"/>
                </a:solidFill>
              </a:rPr>
              <a:t>JOC Solicitation</a:t>
            </a:r>
          </a:p>
        </p:txBody>
      </p:sp>
      <p:sp>
        <p:nvSpPr>
          <p:cNvPr id="4" name="TextBox 3">
            <a:extLst>
              <a:ext uri="{FF2B5EF4-FFF2-40B4-BE49-F238E27FC236}">
                <a16:creationId xmlns:a16="http://schemas.microsoft.com/office/drawing/2014/main" id="{A93BA9C2-99FF-A02C-5020-0C80A32A1075}"/>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pic>
        <p:nvPicPr>
          <p:cNvPr id="3" name="Picture 3">
            <a:extLst>
              <a:ext uri="{FF2B5EF4-FFF2-40B4-BE49-F238E27FC236}">
                <a16:creationId xmlns:a16="http://schemas.microsoft.com/office/drawing/2014/main" id="{CED3ED06-AA78-CD24-3F6C-C2481C8B7AE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801057"/>
            <a:ext cx="9144000"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68558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F07C5-7DDD-C165-A6F9-6C86E5C6C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83A897-8531-AB51-F89C-45DEF2AB6F2E}"/>
              </a:ext>
            </a:extLst>
          </p:cNvPr>
          <p:cNvSpPr>
            <a:spLocks noGrp="1"/>
          </p:cNvSpPr>
          <p:nvPr>
            <p:ph type="title"/>
          </p:nvPr>
        </p:nvSpPr>
        <p:spPr>
          <a:xfrm>
            <a:off x="836761" y="104037"/>
            <a:ext cx="7955280" cy="1255728"/>
          </a:xfrm>
        </p:spPr>
        <p:txBody>
          <a:bodyPr/>
          <a:lstStyle/>
          <a:p>
            <a:pPr algn="ctr"/>
            <a:r>
              <a:rPr lang="en-US" dirty="0">
                <a:solidFill>
                  <a:schemeClr val="tx1"/>
                </a:solidFill>
              </a:rPr>
              <a:t>JOC Solicitation</a:t>
            </a:r>
            <a:br>
              <a:rPr lang="en-US" dirty="0">
                <a:solidFill>
                  <a:schemeClr val="tx1"/>
                </a:solidFill>
              </a:rPr>
            </a:br>
            <a:r>
              <a:rPr lang="en-US" dirty="0">
                <a:solidFill>
                  <a:schemeClr val="tx1"/>
                </a:solidFill>
              </a:rPr>
              <a:t>Understanding the Solicitation Package and Preparing the Proposal </a:t>
            </a:r>
          </a:p>
        </p:txBody>
      </p:sp>
      <p:sp>
        <p:nvSpPr>
          <p:cNvPr id="4" name="TextBox 3">
            <a:extLst>
              <a:ext uri="{FF2B5EF4-FFF2-40B4-BE49-F238E27FC236}">
                <a16:creationId xmlns:a16="http://schemas.microsoft.com/office/drawing/2014/main" id="{8640855C-973B-9324-4D7E-070CB0BB9925}"/>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6" name="TextBox 5">
            <a:extLst>
              <a:ext uri="{FF2B5EF4-FFF2-40B4-BE49-F238E27FC236}">
                <a16:creationId xmlns:a16="http://schemas.microsoft.com/office/drawing/2014/main" id="{66D10C31-2539-E2E6-5568-FA7EADC92546}"/>
              </a:ext>
            </a:extLst>
          </p:cNvPr>
          <p:cNvSpPr txBox="1"/>
          <p:nvPr/>
        </p:nvSpPr>
        <p:spPr>
          <a:xfrm>
            <a:off x="106531" y="1854419"/>
            <a:ext cx="8930936" cy="4247317"/>
          </a:xfrm>
          <a:prstGeom prst="rect">
            <a:avLst/>
          </a:prstGeom>
          <a:noFill/>
        </p:spPr>
        <p:txBody>
          <a:bodyPr wrap="square">
            <a:spAutoFit/>
          </a:bodyPr>
          <a:lstStyle/>
          <a:p>
            <a:pPr marL="341313" indent="-341313">
              <a:spcAft>
                <a:spcPts val="1800"/>
              </a:spcAft>
              <a:buFont typeface="Arial" panose="020B0604020202020204" pitchFamily="34" charset="0"/>
              <a:buChar char="•"/>
              <a:defRPr/>
            </a:pPr>
            <a:r>
              <a:rPr lang="en-US" altLang="en-US" sz="2400" dirty="0">
                <a:solidFill>
                  <a:schemeClr val="tx1"/>
                </a:solidFill>
                <a:ea typeface="ＭＳ Ｐゴシック" panose="020B0600070205080204" pitchFamily="34" charset="-128"/>
              </a:rPr>
              <a:t>The typical Request for Proposal (RFP), or Solicitation W912PF26RA002, is a significantly long document and has very specific requirements. Make sure you thoroughly </a:t>
            </a:r>
            <a:r>
              <a:rPr lang="en-US" altLang="en-US" sz="2400" b="1" u="sng" dirty="0">
                <a:solidFill>
                  <a:schemeClr val="tx1"/>
                </a:solidFill>
                <a:ea typeface="ＭＳ Ｐゴシック" panose="020B0600070205080204" pitchFamily="34" charset="-128"/>
              </a:rPr>
              <a:t>read</a:t>
            </a:r>
            <a:r>
              <a:rPr lang="en-US" altLang="en-US" sz="2400" dirty="0">
                <a:solidFill>
                  <a:schemeClr val="tx1"/>
                </a:solidFill>
                <a:ea typeface="ＭＳ Ｐゴシック" panose="020B0600070205080204" pitchFamily="34" charset="-128"/>
              </a:rPr>
              <a:t> and </a:t>
            </a:r>
            <a:r>
              <a:rPr lang="en-US" altLang="en-US" sz="2400" b="1" u="sng" dirty="0">
                <a:solidFill>
                  <a:schemeClr val="tx1"/>
                </a:solidFill>
                <a:ea typeface="ＭＳ Ｐゴシック" panose="020B0600070205080204" pitchFamily="34" charset="-128"/>
              </a:rPr>
              <a:t>understand</a:t>
            </a:r>
            <a:r>
              <a:rPr lang="en-US" altLang="en-US" sz="2400" b="1" dirty="0">
                <a:solidFill>
                  <a:schemeClr val="tx1"/>
                </a:solidFill>
                <a:ea typeface="ＭＳ Ｐゴシック" panose="020B0600070205080204" pitchFamily="34" charset="-128"/>
              </a:rPr>
              <a:t> </a:t>
            </a:r>
            <a:r>
              <a:rPr lang="en-US" altLang="en-US" sz="2400" dirty="0">
                <a:solidFill>
                  <a:schemeClr val="tx1"/>
                </a:solidFill>
                <a:ea typeface="ＭＳ Ｐゴシック" panose="020B0600070205080204" pitchFamily="34" charset="-128"/>
              </a:rPr>
              <a:t>the proposal submission requirements and process.</a:t>
            </a:r>
          </a:p>
          <a:p>
            <a:pPr marL="341313" indent="-341313">
              <a:spcAft>
                <a:spcPts val="1800"/>
              </a:spcAft>
              <a:buFont typeface="Arial" panose="020B0604020202020204" pitchFamily="34" charset="0"/>
              <a:buChar char="•"/>
              <a:defRPr/>
            </a:pPr>
            <a:r>
              <a:rPr lang="en-US" altLang="en-US" sz="2400" dirty="0">
                <a:solidFill>
                  <a:schemeClr val="tx1"/>
                </a:solidFill>
                <a:ea typeface="ＭＳ Ｐゴシック" panose="020B0600070205080204" pitchFamily="34" charset="-128"/>
              </a:rPr>
              <a:t>You may be disqualified or determined ineligible for award by submitting a proposal that does not meet </a:t>
            </a:r>
            <a:r>
              <a:rPr lang="en-US" altLang="en-US" sz="2400" b="1" u="sng" dirty="0">
                <a:solidFill>
                  <a:schemeClr val="tx1"/>
                </a:solidFill>
                <a:ea typeface="ＭＳ Ｐゴシック" panose="020B0600070205080204" pitchFamily="34" charset="-128"/>
              </a:rPr>
              <a:t>all</a:t>
            </a:r>
            <a:r>
              <a:rPr lang="en-US" altLang="en-US" sz="2400" dirty="0">
                <a:solidFill>
                  <a:schemeClr val="tx1"/>
                </a:solidFill>
                <a:ea typeface="ＭＳ Ｐゴシック" panose="020B0600070205080204" pitchFamily="34" charset="-128"/>
              </a:rPr>
              <a:t> of the RFP requirements. </a:t>
            </a:r>
          </a:p>
          <a:p>
            <a:pPr marL="342900" indent="-342900">
              <a:spcAft>
                <a:spcPts val="1800"/>
              </a:spcAft>
              <a:buFont typeface="Arial" panose="020B0604020202020204" pitchFamily="34" charset="0"/>
              <a:buChar char="•"/>
              <a:defRPr/>
            </a:pPr>
            <a:r>
              <a:rPr lang="en-US" altLang="en-US" sz="2400" dirty="0">
                <a:solidFill>
                  <a:schemeClr val="tx1"/>
                </a:solidFill>
                <a:ea typeface="ＭＳ Ｐゴシック" panose="020B0600070205080204" pitchFamily="34" charset="-128"/>
              </a:rPr>
              <a:t>Offerors are advised to provide their </a:t>
            </a:r>
            <a:r>
              <a:rPr lang="en-US" altLang="en-US" sz="2400" dirty="0">
                <a:solidFill>
                  <a:srgbClr val="00B050"/>
                </a:solidFill>
                <a:ea typeface="ＭＳ Ｐゴシック" panose="020B0600070205080204" pitchFamily="34" charset="-128"/>
              </a:rPr>
              <a:t>BEST PROPOSAL </a:t>
            </a:r>
            <a:r>
              <a:rPr lang="en-US" altLang="en-US" sz="2400" dirty="0">
                <a:solidFill>
                  <a:schemeClr val="tx1"/>
                </a:solidFill>
                <a:ea typeface="ＭＳ Ｐゴシック" panose="020B0600070205080204" pitchFamily="34" charset="-128"/>
              </a:rPr>
              <a:t>in the first submission.</a:t>
            </a:r>
          </a:p>
        </p:txBody>
      </p:sp>
    </p:spTree>
    <p:extLst>
      <p:ext uri="{BB962C8B-B14F-4D97-AF65-F5344CB8AC3E}">
        <p14:creationId xmlns:p14="http://schemas.microsoft.com/office/powerpoint/2010/main" val="35670307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B7DA2-0166-7951-82DF-38C1CD7BE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D8F546-09AE-3399-F532-524720B93987}"/>
              </a:ext>
            </a:extLst>
          </p:cNvPr>
          <p:cNvSpPr>
            <a:spLocks noGrp="1"/>
          </p:cNvSpPr>
          <p:nvPr>
            <p:ph type="title"/>
          </p:nvPr>
        </p:nvSpPr>
        <p:spPr>
          <a:xfrm>
            <a:off x="756079" y="157826"/>
            <a:ext cx="7955280" cy="480131"/>
          </a:xfrm>
        </p:spPr>
        <p:txBody>
          <a:bodyPr/>
          <a:lstStyle/>
          <a:p>
            <a:pPr algn="ctr"/>
            <a:r>
              <a:rPr lang="en-US" dirty="0">
                <a:solidFill>
                  <a:schemeClr val="tx1"/>
                </a:solidFill>
              </a:rPr>
              <a:t>JOC Solicitation</a:t>
            </a:r>
          </a:p>
        </p:txBody>
      </p:sp>
      <p:sp>
        <p:nvSpPr>
          <p:cNvPr id="4" name="TextBox 3">
            <a:extLst>
              <a:ext uri="{FF2B5EF4-FFF2-40B4-BE49-F238E27FC236}">
                <a16:creationId xmlns:a16="http://schemas.microsoft.com/office/drawing/2014/main" id="{BE99CDE8-45F6-5F51-045E-A15C5F4E4955}"/>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5" name="TextBox 4">
            <a:extLst>
              <a:ext uri="{FF2B5EF4-FFF2-40B4-BE49-F238E27FC236}">
                <a16:creationId xmlns:a16="http://schemas.microsoft.com/office/drawing/2014/main" id="{E54A4A06-5130-75D5-8086-A4A7682DB60D}"/>
              </a:ext>
            </a:extLst>
          </p:cNvPr>
          <p:cNvSpPr txBox="1"/>
          <p:nvPr/>
        </p:nvSpPr>
        <p:spPr>
          <a:xfrm>
            <a:off x="756079" y="2705725"/>
            <a:ext cx="7955279" cy="1446550"/>
          </a:xfrm>
          <a:prstGeom prst="rect">
            <a:avLst/>
          </a:prstGeom>
          <a:noFill/>
        </p:spPr>
        <p:txBody>
          <a:bodyPr wrap="square">
            <a:spAutoFit/>
          </a:bodyPr>
          <a:lstStyle/>
          <a:p>
            <a:pPr algn="ctr"/>
            <a:r>
              <a:rPr lang="en-US" sz="4400" b="1" dirty="0">
                <a:solidFill>
                  <a:schemeClr val="tx1"/>
                </a:solidFill>
                <a:latin typeface="Arial"/>
                <a:ea typeface="ＭＳ Ｐゴシック"/>
                <a:cs typeface="Arial"/>
              </a:rPr>
              <a:t>FY 26 JOC Solicitation</a:t>
            </a:r>
            <a:br>
              <a:rPr lang="en-US" sz="4400" b="1" dirty="0"/>
            </a:br>
            <a:r>
              <a:rPr lang="en-US" sz="4400" b="1" dirty="0">
                <a:latin typeface="Arial"/>
                <a:ea typeface="ＭＳ Ｐゴシック"/>
                <a:cs typeface="Arial"/>
              </a:rPr>
              <a:t>W912PF26RA002</a:t>
            </a:r>
            <a:endParaRPr lang="en-US" sz="4400" b="1" dirty="0"/>
          </a:p>
        </p:txBody>
      </p:sp>
    </p:spTree>
    <p:extLst>
      <p:ext uri="{BB962C8B-B14F-4D97-AF65-F5344CB8AC3E}">
        <p14:creationId xmlns:p14="http://schemas.microsoft.com/office/powerpoint/2010/main" val="425916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0D1CC-BCBD-F036-36E5-0F51C804DF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CFF6C-5BBF-919A-A782-A45D55183B44}"/>
              </a:ext>
            </a:extLst>
          </p:cNvPr>
          <p:cNvSpPr>
            <a:spLocks noGrp="1"/>
          </p:cNvSpPr>
          <p:nvPr>
            <p:ph type="title"/>
          </p:nvPr>
        </p:nvSpPr>
        <p:spPr>
          <a:xfrm>
            <a:off x="836761" y="104037"/>
            <a:ext cx="7955280" cy="867930"/>
          </a:xfrm>
        </p:spPr>
        <p:txBody>
          <a:bodyPr/>
          <a:lstStyle/>
          <a:p>
            <a:pPr algn="ctr"/>
            <a:r>
              <a:rPr lang="en-US" dirty="0">
                <a:solidFill>
                  <a:schemeClr val="tx1"/>
                </a:solidFill>
              </a:rPr>
              <a:t>JOC Solicitation</a:t>
            </a:r>
            <a:br>
              <a:rPr lang="en-US" dirty="0">
                <a:solidFill>
                  <a:schemeClr val="tx1"/>
                </a:solidFill>
              </a:rPr>
            </a:br>
            <a:r>
              <a:rPr lang="en-US" dirty="0">
                <a:solidFill>
                  <a:schemeClr val="tx1"/>
                </a:solidFill>
              </a:rPr>
              <a:t>General Solicitation Information</a:t>
            </a:r>
          </a:p>
        </p:txBody>
      </p:sp>
      <p:sp>
        <p:nvSpPr>
          <p:cNvPr id="4" name="TextBox 3">
            <a:extLst>
              <a:ext uri="{FF2B5EF4-FFF2-40B4-BE49-F238E27FC236}">
                <a16:creationId xmlns:a16="http://schemas.microsoft.com/office/drawing/2014/main" id="{A81FCA57-CA36-1686-478E-C69F0C4D3A60}"/>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5" name="TextBox 4">
            <a:extLst>
              <a:ext uri="{FF2B5EF4-FFF2-40B4-BE49-F238E27FC236}">
                <a16:creationId xmlns:a16="http://schemas.microsoft.com/office/drawing/2014/main" id="{B7304EFD-F530-87FE-1330-762D7977B827}"/>
              </a:ext>
            </a:extLst>
          </p:cNvPr>
          <p:cNvSpPr txBox="1"/>
          <p:nvPr/>
        </p:nvSpPr>
        <p:spPr>
          <a:xfrm>
            <a:off x="195309" y="1161153"/>
            <a:ext cx="8596732" cy="5078313"/>
          </a:xfrm>
          <a:prstGeom prst="rect">
            <a:avLst/>
          </a:prstGeom>
          <a:noFill/>
        </p:spPr>
        <p:txBody>
          <a:bodyPr wrap="square">
            <a:spAutoFit/>
          </a:bodyPr>
          <a:lstStyle/>
          <a:p>
            <a:pPr algn="l"/>
            <a:r>
              <a:rPr lang="en-US" sz="1200" b="1" i="0" u="none" strike="noStrike" baseline="0" dirty="0">
                <a:latin typeface="Arial" panose="020B0604020202020204" pitchFamily="34" charset="0"/>
                <a:cs typeface="Arial" panose="020B0604020202020204" pitchFamily="34" charset="0"/>
              </a:rPr>
              <a:t>A.</a:t>
            </a:r>
            <a:r>
              <a:rPr lang="en-US" sz="1200" b="1" i="0" u="none" strike="noStrike" baseline="0" dirty="0">
                <a:cs typeface="Arial" panose="020B0604020202020204" pitchFamily="34" charset="0"/>
              </a:rPr>
              <a:t>1 </a:t>
            </a:r>
            <a:r>
              <a:rPr lang="en-US" sz="1200" b="0" i="0" u="none" strike="noStrike" baseline="0" dirty="0">
                <a:cs typeface="Arial" panose="020B0604020202020204" pitchFamily="34" charset="0"/>
              </a:rPr>
              <a:t>The U.S. Army, 414th Contracting Support Brigade (CSB) Regional Contracting Office-Vicenza (RCO-V), Italy intends to award a contract to provide a Job Order contract (JOC) for various minor construction requirements under an Indefinite Delivery Indefinite Quantity (IDIQ) Single Award Task Order Contract (SATOC) in support of the US Army Garrison Italy (USAG-I) Directorate of Public Works (DPW).</a:t>
            </a:r>
          </a:p>
          <a:p>
            <a:pPr algn="l"/>
            <a:endParaRPr lang="en-US" sz="1200" b="0" i="0" u="none" strike="noStrike" baseline="0" dirty="0">
              <a:cs typeface="Arial" panose="020B0604020202020204" pitchFamily="34" charset="0"/>
            </a:endParaRPr>
          </a:p>
          <a:p>
            <a:pPr algn="l"/>
            <a:r>
              <a:rPr lang="en-US" sz="1200" b="1" i="0" u="none" strike="noStrike" baseline="0" dirty="0">
                <a:cs typeface="Arial" panose="020B0604020202020204" pitchFamily="34" charset="0"/>
              </a:rPr>
              <a:t>A.2 </a:t>
            </a:r>
            <a:r>
              <a:rPr lang="en-US" sz="1200" b="0" i="0" u="none" strike="noStrike" baseline="0" dirty="0">
                <a:cs typeface="Arial" panose="020B0604020202020204" pitchFamily="34" charset="0"/>
              </a:rPr>
              <a:t>This Request for Proposal (RFP) is a competitive acquisition to establish the RCO-V, Construction JOC IDIQ SATOC contract Firm Fixed Price (FFP) Task Orders requirements.</a:t>
            </a:r>
          </a:p>
          <a:p>
            <a:pPr algn="l"/>
            <a:endParaRPr lang="en-US" sz="1200" b="0" i="0" u="none" strike="noStrike" baseline="0" dirty="0">
              <a:cs typeface="Arial" panose="020B0604020202020204" pitchFamily="34" charset="0"/>
            </a:endParaRPr>
          </a:p>
          <a:p>
            <a:pPr algn="l"/>
            <a:r>
              <a:rPr lang="en-US" sz="1200" b="1" i="0" u="none" strike="noStrike" baseline="0" dirty="0">
                <a:cs typeface="Arial" panose="020B0604020202020204" pitchFamily="34" charset="0"/>
              </a:rPr>
              <a:t>A.3 </a:t>
            </a:r>
            <a:r>
              <a:rPr lang="en-US" sz="1200" b="0" i="0" u="none" strike="noStrike" baseline="0" dirty="0">
                <a:cs typeface="Arial" panose="020B0604020202020204" pitchFamily="34" charset="0"/>
              </a:rPr>
              <a:t>This JOC shall be awarded using the Trade Off Approach in accordance with FAR 15.103-1, utilizing the DoD Source Selection Procedures to meet the Government's requirement.</a:t>
            </a:r>
          </a:p>
          <a:p>
            <a:pPr algn="l"/>
            <a:endParaRPr lang="en-US" sz="1200" b="0" i="0" u="none" strike="noStrike" baseline="0" dirty="0">
              <a:cs typeface="Arial" panose="020B0604020202020204" pitchFamily="34" charset="0"/>
            </a:endParaRPr>
          </a:p>
          <a:p>
            <a:pPr algn="l"/>
            <a:r>
              <a:rPr lang="en-US" sz="1200" b="1" i="0" u="none" strike="noStrike" baseline="0" dirty="0">
                <a:cs typeface="Arial" panose="020B0604020202020204" pitchFamily="34" charset="0"/>
              </a:rPr>
              <a:t>A.4 </a:t>
            </a:r>
            <a:r>
              <a:rPr lang="en-US" sz="1200" b="0" i="0" u="none" strike="noStrike" baseline="0" dirty="0">
                <a:cs typeface="Arial" panose="020B0604020202020204" pitchFamily="34" charset="0"/>
              </a:rPr>
              <a:t>The Government shall issue a Task Order Proposal Request (TOPR) for individual construction requirements subject to the JOC/SATOC terms and conditions. Construction requirements will be issued in accordance with the Order Placement Procedures established in Section H herein.</a:t>
            </a:r>
          </a:p>
          <a:p>
            <a:pPr algn="l"/>
            <a:endParaRPr lang="en-US" sz="1200" b="0" i="0" u="none" strike="noStrike" baseline="0" dirty="0">
              <a:cs typeface="Arial" panose="020B0604020202020204" pitchFamily="34" charset="0"/>
            </a:endParaRPr>
          </a:p>
          <a:p>
            <a:pPr algn="l"/>
            <a:r>
              <a:rPr lang="en-US" sz="1200" b="1" i="0" u="none" strike="noStrike" baseline="0" dirty="0">
                <a:cs typeface="Arial" panose="020B0604020202020204" pitchFamily="34" charset="0"/>
              </a:rPr>
              <a:t>A.5 </a:t>
            </a:r>
            <a:r>
              <a:rPr lang="en-US" sz="1200" b="0" i="0" u="none" strike="noStrike" baseline="0" dirty="0">
                <a:cs typeface="Arial" panose="020B0604020202020204" pitchFamily="34" charset="0"/>
              </a:rPr>
              <a:t>The total value of all orders awarded shall not exceed $40 Million.</a:t>
            </a:r>
          </a:p>
          <a:p>
            <a:pPr algn="l"/>
            <a:endParaRPr lang="en-US" sz="1200" b="0" i="0" u="none" strike="noStrike" baseline="0" dirty="0">
              <a:cs typeface="Arial" panose="020B0604020202020204" pitchFamily="34" charset="0"/>
            </a:endParaRPr>
          </a:p>
          <a:p>
            <a:pPr algn="l"/>
            <a:r>
              <a:rPr lang="en-US" sz="1200" b="1" i="0" u="none" strike="noStrike" baseline="0" dirty="0">
                <a:cs typeface="Arial" panose="020B0604020202020204" pitchFamily="34" charset="0"/>
              </a:rPr>
              <a:t>A.6 </a:t>
            </a:r>
            <a:r>
              <a:rPr lang="en-US" sz="1200" b="0" i="0" u="none" strike="noStrike" baseline="0" dirty="0">
                <a:cs typeface="Arial" panose="020B0604020202020204" pitchFamily="34" charset="0"/>
              </a:rPr>
              <a:t>Funding for construction efforts shall be made available for each Task Order requirement. The minimum guarantee is established at Section B herein.</a:t>
            </a:r>
          </a:p>
          <a:p>
            <a:pPr algn="l"/>
            <a:endParaRPr lang="en-US" sz="1200" b="0" i="0" u="none" strike="noStrike" baseline="0" dirty="0">
              <a:cs typeface="Arial" panose="020B0604020202020204" pitchFamily="34" charset="0"/>
            </a:endParaRPr>
          </a:p>
          <a:p>
            <a:pPr algn="l"/>
            <a:r>
              <a:rPr lang="en-US" sz="1200" b="1" i="0" u="none" strike="noStrike" baseline="0" dirty="0">
                <a:cs typeface="Arial" panose="020B0604020202020204" pitchFamily="34" charset="0"/>
              </a:rPr>
              <a:t>A.7 </a:t>
            </a:r>
            <a:r>
              <a:rPr lang="en-US" sz="1200" b="0" i="0" u="none" strike="noStrike" baseline="0" dirty="0">
                <a:cs typeface="Arial" panose="020B0604020202020204" pitchFamily="34" charset="0"/>
              </a:rPr>
              <a:t>The contract includes a base ordering period of five (5) years. The Government may extend the term of the contract by one six-month period in accordance with FAR 52.217-8, Option to Extend Services.</a:t>
            </a:r>
          </a:p>
          <a:p>
            <a:pPr algn="l"/>
            <a:endParaRPr lang="en-US" sz="1200" b="0" i="0" u="none" strike="noStrike" baseline="0" dirty="0">
              <a:cs typeface="Arial" panose="020B0604020202020204" pitchFamily="34" charset="0"/>
            </a:endParaRPr>
          </a:p>
          <a:p>
            <a:pPr algn="l"/>
            <a:r>
              <a:rPr lang="en-US" sz="1200" b="1" i="0" u="none" strike="noStrike" baseline="0" dirty="0">
                <a:cs typeface="Arial" panose="020B0604020202020204" pitchFamily="34" charset="0"/>
              </a:rPr>
              <a:t>A.8 </a:t>
            </a:r>
            <a:r>
              <a:rPr lang="en-US" sz="1200" b="0" i="0" u="none" strike="noStrike" baseline="0" dirty="0">
                <a:cs typeface="Arial" panose="020B0604020202020204" pitchFamily="34" charset="0"/>
              </a:rPr>
              <a:t>The word "Offeror" as used throughout this RFP or solicitation, as used interchangeably herein, means a company seeking to do business with the Department of War (DOW) Government by submitting a proposal in response to this RFP. "Government" may describe the contracting activity, RCO-V, or the primary customer for resulting task orders, the U.S. Army Garrison (USAG) Italy, Department of Public Works (DPW), located at the USAG Vicenza, Italy.</a:t>
            </a:r>
            <a:endParaRPr lang="en-US" sz="1200" dirty="0">
              <a:cs typeface="Arial" panose="020B0604020202020204" pitchFamily="34" charset="0"/>
            </a:endParaRPr>
          </a:p>
        </p:txBody>
      </p:sp>
    </p:spTree>
    <p:extLst>
      <p:ext uri="{BB962C8B-B14F-4D97-AF65-F5344CB8AC3E}">
        <p14:creationId xmlns:p14="http://schemas.microsoft.com/office/powerpoint/2010/main" val="9160958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DC013-B100-5EBC-636B-32B621D2F8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B9791-4FEF-FF6F-8BD6-A942791FB4F5}"/>
              </a:ext>
            </a:extLst>
          </p:cNvPr>
          <p:cNvSpPr>
            <a:spLocks noGrp="1"/>
          </p:cNvSpPr>
          <p:nvPr>
            <p:ph type="title"/>
          </p:nvPr>
        </p:nvSpPr>
        <p:spPr>
          <a:xfrm>
            <a:off x="836761" y="104037"/>
            <a:ext cx="7955280" cy="867930"/>
          </a:xfrm>
        </p:spPr>
        <p:txBody>
          <a:bodyPr/>
          <a:lstStyle/>
          <a:p>
            <a:pPr algn="ctr"/>
            <a:r>
              <a:rPr lang="en-US" dirty="0">
                <a:solidFill>
                  <a:schemeClr val="tx1"/>
                </a:solidFill>
              </a:rPr>
              <a:t>JOC Solicitation</a:t>
            </a:r>
            <a:br>
              <a:rPr lang="en-US" dirty="0">
                <a:solidFill>
                  <a:schemeClr val="tx1"/>
                </a:solidFill>
              </a:rPr>
            </a:br>
            <a:r>
              <a:rPr lang="en-US" dirty="0">
                <a:solidFill>
                  <a:schemeClr val="tx1"/>
                </a:solidFill>
              </a:rPr>
              <a:t>Source S</a:t>
            </a:r>
            <a:r>
              <a:rPr lang="en-US" dirty="0">
                <a:solidFill>
                  <a:schemeClr val="tx1"/>
                </a:solidFill>
                <a:latin typeface="Arial"/>
                <a:ea typeface="ＭＳ Ｐゴシック"/>
                <a:cs typeface="Arial"/>
              </a:rPr>
              <a:t>election Approach</a:t>
            </a:r>
            <a:endParaRPr lang="en-US" dirty="0">
              <a:solidFill>
                <a:schemeClr val="tx1"/>
              </a:solidFill>
            </a:endParaRPr>
          </a:p>
        </p:txBody>
      </p:sp>
      <p:sp>
        <p:nvSpPr>
          <p:cNvPr id="4" name="TextBox 3">
            <a:extLst>
              <a:ext uri="{FF2B5EF4-FFF2-40B4-BE49-F238E27FC236}">
                <a16:creationId xmlns:a16="http://schemas.microsoft.com/office/drawing/2014/main" id="{534CA8E9-2667-69CA-37D1-57514300A8B3}"/>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5" name="TextBox 4">
            <a:extLst>
              <a:ext uri="{FF2B5EF4-FFF2-40B4-BE49-F238E27FC236}">
                <a16:creationId xmlns:a16="http://schemas.microsoft.com/office/drawing/2014/main" id="{0C1B2E17-1CEA-BDD1-74D3-597AE86240D4}"/>
              </a:ext>
            </a:extLst>
          </p:cNvPr>
          <p:cNvSpPr txBox="1"/>
          <p:nvPr/>
        </p:nvSpPr>
        <p:spPr>
          <a:xfrm>
            <a:off x="331694" y="1340191"/>
            <a:ext cx="8812306" cy="4616648"/>
          </a:xfrm>
          <a:prstGeom prst="rect">
            <a:avLst/>
          </a:prstGeom>
          <a:noFill/>
        </p:spPr>
        <p:txBody>
          <a:bodyPr wrap="square">
            <a:spAutoFit/>
          </a:bodyPr>
          <a:lstStyle/>
          <a:p>
            <a:pPr>
              <a:spcAft>
                <a:spcPts val="1200"/>
              </a:spcAft>
            </a:pPr>
            <a:r>
              <a:rPr lang="en-US" dirty="0">
                <a:ea typeface="ＭＳ Ｐゴシック"/>
                <a:cs typeface="Arial" panose="020B0604020202020204" pitchFamily="34" charset="0"/>
              </a:rPr>
              <a:t>The Government will award a contract to the responsible offeror whose proposal represents the best value to the government using a tradeoff process.</a:t>
            </a:r>
          </a:p>
          <a:p>
            <a:pPr>
              <a:spcAft>
                <a:spcPts val="600"/>
              </a:spcAft>
            </a:pPr>
            <a:r>
              <a:rPr lang="en-US" b="1" dirty="0">
                <a:ea typeface="ＭＳ Ｐゴシック"/>
                <a:cs typeface="Arial" panose="020B0604020202020204" pitchFamily="34" charset="0"/>
              </a:rPr>
              <a:t>Evaluation Factors:</a:t>
            </a:r>
          </a:p>
          <a:p>
            <a:pPr marL="742950" lvl="1" indent="-285750">
              <a:spcAft>
                <a:spcPts val="600"/>
              </a:spcAft>
              <a:buFont typeface="Arial" panose="020B0604020202020204" pitchFamily="34" charset="0"/>
              <a:buChar char="•"/>
            </a:pPr>
            <a:r>
              <a:rPr lang="en-US" dirty="0">
                <a:ea typeface="ＭＳ Ｐゴシック"/>
                <a:cs typeface="Arial" panose="020B0604020202020204" pitchFamily="34" charset="0"/>
              </a:rPr>
              <a:t>Factor 1: Corporate Experience</a:t>
            </a:r>
          </a:p>
          <a:p>
            <a:pPr marL="742950" lvl="1" indent="-285750">
              <a:spcAft>
                <a:spcPts val="600"/>
              </a:spcAft>
              <a:buFont typeface="Arial" panose="020B0604020202020204" pitchFamily="34" charset="0"/>
              <a:buChar char="•"/>
            </a:pPr>
            <a:r>
              <a:rPr lang="en-US" dirty="0">
                <a:ea typeface="ＭＳ Ｐゴシック"/>
                <a:cs typeface="Arial" panose="020B0604020202020204" pitchFamily="34" charset="0"/>
              </a:rPr>
              <a:t>Factor 2: Management Approach</a:t>
            </a:r>
          </a:p>
          <a:p>
            <a:pPr marL="742950" lvl="1" indent="-285750">
              <a:spcAft>
                <a:spcPts val="600"/>
              </a:spcAft>
              <a:buFont typeface="Arial" panose="020B0604020202020204" pitchFamily="34" charset="0"/>
              <a:buChar char="•"/>
            </a:pPr>
            <a:r>
              <a:rPr lang="en-US" dirty="0">
                <a:ea typeface="ＭＳ Ｐゴシック"/>
                <a:cs typeface="Arial" panose="020B0604020202020204" pitchFamily="34" charset="0"/>
              </a:rPr>
              <a:t>Factor 3: Past Performance</a:t>
            </a:r>
          </a:p>
          <a:p>
            <a:pPr marL="742950" lvl="1" indent="-285750">
              <a:spcAft>
                <a:spcPts val="1200"/>
              </a:spcAft>
              <a:buFont typeface="Arial" panose="020B0604020202020204" pitchFamily="34" charset="0"/>
              <a:buChar char="•"/>
            </a:pPr>
            <a:r>
              <a:rPr lang="en-US" dirty="0">
                <a:ea typeface="ＭＳ Ｐゴシック"/>
                <a:cs typeface="Arial" panose="020B0604020202020204" pitchFamily="34" charset="0"/>
              </a:rPr>
              <a:t>Factor 4: Price (Coefficients)</a:t>
            </a:r>
          </a:p>
          <a:p>
            <a:pPr>
              <a:spcAft>
                <a:spcPts val="600"/>
              </a:spcAft>
            </a:pPr>
            <a:r>
              <a:rPr lang="en-US" b="1" dirty="0">
                <a:ea typeface="ＭＳ Ｐゴシック"/>
                <a:cs typeface="Arial" panose="020B0604020202020204" pitchFamily="34" charset="0"/>
              </a:rPr>
              <a:t>Relative Importance:</a:t>
            </a:r>
          </a:p>
          <a:p>
            <a:pPr algn="l">
              <a:spcAft>
                <a:spcPts val="600"/>
              </a:spcAft>
            </a:pPr>
            <a:r>
              <a:rPr lang="en-US" b="0" i="0" u="none" strike="noStrike" baseline="0" dirty="0">
                <a:cs typeface="Arial" panose="020B0604020202020204" pitchFamily="34" charset="0"/>
              </a:rPr>
              <a:t>The factors will be weighted in the following order of importance:</a:t>
            </a:r>
          </a:p>
          <a:p>
            <a:pPr marL="285750" indent="-285750" algn="l">
              <a:spcAft>
                <a:spcPts val="600"/>
              </a:spcAft>
              <a:buFont typeface="Arial" panose="020B0604020202020204" pitchFamily="34" charset="0"/>
              <a:buChar char="•"/>
            </a:pPr>
            <a:r>
              <a:rPr lang="en-US" b="0" i="0" u="none" strike="noStrike" baseline="0" dirty="0">
                <a:cs typeface="Arial" panose="020B0604020202020204" pitchFamily="34" charset="0"/>
              </a:rPr>
              <a:t>Factor 1 - Corporate Experience and Factor 2 - Management Approach: These are equal in importance</a:t>
            </a:r>
          </a:p>
          <a:p>
            <a:pPr marL="285750" indent="-285750" algn="l">
              <a:spcAft>
                <a:spcPts val="600"/>
              </a:spcAft>
              <a:buFont typeface="Arial" panose="020B0604020202020204" pitchFamily="34" charset="0"/>
              <a:buChar char="•"/>
            </a:pPr>
            <a:r>
              <a:rPr lang="en-US" b="0" i="0" u="none" strike="noStrike" baseline="0" dirty="0">
                <a:cs typeface="Arial" panose="020B0604020202020204" pitchFamily="34" charset="0"/>
              </a:rPr>
              <a:t>Factor 3 - Past Performance: This is less important than Factors 1 and 2.</a:t>
            </a:r>
          </a:p>
          <a:p>
            <a:pPr marL="285750" indent="-285750" algn="l">
              <a:spcAft>
                <a:spcPts val="600"/>
              </a:spcAft>
              <a:buFont typeface="Arial" panose="020B0604020202020204" pitchFamily="34" charset="0"/>
              <a:buChar char="•"/>
            </a:pPr>
            <a:r>
              <a:rPr lang="en-US" b="0" i="0" u="none" strike="noStrike" baseline="0" dirty="0">
                <a:cs typeface="Arial" panose="020B0604020202020204" pitchFamily="34" charset="0"/>
              </a:rPr>
              <a:t>Factor 4 - Price (Coefficient): This is the least important factor.</a:t>
            </a:r>
            <a:endParaRPr lang="en-US" dirty="0">
              <a:ea typeface="ＭＳ Ｐゴシック"/>
              <a:cs typeface="Arial" panose="020B0604020202020204" pitchFamily="34" charset="0"/>
            </a:endParaRPr>
          </a:p>
        </p:txBody>
      </p:sp>
    </p:spTree>
    <p:extLst>
      <p:ext uri="{BB962C8B-B14F-4D97-AF65-F5344CB8AC3E}">
        <p14:creationId xmlns:p14="http://schemas.microsoft.com/office/powerpoint/2010/main" val="29794317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918FC-6D29-3619-0156-BBEBF3F00F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3962E-4256-DAE8-2798-20BC871F3649}"/>
              </a:ext>
            </a:extLst>
          </p:cNvPr>
          <p:cNvSpPr>
            <a:spLocks noGrp="1"/>
          </p:cNvSpPr>
          <p:nvPr>
            <p:ph type="title"/>
          </p:nvPr>
        </p:nvSpPr>
        <p:spPr>
          <a:xfrm>
            <a:off x="836761" y="104037"/>
            <a:ext cx="7955280" cy="867930"/>
          </a:xfrm>
        </p:spPr>
        <p:txBody>
          <a:bodyPr/>
          <a:lstStyle/>
          <a:p>
            <a:pPr algn="ctr"/>
            <a:r>
              <a:rPr lang="en-US" dirty="0">
                <a:solidFill>
                  <a:schemeClr val="tx1"/>
                </a:solidFill>
              </a:rPr>
              <a:t>JOC Solicitation</a:t>
            </a:r>
            <a:br>
              <a:rPr lang="en-US" dirty="0">
                <a:solidFill>
                  <a:schemeClr val="tx1"/>
                </a:solidFill>
              </a:rPr>
            </a:br>
            <a:r>
              <a:rPr lang="en-US" dirty="0">
                <a:solidFill>
                  <a:schemeClr val="tx1"/>
                </a:solidFill>
              </a:rPr>
              <a:t>Joint Venture Agreements</a:t>
            </a:r>
          </a:p>
        </p:txBody>
      </p:sp>
      <p:sp>
        <p:nvSpPr>
          <p:cNvPr id="4" name="TextBox 3">
            <a:extLst>
              <a:ext uri="{FF2B5EF4-FFF2-40B4-BE49-F238E27FC236}">
                <a16:creationId xmlns:a16="http://schemas.microsoft.com/office/drawing/2014/main" id="{0F1EBF9D-B89F-C342-72A2-29B67CE735CF}"/>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6" name="TextBox 5">
            <a:extLst>
              <a:ext uri="{FF2B5EF4-FFF2-40B4-BE49-F238E27FC236}">
                <a16:creationId xmlns:a16="http://schemas.microsoft.com/office/drawing/2014/main" id="{A5383CB7-5D0B-6165-3DBC-F70D2CF03A54}"/>
              </a:ext>
            </a:extLst>
          </p:cNvPr>
          <p:cNvSpPr txBox="1"/>
          <p:nvPr/>
        </p:nvSpPr>
        <p:spPr>
          <a:xfrm>
            <a:off x="233082" y="1025634"/>
            <a:ext cx="8803341" cy="5570756"/>
          </a:xfrm>
          <a:prstGeom prst="rect">
            <a:avLst/>
          </a:prstGeom>
          <a:noFill/>
        </p:spPr>
        <p:txBody>
          <a:bodyPr wrap="square">
            <a:spAutoFit/>
          </a:bodyPr>
          <a:lstStyle/>
          <a:p>
            <a:pPr algn="l"/>
            <a:r>
              <a:rPr lang="en-US" sz="1600" b="1" i="0" u="none" strike="noStrike" baseline="0" dirty="0"/>
              <a:t>Joint Venture (JV) Agreements</a:t>
            </a:r>
          </a:p>
          <a:p>
            <a:pPr algn="l"/>
            <a:r>
              <a:rPr lang="en-US" sz="1600" b="0" i="0" u="none" strike="noStrike" baseline="0" dirty="0"/>
              <a:t>A JV refers to a formal Legal Entity in the nature of a Partnership comprised of two or more persons or companies. As a JV, in order to be eligible for contract award, each Joint Venture must provide the following:</a:t>
            </a:r>
          </a:p>
          <a:p>
            <a:pPr algn="l"/>
            <a:endParaRPr lang="en-US" sz="1600" dirty="0"/>
          </a:p>
          <a:p>
            <a:pPr marL="285750" indent="-285750" algn="l">
              <a:buFont typeface="Arial" panose="020B0604020202020204" pitchFamily="34" charset="0"/>
              <a:buChar char="•"/>
            </a:pPr>
            <a:r>
              <a:rPr lang="en-US" sz="1600" b="0" i="0" u="none" strike="noStrike" baseline="0" dirty="0"/>
              <a:t>One (1) CAGE/NCAGE Code;</a:t>
            </a:r>
          </a:p>
          <a:p>
            <a:pPr marL="285750" indent="-285750" algn="l">
              <a:buFont typeface="Arial" panose="020B0604020202020204" pitchFamily="34" charset="0"/>
              <a:buChar char="•"/>
            </a:pPr>
            <a:r>
              <a:rPr lang="en-US" sz="1600" b="0" i="0" u="none" strike="noStrike" baseline="0" dirty="0"/>
              <a:t>One (1) Unique Entity Identifier (UEI), and;</a:t>
            </a:r>
          </a:p>
          <a:p>
            <a:pPr marL="285750" indent="-285750" algn="l">
              <a:buFont typeface="Arial" panose="020B0604020202020204" pitchFamily="34" charset="0"/>
              <a:buChar char="•"/>
            </a:pPr>
            <a:r>
              <a:rPr lang="en-US" sz="1600" b="0" i="0" u="none" strike="noStrike" baseline="0" dirty="0"/>
              <a:t>One (1) active registration in the Chamber of Commerce Registration (CCR), at https://italianbusinessregister.it/en/chambers-of-commerce, all of which use the same name of the Joint Venture.</a:t>
            </a:r>
          </a:p>
          <a:p>
            <a:pPr marL="171450" indent="-171450" algn="l">
              <a:lnSpc>
                <a:spcPct val="150000"/>
              </a:lnSpc>
              <a:buFont typeface="Arial" panose="020B0604020202020204" pitchFamily="34" charset="0"/>
              <a:buChar char="•"/>
            </a:pPr>
            <a:endParaRPr lang="en-US" sz="1600" b="0" i="0" u="none" strike="noStrike" baseline="0" dirty="0"/>
          </a:p>
          <a:p>
            <a:pPr algn="l"/>
            <a:r>
              <a:rPr lang="en-US" sz="1600" b="0" i="0" u="none" strike="noStrike" baseline="0" dirty="0"/>
              <a:t>JV Offerors shall provide, with their proposal, a notarized legal document that establishes the JV. The JV shall be formed and valid at the time of submission of the proposal.</a:t>
            </a:r>
          </a:p>
          <a:p>
            <a:pPr algn="l"/>
            <a:endParaRPr lang="en-US" sz="1600" b="0" i="0" u="none" strike="noStrike" baseline="0" dirty="0"/>
          </a:p>
          <a:p>
            <a:pPr algn="l"/>
            <a:r>
              <a:rPr lang="en-US" sz="1600" b="0" i="0" u="none" strike="noStrike" baseline="0" dirty="0"/>
              <a:t>Submission of the notarized legal document that establishes the JV shall be furnished with the proposal in its original language version along with a certified English translation of the document.</a:t>
            </a:r>
          </a:p>
          <a:p>
            <a:pPr algn="l"/>
            <a:endParaRPr lang="en-US" sz="1600" b="0" i="0" u="none" strike="noStrike" baseline="0" dirty="0"/>
          </a:p>
          <a:p>
            <a:pPr algn="l"/>
            <a:r>
              <a:rPr lang="en-US" sz="1600" b="1" i="0" u="none" strike="noStrike" baseline="0" dirty="0"/>
              <a:t>Note: </a:t>
            </a:r>
            <a:r>
              <a:rPr lang="en-US" sz="1600" b="0" i="0" u="none" strike="noStrike" baseline="0" dirty="0"/>
              <a:t>The notarized legal document shall include language that each member of the JV will be jointly and irrevocably liable for the performance of the whole contract and will be incorporated into the contract award if award is made to the JV.</a:t>
            </a:r>
          </a:p>
        </p:txBody>
      </p:sp>
    </p:spTree>
    <p:extLst>
      <p:ext uri="{BB962C8B-B14F-4D97-AF65-F5344CB8AC3E}">
        <p14:creationId xmlns:p14="http://schemas.microsoft.com/office/powerpoint/2010/main" val="21273485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4468A-C6D7-3063-2854-2A1A04873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75F42-A3A7-7A09-665D-7C5F17E95081}"/>
              </a:ext>
            </a:extLst>
          </p:cNvPr>
          <p:cNvSpPr>
            <a:spLocks noGrp="1"/>
          </p:cNvSpPr>
          <p:nvPr>
            <p:ph type="title"/>
          </p:nvPr>
        </p:nvSpPr>
        <p:spPr>
          <a:xfrm>
            <a:off x="836761" y="104037"/>
            <a:ext cx="7955280" cy="867930"/>
          </a:xfrm>
        </p:spPr>
        <p:txBody>
          <a:bodyPr/>
          <a:lstStyle/>
          <a:p>
            <a:pPr algn="ctr"/>
            <a:r>
              <a:rPr lang="en-US" dirty="0">
                <a:solidFill>
                  <a:schemeClr val="tx1"/>
                </a:solidFill>
              </a:rPr>
              <a:t>JOC Solicitation</a:t>
            </a:r>
            <a:br>
              <a:rPr lang="en-US" dirty="0">
                <a:solidFill>
                  <a:schemeClr val="tx1"/>
                </a:solidFill>
              </a:rPr>
            </a:br>
            <a:r>
              <a:rPr lang="en-US" dirty="0">
                <a:solidFill>
                  <a:schemeClr val="tx1"/>
                </a:solidFill>
              </a:rPr>
              <a:t>Joint Venture Agreements (Continued)</a:t>
            </a:r>
          </a:p>
        </p:txBody>
      </p:sp>
      <p:sp>
        <p:nvSpPr>
          <p:cNvPr id="4" name="TextBox 3">
            <a:extLst>
              <a:ext uri="{FF2B5EF4-FFF2-40B4-BE49-F238E27FC236}">
                <a16:creationId xmlns:a16="http://schemas.microsoft.com/office/drawing/2014/main" id="{2589F7E3-E8C0-9717-F797-8CDF1E5CC4F6}"/>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5" name="TextBox 4">
            <a:extLst>
              <a:ext uri="{FF2B5EF4-FFF2-40B4-BE49-F238E27FC236}">
                <a16:creationId xmlns:a16="http://schemas.microsoft.com/office/drawing/2014/main" id="{30785621-372D-3267-A831-365AC7CA083C}"/>
              </a:ext>
            </a:extLst>
          </p:cNvPr>
          <p:cNvSpPr txBox="1"/>
          <p:nvPr/>
        </p:nvSpPr>
        <p:spPr>
          <a:xfrm>
            <a:off x="152399" y="971967"/>
            <a:ext cx="8848166" cy="59093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ea typeface="+mn-ea"/>
                <a:cs typeface="+mn-cs"/>
              </a:rPr>
              <a:t>The Joint Venture Agreement shall include, at a minimum, the following: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prstClr val="black"/>
                </a:solidFill>
                <a:effectLst/>
                <a:uLnTx/>
                <a:uFillTx/>
                <a:ea typeface="+mn-ea"/>
                <a:cs typeface="+mn-cs"/>
              </a:rPr>
              <a:t>Name of firms that form the JV and the name of the JV</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prstClr val="black"/>
                </a:solidFill>
                <a:effectLst/>
                <a:uLnTx/>
                <a:uFillTx/>
                <a:ea typeface="+mn-ea"/>
                <a:cs typeface="+mn-cs"/>
              </a:rPr>
              <a:t>Name and title of the corporate officials signing on behalf of each party</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prstClr val="black"/>
                </a:solidFill>
                <a:effectLst/>
                <a:uLnTx/>
                <a:uFillTx/>
                <a:ea typeface="+mn-ea"/>
                <a:cs typeface="+mn-cs"/>
              </a:rPr>
              <a:t>Solicitation number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prstClr val="black"/>
                </a:solidFill>
                <a:effectLst/>
                <a:uLnTx/>
                <a:uFillTx/>
                <a:ea typeface="+mn-ea"/>
                <a:cs typeface="+mn-cs"/>
              </a:rPr>
              <a:t>Description of the responsibilities in terms of work category for each member (for example: Firm A performing 100% of C-2-d.)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prstClr val="black"/>
                </a:solidFill>
                <a:effectLst/>
                <a:uLnTx/>
                <a:uFillTx/>
                <a:ea typeface="+mn-ea"/>
                <a:cs typeface="+mn-cs"/>
              </a:rPr>
              <a:t>The statement "The composition and structure of the JV will remain unchanged from award to one (1) year after contract completion.“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prstClr val="black"/>
                </a:solidFill>
                <a:effectLst/>
                <a:uLnTx/>
                <a:uFillTx/>
                <a:ea typeface="+mn-ea"/>
                <a:cs typeface="+mn-cs"/>
              </a:rPr>
              <a:t>Date of issuance of the agreement and notarized signature of the corporate officials signing in behalf of each party.</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prstClr val="black"/>
                </a:solidFill>
                <a:effectLst/>
                <a:uLnTx/>
                <a:uFillTx/>
                <a:ea typeface="+mn-ea"/>
                <a:cs typeface="+mn-cs"/>
              </a:rPr>
              <a:t>Statement under oath stating that the JV is in compliance at the time of proposal submission with all applicable laws, rules, and regulations. This statement must be signed under oath by all members comprising the JV.</a:t>
            </a:r>
          </a:p>
          <a:p>
            <a:pPr marR="0" lvl="0" algn="l" defTabSz="914400" rtl="0" eaLnBrk="1" fontAlgn="auto" latinLnBrk="0" hangingPunct="1">
              <a:lnSpc>
                <a:spcPct val="100000"/>
              </a:lnSpc>
              <a:spcBef>
                <a:spcPts val="0"/>
              </a:spcBef>
              <a:spcAft>
                <a:spcPts val="0"/>
              </a:spcAft>
              <a:buClrTx/>
              <a:buSzTx/>
              <a:tabLst/>
              <a:defRPr/>
            </a:pPr>
            <a:endParaRPr kumimoji="0" lang="en-US" sz="1400" b="0" i="0" u="none" strike="noStrike" kern="1200" cap="none" spc="0" normalizeH="0" baseline="0" noProof="0" dirty="0">
              <a:ln>
                <a:noFill/>
              </a:ln>
              <a:solidFill>
                <a:prstClr val="black"/>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ea typeface="+mn-ea"/>
                <a:cs typeface="+mn-cs"/>
              </a:rPr>
              <a:t>Note: The JV Agreement shall take effect upon the submission of the Offeror's proposal and shall remain irrevocable until one (1) year after the expiration of the Contract performance period.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ea typeface="+mn-ea"/>
                <a:cs typeface="+mn-cs"/>
              </a:rPr>
              <a:t>The U.S. Government reserves the right to review the actual JV Agreement to determine its basis and compliance with the applicable laws. Any internal agreement(s) affecting the internal composition of the existing JV Agreement and its potential liabilities in relation to the contract (performance guarantee, insurance, etc.) shall be sent to the Contracting Officer at time of the JV Agreement review.</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ea typeface="+mn-ea"/>
                <a:cs typeface="+mn-cs"/>
              </a:rPr>
              <a:t>Any change(s) in the composition of the JV will require the JV to formally request a Novation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ea typeface="+mn-ea"/>
                <a:cs typeface="+mn-cs"/>
              </a:rPr>
              <a:t>Agreement in accordance with FAR 42.12, which will be approved/disapproved at the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ea typeface="+mn-ea"/>
                <a:cs typeface="+mn-cs"/>
              </a:rPr>
              <a:t>discretion of the Contracting Officer.</a:t>
            </a:r>
            <a:endParaRPr kumimoji="0" lang="en-US" altLang="en-US" sz="1400" b="0" i="0" u="none" strike="noStrike" kern="1200" cap="none" spc="0" normalizeH="0" baseline="0" noProof="0" dirty="0">
              <a:ln>
                <a:noFill/>
              </a:ln>
              <a:solidFill>
                <a:prstClr val="black"/>
              </a:solidFill>
              <a:effectLst/>
              <a:uLnTx/>
              <a:uFillTx/>
              <a:ea typeface="ＭＳ Ｐゴシック" panose="020B0600070205080204" pitchFamily="34" charset="-128"/>
              <a:cs typeface="Arial"/>
            </a:endParaRPr>
          </a:p>
        </p:txBody>
      </p:sp>
    </p:spTree>
    <p:extLst>
      <p:ext uri="{BB962C8B-B14F-4D97-AF65-F5344CB8AC3E}">
        <p14:creationId xmlns:p14="http://schemas.microsoft.com/office/powerpoint/2010/main" val="2983645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11F72-B545-FC3E-087A-9C8FF0D5C6A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B343740-5B11-2F06-E8F0-89D99D26AE11}"/>
              </a:ext>
            </a:extLst>
          </p:cNvPr>
          <p:cNvSpPr txBox="1"/>
          <p:nvPr/>
        </p:nvSpPr>
        <p:spPr>
          <a:xfrm>
            <a:off x="3523475" y="6596390"/>
            <a:ext cx="2097049" cy="261610"/>
          </a:xfrm>
          <a:prstGeom prst="rect">
            <a:avLst/>
          </a:prstGeom>
          <a:noFill/>
        </p:spPr>
        <p:txBody>
          <a:bodyPr wrap="none" rtlCol="0">
            <a:spAutoFit/>
          </a:bodyPr>
          <a:lstStyle/>
          <a:p>
            <a:r>
              <a:rPr lang="en-US" sz="1100" dirty="0"/>
              <a:t>Prepared by: SSG Anglin, Lew</a:t>
            </a:r>
          </a:p>
        </p:txBody>
      </p:sp>
      <p:sp>
        <p:nvSpPr>
          <p:cNvPr id="5" name="TextBox 4">
            <a:extLst>
              <a:ext uri="{FF2B5EF4-FFF2-40B4-BE49-F238E27FC236}">
                <a16:creationId xmlns:a16="http://schemas.microsoft.com/office/drawing/2014/main" id="{64A2A45D-2A5A-BCF1-5AA1-5EED10DF28EA}"/>
              </a:ext>
            </a:extLst>
          </p:cNvPr>
          <p:cNvSpPr txBox="1"/>
          <p:nvPr/>
        </p:nvSpPr>
        <p:spPr>
          <a:xfrm>
            <a:off x="2897299" y="2721114"/>
            <a:ext cx="4576438" cy="707886"/>
          </a:xfrm>
          <a:prstGeom prst="rect">
            <a:avLst/>
          </a:prstGeom>
          <a:noFill/>
        </p:spPr>
        <p:txBody>
          <a:bodyPr wrap="square">
            <a:spAutoFit/>
          </a:bodyPr>
          <a:lstStyle/>
          <a:p>
            <a:r>
              <a:rPr lang="en-US" sz="4000" b="1" dirty="0">
                <a:solidFill>
                  <a:schemeClr val="tx1"/>
                </a:solidFill>
              </a:rPr>
              <a:t>QUESTIONS?</a:t>
            </a:r>
            <a:endParaRPr lang="en-US" sz="4000" b="1" dirty="0"/>
          </a:p>
        </p:txBody>
      </p:sp>
      <p:sp>
        <p:nvSpPr>
          <p:cNvPr id="6" name="Title 5">
            <a:extLst>
              <a:ext uri="{FF2B5EF4-FFF2-40B4-BE49-F238E27FC236}">
                <a16:creationId xmlns:a16="http://schemas.microsoft.com/office/drawing/2014/main" id="{4837175F-63DF-76A5-783C-A985BE55EEDC}"/>
              </a:ext>
            </a:extLst>
          </p:cNvPr>
          <p:cNvSpPr>
            <a:spLocks noGrp="1"/>
          </p:cNvSpPr>
          <p:nvPr>
            <p:ph type="title"/>
          </p:nvPr>
        </p:nvSpPr>
        <p:spPr>
          <a:xfrm>
            <a:off x="594359" y="116563"/>
            <a:ext cx="7955280" cy="480131"/>
          </a:xfrm>
        </p:spPr>
        <p:txBody>
          <a:bodyPr/>
          <a:lstStyle/>
          <a:p>
            <a:pPr algn="ctr"/>
            <a:r>
              <a:rPr kumimoji="0" lang="en-US" sz="2800" b="1"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JOC Solicitation</a:t>
            </a:r>
            <a:endParaRPr lang="en-US" dirty="0"/>
          </a:p>
        </p:txBody>
      </p:sp>
    </p:spTree>
    <p:extLst>
      <p:ext uri="{BB962C8B-B14F-4D97-AF65-F5344CB8AC3E}">
        <p14:creationId xmlns:p14="http://schemas.microsoft.com/office/powerpoint/2010/main" val="42033023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E84BA-E63A-0409-18BE-40201568A0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B67D7-F7F7-D652-8394-622DB07261D4}"/>
              </a:ext>
            </a:extLst>
          </p:cNvPr>
          <p:cNvSpPr>
            <a:spLocks noGrp="1"/>
          </p:cNvSpPr>
          <p:nvPr>
            <p:ph type="title"/>
          </p:nvPr>
        </p:nvSpPr>
        <p:spPr>
          <a:xfrm>
            <a:off x="836761" y="104037"/>
            <a:ext cx="7955280" cy="867930"/>
          </a:xfrm>
        </p:spPr>
        <p:txBody>
          <a:bodyPr/>
          <a:lstStyle/>
          <a:p>
            <a:pPr algn="ctr"/>
            <a:r>
              <a:rPr lang="en-US" dirty="0">
                <a:solidFill>
                  <a:schemeClr val="tx1"/>
                </a:solidFill>
              </a:rPr>
              <a:t>414</a:t>
            </a:r>
            <a:r>
              <a:rPr lang="en-US" baseline="30000" dirty="0">
                <a:solidFill>
                  <a:schemeClr val="tx1"/>
                </a:solidFill>
              </a:rPr>
              <a:t>th</a:t>
            </a:r>
            <a:r>
              <a:rPr lang="en-US" dirty="0">
                <a:solidFill>
                  <a:schemeClr val="tx1"/>
                </a:solidFill>
              </a:rPr>
              <a:t> CSB - </a:t>
            </a:r>
            <a:r>
              <a:rPr lang="en-US" dirty="0">
                <a:solidFill>
                  <a:schemeClr val="tx1"/>
                </a:solidFill>
                <a:latin typeface="Arial"/>
                <a:ea typeface="ＭＳ Ｐゴシック"/>
                <a:cs typeface="Arial"/>
              </a:rPr>
              <a:t>U.S. Procurement Law &amp; Overseas Contracting</a:t>
            </a:r>
            <a:endParaRPr lang="en-US" dirty="0">
              <a:solidFill>
                <a:schemeClr val="tx1"/>
              </a:solidFill>
            </a:endParaRPr>
          </a:p>
        </p:txBody>
      </p:sp>
      <p:sp>
        <p:nvSpPr>
          <p:cNvPr id="4" name="TextBox 3">
            <a:extLst>
              <a:ext uri="{FF2B5EF4-FFF2-40B4-BE49-F238E27FC236}">
                <a16:creationId xmlns:a16="http://schemas.microsoft.com/office/drawing/2014/main" id="{8048316A-C2C1-8AFE-2D6B-44B85891B304}"/>
              </a:ext>
            </a:extLst>
          </p:cNvPr>
          <p:cNvSpPr txBox="1"/>
          <p:nvPr/>
        </p:nvSpPr>
        <p:spPr>
          <a:xfrm>
            <a:off x="3523475" y="6596390"/>
            <a:ext cx="2234907" cy="261610"/>
          </a:xfrm>
          <a:prstGeom prst="rect">
            <a:avLst/>
          </a:prstGeom>
          <a:noFill/>
        </p:spPr>
        <p:txBody>
          <a:bodyPr wrap="none" rtlCol="0">
            <a:spAutoFit/>
          </a:bodyPr>
          <a:lstStyle/>
          <a:p>
            <a:r>
              <a:rPr lang="en-US" sz="1100" dirty="0"/>
              <a:t>Prepared by: McNease, Matthew</a:t>
            </a:r>
          </a:p>
        </p:txBody>
      </p:sp>
      <p:pic>
        <p:nvPicPr>
          <p:cNvPr id="3" name="Picture 4" descr="Image result for Government proposal clip art">
            <a:extLst>
              <a:ext uri="{FF2B5EF4-FFF2-40B4-BE49-F238E27FC236}">
                <a16:creationId xmlns:a16="http://schemas.microsoft.com/office/drawing/2014/main" id="{CCC602B0-6294-2F4A-129C-12A4861713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20524" y="1940719"/>
            <a:ext cx="2551113" cy="297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EE2623DB-08A8-2DFC-17D7-378CA53411D6}"/>
              </a:ext>
            </a:extLst>
          </p:cNvPr>
          <p:cNvSpPr txBox="1"/>
          <p:nvPr/>
        </p:nvSpPr>
        <p:spPr>
          <a:xfrm>
            <a:off x="428547" y="1508981"/>
            <a:ext cx="7955280" cy="2092881"/>
          </a:xfrm>
          <a:prstGeom prst="rect">
            <a:avLst/>
          </a:prstGeom>
          <a:noFill/>
        </p:spPr>
        <p:txBody>
          <a:bodyPr wrap="square">
            <a:spAutoFit/>
          </a:bodyPr>
          <a:lstStyle/>
          <a:p>
            <a:pPr marL="342900" indent="-342900">
              <a:spcAft>
                <a:spcPts val="1200"/>
              </a:spcAft>
              <a:buFont typeface="Arial" panose="020B0604020202020204" pitchFamily="34" charset="0"/>
              <a:buChar char="•"/>
              <a:defRPr/>
            </a:pPr>
            <a:r>
              <a:rPr lang="en-US" altLang="en-US" sz="1800" dirty="0">
                <a:solidFill>
                  <a:schemeClr val="tx1"/>
                </a:solidFill>
                <a:ea typeface="ＭＳ Ｐゴシック" panose="020B0600070205080204" pitchFamily="34" charset="-128"/>
              </a:rPr>
              <a:t>U.S. Procurement Regulations and Important Clauses</a:t>
            </a:r>
          </a:p>
          <a:p>
            <a:pPr marL="342900" indent="-342900">
              <a:spcAft>
                <a:spcPts val="1200"/>
              </a:spcAft>
              <a:buFont typeface="Arial" panose="020B0604020202020204" pitchFamily="34" charset="0"/>
              <a:buChar char="•"/>
              <a:defRPr/>
            </a:pPr>
            <a:r>
              <a:rPr lang="en-US" altLang="en-US" sz="1800" dirty="0">
                <a:solidFill>
                  <a:schemeClr val="tx1"/>
                </a:solidFill>
                <a:ea typeface="ＭＳ Ｐゴシック" panose="020B0600070205080204" pitchFamily="34" charset="-128"/>
              </a:rPr>
              <a:t>U.S. Contracting Officers (KO)</a:t>
            </a:r>
          </a:p>
          <a:p>
            <a:pPr marL="342900" indent="-342900">
              <a:spcAft>
                <a:spcPts val="1200"/>
              </a:spcAft>
              <a:buFont typeface="Arial" panose="020B0604020202020204" pitchFamily="34" charset="0"/>
              <a:buChar char="•"/>
              <a:defRPr/>
            </a:pPr>
            <a:r>
              <a:rPr lang="en-US" altLang="en-US" sz="1800" dirty="0">
                <a:solidFill>
                  <a:schemeClr val="tx1"/>
                </a:solidFill>
                <a:ea typeface="ＭＳ Ｐゴシック" panose="020B0600070205080204" pitchFamily="34" charset="-128"/>
              </a:rPr>
              <a:t>Defense Base Act Insurance</a:t>
            </a:r>
          </a:p>
          <a:p>
            <a:pPr marL="342900" indent="-342900">
              <a:spcAft>
                <a:spcPts val="1200"/>
              </a:spcAft>
              <a:buFont typeface="Arial" panose="020B0604020202020204" pitchFamily="34" charset="0"/>
              <a:buChar char="•"/>
              <a:defRPr/>
            </a:pPr>
            <a:r>
              <a:rPr lang="en-US" altLang="en-US" sz="1800" dirty="0">
                <a:solidFill>
                  <a:schemeClr val="tx1"/>
                </a:solidFill>
                <a:ea typeface="ＭＳ Ｐゴシック" panose="020B0600070205080204" pitchFamily="34" charset="-128"/>
              </a:rPr>
              <a:t>Taxes and VAT</a:t>
            </a:r>
          </a:p>
          <a:p>
            <a:pPr marL="342900" indent="-342900">
              <a:spcAft>
                <a:spcPts val="1200"/>
              </a:spcAft>
              <a:buFont typeface="Arial" panose="020B0604020202020204" pitchFamily="34" charset="0"/>
              <a:buChar char="•"/>
              <a:defRPr/>
            </a:pPr>
            <a:r>
              <a:rPr lang="en-US" altLang="en-US" sz="1800" dirty="0">
                <a:solidFill>
                  <a:schemeClr val="tx1"/>
                </a:solidFill>
                <a:ea typeface="ＭＳ Ｐゴシック" panose="020B0600070205080204" pitchFamily="34" charset="-128"/>
              </a:rPr>
              <a:t>Questions</a:t>
            </a:r>
          </a:p>
        </p:txBody>
      </p:sp>
    </p:spTree>
    <p:extLst>
      <p:ext uri="{BB962C8B-B14F-4D97-AF65-F5344CB8AC3E}">
        <p14:creationId xmlns:p14="http://schemas.microsoft.com/office/powerpoint/2010/main" val="21711505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F0C7-B75B-4380-07ED-9673EB49A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0C8E19-CD5A-FD77-A403-39DFD4DD6F47}"/>
              </a:ext>
            </a:extLst>
          </p:cNvPr>
          <p:cNvSpPr>
            <a:spLocks noGrp="1"/>
          </p:cNvSpPr>
          <p:nvPr>
            <p:ph type="title"/>
          </p:nvPr>
        </p:nvSpPr>
        <p:spPr>
          <a:xfrm>
            <a:off x="836761" y="104037"/>
            <a:ext cx="7955280" cy="867930"/>
          </a:xfrm>
        </p:spPr>
        <p:txBody>
          <a:bodyPr/>
          <a:lstStyle/>
          <a:p>
            <a:pPr algn="ctr"/>
            <a:r>
              <a:rPr lang="en-US" dirty="0">
                <a:solidFill>
                  <a:schemeClr val="tx1"/>
                </a:solidFill>
              </a:rPr>
              <a:t>414</a:t>
            </a:r>
            <a:r>
              <a:rPr lang="en-US" baseline="30000" dirty="0">
                <a:solidFill>
                  <a:schemeClr val="tx1"/>
                </a:solidFill>
              </a:rPr>
              <a:t>th</a:t>
            </a:r>
            <a:r>
              <a:rPr lang="en-US" dirty="0">
                <a:solidFill>
                  <a:schemeClr val="tx1"/>
                </a:solidFill>
              </a:rPr>
              <a:t> CSB - U.S. Procurement Law and Regulations</a:t>
            </a:r>
          </a:p>
        </p:txBody>
      </p:sp>
      <p:sp>
        <p:nvSpPr>
          <p:cNvPr id="4" name="TextBox 3">
            <a:extLst>
              <a:ext uri="{FF2B5EF4-FFF2-40B4-BE49-F238E27FC236}">
                <a16:creationId xmlns:a16="http://schemas.microsoft.com/office/drawing/2014/main" id="{15F03AFF-A018-75C9-3464-2E1EBBE1EC64}"/>
              </a:ext>
            </a:extLst>
          </p:cNvPr>
          <p:cNvSpPr txBox="1"/>
          <p:nvPr/>
        </p:nvSpPr>
        <p:spPr>
          <a:xfrm>
            <a:off x="3523475" y="6596390"/>
            <a:ext cx="2234907" cy="261610"/>
          </a:xfrm>
          <a:prstGeom prst="rect">
            <a:avLst/>
          </a:prstGeom>
          <a:noFill/>
        </p:spPr>
        <p:txBody>
          <a:bodyPr wrap="none" rtlCol="0">
            <a:spAutoFit/>
          </a:bodyPr>
          <a:lstStyle/>
          <a:p>
            <a:r>
              <a:rPr lang="en-US" sz="1100" dirty="0"/>
              <a:t>Prepared by: McNease, Matthew</a:t>
            </a:r>
          </a:p>
        </p:txBody>
      </p:sp>
      <p:sp>
        <p:nvSpPr>
          <p:cNvPr id="5" name="TextBox 4">
            <a:extLst>
              <a:ext uri="{FF2B5EF4-FFF2-40B4-BE49-F238E27FC236}">
                <a16:creationId xmlns:a16="http://schemas.microsoft.com/office/drawing/2014/main" id="{31D3B5D3-1B0E-E7E6-ADEE-0328B90EC825}"/>
              </a:ext>
            </a:extLst>
          </p:cNvPr>
          <p:cNvSpPr txBox="1"/>
          <p:nvPr/>
        </p:nvSpPr>
        <p:spPr>
          <a:xfrm>
            <a:off x="-601304" y="1268697"/>
            <a:ext cx="8930936" cy="4154984"/>
          </a:xfrm>
          <a:prstGeom prst="rect">
            <a:avLst/>
          </a:prstGeom>
          <a:noFill/>
        </p:spPr>
        <p:txBody>
          <a:bodyPr wrap="square">
            <a:spAutoFit/>
          </a:bodyPr>
          <a:lstStyle/>
          <a:p>
            <a:pPr algn="ctr"/>
            <a:r>
              <a:rPr lang="en-US" altLang="en-US" sz="2400" dirty="0">
                <a:solidFill>
                  <a:schemeClr val="tx1"/>
                </a:solidFill>
                <a:ea typeface="ＭＳ Ｐゴシック" panose="020B0600070205080204" pitchFamily="34" charset="-128"/>
              </a:rPr>
              <a:t>Contracts are awarded and executed under </a:t>
            </a:r>
          </a:p>
          <a:p>
            <a:pPr algn="ctr"/>
            <a:r>
              <a:rPr lang="en-US" altLang="en-US" sz="2400" dirty="0">
                <a:solidFill>
                  <a:schemeClr val="tx1"/>
                </a:solidFill>
                <a:ea typeface="ＭＳ Ｐゴシック" panose="020B0600070205080204" pitchFamily="34" charset="-128"/>
              </a:rPr>
              <a:t>United States procurement laws and regulations. </a:t>
            </a:r>
          </a:p>
          <a:p>
            <a:pPr lvl="1" algn="ctr">
              <a:buFontTx/>
              <a:buNone/>
            </a:pPr>
            <a:endParaRPr lang="en-US" altLang="en-US" sz="2400" b="1" dirty="0">
              <a:solidFill>
                <a:schemeClr val="tx1"/>
              </a:solidFill>
              <a:ea typeface="Arial" panose="020B0604020202020204" pitchFamily="34" charset="0"/>
            </a:endParaRPr>
          </a:p>
          <a:p>
            <a:pPr lvl="1" algn="ctr">
              <a:buFontTx/>
              <a:buNone/>
            </a:pPr>
            <a:r>
              <a:rPr lang="en-US" altLang="en-US" sz="2400" b="1" dirty="0">
                <a:solidFill>
                  <a:schemeClr val="tx1"/>
                </a:solidFill>
                <a:ea typeface="Arial" panose="020B0604020202020204" pitchFamily="34" charset="0"/>
              </a:rPr>
              <a:t>Federal Acquisition Regulation (FAR) Overhaul (RFO)</a:t>
            </a:r>
          </a:p>
          <a:p>
            <a:pPr lvl="1" algn="ctr">
              <a:buFontTx/>
              <a:buNone/>
            </a:pPr>
            <a:r>
              <a:rPr lang="en-US" altLang="en-US" sz="2400" dirty="0">
                <a:solidFill>
                  <a:schemeClr val="tx1"/>
                </a:solidFill>
                <a:ea typeface="Arial" panose="020B0604020202020204" pitchFamily="34" charset="0"/>
                <a:hlinkClick r:id="rId3"/>
              </a:rPr>
              <a:t>http://acquisition.gov</a:t>
            </a:r>
            <a:r>
              <a:rPr lang="en-US" altLang="en-US" sz="2400" dirty="0">
                <a:solidFill>
                  <a:schemeClr val="tx1"/>
                </a:solidFill>
                <a:ea typeface="Arial" panose="020B0604020202020204" pitchFamily="34" charset="0"/>
              </a:rPr>
              <a:t> </a:t>
            </a:r>
          </a:p>
          <a:p>
            <a:pPr lvl="1" algn="ctr">
              <a:buFontTx/>
              <a:buNone/>
            </a:pPr>
            <a:endParaRPr lang="en-US" altLang="en-US" sz="2400" b="1" dirty="0">
              <a:solidFill>
                <a:schemeClr val="tx1"/>
              </a:solidFill>
              <a:ea typeface="Arial" panose="020B0604020202020204" pitchFamily="34" charset="0"/>
            </a:endParaRPr>
          </a:p>
          <a:p>
            <a:pPr lvl="1" algn="ctr">
              <a:buFontTx/>
              <a:buNone/>
            </a:pPr>
            <a:r>
              <a:rPr lang="en-US" altLang="en-US" sz="2400" b="1" dirty="0">
                <a:solidFill>
                  <a:schemeClr val="tx1"/>
                </a:solidFill>
                <a:ea typeface="Arial" panose="020B0604020202020204" pitchFamily="34" charset="0"/>
              </a:rPr>
              <a:t>Defense FAR Supplement (DFARS)</a:t>
            </a:r>
          </a:p>
          <a:p>
            <a:pPr lvl="1" algn="ctr">
              <a:buFontTx/>
              <a:buNone/>
            </a:pPr>
            <a:r>
              <a:rPr lang="en-US" altLang="en-US" sz="2400" dirty="0">
                <a:solidFill>
                  <a:schemeClr val="tx1"/>
                </a:solidFill>
                <a:ea typeface="Arial" panose="020B0604020202020204" pitchFamily="34" charset="0"/>
                <a:hlinkClick r:id="rId3"/>
              </a:rPr>
              <a:t>http://acquisition.gov</a:t>
            </a:r>
            <a:r>
              <a:rPr lang="en-US" altLang="en-US" sz="2400" dirty="0">
                <a:solidFill>
                  <a:schemeClr val="tx1"/>
                </a:solidFill>
                <a:ea typeface="Arial" panose="020B0604020202020204" pitchFamily="34" charset="0"/>
              </a:rPr>
              <a:t> </a:t>
            </a:r>
          </a:p>
          <a:p>
            <a:pPr lvl="1" algn="ctr">
              <a:buFontTx/>
              <a:buNone/>
            </a:pPr>
            <a:endParaRPr lang="en-US" altLang="en-US" sz="2400" b="1" dirty="0">
              <a:solidFill>
                <a:schemeClr val="tx1"/>
              </a:solidFill>
              <a:ea typeface="Arial" panose="020B0604020202020204" pitchFamily="34" charset="0"/>
            </a:endParaRPr>
          </a:p>
          <a:p>
            <a:pPr lvl="1" algn="ctr">
              <a:buFontTx/>
              <a:buNone/>
            </a:pPr>
            <a:r>
              <a:rPr lang="en-US" altLang="en-US" sz="2400" b="1" dirty="0">
                <a:solidFill>
                  <a:schemeClr val="tx1"/>
                </a:solidFill>
                <a:ea typeface="Arial" panose="020B0604020202020204" pitchFamily="34" charset="0"/>
              </a:rPr>
              <a:t>Army FAR Supplement (AFARS)</a:t>
            </a:r>
          </a:p>
          <a:p>
            <a:pPr lvl="1" algn="ctr">
              <a:buFontTx/>
              <a:buNone/>
            </a:pPr>
            <a:r>
              <a:rPr lang="en-US" altLang="en-US" sz="2400" dirty="0">
                <a:solidFill>
                  <a:schemeClr val="tx1"/>
                </a:solidFill>
                <a:ea typeface="Arial" panose="020B0604020202020204" pitchFamily="34" charset="0"/>
                <a:hlinkClick r:id="rId3"/>
              </a:rPr>
              <a:t>http://acquisition.gov</a:t>
            </a:r>
            <a:r>
              <a:rPr lang="en-US" altLang="en-US" sz="2400" dirty="0">
                <a:solidFill>
                  <a:schemeClr val="tx1"/>
                </a:solidFill>
                <a:ea typeface="Arial" panose="020B0604020202020204" pitchFamily="34" charset="0"/>
              </a:rPr>
              <a:t> </a:t>
            </a:r>
          </a:p>
        </p:txBody>
      </p:sp>
      <p:pic>
        <p:nvPicPr>
          <p:cNvPr id="7" name="Picture 1">
            <a:extLst>
              <a:ext uri="{FF2B5EF4-FFF2-40B4-BE49-F238E27FC236}">
                <a16:creationId xmlns:a16="http://schemas.microsoft.com/office/drawing/2014/main" id="{298607CC-D9A2-9520-5F41-A372B2C54B6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62750" y="3018424"/>
            <a:ext cx="238125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63141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D18A2-8401-8B2B-A74B-1D41960B1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00B32-7D01-047B-BA5B-481AA47B2BE5}"/>
              </a:ext>
            </a:extLst>
          </p:cNvPr>
          <p:cNvSpPr>
            <a:spLocks noGrp="1"/>
          </p:cNvSpPr>
          <p:nvPr>
            <p:ph type="title"/>
          </p:nvPr>
        </p:nvSpPr>
        <p:spPr>
          <a:xfrm>
            <a:off x="836761" y="104037"/>
            <a:ext cx="7955280" cy="867930"/>
          </a:xfrm>
        </p:spPr>
        <p:txBody>
          <a:bodyPr/>
          <a:lstStyle/>
          <a:p>
            <a:pPr algn="ctr"/>
            <a:r>
              <a:rPr lang="en-US" dirty="0">
                <a:solidFill>
                  <a:schemeClr val="tx1"/>
                </a:solidFill>
              </a:rPr>
              <a:t>414</a:t>
            </a:r>
            <a:r>
              <a:rPr lang="en-US" baseline="30000" dirty="0">
                <a:solidFill>
                  <a:schemeClr val="tx1"/>
                </a:solidFill>
              </a:rPr>
              <a:t>th</a:t>
            </a:r>
            <a:r>
              <a:rPr lang="en-US" dirty="0">
                <a:solidFill>
                  <a:schemeClr val="tx1"/>
                </a:solidFill>
              </a:rPr>
              <a:t> CSB - DISPUTES AND CLAIMS REGULATIONS</a:t>
            </a:r>
          </a:p>
        </p:txBody>
      </p:sp>
      <p:sp>
        <p:nvSpPr>
          <p:cNvPr id="4" name="TextBox 3">
            <a:extLst>
              <a:ext uri="{FF2B5EF4-FFF2-40B4-BE49-F238E27FC236}">
                <a16:creationId xmlns:a16="http://schemas.microsoft.com/office/drawing/2014/main" id="{EA7ED996-C8E9-15C6-1863-A618A8BBC558}"/>
              </a:ext>
            </a:extLst>
          </p:cNvPr>
          <p:cNvSpPr txBox="1"/>
          <p:nvPr/>
        </p:nvSpPr>
        <p:spPr>
          <a:xfrm>
            <a:off x="3523475" y="6596390"/>
            <a:ext cx="2234907" cy="261610"/>
          </a:xfrm>
          <a:prstGeom prst="rect">
            <a:avLst/>
          </a:prstGeom>
          <a:noFill/>
        </p:spPr>
        <p:txBody>
          <a:bodyPr wrap="none" rtlCol="0">
            <a:spAutoFit/>
          </a:bodyPr>
          <a:lstStyle/>
          <a:p>
            <a:r>
              <a:rPr lang="en-US" sz="1100" dirty="0"/>
              <a:t>Prepared by: McNease, Matthew</a:t>
            </a:r>
          </a:p>
        </p:txBody>
      </p:sp>
      <p:sp>
        <p:nvSpPr>
          <p:cNvPr id="5" name="TextBox 4">
            <a:extLst>
              <a:ext uri="{FF2B5EF4-FFF2-40B4-BE49-F238E27FC236}">
                <a16:creationId xmlns:a16="http://schemas.microsoft.com/office/drawing/2014/main" id="{A5CEE32F-F0C6-D153-E800-6475236396EC}"/>
              </a:ext>
            </a:extLst>
          </p:cNvPr>
          <p:cNvSpPr txBox="1"/>
          <p:nvPr/>
        </p:nvSpPr>
        <p:spPr>
          <a:xfrm>
            <a:off x="470517" y="1786138"/>
            <a:ext cx="8191667" cy="3539430"/>
          </a:xfrm>
          <a:prstGeom prst="rect">
            <a:avLst/>
          </a:prstGeom>
          <a:noFill/>
        </p:spPr>
        <p:txBody>
          <a:bodyPr wrap="square">
            <a:spAutoFit/>
          </a:bodyPr>
          <a:lstStyle/>
          <a:p>
            <a:pPr marL="285750" indent="-285750" eaLnBrk="1" hangingPunct="1">
              <a:buFont typeface="Arial" panose="020B0604020202020204" pitchFamily="34" charset="0"/>
              <a:buChar char="•"/>
            </a:pPr>
            <a:r>
              <a:rPr lang="en-US" altLang="en-US" sz="3200" dirty="0">
                <a:solidFill>
                  <a:schemeClr val="tx1"/>
                </a:solidFill>
                <a:ea typeface="ＭＳ Ｐゴシック"/>
                <a:cs typeface="Arial"/>
              </a:rPr>
              <a:t>Title 41 United States Code (U.S.C.) </a:t>
            </a:r>
            <a:r>
              <a:rPr lang="en-US" altLang="en-US" sz="3200" dirty="0" err="1">
                <a:solidFill>
                  <a:schemeClr val="tx1"/>
                </a:solidFill>
                <a:ea typeface="ＭＳ Ｐゴシック"/>
                <a:cs typeface="Arial"/>
              </a:rPr>
              <a:t>Chapt</a:t>
            </a:r>
            <a:r>
              <a:rPr lang="en-US" altLang="en-US" sz="3200" dirty="0">
                <a:solidFill>
                  <a:schemeClr val="tx1"/>
                </a:solidFill>
                <a:ea typeface="ＭＳ Ｐゴシック"/>
                <a:cs typeface="Arial"/>
              </a:rPr>
              <a:t>. 71 - Contract Disputes </a:t>
            </a:r>
            <a:endParaRPr lang="en-US" altLang="en-US" sz="3200" dirty="0">
              <a:solidFill>
                <a:schemeClr val="tx1"/>
              </a:solidFill>
              <a:ea typeface="ＭＳ Ｐゴシック" panose="020B0600070205080204" pitchFamily="34" charset="-128"/>
            </a:endParaRPr>
          </a:p>
          <a:p>
            <a:pPr eaLnBrk="1" hangingPunct="1"/>
            <a:endParaRPr lang="en-US" altLang="en-US" sz="3200" dirty="0">
              <a:solidFill>
                <a:schemeClr val="tx1"/>
              </a:solidFill>
              <a:ea typeface="ＭＳ Ｐゴシック" panose="020B0600070205080204" pitchFamily="34" charset="-128"/>
            </a:endParaRPr>
          </a:p>
          <a:p>
            <a:pPr marL="285750" indent="-285750" eaLnBrk="1" hangingPunct="1">
              <a:buFont typeface="Arial" panose="020B0604020202020204" pitchFamily="34" charset="0"/>
              <a:buChar char="•"/>
            </a:pPr>
            <a:r>
              <a:rPr lang="en-US" altLang="en-US" sz="3200" dirty="0">
                <a:solidFill>
                  <a:schemeClr val="tx1"/>
                </a:solidFill>
                <a:ea typeface="ＭＳ Ｐゴシック" panose="020B0600070205080204" pitchFamily="34" charset="-128"/>
              </a:rPr>
              <a:t>RFO FAR Subpart 33.2, Disputes and Appeals</a:t>
            </a:r>
          </a:p>
          <a:p>
            <a:pPr marL="285750" indent="-285750" eaLnBrk="1" hangingPunct="1">
              <a:buFont typeface="Arial" panose="020B0604020202020204" pitchFamily="34" charset="0"/>
              <a:buChar char="•"/>
            </a:pPr>
            <a:endParaRPr lang="en-US" altLang="en-US" sz="3200" dirty="0">
              <a:solidFill>
                <a:schemeClr val="tx1"/>
              </a:solidFill>
              <a:ea typeface="ＭＳ Ｐゴシック" panose="020B0600070205080204" pitchFamily="34" charset="-128"/>
            </a:endParaRPr>
          </a:p>
          <a:p>
            <a:pPr marL="285750" indent="-285750" eaLnBrk="1" hangingPunct="1">
              <a:buFont typeface="Arial" panose="020B0604020202020204" pitchFamily="34" charset="0"/>
              <a:buChar char="•"/>
            </a:pPr>
            <a:r>
              <a:rPr lang="en-US" altLang="en-US" sz="3200" dirty="0">
                <a:solidFill>
                  <a:schemeClr val="tx1"/>
                </a:solidFill>
                <a:ea typeface="ＭＳ Ｐゴシック" panose="020B0600070205080204" pitchFamily="34" charset="-128"/>
              </a:rPr>
              <a:t>FAR 52.233-1, Disputes</a:t>
            </a:r>
          </a:p>
        </p:txBody>
      </p:sp>
    </p:spTree>
    <p:extLst>
      <p:ext uri="{BB962C8B-B14F-4D97-AF65-F5344CB8AC3E}">
        <p14:creationId xmlns:p14="http://schemas.microsoft.com/office/powerpoint/2010/main" val="8361358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90F04-4063-6D10-C803-FB0B29472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84DC7-C77F-78D0-3522-675D44A16B20}"/>
              </a:ext>
            </a:extLst>
          </p:cNvPr>
          <p:cNvSpPr>
            <a:spLocks noGrp="1"/>
          </p:cNvSpPr>
          <p:nvPr>
            <p:ph type="title"/>
          </p:nvPr>
        </p:nvSpPr>
        <p:spPr>
          <a:xfrm>
            <a:off x="836761" y="104037"/>
            <a:ext cx="7955280" cy="480131"/>
          </a:xfrm>
        </p:spPr>
        <p:txBody>
          <a:bodyPr/>
          <a:lstStyle/>
          <a:p>
            <a:pPr algn="ctr"/>
            <a:r>
              <a:rPr lang="en-US" dirty="0">
                <a:solidFill>
                  <a:schemeClr val="tx1"/>
                </a:solidFill>
              </a:rPr>
              <a:t>414</a:t>
            </a:r>
            <a:r>
              <a:rPr lang="en-US" baseline="30000" dirty="0">
                <a:solidFill>
                  <a:schemeClr val="tx1"/>
                </a:solidFill>
              </a:rPr>
              <a:t>th</a:t>
            </a:r>
            <a:r>
              <a:rPr lang="en-US" dirty="0">
                <a:solidFill>
                  <a:schemeClr val="tx1"/>
                </a:solidFill>
              </a:rPr>
              <a:t> CSB - Compliance with local labor laws</a:t>
            </a:r>
          </a:p>
        </p:txBody>
      </p:sp>
      <p:sp>
        <p:nvSpPr>
          <p:cNvPr id="4" name="TextBox 3">
            <a:extLst>
              <a:ext uri="{FF2B5EF4-FFF2-40B4-BE49-F238E27FC236}">
                <a16:creationId xmlns:a16="http://schemas.microsoft.com/office/drawing/2014/main" id="{12C7A3B3-21CB-0A31-2A80-9FEF5E68A071}"/>
              </a:ext>
            </a:extLst>
          </p:cNvPr>
          <p:cNvSpPr txBox="1"/>
          <p:nvPr/>
        </p:nvSpPr>
        <p:spPr>
          <a:xfrm>
            <a:off x="3523475" y="6596390"/>
            <a:ext cx="2234907" cy="261610"/>
          </a:xfrm>
          <a:prstGeom prst="rect">
            <a:avLst/>
          </a:prstGeom>
          <a:noFill/>
        </p:spPr>
        <p:txBody>
          <a:bodyPr wrap="none" rtlCol="0">
            <a:spAutoFit/>
          </a:bodyPr>
          <a:lstStyle/>
          <a:p>
            <a:r>
              <a:rPr lang="en-US" sz="1100" dirty="0"/>
              <a:t>Prepared by: McNease, Matthew</a:t>
            </a:r>
          </a:p>
        </p:txBody>
      </p:sp>
      <p:sp>
        <p:nvSpPr>
          <p:cNvPr id="5" name="TextBox 4">
            <a:extLst>
              <a:ext uri="{FF2B5EF4-FFF2-40B4-BE49-F238E27FC236}">
                <a16:creationId xmlns:a16="http://schemas.microsoft.com/office/drawing/2014/main" id="{85F377AA-3AA3-318D-6100-C6460B19ED10}"/>
              </a:ext>
            </a:extLst>
          </p:cNvPr>
          <p:cNvSpPr txBox="1"/>
          <p:nvPr/>
        </p:nvSpPr>
        <p:spPr>
          <a:xfrm>
            <a:off x="389042" y="1256316"/>
            <a:ext cx="8365913" cy="4401205"/>
          </a:xfrm>
          <a:prstGeom prst="rect">
            <a:avLst/>
          </a:prstGeom>
          <a:noFill/>
        </p:spPr>
        <p:txBody>
          <a:bodyPr wrap="square">
            <a:spAutoFit/>
          </a:bodyPr>
          <a:lstStyle/>
          <a:p>
            <a:pPr marL="456565" indent="-456565">
              <a:spcAft>
                <a:spcPts val="600"/>
              </a:spcAft>
              <a:buFont typeface="Arial" panose="020B0604020202020204" pitchFamily="34" charset="0"/>
              <a:buChar char="•"/>
              <a:defRPr/>
            </a:pPr>
            <a:r>
              <a:rPr lang="en-US" sz="2000" dirty="0">
                <a:solidFill>
                  <a:schemeClr val="tx1"/>
                </a:solidFill>
                <a:latin typeface="Arial"/>
                <a:ea typeface="ＭＳ Ｐゴシック"/>
                <a:cs typeface="Arial"/>
              </a:rPr>
              <a:t>The U.S. Government is committed to ensuring that laborers on our projects receive working conditions and wages in accordance with Host Nation laws and regulations.</a:t>
            </a:r>
          </a:p>
          <a:p>
            <a:pPr marL="456565" indent="-456565">
              <a:spcAft>
                <a:spcPts val="600"/>
              </a:spcAft>
              <a:buFont typeface="Arial" panose="020B0604020202020204" pitchFamily="34" charset="0"/>
              <a:buChar char="•"/>
              <a:defRPr/>
            </a:pPr>
            <a:endParaRPr lang="en-US" sz="2000" dirty="0">
              <a:solidFill>
                <a:schemeClr val="tx1"/>
              </a:solidFill>
              <a:latin typeface="Arial"/>
              <a:ea typeface="ＭＳ Ｐゴシック"/>
              <a:cs typeface="Arial"/>
            </a:endParaRPr>
          </a:p>
          <a:p>
            <a:pPr marL="456565" indent="-456565">
              <a:spcAft>
                <a:spcPts val="600"/>
              </a:spcAft>
              <a:buFont typeface="Arial" panose="020B0604020202020204" pitchFamily="34" charset="0"/>
              <a:buChar char="•"/>
              <a:defRPr/>
            </a:pPr>
            <a:r>
              <a:rPr lang="en-US" sz="2000" dirty="0">
                <a:solidFill>
                  <a:schemeClr val="tx1"/>
                </a:solidFill>
                <a:latin typeface="Arial"/>
                <a:ea typeface="ＭＳ Ｐゴシック"/>
                <a:cs typeface="Arial"/>
              </a:rPr>
              <a:t>“Compliance With Local Labor Laws,” provides that contractors must comply with all host nation labor laws and regulations including laws and regulations relating to hours of work and compensation.</a:t>
            </a:r>
          </a:p>
          <a:p>
            <a:pPr>
              <a:spcAft>
                <a:spcPts val="600"/>
              </a:spcAft>
              <a:defRPr/>
            </a:pPr>
            <a:endParaRPr lang="en-US" sz="2000" dirty="0">
              <a:solidFill>
                <a:schemeClr val="tx1"/>
              </a:solidFill>
              <a:latin typeface="Arial"/>
              <a:ea typeface="ＭＳ Ｐゴシック"/>
              <a:cs typeface="Arial"/>
            </a:endParaRPr>
          </a:p>
          <a:p>
            <a:pPr marL="456565" indent="-456565">
              <a:spcAft>
                <a:spcPts val="600"/>
              </a:spcAft>
              <a:buFont typeface="Arial" panose="020B0604020202020204" pitchFamily="34" charset="0"/>
              <a:buChar char="•"/>
              <a:defRPr/>
            </a:pPr>
            <a:r>
              <a:rPr lang="en-US" sz="2000" dirty="0">
                <a:solidFill>
                  <a:schemeClr val="tx1"/>
                </a:solidFill>
                <a:latin typeface="Arial"/>
                <a:ea typeface="ＭＳ Ｐゴシック"/>
                <a:cs typeface="Arial"/>
              </a:rPr>
              <a:t>Be </a:t>
            </a:r>
            <a:r>
              <a:rPr lang="en-US" sz="2000" b="1" dirty="0">
                <a:solidFill>
                  <a:schemeClr val="tx1"/>
                </a:solidFill>
                <a:latin typeface="Arial"/>
                <a:ea typeface="ＭＳ Ｐゴシック"/>
                <a:cs typeface="Arial"/>
              </a:rPr>
              <a:t>aware </a:t>
            </a:r>
            <a:r>
              <a:rPr lang="en-US" sz="2000" dirty="0">
                <a:solidFill>
                  <a:schemeClr val="tx1"/>
                </a:solidFill>
                <a:latin typeface="Arial"/>
                <a:ea typeface="ＭＳ Ｐゴシック"/>
                <a:cs typeface="Arial"/>
              </a:rPr>
              <a:t>that this </a:t>
            </a:r>
            <a:r>
              <a:rPr lang="en-US" sz="2000" b="1" dirty="0">
                <a:solidFill>
                  <a:schemeClr val="tx1"/>
                </a:solidFill>
                <a:latin typeface="Arial"/>
                <a:ea typeface="ＭＳ Ｐゴシック"/>
                <a:cs typeface="Arial"/>
              </a:rPr>
              <a:t>applies to subcontractors </a:t>
            </a:r>
            <a:r>
              <a:rPr lang="en-US" sz="2000" dirty="0">
                <a:solidFill>
                  <a:schemeClr val="tx1"/>
                </a:solidFill>
                <a:latin typeface="Arial"/>
                <a:ea typeface="ＭＳ Ｐゴシック"/>
                <a:cs typeface="Arial"/>
              </a:rPr>
              <a:t>as well as the prime contractor – the prime contractor is responsible for ensuring that all workers on the project are properly paid, regardless of whether the workers are employed directly by the prime contractor, principal subcontractor or subcontractors at any tier. </a:t>
            </a:r>
            <a:endParaRPr lang="en-US" sz="2000" dirty="0">
              <a:solidFill>
                <a:schemeClr val="tx1"/>
              </a:solidFill>
            </a:endParaRPr>
          </a:p>
        </p:txBody>
      </p:sp>
    </p:spTree>
    <p:extLst>
      <p:ext uri="{BB962C8B-B14F-4D97-AF65-F5344CB8AC3E}">
        <p14:creationId xmlns:p14="http://schemas.microsoft.com/office/powerpoint/2010/main" val="33070426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7C53D-C1CD-0714-990A-E4F47B42BE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33B830-C891-8FA7-CC66-6163EC6CABC3}"/>
              </a:ext>
            </a:extLst>
          </p:cNvPr>
          <p:cNvSpPr>
            <a:spLocks noGrp="1"/>
          </p:cNvSpPr>
          <p:nvPr>
            <p:ph type="title"/>
          </p:nvPr>
        </p:nvSpPr>
        <p:spPr>
          <a:xfrm>
            <a:off x="836761" y="104037"/>
            <a:ext cx="7955280" cy="867930"/>
          </a:xfrm>
        </p:spPr>
        <p:txBody>
          <a:bodyPr/>
          <a:lstStyle/>
          <a:p>
            <a:pPr algn="ctr"/>
            <a:r>
              <a:rPr lang="en-US" dirty="0">
                <a:solidFill>
                  <a:schemeClr val="tx1"/>
                </a:solidFill>
              </a:rPr>
              <a:t>414</a:t>
            </a:r>
            <a:r>
              <a:rPr lang="en-US" baseline="30000" dirty="0">
                <a:solidFill>
                  <a:schemeClr val="tx1"/>
                </a:solidFill>
              </a:rPr>
              <a:t>th</a:t>
            </a:r>
            <a:r>
              <a:rPr lang="en-US" dirty="0">
                <a:solidFill>
                  <a:schemeClr val="tx1"/>
                </a:solidFill>
              </a:rPr>
              <a:t> CSB - </a:t>
            </a:r>
            <a:r>
              <a:rPr lang="en-US" dirty="0">
                <a:solidFill>
                  <a:schemeClr val="tx1"/>
                </a:solidFill>
                <a:ea typeface="ＭＳ Ｐゴシック" charset="0"/>
              </a:rPr>
              <a:t>Defense Base Act (DBA) Insurance </a:t>
            </a:r>
            <a:endParaRPr lang="en-US" dirty="0">
              <a:solidFill>
                <a:schemeClr val="tx1"/>
              </a:solidFill>
            </a:endParaRPr>
          </a:p>
        </p:txBody>
      </p:sp>
      <p:sp>
        <p:nvSpPr>
          <p:cNvPr id="4" name="TextBox 3">
            <a:extLst>
              <a:ext uri="{FF2B5EF4-FFF2-40B4-BE49-F238E27FC236}">
                <a16:creationId xmlns:a16="http://schemas.microsoft.com/office/drawing/2014/main" id="{BF4CB468-40A1-16D0-C95F-C1B8214514AC}"/>
              </a:ext>
            </a:extLst>
          </p:cNvPr>
          <p:cNvSpPr txBox="1"/>
          <p:nvPr/>
        </p:nvSpPr>
        <p:spPr>
          <a:xfrm>
            <a:off x="3523475" y="6596390"/>
            <a:ext cx="2234907" cy="261610"/>
          </a:xfrm>
          <a:prstGeom prst="rect">
            <a:avLst/>
          </a:prstGeom>
          <a:noFill/>
        </p:spPr>
        <p:txBody>
          <a:bodyPr wrap="none" rtlCol="0">
            <a:spAutoFit/>
          </a:bodyPr>
          <a:lstStyle/>
          <a:p>
            <a:r>
              <a:rPr lang="en-US" sz="1100" dirty="0"/>
              <a:t>Prepared by: McNease, Matthew</a:t>
            </a:r>
          </a:p>
        </p:txBody>
      </p:sp>
      <p:sp>
        <p:nvSpPr>
          <p:cNvPr id="5" name="TextBox 4">
            <a:extLst>
              <a:ext uri="{FF2B5EF4-FFF2-40B4-BE49-F238E27FC236}">
                <a16:creationId xmlns:a16="http://schemas.microsoft.com/office/drawing/2014/main" id="{4DA1EB4E-160D-C500-B76B-8A540DB4F369}"/>
              </a:ext>
            </a:extLst>
          </p:cNvPr>
          <p:cNvSpPr txBox="1"/>
          <p:nvPr/>
        </p:nvSpPr>
        <p:spPr>
          <a:xfrm>
            <a:off x="245890" y="1005259"/>
            <a:ext cx="8652218" cy="5047536"/>
          </a:xfrm>
          <a:prstGeom prst="rect">
            <a:avLst/>
          </a:prstGeom>
          <a:noFill/>
        </p:spPr>
        <p:txBody>
          <a:bodyPr wrap="square">
            <a:spAutoFit/>
          </a:bodyPr>
          <a:lstStyle/>
          <a:p>
            <a:r>
              <a:rPr lang="en-US" sz="1600" b="1" dirty="0"/>
              <a:t>What is the Defense Base Act?</a:t>
            </a:r>
          </a:p>
          <a:p>
            <a:endParaRPr lang="en-US" sz="1600" b="1" dirty="0"/>
          </a:p>
          <a:p>
            <a:r>
              <a:rPr lang="en-US" sz="1600" dirty="0"/>
              <a:t>-The DBA is a U.S. federal law requiring workers' compensation insurance for civilian employees working overseas on contracts with the U.S. government. </a:t>
            </a:r>
          </a:p>
          <a:p>
            <a:endParaRPr lang="en-US" sz="1600" dirty="0"/>
          </a:p>
          <a:p>
            <a:r>
              <a:rPr lang="en-US" sz="1600" dirty="0"/>
              <a:t>-The primary purpose is to provide medical benefits, disability compensation, and death benefits to covered employees who are injured, or to their dependents if they are killed, in the course of employment. </a:t>
            </a:r>
          </a:p>
          <a:p>
            <a:endParaRPr lang="en-US" sz="1600" dirty="0"/>
          </a:p>
          <a:p>
            <a:r>
              <a:rPr lang="en-US" sz="1600" b="1" dirty="0"/>
              <a:t>Application to U.S. Government Contracts in Italy</a:t>
            </a:r>
          </a:p>
          <a:p>
            <a:endParaRPr lang="en-US" sz="1600" b="1" dirty="0"/>
          </a:p>
          <a:p>
            <a:r>
              <a:rPr lang="en-US" sz="1600" dirty="0"/>
              <a:t>-Mandatory Coverage: All contractors and subcontractors with U.S. government-funded contracts performing public works or national defense-related activities outside the United States must secure DBA insurance for their employees. </a:t>
            </a:r>
          </a:p>
          <a:p>
            <a:endParaRPr lang="en-US" sz="1600" dirty="0"/>
          </a:p>
          <a:p>
            <a:r>
              <a:rPr lang="en-US" sz="1600" dirty="0"/>
              <a:t>-This includes construction projects in Italy.</a:t>
            </a:r>
          </a:p>
          <a:p>
            <a:endParaRPr lang="en-US" sz="1600" dirty="0"/>
          </a:p>
          <a:p>
            <a:r>
              <a:rPr lang="en-US" sz="1600" dirty="0"/>
              <a:t>-For Italy, a waiver exists, but it's crucial to understand that this waiver does </a:t>
            </a:r>
            <a:r>
              <a:rPr lang="en-US" sz="1600" i="1" dirty="0"/>
              <a:t>not</a:t>
            </a:r>
            <a:r>
              <a:rPr lang="en-US" sz="1600" dirty="0"/>
              <a:t> apply to U.S. citizens, U.S. residents, or any employee hired within the United States.  Therefore, for those employees, DBA insurance remains mandatory</a:t>
            </a:r>
            <a:r>
              <a:rPr lang="en-US" dirty="0"/>
              <a:t>.</a:t>
            </a:r>
          </a:p>
        </p:txBody>
      </p:sp>
    </p:spTree>
    <p:extLst>
      <p:ext uri="{BB962C8B-B14F-4D97-AF65-F5344CB8AC3E}">
        <p14:creationId xmlns:p14="http://schemas.microsoft.com/office/powerpoint/2010/main" val="30178307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3AF0E-6B75-63EC-B897-1AADA05E1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9AD30A-C720-D1B8-C690-0638E0254B0D}"/>
              </a:ext>
            </a:extLst>
          </p:cNvPr>
          <p:cNvSpPr>
            <a:spLocks noGrp="1"/>
          </p:cNvSpPr>
          <p:nvPr>
            <p:ph type="title"/>
          </p:nvPr>
        </p:nvSpPr>
        <p:spPr>
          <a:xfrm>
            <a:off x="836761" y="104037"/>
            <a:ext cx="7955280" cy="867930"/>
          </a:xfrm>
        </p:spPr>
        <p:txBody>
          <a:bodyPr/>
          <a:lstStyle/>
          <a:p>
            <a:pPr algn="ctr"/>
            <a:r>
              <a:rPr lang="en-US" dirty="0">
                <a:solidFill>
                  <a:schemeClr val="tx1"/>
                </a:solidFill>
              </a:rPr>
              <a:t>414</a:t>
            </a:r>
            <a:r>
              <a:rPr lang="en-US" baseline="30000" dirty="0">
                <a:solidFill>
                  <a:schemeClr val="tx1"/>
                </a:solidFill>
              </a:rPr>
              <a:t>th</a:t>
            </a:r>
            <a:r>
              <a:rPr lang="en-US" dirty="0">
                <a:solidFill>
                  <a:schemeClr val="tx1"/>
                </a:solidFill>
              </a:rPr>
              <a:t> CSB - </a:t>
            </a:r>
            <a:r>
              <a:rPr lang="en-US" dirty="0">
                <a:solidFill>
                  <a:schemeClr val="tx1"/>
                </a:solidFill>
                <a:ea typeface="ＭＳ Ｐゴシック" charset="0"/>
              </a:rPr>
              <a:t>Defense Base Act (DBA) Insurance </a:t>
            </a:r>
            <a:endParaRPr lang="en-US" dirty="0">
              <a:solidFill>
                <a:schemeClr val="tx1"/>
              </a:solidFill>
            </a:endParaRPr>
          </a:p>
        </p:txBody>
      </p:sp>
      <p:sp>
        <p:nvSpPr>
          <p:cNvPr id="4" name="TextBox 3">
            <a:extLst>
              <a:ext uri="{FF2B5EF4-FFF2-40B4-BE49-F238E27FC236}">
                <a16:creationId xmlns:a16="http://schemas.microsoft.com/office/drawing/2014/main" id="{55EDD436-1BA7-4F8B-4942-BC476C3DF494}"/>
              </a:ext>
            </a:extLst>
          </p:cNvPr>
          <p:cNvSpPr txBox="1"/>
          <p:nvPr/>
        </p:nvSpPr>
        <p:spPr>
          <a:xfrm>
            <a:off x="3523475" y="6596390"/>
            <a:ext cx="2234907" cy="261610"/>
          </a:xfrm>
          <a:prstGeom prst="rect">
            <a:avLst/>
          </a:prstGeom>
          <a:noFill/>
        </p:spPr>
        <p:txBody>
          <a:bodyPr wrap="none" rtlCol="0">
            <a:spAutoFit/>
          </a:bodyPr>
          <a:lstStyle/>
          <a:p>
            <a:r>
              <a:rPr lang="en-US" sz="1100" dirty="0"/>
              <a:t>Prepared by: McNease, Matthew</a:t>
            </a:r>
          </a:p>
        </p:txBody>
      </p:sp>
      <p:sp>
        <p:nvSpPr>
          <p:cNvPr id="5" name="TextBox 4">
            <a:extLst>
              <a:ext uri="{FF2B5EF4-FFF2-40B4-BE49-F238E27FC236}">
                <a16:creationId xmlns:a16="http://schemas.microsoft.com/office/drawing/2014/main" id="{AEB71F90-91DE-A854-84ED-F66300671C83}"/>
              </a:ext>
            </a:extLst>
          </p:cNvPr>
          <p:cNvSpPr txBox="1"/>
          <p:nvPr/>
        </p:nvSpPr>
        <p:spPr>
          <a:xfrm>
            <a:off x="245890" y="1005259"/>
            <a:ext cx="8652218" cy="5078313"/>
          </a:xfrm>
          <a:prstGeom prst="rect">
            <a:avLst/>
          </a:prstGeom>
          <a:noFill/>
        </p:spPr>
        <p:txBody>
          <a:bodyPr wrap="square">
            <a:spAutoFit/>
          </a:bodyPr>
          <a:lstStyle/>
          <a:p>
            <a:r>
              <a:rPr lang="en-US" b="1" dirty="0"/>
              <a:t>Key Vendor Responsibilities</a:t>
            </a:r>
          </a:p>
          <a:p>
            <a:endParaRPr lang="en-US" b="1" dirty="0"/>
          </a:p>
          <a:p>
            <a:r>
              <a:rPr lang="en-US" dirty="0"/>
              <a:t>-Secure DBA Insurance: Before starting any work on the contract, you must obtain DBA insurance from an authorized insurance carrier. </a:t>
            </a:r>
          </a:p>
          <a:p>
            <a:endParaRPr lang="en-US" dirty="0"/>
          </a:p>
          <a:p>
            <a:r>
              <a:rPr lang="en-US" dirty="0"/>
              <a:t>-Major authorized carriers include companies like CNA, AIG, and ACE-USA. </a:t>
            </a:r>
          </a:p>
          <a:p>
            <a:endParaRPr lang="en-US" dirty="0"/>
          </a:p>
          <a:p>
            <a:r>
              <a:rPr lang="en-US" dirty="0"/>
              <a:t>-Proof of Coverage: You will be required to provide proof of DBA insurance before a Notice to Proceed (NTP) can be issued. </a:t>
            </a:r>
          </a:p>
          <a:p>
            <a:endParaRPr lang="en-US" dirty="0"/>
          </a:p>
          <a:p>
            <a:r>
              <a:rPr lang="en-US" dirty="0"/>
              <a:t>-Subcontractor Compliance: Prime contractors are responsible for ensuring that all of their subcontractors also have the required DBA insurance coverage. If a subcontractor fails to secure it, the prime contractor becomes liable. </a:t>
            </a:r>
          </a:p>
          <a:p>
            <a:endParaRPr lang="en-US" dirty="0"/>
          </a:p>
          <a:p>
            <a:r>
              <a:rPr lang="en-US" dirty="0"/>
              <a:t>-Consequences of Non-Compliance: Failure to secure and maintain DBA insurance can result in severe penalties, including fines of up to $10,000, imprisonment, and personal liability for corporate officers to pay any benefits owed to an injured employee.</a:t>
            </a:r>
          </a:p>
        </p:txBody>
      </p:sp>
    </p:spTree>
    <p:extLst>
      <p:ext uri="{BB962C8B-B14F-4D97-AF65-F5344CB8AC3E}">
        <p14:creationId xmlns:p14="http://schemas.microsoft.com/office/powerpoint/2010/main" val="25470122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F852C-9C32-498D-974B-AC25D9C4B7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93FAD1-41E4-A6D1-C7AA-F33AE93C8E65}"/>
              </a:ext>
            </a:extLst>
          </p:cNvPr>
          <p:cNvSpPr>
            <a:spLocks noGrp="1"/>
          </p:cNvSpPr>
          <p:nvPr>
            <p:ph type="title"/>
          </p:nvPr>
        </p:nvSpPr>
        <p:spPr>
          <a:xfrm>
            <a:off x="836761" y="104037"/>
            <a:ext cx="7955280" cy="1255728"/>
          </a:xfrm>
        </p:spPr>
        <p:txBody>
          <a:bodyPr/>
          <a:lstStyle/>
          <a:p>
            <a:pPr algn="ctr"/>
            <a:r>
              <a:rPr lang="en-US" dirty="0">
                <a:solidFill>
                  <a:schemeClr val="tx1"/>
                </a:solidFill>
              </a:rPr>
              <a:t>414</a:t>
            </a:r>
            <a:r>
              <a:rPr lang="en-US" baseline="30000" dirty="0">
                <a:solidFill>
                  <a:schemeClr val="tx1"/>
                </a:solidFill>
              </a:rPr>
              <a:t>th</a:t>
            </a:r>
            <a:r>
              <a:rPr lang="en-US" dirty="0">
                <a:solidFill>
                  <a:schemeClr val="tx1"/>
                </a:solidFill>
              </a:rPr>
              <a:t> CSB - Tax and </a:t>
            </a:r>
            <a:br>
              <a:rPr lang="en-US" dirty="0">
                <a:solidFill>
                  <a:schemeClr val="tx1"/>
                </a:solidFill>
              </a:rPr>
            </a:br>
            <a:r>
              <a:rPr lang="en-US" dirty="0">
                <a:solidFill>
                  <a:schemeClr val="tx1"/>
                </a:solidFill>
              </a:rPr>
              <a:t>Tax Exemptions</a:t>
            </a:r>
            <a:br>
              <a:rPr lang="en-US" sz="2400" cap="all" dirty="0">
                <a:solidFill>
                  <a:srgbClr val="000000"/>
                </a:solidFill>
                <a:ea typeface="ＭＳ Ｐゴシック" charset="0"/>
              </a:rPr>
            </a:br>
            <a:endParaRPr lang="en-US" dirty="0">
              <a:solidFill>
                <a:schemeClr val="tx1"/>
              </a:solidFill>
            </a:endParaRPr>
          </a:p>
        </p:txBody>
      </p:sp>
      <p:sp>
        <p:nvSpPr>
          <p:cNvPr id="4" name="TextBox 3">
            <a:extLst>
              <a:ext uri="{FF2B5EF4-FFF2-40B4-BE49-F238E27FC236}">
                <a16:creationId xmlns:a16="http://schemas.microsoft.com/office/drawing/2014/main" id="{8D6BF8E9-7798-325C-144D-5AF233F913E2}"/>
              </a:ext>
            </a:extLst>
          </p:cNvPr>
          <p:cNvSpPr txBox="1"/>
          <p:nvPr/>
        </p:nvSpPr>
        <p:spPr>
          <a:xfrm>
            <a:off x="3523475" y="6596390"/>
            <a:ext cx="2234907" cy="261610"/>
          </a:xfrm>
          <a:prstGeom prst="rect">
            <a:avLst/>
          </a:prstGeom>
          <a:noFill/>
        </p:spPr>
        <p:txBody>
          <a:bodyPr wrap="none" rtlCol="0">
            <a:spAutoFit/>
          </a:bodyPr>
          <a:lstStyle/>
          <a:p>
            <a:r>
              <a:rPr lang="en-US" sz="1100" dirty="0"/>
              <a:t>Prepared by: McNease, Matthew</a:t>
            </a:r>
          </a:p>
        </p:txBody>
      </p:sp>
      <p:sp>
        <p:nvSpPr>
          <p:cNvPr id="5" name="TextBox 4">
            <a:extLst>
              <a:ext uri="{FF2B5EF4-FFF2-40B4-BE49-F238E27FC236}">
                <a16:creationId xmlns:a16="http://schemas.microsoft.com/office/drawing/2014/main" id="{89A0765C-DFE6-67EA-BD88-518FBC66EC34}"/>
              </a:ext>
            </a:extLst>
          </p:cNvPr>
          <p:cNvSpPr txBox="1"/>
          <p:nvPr/>
        </p:nvSpPr>
        <p:spPr>
          <a:xfrm>
            <a:off x="836760" y="1997839"/>
            <a:ext cx="7470478" cy="2862322"/>
          </a:xfrm>
          <a:prstGeom prst="rect">
            <a:avLst/>
          </a:prstGeom>
          <a:noFill/>
        </p:spPr>
        <p:txBody>
          <a:bodyPr wrap="square">
            <a:spAutoFit/>
          </a:bodyPr>
          <a:lstStyle/>
          <a:p>
            <a:pPr marL="285750" indent="-285750">
              <a:buFont typeface="Arial" panose="020B0604020202020204" pitchFamily="34" charset="0"/>
              <a:buChar char="•"/>
              <a:defRPr/>
            </a:pPr>
            <a:r>
              <a:rPr lang="en-US" altLang="en-US" sz="1800" dirty="0">
                <a:solidFill>
                  <a:schemeClr val="tx1"/>
                </a:solidFill>
                <a:latin typeface="+mj-lt"/>
                <a:ea typeface="ＭＳ Ｐゴシック"/>
                <a:cs typeface="Arial"/>
              </a:rPr>
              <a:t>Generally, </a:t>
            </a:r>
            <a:r>
              <a:rPr lang="en-US" altLang="en-US" sz="1800" b="1" dirty="0">
                <a:solidFill>
                  <a:schemeClr val="tx1"/>
                </a:solidFill>
                <a:latin typeface="+mj-lt"/>
                <a:ea typeface="ＭＳ Ｐゴシック"/>
                <a:cs typeface="Arial"/>
              </a:rPr>
              <a:t>United States contractors </a:t>
            </a:r>
            <a:r>
              <a:rPr lang="en-US" altLang="en-US" sz="1800" dirty="0">
                <a:solidFill>
                  <a:schemeClr val="tx1"/>
                </a:solidFill>
                <a:latin typeface="+mj-lt"/>
                <a:ea typeface="ＭＳ Ｐゴシック"/>
                <a:cs typeface="Arial"/>
              </a:rPr>
              <a:t>when working solely for the purpose of supporting the U.S. Government should not be subject to any form of income or profits tax by a foreign government.</a:t>
            </a:r>
          </a:p>
          <a:p>
            <a:pPr>
              <a:buFont typeface="Wingdings" panose="05000000000000000000" pitchFamily="2" charset="2"/>
              <a:buChar char="§"/>
              <a:defRPr/>
            </a:pPr>
            <a:endParaRPr lang="en-US" altLang="en-US" sz="1800" dirty="0">
              <a:solidFill>
                <a:schemeClr val="tx1"/>
              </a:solidFill>
              <a:latin typeface="+mj-lt"/>
              <a:ea typeface="ＭＳ Ｐゴシック" panose="020B0600070205080204" pitchFamily="34" charset="-128"/>
            </a:endParaRPr>
          </a:p>
          <a:p>
            <a:pPr marL="285750" indent="-285750">
              <a:buFont typeface="Arial" panose="020B0604020202020204" pitchFamily="34" charset="0"/>
              <a:buChar char="•"/>
              <a:defRPr/>
            </a:pPr>
            <a:r>
              <a:rPr lang="en-US" altLang="en-US" sz="1800" dirty="0">
                <a:solidFill>
                  <a:schemeClr val="tx1"/>
                </a:solidFill>
                <a:latin typeface="+mj-lt"/>
                <a:ea typeface="ＭＳ Ｐゴシック"/>
                <a:cs typeface="Arial"/>
              </a:rPr>
              <a:t>Importation of articles by </a:t>
            </a:r>
            <a:r>
              <a:rPr lang="en-US" altLang="en-US" sz="1800" b="1" dirty="0">
                <a:solidFill>
                  <a:schemeClr val="tx1"/>
                </a:solidFill>
                <a:latin typeface="+mj-lt"/>
                <a:ea typeface="ＭＳ Ｐゴシック"/>
                <a:cs typeface="Arial"/>
              </a:rPr>
              <a:t>any contractors </a:t>
            </a:r>
            <a:r>
              <a:rPr lang="en-US" altLang="en-US" sz="1800" dirty="0">
                <a:solidFill>
                  <a:schemeClr val="tx1"/>
                </a:solidFill>
                <a:latin typeface="+mj-lt"/>
                <a:ea typeface="ＭＳ Ｐゴシック"/>
                <a:cs typeface="Arial"/>
              </a:rPr>
              <a:t>acting on behalf of the U.S. should be free of any import duties or taxes. </a:t>
            </a:r>
            <a:endParaRPr lang="en-US" altLang="en-US" sz="1800" dirty="0">
              <a:solidFill>
                <a:schemeClr val="tx1"/>
              </a:solidFill>
              <a:latin typeface="+mj-lt"/>
              <a:ea typeface="ＭＳ Ｐゴシック" panose="020B0600070205080204" pitchFamily="34" charset="-128"/>
            </a:endParaRPr>
          </a:p>
          <a:p>
            <a:pPr>
              <a:buFont typeface="Wingdings" panose="05000000000000000000" pitchFamily="2" charset="2"/>
              <a:buChar char="§"/>
              <a:defRPr/>
            </a:pPr>
            <a:endParaRPr lang="en-US" altLang="en-US" sz="1800" dirty="0">
              <a:solidFill>
                <a:schemeClr val="tx1"/>
              </a:solidFill>
              <a:latin typeface="+mj-lt"/>
              <a:ea typeface="ＭＳ Ｐゴシック" panose="020B0600070205080204" pitchFamily="34" charset="-128"/>
              <a:cs typeface="Arial"/>
            </a:endParaRPr>
          </a:p>
          <a:p>
            <a:pPr marL="285750" indent="-285750">
              <a:buFont typeface="Arial" panose="020B0604020202020204" pitchFamily="34" charset="0"/>
              <a:buChar char="•"/>
              <a:defRPr/>
            </a:pPr>
            <a:r>
              <a:rPr lang="en-US" altLang="en-US" sz="1800" dirty="0">
                <a:solidFill>
                  <a:schemeClr val="tx1"/>
                </a:solidFill>
                <a:latin typeface="Arial"/>
                <a:ea typeface="ＭＳ Ｐゴシック"/>
                <a:cs typeface="Arial"/>
              </a:rPr>
              <a:t>Articles and services acquired by </a:t>
            </a:r>
            <a:r>
              <a:rPr lang="en-US" altLang="en-US" sz="1800" b="1" dirty="0">
                <a:solidFill>
                  <a:schemeClr val="tx1"/>
                </a:solidFill>
                <a:latin typeface="Arial"/>
                <a:ea typeface="ＭＳ Ｐゴシック"/>
                <a:cs typeface="Arial"/>
              </a:rPr>
              <a:t>contractors acting on behalf of the U.S. </a:t>
            </a:r>
            <a:r>
              <a:rPr lang="en-US" altLang="en-US" sz="1800" dirty="0">
                <a:solidFill>
                  <a:schemeClr val="tx1"/>
                </a:solidFill>
                <a:latin typeface="Arial"/>
                <a:ea typeface="ＭＳ Ｐゴシック"/>
                <a:cs typeface="Arial"/>
              </a:rPr>
              <a:t>should not be subject to direct or indirect taxation, to include value added taxes, excise taxes, sales taxes or similar taxes. </a:t>
            </a:r>
            <a:endParaRPr lang="en-US" altLang="en-US" sz="1800" dirty="0">
              <a:solidFill>
                <a:schemeClr val="tx1"/>
              </a:solidFill>
              <a:ea typeface="ＭＳ Ｐゴシック" panose="020B0600070205080204" pitchFamily="34" charset="-128"/>
            </a:endParaRPr>
          </a:p>
        </p:txBody>
      </p:sp>
    </p:spTree>
    <p:extLst>
      <p:ext uri="{BB962C8B-B14F-4D97-AF65-F5344CB8AC3E}">
        <p14:creationId xmlns:p14="http://schemas.microsoft.com/office/powerpoint/2010/main" val="16221167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7BAE6-701E-17A9-67CC-541B8E159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0A9A35-BA45-1641-61F0-B8A0BF9164AF}"/>
              </a:ext>
            </a:extLst>
          </p:cNvPr>
          <p:cNvSpPr>
            <a:spLocks noGrp="1"/>
          </p:cNvSpPr>
          <p:nvPr>
            <p:ph type="title"/>
          </p:nvPr>
        </p:nvSpPr>
        <p:spPr>
          <a:xfrm>
            <a:off x="836761" y="104037"/>
            <a:ext cx="7955280" cy="867930"/>
          </a:xfrm>
        </p:spPr>
        <p:txBody>
          <a:bodyPr/>
          <a:lstStyle/>
          <a:p>
            <a:pPr algn="ctr"/>
            <a:r>
              <a:rPr lang="en-US" dirty="0">
                <a:solidFill>
                  <a:schemeClr val="tx1"/>
                </a:solidFill>
              </a:rPr>
              <a:t>414</a:t>
            </a:r>
            <a:r>
              <a:rPr lang="en-US" baseline="30000" dirty="0">
                <a:solidFill>
                  <a:schemeClr val="tx1"/>
                </a:solidFill>
              </a:rPr>
              <a:t>th</a:t>
            </a:r>
            <a:r>
              <a:rPr lang="en-US" dirty="0">
                <a:solidFill>
                  <a:schemeClr val="tx1"/>
                </a:solidFill>
              </a:rPr>
              <a:t> CSB</a:t>
            </a:r>
            <a:br>
              <a:rPr lang="en-US" sz="2400" cap="all" dirty="0">
                <a:solidFill>
                  <a:srgbClr val="000000"/>
                </a:solidFill>
                <a:ea typeface="ＭＳ Ｐゴシック" charset="0"/>
              </a:rPr>
            </a:br>
            <a:endParaRPr lang="en-US" dirty="0">
              <a:solidFill>
                <a:schemeClr val="tx1"/>
              </a:solidFill>
            </a:endParaRPr>
          </a:p>
        </p:txBody>
      </p:sp>
      <p:sp>
        <p:nvSpPr>
          <p:cNvPr id="4" name="TextBox 3">
            <a:extLst>
              <a:ext uri="{FF2B5EF4-FFF2-40B4-BE49-F238E27FC236}">
                <a16:creationId xmlns:a16="http://schemas.microsoft.com/office/drawing/2014/main" id="{869C5366-442A-DDF9-7AE5-D0DAEE8CB2D7}"/>
              </a:ext>
            </a:extLst>
          </p:cNvPr>
          <p:cNvSpPr txBox="1"/>
          <p:nvPr/>
        </p:nvSpPr>
        <p:spPr>
          <a:xfrm>
            <a:off x="3523475" y="6596390"/>
            <a:ext cx="2234907" cy="261610"/>
          </a:xfrm>
          <a:prstGeom prst="rect">
            <a:avLst/>
          </a:prstGeom>
          <a:noFill/>
        </p:spPr>
        <p:txBody>
          <a:bodyPr wrap="none" rtlCol="0">
            <a:spAutoFit/>
          </a:bodyPr>
          <a:lstStyle/>
          <a:p>
            <a:r>
              <a:rPr lang="en-US" sz="1100" dirty="0"/>
              <a:t>Prepared by: McNease, Matthew</a:t>
            </a:r>
          </a:p>
        </p:txBody>
      </p:sp>
      <p:sp>
        <p:nvSpPr>
          <p:cNvPr id="5" name="TextBox 4">
            <a:extLst>
              <a:ext uri="{FF2B5EF4-FFF2-40B4-BE49-F238E27FC236}">
                <a16:creationId xmlns:a16="http://schemas.microsoft.com/office/drawing/2014/main" id="{F5AAF685-0181-6DD8-6D6F-E59F0A2E368B}"/>
              </a:ext>
            </a:extLst>
          </p:cNvPr>
          <p:cNvSpPr txBox="1"/>
          <p:nvPr/>
        </p:nvSpPr>
        <p:spPr>
          <a:xfrm>
            <a:off x="3245273" y="2844225"/>
            <a:ext cx="4576438" cy="584775"/>
          </a:xfrm>
          <a:prstGeom prst="rect">
            <a:avLst/>
          </a:prstGeom>
          <a:noFill/>
        </p:spPr>
        <p:txBody>
          <a:bodyPr wrap="square">
            <a:spAutoFit/>
          </a:bodyPr>
          <a:lstStyle/>
          <a:p>
            <a:r>
              <a:rPr lang="en-US" sz="3200" b="1" dirty="0">
                <a:solidFill>
                  <a:schemeClr val="tx1"/>
                </a:solidFill>
              </a:rPr>
              <a:t>QUESTIONS?</a:t>
            </a:r>
            <a:endParaRPr lang="en-US" sz="3200" b="1" dirty="0"/>
          </a:p>
        </p:txBody>
      </p:sp>
    </p:spTree>
    <p:extLst>
      <p:ext uri="{BB962C8B-B14F-4D97-AF65-F5344CB8AC3E}">
        <p14:creationId xmlns:p14="http://schemas.microsoft.com/office/powerpoint/2010/main" val="21920110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AMC MSC Theme">
  <a:themeElements>
    <a:clrScheme name="AMC Branding">
      <a:dk1>
        <a:sysClr val="windowText" lastClr="000000"/>
      </a:dk1>
      <a:lt1>
        <a:sysClr val="window" lastClr="FFFFFF"/>
      </a:lt1>
      <a:dk2>
        <a:srgbClr val="525349"/>
      </a:dk2>
      <a:lt2>
        <a:srgbClr val="7F7F73"/>
      </a:lt2>
      <a:accent1>
        <a:srgbClr val="B8B09C"/>
      </a:accent1>
      <a:accent2>
        <a:srgbClr val="DE1F27"/>
      </a:accent2>
      <a:accent3>
        <a:srgbClr val="214292"/>
      </a:accent3>
      <a:accent4>
        <a:srgbClr val="FFC425"/>
      </a:accent4>
      <a:accent5>
        <a:srgbClr val="F26522"/>
      </a:accent5>
      <a:accent6>
        <a:srgbClr val="70AD47"/>
      </a:accent6>
      <a:hlink>
        <a:srgbClr val="0563C1"/>
      </a:hlink>
      <a:folHlink>
        <a:srgbClr val="7F3F9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233fc49-3339-4531-8895-cee7bd229291">
      <Terms xmlns="http://schemas.microsoft.com/office/infopath/2007/PartnerControls"/>
    </lcf76f155ced4ddcb4097134ff3c332f>
    <TaxCatchAll xmlns="c93905bf-b08c-430b-8630-76f4d352397a"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4DDA97709D05344805E34443243448B" ma:contentTypeVersion="18" ma:contentTypeDescription="Create a new document." ma:contentTypeScope="" ma:versionID="76a0efa52a00d33d1bd16fc1d74895a1">
  <xsd:schema xmlns:xsd="http://www.w3.org/2001/XMLSchema" xmlns:xs="http://www.w3.org/2001/XMLSchema" xmlns:p="http://schemas.microsoft.com/office/2006/metadata/properties" xmlns:ns1="http://schemas.microsoft.com/sharepoint/v3" xmlns:ns2="4233fc49-3339-4531-8895-cee7bd229291" xmlns:ns3="c93905bf-b08c-430b-8630-76f4d352397a" targetNamespace="http://schemas.microsoft.com/office/2006/metadata/properties" ma:root="true" ma:fieldsID="d3d0e3aa4c234289dd8e13e9c2b85ea5" ns1:_="" ns2:_="" ns3:_="">
    <xsd:import namespace="http://schemas.microsoft.com/sharepoint/v3"/>
    <xsd:import namespace="4233fc49-3339-4531-8895-cee7bd229291"/>
    <xsd:import namespace="c93905bf-b08c-430b-8630-76f4d352397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OCR"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1:_ip_UnifiedCompliancePolicyProperties" minOccurs="0"/>
                <xsd:element ref="ns1:_ip_UnifiedCompliancePolicyUIAction"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33fc49-3339-4531-8895-cee7bd2292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c874fec-6985-468d-9a86-0194f6fd86d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93905bf-b08c-430b-8630-76f4d352397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665ac4c-e133-47c0-b27a-172bca50b1a3}" ma:internalName="TaxCatchAll" ma:showField="CatchAllData" ma:web="c93905bf-b08c-430b-8630-76f4d352397a">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tns:customPropertyEditors xmlns:tns="http://schemas.microsoft.com/office/2006/customDocumentInformationPanel">
  <tns:showOnOpen>false</tns:showOnOpen>
  <tns:defaultPropertyEditorNamespace>Standard properties</tns:defaultPropertyEditorNamespace>
</tns:customPropertyEditors>
</file>

<file path=customXml/itemProps1.xml><?xml version="1.0" encoding="utf-8"?>
<ds:datastoreItem xmlns:ds="http://schemas.openxmlformats.org/officeDocument/2006/customXml" ds:itemID="{EE87DDFF-D288-43B3-9099-279B39DE6806}">
  <ds:schemaRefs>
    <ds:schemaRef ds:uri="http://schemas.microsoft.com/office/2006/documentManagement/types"/>
    <ds:schemaRef ds:uri="http://purl.org/dc/terms/"/>
    <ds:schemaRef ds:uri="c93905bf-b08c-430b-8630-76f4d352397a"/>
    <ds:schemaRef ds:uri="http://schemas.microsoft.com/sharepoint/v3"/>
    <ds:schemaRef ds:uri="http://schemas.microsoft.com/office/2006/metadata/properties"/>
    <ds:schemaRef ds:uri="http://www.w3.org/XML/1998/namespace"/>
    <ds:schemaRef ds:uri="http://purl.org/dc/elements/1.1/"/>
    <ds:schemaRef ds:uri="http://purl.org/dc/dcmitype/"/>
    <ds:schemaRef ds:uri="http://schemas.microsoft.com/office/infopath/2007/PartnerControls"/>
    <ds:schemaRef ds:uri="http://schemas.openxmlformats.org/package/2006/metadata/core-properties"/>
    <ds:schemaRef ds:uri="4233fc49-3339-4531-8895-cee7bd229291"/>
  </ds:schemaRefs>
</ds:datastoreItem>
</file>

<file path=customXml/itemProps2.xml><?xml version="1.0" encoding="utf-8"?>
<ds:datastoreItem xmlns:ds="http://schemas.openxmlformats.org/officeDocument/2006/customXml" ds:itemID="{58E0FB47-DDA3-4AC1-91A3-EECE36C571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233fc49-3339-4531-8895-cee7bd229291"/>
    <ds:schemaRef ds:uri="c93905bf-b08c-430b-8630-76f4d352397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C6486FF-65CB-499E-AA83-1D0A1646FE5A}">
  <ds:schemaRefs>
    <ds:schemaRef ds:uri="http://schemas.microsoft.com/sharepoint/v3/contenttype/forms"/>
  </ds:schemaRefs>
</ds:datastoreItem>
</file>

<file path=customXml/itemProps4.xml><?xml version="1.0" encoding="utf-8"?>
<ds:datastoreItem xmlns:ds="http://schemas.openxmlformats.org/officeDocument/2006/customXml" ds:itemID="{1D9B490E-0250-4FC5-A478-10AD24AAD525}">
  <ds:schemaRefs>
    <ds:schemaRef ds:uri="http://schemas.microsoft.com/office/2006/customDocumentInformationPanel"/>
  </ds:schemaRefs>
</ds:datastoreItem>
</file>

<file path=docMetadata/LabelInfo.xml><?xml version="1.0" encoding="utf-8"?>
<clbl:labelList xmlns:clbl="http://schemas.microsoft.com/office/2020/mipLabelMetadata">
  <clbl:label id="{554eecc5-e26c-4620-b240-5a8bb326c33d}" enabled="1" method="Privileged" siteId="{fae6d70f-954b-4811-92b6-0530d6f84c43}" removed="0"/>
</clbl:labelList>
</file>

<file path=docProps/app.xml><?xml version="1.0" encoding="utf-8"?>
<Properties xmlns="http://schemas.openxmlformats.org/officeDocument/2006/extended-properties" xmlns:vt="http://schemas.openxmlformats.org/officeDocument/2006/docPropsVTypes">
  <Template>Office Theme</Template>
  <TotalTime>6704</TotalTime>
  <Words>5202</Words>
  <Application>Microsoft Office PowerPoint</Application>
  <PresentationFormat>On-screen Show (4:3)</PresentationFormat>
  <Paragraphs>551</Paragraphs>
  <Slides>41</Slides>
  <Notes>41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41</vt:i4>
      </vt:variant>
    </vt:vector>
  </HeadingPairs>
  <TitlesOfParts>
    <vt:vector size="55" baseType="lpstr">
      <vt:lpstr>ＭＳ Ｐゴシック</vt:lpstr>
      <vt:lpstr>Adobe Garamond Pro</vt:lpstr>
      <vt:lpstr>Aptos</vt:lpstr>
      <vt:lpstr>Arial</vt:lpstr>
      <vt:lpstr>Arial Bold</vt:lpstr>
      <vt:lpstr>Arial-BoldMT</vt:lpstr>
      <vt:lpstr>ArialMT</vt:lpstr>
      <vt:lpstr>Calibri</vt:lpstr>
      <vt:lpstr>G.I. 530</vt:lpstr>
      <vt:lpstr>G.I. 750</vt:lpstr>
      <vt:lpstr>Google Sans Text</vt:lpstr>
      <vt:lpstr>Times New Roman</vt:lpstr>
      <vt:lpstr>Wingdings</vt:lpstr>
      <vt:lpstr>AMC MSC Theme</vt:lpstr>
      <vt:lpstr>PowerPoint Presentation</vt:lpstr>
      <vt:lpstr>PowerPoint Presentation</vt:lpstr>
      <vt:lpstr>PowerPoint Presentation</vt:lpstr>
      <vt:lpstr>PowerPoint Presentation</vt:lpstr>
      <vt:lpstr>PowerPoint Presentation</vt:lpstr>
      <vt:lpstr>PowerPoint Presentation</vt:lpstr>
      <vt:lpstr>414th CSB – JOC Award Intent / Overview</vt:lpstr>
      <vt:lpstr>JOC Benefits</vt:lpstr>
      <vt:lpstr>JOC Limitations</vt:lpstr>
      <vt:lpstr>JOC Pricing </vt:lpstr>
      <vt:lpstr>JOC Pricing Continued </vt:lpstr>
      <vt:lpstr>JOC Unit Price Book (UPB) </vt:lpstr>
      <vt:lpstr>JOC Coefficients </vt:lpstr>
      <vt:lpstr>JOC Coefficients Include:  </vt:lpstr>
      <vt:lpstr>JOC Coefficients Include:  </vt:lpstr>
      <vt:lpstr>Italy Price Schedule and Bidding Coefficients</vt:lpstr>
      <vt:lpstr>JOC Task Order Process Overview</vt:lpstr>
      <vt:lpstr>JOC Sample Task Order</vt:lpstr>
      <vt:lpstr>JOC Sample TOPR Proposal – Euros</vt:lpstr>
      <vt:lpstr>Doing Business with the 414th CSB</vt:lpstr>
      <vt:lpstr>Doing Business with the 414th CSB Part 1 (Pt. 1): Overview</vt:lpstr>
      <vt:lpstr>Doing Business with the 414th CSB (Pt. 1) Registrations &amp; ID Numbers</vt:lpstr>
      <vt:lpstr>Doing Business with the 414th CSB (Pt. 1) System for Award Management (SAM) Entity Registration</vt:lpstr>
      <vt:lpstr>Doing Business with the 414th CSB (Pt. 1) Source Selection Process Overview</vt:lpstr>
      <vt:lpstr>JOC Solicitation</vt:lpstr>
      <vt:lpstr>JOC Solicitation</vt:lpstr>
      <vt:lpstr>JOC Solicitation Understanding the Solicitation Package and Preparing the Proposal </vt:lpstr>
      <vt:lpstr>JOC Solicitation</vt:lpstr>
      <vt:lpstr>JOC Solicitation General Solicitation Information</vt:lpstr>
      <vt:lpstr>JOC Solicitation Source Selection Approach</vt:lpstr>
      <vt:lpstr>JOC Solicitation Joint Venture Agreements</vt:lpstr>
      <vt:lpstr>JOC Solicitation Joint Venture Agreements (Continued)</vt:lpstr>
      <vt:lpstr>JOC Solicitation</vt:lpstr>
      <vt:lpstr>414th CSB - U.S. Procurement Law &amp; Overseas Contracting</vt:lpstr>
      <vt:lpstr>414th CSB - U.S. Procurement Law and Regulations</vt:lpstr>
      <vt:lpstr>414th CSB - DISPUTES AND CLAIMS REGULATIONS</vt:lpstr>
      <vt:lpstr>414th CSB - Compliance with local labor laws</vt:lpstr>
      <vt:lpstr>414th CSB - Defense Base Act (DBA) Insurance </vt:lpstr>
      <vt:lpstr>414th CSB - Defense Base Act (DBA) Insurance </vt:lpstr>
      <vt:lpstr>414th CSB - Tax and  Tax Exemptions </vt:lpstr>
      <vt:lpstr>414th CSB </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AMC PowerPoint Presentation Template</dc:title>
  <dc:subject>Presentation</dc:subject>
  <dc:creator>Jones, Mark S CTR AMC</dc:creator>
  <cp:keywords>AMC  &amp; MSC PowerPoint Presentation Template</cp:keywords>
  <cp:lastModifiedBy>Anglin, Lew Bryan SSG USARMY 414 CONTR SPT BDE (USA)</cp:lastModifiedBy>
  <cp:revision>265</cp:revision>
  <cp:lastPrinted>2026-03-25T14:16:48Z</cp:lastPrinted>
  <dcterms:created xsi:type="dcterms:W3CDTF">2017-05-18T14:22:46Z</dcterms:created>
  <dcterms:modified xsi:type="dcterms:W3CDTF">2026-04-14T15:44:21Z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0x010100E4DDA97709D05344805E34443243448B</vt:lpwstr>
  </property>
  <property fmtid="{D5CDD505-2E9C-101B-9397-08002B2CF9AE}" pid="3" name="MediaServiceImageTags">
    <vt:lpwstr/>
  </property>
</Properties>
</file>