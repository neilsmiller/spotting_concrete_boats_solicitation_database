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96" r:id="rId5"/>
    <p:sldMasterId id="2147483688" r:id="rId6"/>
    <p:sldMasterId id="2147483678" r:id="rId7"/>
    <p:sldMasterId id="2147483685" r:id="rId8"/>
  </p:sldMasterIdLst>
  <p:notesMasterIdLst>
    <p:notesMasterId r:id="rId126"/>
  </p:notesMasterIdLst>
  <p:sldIdLst>
    <p:sldId id="275" r:id="rId9"/>
    <p:sldId id="286" r:id="rId10"/>
    <p:sldId id="280" r:id="rId11"/>
    <p:sldId id="287" r:id="rId12"/>
    <p:sldId id="288" r:id="rId13"/>
    <p:sldId id="289" r:id="rId14"/>
    <p:sldId id="290" r:id="rId15"/>
    <p:sldId id="291" r:id="rId16"/>
    <p:sldId id="292"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313" r:id="rId37"/>
    <p:sldId id="314" r:id="rId38"/>
    <p:sldId id="315" r:id="rId39"/>
    <p:sldId id="317" r:id="rId40"/>
    <p:sldId id="318" r:id="rId41"/>
    <p:sldId id="319" r:id="rId42"/>
    <p:sldId id="320" r:id="rId43"/>
    <p:sldId id="321" r:id="rId44"/>
    <p:sldId id="322" r:id="rId45"/>
    <p:sldId id="324" r:id="rId46"/>
    <p:sldId id="325" r:id="rId47"/>
    <p:sldId id="326" r:id="rId48"/>
    <p:sldId id="327" r:id="rId49"/>
    <p:sldId id="328" r:id="rId50"/>
    <p:sldId id="329" r:id="rId51"/>
    <p:sldId id="330" r:id="rId52"/>
    <p:sldId id="331" r:id="rId53"/>
    <p:sldId id="332" r:id="rId54"/>
    <p:sldId id="333" r:id="rId55"/>
    <p:sldId id="334" r:id="rId56"/>
    <p:sldId id="335" r:id="rId57"/>
    <p:sldId id="336" r:id="rId58"/>
    <p:sldId id="337" r:id="rId59"/>
    <p:sldId id="338" r:id="rId60"/>
    <p:sldId id="339" r:id="rId61"/>
    <p:sldId id="398" r:id="rId62"/>
    <p:sldId id="399" r:id="rId63"/>
    <p:sldId id="400" r:id="rId64"/>
    <p:sldId id="401" r:id="rId65"/>
    <p:sldId id="402" r:id="rId66"/>
    <p:sldId id="404" r:id="rId67"/>
    <p:sldId id="405" r:id="rId68"/>
    <p:sldId id="406" r:id="rId69"/>
    <p:sldId id="407" r:id="rId70"/>
    <p:sldId id="408" r:id="rId71"/>
    <p:sldId id="409" r:id="rId72"/>
    <p:sldId id="340" r:id="rId73"/>
    <p:sldId id="341" r:id="rId74"/>
    <p:sldId id="342" r:id="rId75"/>
    <p:sldId id="343" r:id="rId76"/>
    <p:sldId id="344" r:id="rId77"/>
    <p:sldId id="345" r:id="rId78"/>
    <p:sldId id="346" r:id="rId79"/>
    <p:sldId id="347" r:id="rId80"/>
    <p:sldId id="348" r:id="rId81"/>
    <p:sldId id="349" r:id="rId82"/>
    <p:sldId id="350" r:id="rId83"/>
    <p:sldId id="351" r:id="rId84"/>
    <p:sldId id="352" r:id="rId85"/>
    <p:sldId id="353" r:id="rId86"/>
    <p:sldId id="370" r:id="rId87"/>
    <p:sldId id="354" r:id="rId88"/>
    <p:sldId id="371" r:id="rId89"/>
    <p:sldId id="355" r:id="rId90"/>
    <p:sldId id="356" r:id="rId91"/>
    <p:sldId id="357" r:id="rId92"/>
    <p:sldId id="372" r:id="rId93"/>
    <p:sldId id="358" r:id="rId94"/>
    <p:sldId id="367" r:id="rId95"/>
    <p:sldId id="360" r:id="rId96"/>
    <p:sldId id="361" r:id="rId97"/>
    <p:sldId id="368" r:id="rId98"/>
    <p:sldId id="373" r:id="rId99"/>
    <p:sldId id="363" r:id="rId100"/>
    <p:sldId id="374" r:id="rId101"/>
    <p:sldId id="375" r:id="rId102"/>
    <p:sldId id="376" r:id="rId103"/>
    <p:sldId id="364" r:id="rId104"/>
    <p:sldId id="366" r:id="rId105"/>
    <p:sldId id="377" r:id="rId106"/>
    <p:sldId id="378" r:id="rId107"/>
    <p:sldId id="379" r:id="rId108"/>
    <p:sldId id="380" r:id="rId109"/>
    <p:sldId id="381" r:id="rId110"/>
    <p:sldId id="382" r:id="rId111"/>
    <p:sldId id="383" r:id="rId112"/>
    <p:sldId id="384" r:id="rId113"/>
    <p:sldId id="385" r:id="rId114"/>
    <p:sldId id="387" r:id="rId115"/>
    <p:sldId id="386" r:id="rId116"/>
    <p:sldId id="391" r:id="rId117"/>
    <p:sldId id="390" r:id="rId118"/>
    <p:sldId id="388" r:id="rId119"/>
    <p:sldId id="392" r:id="rId120"/>
    <p:sldId id="393" r:id="rId121"/>
    <p:sldId id="395" r:id="rId122"/>
    <p:sldId id="396" r:id="rId123"/>
    <p:sldId id="397" r:id="rId124"/>
    <p:sldId id="278" r:id="rId125"/>
  </p:sldIdLst>
  <p:sldSz cx="10363200" cy="777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6B5978F-34C5-26D8-0DBF-AFF1EA659624}" name="Lesh, Scott W CIV DLA DISTRIBUTION (USA)" initials="SL" userId="S::Scott.Lesh@dla.mil::0c9cfad3-ad26-4915-9a20-349a9f5c6ff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71610"/>
    <a:srgbClr val="00B050"/>
    <a:srgbClr val="00A44A"/>
    <a:srgbClr val="C9AD62"/>
    <a:srgbClr val="2548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9" autoAdjust="0"/>
    <p:restoredTop sz="86483" autoAdjust="0"/>
  </p:normalViewPr>
  <p:slideViewPr>
    <p:cSldViewPr snapToGrid="0">
      <p:cViewPr varScale="1">
        <p:scale>
          <a:sx n="80" d="100"/>
          <a:sy n="80" d="100"/>
        </p:scale>
        <p:origin x="1560" y="9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09.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12" Type="http://schemas.openxmlformats.org/officeDocument/2006/relationships/slide" Target="slides/slide104.xml"/><Relationship Id="rId16" Type="http://schemas.openxmlformats.org/officeDocument/2006/relationships/slide" Target="slides/slide8.xml"/><Relationship Id="rId107" Type="http://schemas.openxmlformats.org/officeDocument/2006/relationships/slide" Target="slides/slide99.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openxmlformats.org/officeDocument/2006/relationships/slide" Target="slides/slide94.xml"/><Relationship Id="rId123" Type="http://schemas.openxmlformats.org/officeDocument/2006/relationships/slide" Target="slides/slide115.xml"/><Relationship Id="rId128" Type="http://schemas.openxmlformats.org/officeDocument/2006/relationships/viewProps" Target="viewProps.xml"/><Relationship Id="rId5" Type="http://schemas.openxmlformats.org/officeDocument/2006/relationships/slideMaster" Target="slideMasters/slideMaster2.xml"/><Relationship Id="rId90" Type="http://schemas.openxmlformats.org/officeDocument/2006/relationships/slide" Target="slides/slide82.xml"/><Relationship Id="rId95" Type="http://schemas.openxmlformats.org/officeDocument/2006/relationships/slide" Target="slides/slide87.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113" Type="http://schemas.openxmlformats.org/officeDocument/2006/relationships/slide" Target="slides/slide105.xml"/><Relationship Id="rId118" Type="http://schemas.openxmlformats.org/officeDocument/2006/relationships/slide" Target="slides/slide110.xml"/><Relationship Id="rId80" Type="http://schemas.openxmlformats.org/officeDocument/2006/relationships/slide" Target="slides/slide72.xml"/><Relationship Id="rId85" Type="http://schemas.openxmlformats.org/officeDocument/2006/relationships/slide" Target="slides/slide77.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slide" Target="slides/slide25.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08" Type="http://schemas.openxmlformats.org/officeDocument/2006/relationships/slide" Target="slides/slide100.xml"/><Relationship Id="rId124" Type="http://schemas.openxmlformats.org/officeDocument/2006/relationships/slide" Target="slides/slide116.xml"/><Relationship Id="rId129" Type="http://schemas.openxmlformats.org/officeDocument/2006/relationships/theme" Target="theme/theme1.xml"/><Relationship Id="rId54" Type="http://schemas.openxmlformats.org/officeDocument/2006/relationships/slide" Target="slides/slide46.xml"/><Relationship Id="rId70" Type="http://schemas.openxmlformats.org/officeDocument/2006/relationships/slide" Target="slides/slide62.xml"/><Relationship Id="rId75" Type="http://schemas.openxmlformats.org/officeDocument/2006/relationships/slide" Target="slides/slide67.xml"/><Relationship Id="rId91" Type="http://schemas.openxmlformats.org/officeDocument/2006/relationships/slide" Target="slides/slide83.xml"/><Relationship Id="rId96" Type="http://schemas.openxmlformats.org/officeDocument/2006/relationships/slide" Target="slides/slide88.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5.xml"/><Relationship Id="rId28" Type="http://schemas.openxmlformats.org/officeDocument/2006/relationships/slide" Target="slides/slide20.xml"/><Relationship Id="rId49" Type="http://schemas.openxmlformats.org/officeDocument/2006/relationships/slide" Target="slides/slide41.xml"/><Relationship Id="rId114" Type="http://schemas.openxmlformats.org/officeDocument/2006/relationships/slide" Target="slides/slide106.xml"/><Relationship Id="rId119" Type="http://schemas.openxmlformats.org/officeDocument/2006/relationships/slide" Target="slides/slide111.xml"/><Relationship Id="rId44" Type="http://schemas.openxmlformats.org/officeDocument/2006/relationships/slide" Target="slides/slide36.xml"/><Relationship Id="rId60" Type="http://schemas.openxmlformats.org/officeDocument/2006/relationships/slide" Target="slides/slide52.xml"/><Relationship Id="rId65" Type="http://schemas.openxmlformats.org/officeDocument/2006/relationships/slide" Target="slides/slide57.xml"/><Relationship Id="rId81" Type="http://schemas.openxmlformats.org/officeDocument/2006/relationships/slide" Target="slides/slide73.xml"/><Relationship Id="rId86" Type="http://schemas.openxmlformats.org/officeDocument/2006/relationships/slide" Target="slides/slide78.xml"/><Relationship Id="rId130" Type="http://schemas.openxmlformats.org/officeDocument/2006/relationships/tableStyles" Target="tableStyles.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slide" Target="slides/slide10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120" Type="http://schemas.openxmlformats.org/officeDocument/2006/relationships/slide" Target="slides/slide112.xml"/><Relationship Id="rId125" Type="http://schemas.openxmlformats.org/officeDocument/2006/relationships/slide" Target="slides/slide117.xml"/><Relationship Id="rId7" Type="http://schemas.openxmlformats.org/officeDocument/2006/relationships/slideMaster" Target="slideMasters/slideMaster4.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customXml" Target="../customXml/item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slide" Target="slides/slide102.xml"/><Relationship Id="rId115" Type="http://schemas.openxmlformats.org/officeDocument/2006/relationships/slide" Target="slides/slide107.xml"/><Relationship Id="rId131" Type="http://schemas.microsoft.com/office/2018/10/relationships/authors" Target="authors.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126"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121" Type="http://schemas.openxmlformats.org/officeDocument/2006/relationships/slide" Target="slides/slide113.xml"/><Relationship Id="rId3" Type="http://schemas.openxmlformats.org/officeDocument/2006/relationships/customXml" Target="../customXml/item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116" Type="http://schemas.openxmlformats.org/officeDocument/2006/relationships/slide" Target="slides/slide108.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 Id="rId111" Type="http://schemas.openxmlformats.org/officeDocument/2006/relationships/slide" Target="slides/slide103.xml"/><Relationship Id="rId15" Type="http://schemas.openxmlformats.org/officeDocument/2006/relationships/slide" Target="slides/slide7.xml"/><Relationship Id="rId36" Type="http://schemas.openxmlformats.org/officeDocument/2006/relationships/slide" Target="slides/slide28.xml"/><Relationship Id="rId57" Type="http://schemas.openxmlformats.org/officeDocument/2006/relationships/slide" Target="slides/slide49.xml"/><Relationship Id="rId106" Type="http://schemas.openxmlformats.org/officeDocument/2006/relationships/slide" Target="slides/slide98.xml"/><Relationship Id="rId127" Type="http://schemas.openxmlformats.org/officeDocument/2006/relationships/presProps" Target="presProps.xml"/><Relationship Id="rId10" Type="http://schemas.openxmlformats.org/officeDocument/2006/relationships/slide" Target="slides/slide2.xml"/><Relationship Id="rId31" Type="http://schemas.openxmlformats.org/officeDocument/2006/relationships/slide" Target="slides/slide23.xml"/><Relationship Id="rId52" Type="http://schemas.openxmlformats.org/officeDocument/2006/relationships/slide" Target="slides/slide44.xml"/><Relationship Id="rId73" Type="http://schemas.openxmlformats.org/officeDocument/2006/relationships/slide" Target="slides/slide65.xml"/><Relationship Id="rId78" Type="http://schemas.openxmlformats.org/officeDocument/2006/relationships/slide" Target="slides/slide70.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122" Type="http://schemas.openxmlformats.org/officeDocument/2006/relationships/slide" Target="slides/slide114.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8D332-43D0-4B20-A9BF-F1DE1F6D7807}" type="datetimeFigureOut">
              <a:rPr lang="en-US" smtClean="0"/>
              <a:t>5/15/2025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41FD76-DE94-4153-B3FD-B67D6D978815}" type="slidenum">
              <a:rPr lang="en-US" smtClean="0"/>
              <a:t>‹#›</a:t>
            </a:fld>
            <a:endParaRPr lang="en-US"/>
          </a:p>
        </p:txBody>
      </p:sp>
    </p:spTree>
    <p:extLst>
      <p:ext uri="{BB962C8B-B14F-4D97-AF65-F5344CB8AC3E}">
        <p14:creationId xmlns:p14="http://schemas.microsoft.com/office/powerpoint/2010/main" val="2949481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41FD76-DE94-4153-B3FD-B67D6D978815}" type="slidenum">
              <a:rPr lang="en-US" smtClean="0"/>
              <a:t>11</a:t>
            </a:fld>
            <a:endParaRPr lang="en-US"/>
          </a:p>
        </p:txBody>
      </p:sp>
    </p:spTree>
    <p:extLst>
      <p:ext uri="{BB962C8B-B14F-4D97-AF65-F5344CB8AC3E}">
        <p14:creationId xmlns:p14="http://schemas.microsoft.com/office/powerpoint/2010/main" val="57839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C60D7-0FBF-3740-8764-B383B8736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47F344-6053-D184-3C84-1072119C9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A8FB02-49CD-8515-1A8A-6158E2C837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D21D9E-54F2-4632-BB87-859E84E69A38}"/>
              </a:ext>
            </a:extLst>
          </p:cNvPr>
          <p:cNvSpPr>
            <a:spLocks noGrp="1"/>
          </p:cNvSpPr>
          <p:nvPr>
            <p:ph type="sldNum" sz="quarter" idx="5"/>
          </p:nvPr>
        </p:nvSpPr>
        <p:spPr/>
        <p:txBody>
          <a:bodyPr/>
          <a:lstStyle/>
          <a:p>
            <a:fld id="{6441FD76-DE94-4153-B3FD-B67D6D978815}" type="slidenum">
              <a:rPr lang="en-US" smtClean="0"/>
              <a:t>12</a:t>
            </a:fld>
            <a:endParaRPr lang="en-US"/>
          </a:p>
        </p:txBody>
      </p:sp>
    </p:spTree>
    <p:extLst>
      <p:ext uri="{BB962C8B-B14F-4D97-AF65-F5344CB8AC3E}">
        <p14:creationId xmlns:p14="http://schemas.microsoft.com/office/powerpoint/2010/main" val="1733259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01E19-9526-0256-558E-F880820F8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056735-BB5E-A5E5-3CE0-70B7A590DE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8B64B5-19E1-C127-A9F1-673DDFB23D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FF7E56-F5B0-1308-A2C9-20F412E6062D}"/>
              </a:ext>
            </a:extLst>
          </p:cNvPr>
          <p:cNvSpPr>
            <a:spLocks noGrp="1"/>
          </p:cNvSpPr>
          <p:nvPr>
            <p:ph type="sldNum" sz="quarter" idx="5"/>
          </p:nvPr>
        </p:nvSpPr>
        <p:spPr/>
        <p:txBody>
          <a:bodyPr/>
          <a:lstStyle/>
          <a:p>
            <a:fld id="{6441FD76-DE94-4153-B3FD-B67D6D978815}" type="slidenum">
              <a:rPr lang="en-US" smtClean="0"/>
              <a:t>13</a:t>
            </a:fld>
            <a:endParaRPr lang="en-US"/>
          </a:p>
        </p:txBody>
      </p:sp>
    </p:spTree>
    <p:extLst>
      <p:ext uri="{BB962C8B-B14F-4D97-AF65-F5344CB8AC3E}">
        <p14:creationId xmlns:p14="http://schemas.microsoft.com/office/powerpoint/2010/main" val="3629722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1798A-5907-79A2-28E9-0D77292D7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02114-4077-ABEF-8CB4-893498F50C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A797AE-CA99-4AD7-F88F-357FF3CC39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336A62-F473-70EC-FD1E-64FF95F099DA}"/>
              </a:ext>
            </a:extLst>
          </p:cNvPr>
          <p:cNvSpPr>
            <a:spLocks noGrp="1"/>
          </p:cNvSpPr>
          <p:nvPr>
            <p:ph type="sldNum" sz="quarter" idx="5"/>
          </p:nvPr>
        </p:nvSpPr>
        <p:spPr/>
        <p:txBody>
          <a:bodyPr/>
          <a:lstStyle/>
          <a:p>
            <a:fld id="{6441FD76-DE94-4153-B3FD-B67D6D978815}" type="slidenum">
              <a:rPr lang="en-US" smtClean="0"/>
              <a:t>14</a:t>
            </a:fld>
            <a:endParaRPr lang="en-US"/>
          </a:p>
        </p:txBody>
      </p:sp>
    </p:spTree>
    <p:extLst>
      <p:ext uri="{BB962C8B-B14F-4D97-AF65-F5344CB8AC3E}">
        <p14:creationId xmlns:p14="http://schemas.microsoft.com/office/powerpoint/2010/main" val="2389583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8FCD0-EC6B-4A23-FF43-10973D4295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1EE82F-4E6A-2E96-67AF-C2F5F72903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F800E-C319-8E5A-A3B1-FC26578002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3E8EBF-FB13-F464-FF14-3BE5C4D1B1CA}"/>
              </a:ext>
            </a:extLst>
          </p:cNvPr>
          <p:cNvSpPr>
            <a:spLocks noGrp="1"/>
          </p:cNvSpPr>
          <p:nvPr>
            <p:ph type="sldNum" sz="quarter" idx="5"/>
          </p:nvPr>
        </p:nvSpPr>
        <p:spPr/>
        <p:txBody>
          <a:bodyPr/>
          <a:lstStyle/>
          <a:p>
            <a:fld id="{6441FD76-DE94-4153-B3FD-B67D6D978815}" type="slidenum">
              <a:rPr lang="en-US" smtClean="0"/>
              <a:t>15</a:t>
            </a:fld>
            <a:endParaRPr lang="en-US"/>
          </a:p>
        </p:txBody>
      </p:sp>
    </p:spTree>
    <p:extLst>
      <p:ext uri="{BB962C8B-B14F-4D97-AF65-F5344CB8AC3E}">
        <p14:creationId xmlns:p14="http://schemas.microsoft.com/office/powerpoint/2010/main" val="260221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F14D9-E736-0390-C645-BFB1B23BCE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046B4A-AB1E-6EFB-0317-89653F2AE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CCDDEE-EB2A-34B7-C6BD-151B6FAA87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F6EBC6-5A08-04EC-4283-B4E17F9D99ED}"/>
              </a:ext>
            </a:extLst>
          </p:cNvPr>
          <p:cNvSpPr>
            <a:spLocks noGrp="1"/>
          </p:cNvSpPr>
          <p:nvPr>
            <p:ph type="sldNum" sz="quarter" idx="5"/>
          </p:nvPr>
        </p:nvSpPr>
        <p:spPr/>
        <p:txBody>
          <a:bodyPr/>
          <a:lstStyle/>
          <a:p>
            <a:fld id="{6441FD76-DE94-4153-B3FD-B67D6D978815}" type="slidenum">
              <a:rPr lang="en-US" smtClean="0"/>
              <a:t>16</a:t>
            </a:fld>
            <a:endParaRPr lang="en-US"/>
          </a:p>
        </p:txBody>
      </p:sp>
    </p:spTree>
    <p:extLst>
      <p:ext uri="{BB962C8B-B14F-4D97-AF65-F5344CB8AC3E}">
        <p14:creationId xmlns:p14="http://schemas.microsoft.com/office/powerpoint/2010/main" val="1743419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26E36-2935-EED2-D7F2-784E63D82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71503-6673-2BFA-63CC-9B8AD48F47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1AF389-4727-5BAE-BA50-ED6ABC99C9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495EA4-4F95-F0CD-E791-3D8D072CD627}"/>
              </a:ext>
            </a:extLst>
          </p:cNvPr>
          <p:cNvSpPr>
            <a:spLocks noGrp="1"/>
          </p:cNvSpPr>
          <p:nvPr>
            <p:ph type="sldNum" sz="quarter" idx="5"/>
          </p:nvPr>
        </p:nvSpPr>
        <p:spPr/>
        <p:txBody>
          <a:bodyPr/>
          <a:lstStyle/>
          <a:p>
            <a:fld id="{6441FD76-DE94-4153-B3FD-B67D6D978815}" type="slidenum">
              <a:rPr lang="en-US" smtClean="0"/>
              <a:t>17</a:t>
            </a:fld>
            <a:endParaRPr lang="en-US"/>
          </a:p>
        </p:txBody>
      </p:sp>
    </p:spTree>
    <p:extLst>
      <p:ext uri="{BB962C8B-B14F-4D97-AF65-F5344CB8AC3E}">
        <p14:creationId xmlns:p14="http://schemas.microsoft.com/office/powerpoint/2010/main" val="3491342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727B1-559A-C92A-7D40-C3B302633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6C152-A769-8195-AA9C-79DE05C2C2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52588-A89E-0C8C-9FDE-19B4BBCAB3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AAD1AD-5F76-FEB6-C83B-2C5121E69EC3}"/>
              </a:ext>
            </a:extLst>
          </p:cNvPr>
          <p:cNvSpPr>
            <a:spLocks noGrp="1"/>
          </p:cNvSpPr>
          <p:nvPr>
            <p:ph type="sldNum" sz="quarter" idx="5"/>
          </p:nvPr>
        </p:nvSpPr>
        <p:spPr/>
        <p:txBody>
          <a:bodyPr/>
          <a:lstStyle/>
          <a:p>
            <a:fld id="{6441FD76-DE94-4153-B3FD-B67D6D978815}" type="slidenum">
              <a:rPr lang="en-US" smtClean="0"/>
              <a:t>18</a:t>
            </a:fld>
            <a:endParaRPr lang="en-US"/>
          </a:p>
        </p:txBody>
      </p:sp>
    </p:spTree>
    <p:extLst>
      <p:ext uri="{BB962C8B-B14F-4D97-AF65-F5344CB8AC3E}">
        <p14:creationId xmlns:p14="http://schemas.microsoft.com/office/powerpoint/2010/main" val="2532039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5530B-25EA-DFF3-798D-4E3599BB98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7F9E4-5FC9-1307-08ED-1F5AFC6080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CDF5E2-A70A-7D72-9F04-4AEE94AC79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68AE4E-566C-F340-1E19-3F93B50961A9}"/>
              </a:ext>
            </a:extLst>
          </p:cNvPr>
          <p:cNvSpPr>
            <a:spLocks noGrp="1"/>
          </p:cNvSpPr>
          <p:nvPr>
            <p:ph type="sldNum" sz="quarter" idx="5"/>
          </p:nvPr>
        </p:nvSpPr>
        <p:spPr/>
        <p:txBody>
          <a:bodyPr/>
          <a:lstStyle/>
          <a:p>
            <a:fld id="{6441FD76-DE94-4153-B3FD-B67D6D978815}" type="slidenum">
              <a:rPr lang="en-US" smtClean="0"/>
              <a:t>19</a:t>
            </a:fld>
            <a:endParaRPr lang="en-US"/>
          </a:p>
        </p:txBody>
      </p:sp>
    </p:spTree>
    <p:extLst>
      <p:ext uri="{BB962C8B-B14F-4D97-AF65-F5344CB8AC3E}">
        <p14:creationId xmlns:p14="http://schemas.microsoft.com/office/powerpoint/2010/main" val="804862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3793A-1620-C8F6-68EA-27B8D22AD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A4137-7496-00A0-1590-DEDA37028F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E7BABB-654B-B037-17DD-DF41F63CCE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22373E-0FCB-F57C-B7CE-C3DBBA9986A5}"/>
              </a:ext>
            </a:extLst>
          </p:cNvPr>
          <p:cNvSpPr>
            <a:spLocks noGrp="1"/>
          </p:cNvSpPr>
          <p:nvPr>
            <p:ph type="sldNum" sz="quarter" idx="5"/>
          </p:nvPr>
        </p:nvSpPr>
        <p:spPr/>
        <p:txBody>
          <a:bodyPr/>
          <a:lstStyle/>
          <a:p>
            <a:fld id="{6441FD76-DE94-4153-B3FD-B67D6D978815}" type="slidenum">
              <a:rPr lang="en-US" smtClean="0"/>
              <a:t>20</a:t>
            </a:fld>
            <a:endParaRPr lang="en-US"/>
          </a:p>
        </p:txBody>
      </p:sp>
    </p:spTree>
    <p:extLst>
      <p:ext uri="{BB962C8B-B14F-4D97-AF65-F5344CB8AC3E}">
        <p14:creationId xmlns:p14="http://schemas.microsoft.com/office/powerpoint/2010/main" val="2685415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22B46-D42C-C971-B410-C8D3D86C4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0956A-0C7D-5964-4693-CE1FE63F31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8E0757-B1E9-A016-84B9-6BAA7E1B07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24D31A-6B71-F8B9-94FB-F23ED9E744D6}"/>
              </a:ext>
            </a:extLst>
          </p:cNvPr>
          <p:cNvSpPr>
            <a:spLocks noGrp="1"/>
          </p:cNvSpPr>
          <p:nvPr>
            <p:ph type="sldNum" sz="quarter" idx="5"/>
          </p:nvPr>
        </p:nvSpPr>
        <p:spPr/>
        <p:txBody>
          <a:bodyPr/>
          <a:lstStyle/>
          <a:p>
            <a:fld id="{6441FD76-DE94-4153-B3FD-B67D6D978815}" type="slidenum">
              <a:rPr lang="en-US" smtClean="0"/>
              <a:t>21</a:t>
            </a:fld>
            <a:endParaRPr lang="en-US"/>
          </a:p>
        </p:txBody>
      </p:sp>
    </p:spTree>
    <p:extLst>
      <p:ext uri="{BB962C8B-B14F-4D97-AF65-F5344CB8AC3E}">
        <p14:creationId xmlns:p14="http://schemas.microsoft.com/office/powerpoint/2010/main" val="1558955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54DBE-33BA-1F97-9DB3-A3EA6AC36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CA80D-CC13-2E3E-A2DF-3E1A8AA046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42E01E-FBAA-CD3E-59D1-45B12B7B07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8AD3E5-6CDA-809C-146A-9FB44E531EAF}"/>
              </a:ext>
            </a:extLst>
          </p:cNvPr>
          <p:cNvSpPr>
            <a:spLocks noGrp="1"/>
          </p:cNvSpPr>
          <p:nvPr>
            <p:ph type="sldNum" sz="quarter" idx="5"/>
          </p:nvPr>
        </p:nvSpPr>
        <p:spPr/>
        <p:txBody>
          <a:bodyPr/>
          <a:lstStyle/>
          <a:p>
            <a:fld id="{6441FD76-DE94-4153-B3FD-B67D6D978815}" type="slidenum">
              <a:rPr lang="en-US" smtClean="0"/>
              <a:t>22</a:t>
            </a:fld>
            <a:endParaRPr lang="en-US"/>
          </a:p>
        </p:txBody>
      </p:sp>
    </p:spTree>
    <p:extLst>
      <p:ext uri="{BB962C8B-B14F-4D97-AF65-F5344CB8AC3E}">
        <p14:creationId xmlns:p14="http://schemas.microsoft.com/office/powerpoint/2010/main" val="42103091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7A092-22C6-4BFB-9BE7-6F369F3D1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16709-10CF-7631-1CC3-E7C5809999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9E2C39-D331-13D2-9C7F-2B5315945A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824514-796C-DA91-3603-26329FE22B43}"/>
              </a:ext>
            </a:extLst>
          </p:cNvPr>
          <p:cNvSpPr>
            <a:spLocks noGrp="1"/>
          </p:cNvSpPr>
          <p:nvPr>
            <p:ph type="sldNum" sz="quarter" idx="5"/>
          </p:nvPr>
        </p:nvSpPr>
        <p:spPr/>
        <p:txBody>
          <a:bodyPr/>
          <a:lstStyle/>
          <a:p>
            <a:fld id="{6441FD76-DE94-4153-B3FD-B67D6D978815}" type="slidenum">
              <a:rPr lang="en-US" smtClean="0"/>
              <a:t>23</a:t>
            </a:fld>
            <a:endParaRPr lang="en-US"/>
          </a:p>
        </p:txBody>
      </p:sp>
    </p:spTree>
    <p:extLst>
      <p:ext uri="{BB962C8B-B14F-4D97-AF65-F5344CB8AC3E}">
        <p14:creationId xmlns:p14="http://schemas.microsoft.com/office/powerpoint/2010/main" val="17376853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412B7-7DF1-EAF6-15CC-8DC443EBAF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5D631-5D90-8364-393E-6C6E864FC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14F89E-5085-6010-C6AD-46DB8D4399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D14418-BA26-B16C-46AF-8B93140F76E5}"/>
              </a:ext>
            </a:extLst>
          </p:cNvPr>
          <p:cNvSpPr>
            <a:spLocks noGrp="1"/>
          </p:cNvSpPr>
          <p:nvPr>
            <p:ph type="sldNum" sz="quarter" idx="5"/>
          </p:nvPr>
        </p:nvSpPr>
        <p:spPr/>
        <p:txBody>
          <a:bodyPr/>
          <a:lstStyle/>
          <a:p>
            <a:fld id="{6441FD76-DE94-4153-B3FD-B67D6D978815}" type="slidenum">
              <a:rPr lang="en-US" smtClean="0"/>
              <a:t>24</a:t>
            </a:fld>
            <a:endParaRPr lang="en-US"/>
          </a:p>
        </p:txBody>
      </p:sp>
    </p:spTree>
    <p:extLst>
      <p:ext uri="{BB962C8B-B14F-4D97-AF65-F5344CB8AC3E}">
        <p14:creationId xmlns:p14="http://schemas.microsoft.com/office/powerpoint/2010/main" val="35795077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DB427-8BFE-1305-BF80-E8D72305E0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90EC30-3910-A988-4183-D5D8E67DA7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8A9AC-A6A4-D696-FEEF-CD755640AD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297381-CD22-E0FC-FAF2-AD93C36E6E70}"/>
              </a:ext>
            </a:extLst>
          </p:cNvPr>
          <p:cNvSpPr>
            <a:spLocks noGrp="1"/>
          </p:cNvSpPr>
          <p:nvPr>
            <p:ph type="sldNum" sz="quarter" idx="5"/>
          </p:nvPr>
        </p:nvSpPr>
        <p:spPr/>
        <p:txBody>
          <a:bodyPr/>
          <a:lstStyle/>
          <a:p>
            <a:fld id="{6441FD76-DE94-4153-B3FD-B67D6D978815}" type="slidenum">
              <a:rPr lang="en-US" smtClean="0"/>
              <a:t>25</a:t>
            </a:fld>
            <a:endParaRPr lang="en-US"/>
          </a:p>
        </p:txBody>
      </p:sp>
    </p:spTree>
    <p:extLst>
      <p:ext uri="{BB962C8B-B14F-4D97-AF65-F5344CB8AC3E}">
        <p14:creationId xmlns:p14="http://schemas.microsoft.com/office/powerpoint/2010/main" val="3340639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6AB26-F239-6277-5836-EA6BACEF1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8FDFB-37B5-BC15-C53C-32F92A8D5E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D6151-A5DD-C768-1CA1-50C6027242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3B2875-DFF9-9C5F-F8D9-E9CC6D383CDE}"/>
              </a:ext>
            </a:extLst>
          </p:cNvPr>
          <p:cNvSpPr>
            <a:spLocks noGrp="1"/>
          </p:cNvSpPr>
          <p:nvPr>
            <p:ph type="sldNum" sz="quarter" idx="5"/>
          </p:nvPr>
        </p:nvSpPr>
        <p:spPr/>
        <p:txBody>
          <a:bodyPr/>
          <a:lstStyle/>
          <a:p>
            <a:fld id="{6441FD76-DE94-4153-B3FD-B67D6D978815}" type="slidenum">
              <a:rPr lang="en-US" smtClean="0"/>
              <a:t>26</a:t>
            </a:fld>
            <a:endParaRPr lang="en-US"/>
          </a:p>
        </p:txBody>
      </p:sp>
    </p:spTree>
    <p:extLst>
      <p:ext uri="{BB962C8B-B14F-4D97-AF65-F5344CB8AC3E}">
        <p14:creationId xmlns:p14="http://schemas.microsoft.com/office/powerpoint/2010/main" val="28322448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1BDE9-58CE-4B8D-4C2C-056B8DC365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BFF64-6559-D3D1-DD46-D77924CE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5F3D9-0540-DEA5-C7FE-76427120B3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806B9A-5471-35D0-DA93-83FE261BBA16}"/>
              </a:ext>
            </a:extLst>
          </p:cNvPr>
          <p:cNvSpPr>
            <a:spLocks noGrp="1"/>
          </p:cNvSpPr>
          <p:nvPr>
            <p:ph type="sldNum" sz="quarter" idx="5"/>
          </p:nvPr>
        </p:nvSpPr>
        <p:spPr/>
        <p:txBody>
          <a:bodyPr/>
          <a:lstStyle/>
          <a:p>
            <a:fld id="{6441FD76-DE94-4153-B3FD-B67D6D978815}" type="slidenum">
              <a:rPr lang="en-US" smtClean="0"/>
              <a:t>27</a:t>
            </a:fld>
            <a:endParaRPr lang="en-US"/>
          </a:p>
        </p:txBody>
      </p:sp>
    </p:spTree>
    <p:extLst>
      <p:ext uri="{BB962C8B-B14F-4D97-AF65-F5344CB8AC3E}">
        <p14:creationId xmlns:p14="http://schemas.microsoft.com/office/powerpoint/2010/main" val="38310451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C2823-CD93-0F62-ECB8-00272FC0A2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A0B5F-B46F-7F0F-5761-A45A8F562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22BECA-451A-3E93-6F54-AB8EA155C7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AA7551-7816-2C56-90CC-F058F791F761}"/>
              </a:ext>
            </a:extLst>
          </p:cNvPr>
          <p:cNvSpPr>
            <a:spLocks noGrp="1"/>
          </p:cNvSpPr>
          <p:nvPr>
            <p:ph type="sldNum" sz="quarter" idx="5"/>
          </p:nvPr>
        </p:nvSpPr>
        <p:spPr/>
        <p:txBody>
          <a:bodyPr/>
          <a:lstStyle/>
          <a:p>
            <a:fld id="{6441FD76-DE94-4153-B3FD-B67D6D978815}" type="slidenum">
              <a:rPr lang="en-US" smtClean="0"/>
              <a:t>28</a:t>
            </a:fld>
            <a:endParaRPr lang="en-US"/>
          </a:p>
        </p:txBody>
      </p:sp>
    </p:spTree>
    <p:extLst>
      <p:ext uri="{BB962C8B-B14F-4D97-AF65-F5344CB8AC3E}">
        <p14:creationId xmlns:p14="http://schemas.microsoft.com/office/powerpoint/2010/main" val="637967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3E765-8B80-9EE0-DEAC-81D7DF56CB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2CFE8-D838-D4F7-BB1B-CD604C100B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49D47-8B10-D9E4-7838-FA11298588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7B51DA-1545-A045-3CC6-977BC0DF08B4}"/>
              </a:ext>
            </a:extLst>
          </p:cNvPr>
          <p:cNvSpPr>
            <a:spLocks noGrp="1"/>
          </p:cNvSpPr>
          <p:nvPr>
            <p:ph type="sldNum" sz="quarter" idx="5"/>
          </p:nvPr>
        </p:nvSpPr>
        <p:spPr/>
        <p:txBody>
          <a:bodyPr/>
          <a:lstStyle/>
          <a:p>
            <a:fld id="{6441FD76-DE94-4153-B3FD-B67D6D978815}" type="slidenum">
              <a:rPr lang="en-US" smtClean="0"/>
              <a:t>29</a:t>
            </a:fld>
            <a:endParaRPr lang="en-US"/>
          </a:p>
        </p:txBody>
      </p:sp>
    </p:spTree>
    <p:extLst>
      <p:ext uri="{BB962C8B-B14F-4D97-AF65-F5344CB8AC3E}">
        <p14:creationId xmlns:p14="http://schemas.microsoft.com/office/powerpoint/2010/main" val="6641438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CB962-F901-650F-F1F7-6710D9BF2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E557D5-3F96-00BF-5DEF-B7E335CEBC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A3C7FC-ED7E-1077-89A2-67006826D6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502F0E-E861-0436-70C3-E08C8A845FBC}"/>
              </a:ext>
            </a:extLst>
          </p:cNvPr>
          <p:cNvSpPr>
            <a:spLocks noGrp="1"/>
          </p:cNvSpPr>
          <p:nvPr>
            <p:ph type="sldNum" sz="quarter" idx="5"/>
          </p:nvPr>
        </p:nvSpPr>
        <p:spPr/>
        <p:txBody>
          <a:bodyPr/>
          <a:lstStyle/>
          <a:p>
            <a:fld id="{6441FD76-DE94-4153-B3FD-B67D6D978815}" type="slidenum">
              <a:rPr lang="en-US" smtClean="0"/>
              <a:t>30</a:t>
            </a:fld>
            <a:endParaRPr lang="en-US"/>
          </a:p>
        </p:txBody>
      </p:sp>
    </p:spTree>
    <p:extLst>
      <p:ext uri="{BB962C8B-B14F-4D97-AF65-F5344CB8AC3E}">
        <p14:creationId xmlns:p14="http://schemas.microsoft.com/office/powerpoint/2010/main" val="30300877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952E3-04A5-3425-AED0-49DB334ACA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319303-6BCA-1522-739A-080CD004E9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237874-836F-8888-4326-53A3F99852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E89F75-B449-03E5-E941-A94B6537A0C2}"/>
              </a:ext>
            </a:extLst>
          </p:cNvPr>
          <p:cNvSpPr>
            <a:spLocks noGrp="1"/>
          </p:cNvSpPr>
          <p:nvPr>
            <p:ph type="sldNum" sz="quarter" idx="5"/>
          </p:nvPr>
        </p:nvSpPr>
        <p:spPr/>
        <p:txBody>
          <a:bodyPr/>
          <a:lstStyle/>
          <a:p>
            <a:fld id="{6441FD76-DE94-4153-B3FD-B67D6D978815}" type="slidenum">
              <a:rPr lang="en-US" smtClean="0"/>
              <a:t>31</a:t>
            </a:fld>
            <a:endParaRPr lang="en-US"/>
          </a:p>
        </p:txBody>
      </p:sp>
    </p:spTree>
    <p:extLst>
      <p:ext uri="{BB962C8B-B14F-4D97-AF65-F5344CB8AC3E}">
        <p14:creationId xmlns:p14="http://schemas.microsoft.com/office/powerpoint/2010/main" val="12923119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59743-4C82-ADBB-A035-39A483044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8D5E4B-DC16-EA19-274A-48B5616AEC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DC3D5-DA11-D163-00D3-9979316FB1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06FD61-8A79-0A51-3CEA-2C0ACB53A454}"/>
              </a:ext>
            </a:extLst>
          </p:cNvPr>
          <p:cNvSpPr>
            <a:spLocks noGrp="1"/>
          </p:cNvSpPr>
          <p:nvPr>
            <p:ph type="sldNum" sz="quarter" idx="5"/>
          </p:nvPr>
        </p:nvSpPr>
        <p:spPr/>
        <p:txBody>
          <a:bodyPr/>
          <a:lstStyle/>
          <a:p>
            <a:fld id="{6441FD76-DE94-4153-B3FD-B67D6D978815}" type="slidenum">
              <a:rPr lang="en-US" smtClean="0"/>
              <a:t>32</a:t>
            </a:fld>
            <a:endParaRPr lang="en-US"/>
          </a:p>
        </p:txBody>
      </p:sp>
    </p:spTree>
    <p:extLst>
      <p:ext uri="{BB962C8B-B14F-4D97-AF65-F5344CB8AC3E}">
        <p14:creationId xmlns:p14="http://schemas.microsoft.com/office/powerpoint/2010/main" val="23535397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D32FB-1F29-E606-C4AA-0841634652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40359F-94DC-8D9B-129A-3512FFFF8F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38426C-95F8-9C52-AD55-D00AFF2855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85C6F9-9F17-D23C-758C-D58536CC323F}"/>
              </a:ext>
            </a:extLst>
          </p:cNvPr>
          <p:cNvSpPr>
            <a:spLocks noGrp="1"/>
          </p:cNvSpPr>
          <p:nvPr>
            <p:ph type="sldNum" sz="quarter" idx="5"/>
          </p:nvPr>
        </p:nvSpPr>
        <p:spPr/>
        <p:txBody>
          <a:bodyPr/>
          <a:lstStyle/>
          <a:p>
            <a:fld id="{6441FD76-DE94-4153-B3FD-B67D6D978815}" type="slidenum">
              <a:rPr lang="en-US" smtClean="0"/>
              <a:t>33</a:t>
            </a:fld>
            <a:endParaRPr lang="en-US"/>
          </a:p>
        </p:txBody>
      </p:sp>
    </p:spTree>
    <p:extLst>
      <p:ext uri="{BB962C8B-B14F-4D97-AF65-F5344CB8AC3E}">
        <p14:creationId xmlns:p14="http://schemas.microsoft.com/office/powerpoint/2010/main" val="26149074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B3921-9E4F-5BAA-1D9D-D01234DF6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3738B-6124-2DCF-0B8D-79231BCEB9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56C383-0816-25EC-D7AD-4957531101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932FC0-B94C-2387-B704-490AA53A60D8}"/>
              </a:ext>
            </a:extLst>
          </p:cNvPr>
          <p:cNvSpPr>
            <a:spLocks noGrp="1"/>
          </p:cNvSpPr>
          <p:nvPr>
            <p:ph type="sldNum" sz="quarter" idx="5"/>
          </p:nvPr>
        </p:nvSpPr>
        <p:spPr/>
        <p:txBody>
          <a:bodyPr/>
          <a:lstStyle/>
          <a:p>
            <a:fld id="{6441FD76-DE94-4153-B3FD-B67D6D978815}" type="slidenum">
              <a:rPr lang="en-US" smtClean="0"/>
              <a:t>34</a:t>
            </a:fld>
            <a:endParaRPr lang="en-US"/>
          </a:p>
        </p:txBody>
      </p:sp>
    </p:spTree>
    <p:extLst>
      <p:ext uri="{BB962C8B-B14F-4D97-AF65-F5344CB8AC3E}">
        <p14:creationId xmlns:p14="http://schemas.microsoft.com/office/powerpoint/2010/main" val="12759135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46F95-E7BA-E95C-B983-8BCE1DB19E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DCE159-AA77-CA61-9AB7-D1C003760F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094FBF-E30C-624E-3C92-E6AB559BC7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E98F1F-8D65-31C2-DBD3-A06E81FB1424}"/>
              </a:ext>
            </a:extLst>
          </p:cNvPr>
          <p:cNvSpPr>
            <a:spLocks noGrp="1"/>
          </p:cNvSpPr>
          <p:nvPr>
            <p:ph type="sldNum" sz="quarter" idx="5"/>
          </p:nvPr>
        </p:nvSpPr>
        <p:spPr/>
        <p:txBody>
          <a:bodyPr/>
          <a:lstStyle/>
          <a:p>
            <a:fld id="{6441FD76-DE94-4153-B3FD-B67D6D978815}" type="slidenum">
              <a:rPr lang="en-US" smtClean="0"/>
              <a:t>35</a:t>
            </a:fld>
            <a:endParaRPr lang="en-US"/>
          </a:p>
        </p:txBody>
      </p:sp>
    </p:spTree>
    <p:extLst>
      <p:ext uri="{BB962C8B-B14F-4D97-AF65-F5344CB8AC3E}">
        <p14:creationId xmlns:p14="http://schemas.microsoft.com/office/powerpoint/2010/main" val="42795882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C8C10-7F2E-6FA9-BBD3-1941F7A2BD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E610DB-D4BE-EA6C-3A5E-992DD471A0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6CCBF1-C679-8290-62B9-52F7169D0C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09B21A-3380-C6CF-68FB-B23CC7FDE829}"/>
              </a:ext>
            </a:extLst>
          </p:cNvPr>
          <p:cNvSpPr>
            <a:spLocks noGrp="1"/>
          </p:cNvSpPr>
          <p:nvPr>
            <p:ph type="sldNum" sz="quarter" idx="5"/>
          </p:nvPr>
        </p:nvSpPr>
        <p:spPr/>
        <p:txBody>
          <a:bodyPr/>
          <a:lstStyle/>
          <a:p>
            <a:fld id="{6441FD76-DE94-4153-B3FD-B67D6D978815}" type="slidenum">
              <a:rPr lang="en-US" smtClean="0"/>
              <a:t>36</a:t>
            </a:fld>
            <a:endParaRPr lang="en-US"/>
          </a:p>
        </p:txBody>
      </p:sp>
    </p:spTree>
    <p:extLst>
      <p:ext uri="{BB962C8B-B14F-4D97-AF65-F5344CB8AC3E}">
        <p14:creationId xmlns:p14="http://schemas.microsoft.com/office/powerpoint/2010/main" val="42689756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BA00D-3B3E-7926-9E02-81CFB9D16D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B69262-2710-46EA-5FE8-22BFA7B1B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E25282-8AA8-D741-B867-8BAD6C8C87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16ED41-7AA7-4042-ECFD-B241DC566443}"/>
              </a:ext>
            </a:extLst>
          </p:cNvPr>
          <p:cNvSpPr>
            <a:spLocks noGrp="1"/>
          </p:cNvSpPr>
          <p:nvPr>
            <p:ph type="sldNum" sz="quarter" idx="5"/>
          </p:nvPr>
        </p:nvSpPr>
        <p:spPr/>
        <p:txBody>
          <a:bodyPr/>
          <a:lstStyle/>
          <a:p>
            <a:fld id="{6441FD76-DE94-4153-B3FD-B67D6D978815}" type="slidenum">
              <a:rPr lang="en-US" smtClean="0"/>
              <a:t>37</a:t>
            </a:fld>
            <a:endParaRPr lang="en-US"/>
          </a:p>
        </p:txBody>
      </p:sp>
    </p:spTree>
    <p:extLst>
      <p:ext uri="{BB962C8B-B14F-4D97-AF65-F5344CB8AC3E}">
        <p14:creationId xmlns:p14="http://schemas.microsoft.com/office/powerpoint/2010/main" val="26529599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3C8C0-665B-0A78-CF8E-B9AB1EED1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2096D-0F48-C997-85AF-E6AD3BE079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853250-81BA-A080-AF5E-6CE9482719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0CF9D3-BB8C-384E-25AB-49A1F7B62BF5}"/>
              </a:ext>
            </a:extLst>
          </p:cNvPr>
          <p:cNvSpPr>
            <a:spLocks noGrp="1"/>
          </p:cNvSpPr>
          <p:nvPr>
            <p:ph type="sldNum" sz="quarter" idx="5"/>
          </p:nvPr>
        </p:nvSpPr>
        <p:spPr/>
        <p:txBody>
          <a:bodyPr/>
          <a:lstStyle/>
          <a:p>
            <a:fld id="{6441FD76-DE94-4153-B3FD-B67D6D978815}" type="slidenum">
              <a:rPr lang="en-US" smtClean="0"/>
              <a:t>38</a:t>
            </a:fld>
            <a:endParaRPr lang="en-US"/>
          </a:p>
        </p:txBody>
      </p:sp>
    </p:spTree>
    <p:extLst>
      <p:ext uri="{BB962C8B-B14F-4D97-AF65-F5344CB8AC3E}">
        <p14:creationId xmlns:p14="http://schemas.microsoft.com/office/powerpoint/2010/main" val="15269220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B9D06-B3C2-8670-6DC3-FD4310EAA8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B2F3CA-8211-E446-7FCA-88DE9A2EA5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9F2E2D-6B8A-5CD1-0D07-54C5A41990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D39681-491A-8040-3A08-2F9378DE00A0}"/>
              </a:ext>
            </a:extLst>
          </p:cNvPr>
          <p:cNvSpPr>
            <a:spLocks noGrp="1"/>
          </p:cNvSpPr>
          <p:nvPr>
            <p:ph type="sldNum" sz="quarter" idx="5"/>
          </p:nvPr>
        </p:nvSpPr>
        <p:spPr/>
        <p:txBody>
          <a:bodyPr/>
          <a:lstStyle/>
          <a:p>
            <a:fld id="{6441FD76-DE94-4153-B3FD-B67D6D978815}" type="slidenum">
              <a:rPr lang="en-US" smtClean="0"/>
              <a:t>39</a:t>
            </a:fld>
            <a:endParaRPr lang="en-US"/>
          </a:p>
        </p:txBody>
      </p:sp>
    </p:spTree>
    <p:extLst>
      <p:ext uri="{BB962C8B-B14F-4D97-AF65-F5344CB8AC3E}">
        <p14:creationId xmlns:p14="http://schemas.microsoft.com/office/powerpoint/2010/main" val="35401423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7C057-7848-611A-61D0-DE99514B9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B3BDE-D8B4-DEBD-AC1D-9CEBD0CADF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887764-A567-73DE-1F9F-C19B780C6E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75F039-92B8-51B9-E0E0-C3CE5878CF85}"/>
              </a:ext>
            </a:extLst>
          </p:cNvPr>
          <p:cNvSpPr>
            <a:spLocks noGrp="1"/>
          </p:cNvSpPr>
          <p:nvPr>
            <p:ph type="sldNum" sz="quarter" idx="5"/>
          </p:nvPr>
        </p:nvSpPr>
        <p:spPr/>
        <p:txBody>
          <a:bodyPr/>
          <a:lstStyle/>
          <a:p>
            <a:fld id="{6441FD76-DE94-4153-B3FD-B67D6D978815}" type="slidenum">
              <a:rPr lang="en-US" smtClean="0"/>
              <a:t>40</a:t>
            </a:fld>
            <a:endParaRPr lang="en-US"/>
          </a:p>
        </p:txBody>
      </p:sp>
    </p:spTree>
    <p:extLst>
      <p:ext uri="{BB962C8B-B14F-4D97-AF65-F5344CB8AC3E}">
        <p14:creationId xmlns:p14="http://schemas.microsoft.com/office/powerpoint/2010/main" val="19808642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44C1F-3C1A-A11B-23B6-11AB3BFB1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C44E1-A98D-9760-B791-E4E80C3915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022A5A-D72F-4ECD-7918-FC8B3889F2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3B2F02-AACA-3E26-4703-DE69B1BF1E29}"/>
              </a:ext>
            </a:extLst>
          </p:cNvPr>
          <p:cNvSpPr>
            <a:spLocks noGrp="1"/>
          </p:cNvSpPr>
          <p:nvPr>
            <p:ph type="sldNum" sz="quarter" idx="5"/>
          </p:nvPr>
        </p:nvSpPr>
        <p:spPr/>
        <p:txBody>
          <a:bodyPr/>
          <a:lstStyle/>
          <a:p>
            <a:fld id="{6441FD76-DE94-4153-B3FD-B67D6D978815}" type="slidenum">
              <a:rPr lang="en-US" smtClean="0"/>
              <a:t>41</a:t>
            </a:fld>
            <a:endParaRPr lang="en-US"/>
          </a:p>
        </p:txBody>
      </p:sp>
    </p:spTree>
    <p:extLst>
      <p:ext uri="{BB962C8B-B14F-4D97-AF65-F5344CB8AC3E}">
        <p14:creationId xmlns:p14="http://schemas.microsoft.com/office/powerpoint/2010/main" val="22648155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0981-DA81-7B9C-69F1-A95A05C6F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6707D4-3154-B29F-9AF9-E1C2ED788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3AA9EA-A57E-D11B-93F0-1A45F309D4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3B8959-D53C-F25F-A0F8-10270EDA7FC4}"/>
              </a:ext>
            </a:extLst>
          </p:cNvPr>
          <p:cNvSpPr>
            <a:spLocks noGrp="1"/>
          </p:cNvSpPr>
          <p:nvPr>
            <p:ph type="sldNum" sz="quarter" idx="5"/>
          </p:nvPr>
        </p:nvSpPr>
        <p:spPr/>
        <p:txBody>
          <a:bodyPr/>
          <a:lstStyle/>
          <a:p>
            <a:fld id="{6441FD76-DE94-4153-B3FD-B67D6D978815}" type="slidenum">
              <a:rPr lang="en-US" smtClean="0"/>
              <a:t>42</a:t>
            </a:fld>
            <a:endParaRPr lang="en-US"/>
          </a:p>
        </p:txBody>
      </p:sp>
    </p:spTree>
    <p:extLst>
      <p:ext uri="{BB962C8B-B14F-4D97-AF65-F5344CB8AC3E}">
        <p14:creationId xmlns:p14="http://schemas.microsoft.com/office/powerpoint/2010/main" val="31205874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828F6-CC37-ADF6-0111-CCF9AAB90B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85F4FE-656B-4FE2-A65B-D68406750A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854A44-3F98-AD62-3532-0BF5EB3A90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8C29C9-5AAA-9873-6433-2EEC86272032}"/>
              </a:ext>
            </a:extLst>
          </p:cNvPr>
          <p:cNvSpPr>
            <a:spLocks noGrp="1"/>
          </p:cNvSpPr>
          <p:nvPr>
            <p:ph type="sldNum" sz="quarter" idx="5"/>
          </p:nvPr>
        </p:nvSpPr>
        <p:spPr/>
        <p:txBody>
          <a:bodyPr/>
          <a:lstStyle/>
          <a:p>
            <a:fld id="{6441FD76-DE94-4153-B3FD-B67D6D978815}" type="slidenum">
              <a:rPr lang="en-US" smtClean="0"/>
              <a:t>43</a:t>
            </a:fld>
            <a:endParaRPr lang="en-US"/>
          </a:p>
        </p:txBody>
      </p:sp>
    </p:spTree>
    <p:extLst>
      <p:ext uri="{BB962C8B-B14F-4D97-AF65-F5344CB8AC3E}">
        <p14:creationId xmlns:p14="http://schemas.microsoft.com/office/powerpoint/2010/main" val="23287386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D0CD-FC72-BA2C-9A0D-A0271C2C8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59FAC-379C-E3AF-7ED2-C24E5F7C3E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596103-7D7B-AE87-08EF-DD5194F83E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FE4F0D-439E-69D6-57A7-42CC228FEEB1}"/>
              </a:ext>
            </a:extLst>
          </p:cNvPr>
          <p:cNvSpPr>
            <a:spLocks noGrp="1"/>
          </p:cNvSpPr>
          <p:nvPr>
            <p:ph type="sldNum" sz="quarter" idx="5"/>
          </p:nvPr>
        </p:nvSpPr>
        <p:spPr/>
        <p:txBody>
          <a:bodyPr/>
          <a:lstStyle/>
          <a:p>
            <a:fld id="{6441FD76-DE94-4153-B3FD-B67D6D978815}" type="slidenum">
              <a:rPr lang="en-US" smtClean="0"/>
              <a:t>44</a:t>
            </a:fld>
            <a:endParaRPr lang="en-US"/>
          </a:p>
        </p:txBody>
      </p:sp>
    </p:spTree>
    <p:extLst>
      <p:ext uri="{BB962C8B-B14F-4D97-AF65-F5344CB8AC3E}">
        <p14:creationId xmlns:p14="http://schemas.microsoft.com/office/powerpoint/2010/main" val="22140824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F6733-703F-5464-D9CE-21EE63011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05E5F-0FD1-B592-6713-9C3DEBBBD3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D8798F-E43E-ED11-8E66-D9C579762A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C8D70F-BDF3-B49C-F80F-6606C7B445C9}"/>
              </a:ext>
            </a:extLst>
          </p:cNvPr>
          <p:cNvSpPr>
            <a:spLocks noGrp="1"/>
          </p:cNvSpPr>
          <p:nvPr>
            <p:ph type="sldNum" sz="quarter" idx="5"/>
          </p:nvPr>
        </p:nvSpPr>
        <p:spPr/>
        <p:txBody>
          <a:bodyPr/>
          <a:lstStyle/>
          <a:p>
            <a:fld id="{6441FD76-DE94-4153-B3FD-B67D6D978815}" type="slidenum">
              <a:rPr lang="en-US" smtClean="0"/>
              <a:t>45</a:t>
            </a:fld>
            <a:endParaRPr lang="en-US"/>
          </a:p>
        </p:txBody>
      </p:sp>
    </p:spTree>
    <p:extLst>
      <p:ext uri="{BB962C8B-B14F-4D97-AF65-F5344CB8AC3E}">
        <p14:creationId xmlns:p14="http://schemas.microsoft.com/office/powerpoint/2010/main" val="40655404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D715F-DEB4-8FEF-4949-B65F729A4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39E14-5F99-99D1-8A84-6BC4F4F76B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88BCAA-CC41-78A4-F542-986C650D92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8D824B-BBCC-5C62-5918-855FD9D2863E}"/>
              </a:ext>
            </a:extLst>
          </p:cNvPr>
          <p:cNvSpPr>
            <a:spLocks noGrp="1"/>
          </p:cNvSpPr>
          <p:nvPr>
            <p:ph type="sldNum" sz="quarter" idx="5"/>
          </p:nvPr>
        </p:nvSpPr>
        <p:spPr/>
        <p:txBody>
          <a:bodyPr/>
          <a:lstStyle/>
          <a:p>
            <a:fld id="{6441FD76-DE94-4153-B3FD-B67D6D978815}" type="slidenum">
              <a:rPr lang="en-US" smtClean="0"/>
              <a:t>46</a:t>
            </a:fld>
            <a:endParaRPr lang="en-US"/>
          </a:p>
        </p:txBody>
      </p:sp>
    </p:spTree>
    <p:extLst>
      <p:ext uri="{BB962C8B-B14F-4D97-AF65-F5344CB8AC3E}">
        <p14:creationId xmlns:p14="http://schemas.microsoft.com/office/powerpoint/2010/main" val="29546110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BE5F0-BC87-E56B-CB6E-8D8F29904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DE0A9-4381-7997-4E56-EFB25593A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433EA1-0E79-17AB-6539-B20588AC6E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1E30D0-0E8C-097A-15B3-8622E78B650D}"/>
              </a:ext>
            </a:extLst>
          </p:cNvPr>
          <p:cNvSpPr>
            <a:spLocks noGrp="1"/>
          </p:cNvSpPr>
          <p:nvPr>
            <p:ph type="sldNum" sz="quarter" idx="5"/>
          </p:nvPr>
        </p:nvSpPr>
        <p:spPr/>
        <p:txBody>
          <a:bodyPr/>
          <a:lstStyle/>
          <a:p>
            <a:fld id="{6441FD76-DE94-4153-B3FD-B67D6D978815}" type="slidenum">
              <a:rPr lang="en-US" smtClean="0"/>
              <a:t>47</a:t>
            </a:fld>
            <a:endParaRPr lang="en-US"/>
          </a:p>
        </p:txBody>
      </p:sp>
    </p:spTree>
    <p:extLst>
      <p:ext uri="{BB962C8B-B14F-4D97-AF65-F5344CB8AC3E}">
        <p14:creationId xmlns:p14="http://schemas.microsoft.com/office/powerpoint/2010/main" val="35634619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0B6DB-2F5D-C0DA-7900-D3BE5BA8C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80FC2A-D41F-A90F-53C5-193B4A01C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6B1E88-08B0-8E2F-FE38-AFBC1811AE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2EB901-55FA-6D4B-E34B-5E4BB4DB58D8}"/>
              </a:ext>
            </a:extLst>
          </p:cNvPr>
          <p:cNvSpPr>
            <a:spLocks noGrp="1"/>
          </p:cNvSpPr>
          <p:nvPr>
            <p:ph type="sldNum" sz="quarter" idx="5"/>
          </p:nvPr>
        </p:nvSpPr>
        <p:spPr/>
        <p:txBody>
          <a:bodyPr/>
          <a:lstStyle/>
          <a:p>
            <a:fld id="{6441FD76-DE94-4153-B3FD-B67D6D978815}" type="slidenum">
              <a:rPr lang="en-US" smtClean="0"/>
              <a:t>48</a:t>
            </a:fld>
            <a:endParaRPr lang="en-US"/>
          </a:p>
        </p:txBody>
      </p:sp>
    </p:spTree>
    <p:extLst>
      <p:ext uri="{BB962C8B-B14F-4D97-AF65-F5344CB8AC3E}">
        <p14:creationId xmlns:p14="http://schemas.microsoft.com/office/powerpoint/2010/main" val="11172665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CAD49-A072-0DB7-C19B-3306F3BDE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08208A-4B2C-8847-8F3D-5368364B8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EF9E49-F13D-C2AD-B30D-DDC4C37F1D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66C424-C023-A7F2-BCF2-A79045E025FB}"/>
              </a:ext>
            </a:extLst>
          </p:cNvPr>
          <p:cNvSpPr>
            <a:spLocks noGrp="1"/>
          </p:cNvSpPr>
          <p:nvPr>
            <p:ph type="sldNum" sz="quarter" idx="5"/>
          </p:nvPr>
        </p:nvSpPr>
        <p:spPr/>
        <p:txBody>
          <a:bodyPr/>
          <a:lstStyle/>
          <a:p>
            <a:fld id="{6441FD76-DE94-4153-B3FD-B67D6D978815}" type="slidenum">
              <a:rPr lang="en-US" smtClean="0"/>
              <a:t>49</a:t>
            </a:fld>
            <a:endParaRPr lang="en-US"/>
          </a:p>
        </p:txBody>
      </p:sp>
    </p:spTree>
    <p:extLst>
      <p:ext uri="{BB962C8B-B14F-4D97-AF65-F5344CB8AC3E}">
        <p14:creationId xmlns:p14="http://schemas.microsoft.com/office/powerpoint/2010/main" val="413951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72613-C862-B040-0258-06BD7FE78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5C5BE0-001C-A46F-8098-3415284F00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8A8A4-522F-6307-B447-C49DDB31DC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BF2D51-F1F9-7B39-5743-EFE7339720F7}"/>
              </a:ext>
            </a:extLst>
          </p:cNvPr>
          <p:cNvSpPr>
            <a:spLocks noGrp="1"/>
          </p:cNvSpPr>
          <p:nvPr>
            <p:ph type="sldNum" sz="quarter" idx="5"/>
          </p:nvPr>
        </p:nvSpPr>
        <p:spPr/>
        <p:txBody>
          <a:bodyPr/>
          <a:lstStyle/>
          <a:p>
            <a:fld id="{6441FD76-DE94-4153-B3FD-B67D6D978815}" type="slidenum">
              <a:rPr lang="en-US" smtClean="0"/>
              <a:t>50</a:t>
            </a:fld>
            <a:endParaRPr lang="en-US"/>
          </a:p>
        </p:txBody>
      </p:sp>
    </p:spTree>
    <p:extLst>
      <p:ext uri="{BB962C8B-B14F-4D97-AF65-F5344CB8AC3E}">
        <p14:creationId xmlns:p14="http://schemas.microsoft.com/office/powerpoint/2010/main" val="22402734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27EE6-EAFE-962B-42DB-B8B251DE8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BB88A-55E7-3A56-EE2A-2659ACA89B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1D233C-16C8-8329-C979-9E94A76A20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1B3061-4EAE-586B-B120-CB12D5A27BBA}"/>
              </a:ext>
            </a:extLst>
          </p:cNvPr>
          <p:cNvSpPr>
            <a:spLocks noGrp="1"/>
          </p:cNvSpPr>
          <p:nvPr>
            <p:ph type="sldNum" sz="quarter" idx="5"/>
          </p:nvPr>
        </p:nvSpPr>
        <p:spPr/>
        <p:txBody>
          <a:bodyPr/>
          <a:lstStyle/>
          <a:p>
            <a:fld id="{6441FD76-DE94-4153-B3FD-B67D6D978815}" type="slidenum">
              <a:rPr lang="en-US" smtClean="0"/>
              <a:t>51</a:t>
            </a:fld>
            <a:endParaRPr lang="en-US"/>
          </a:p>
        </p:txBody>
      </p:sp>
    </p:spTree>
    <p:extLst>
      <p:ext uri="{BB962C8B-B14F-4D97-AF65-F5344CB8AC3E}">
        <p14:creationId xmlns:p14="http://schemas.microsoft.com/office/powerpoint/2010/main" val="24284625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7AFE9-7A38-B224-29A5-9E337289CE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E7568-2804-65D2-4EC7-4BA948D69A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581C8-EE9F-4481-A51C-0762F3EC76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9D16E3-6035-D414-5F37-D2469DFFC68A}"/>
              </a:ext>
            </a:extLst>
          </p:cNvPr>
          <p:cNvSpPr>
            <a:spLocks noGrp="1"/>
          </p:cNvSpPr>
          <p:nvPr>
            <p:ph type="sldNum" sz="quarter" idx="5"/>
          </p:nvPr>
        </p:nvSpPr>
        <p:spPr/>
        <p:txBody>
          <a:bodyPr/>
          <a:lstStyle/>
          <a:p>
            <a:fld id="{6441FD76-DE94-4153-B3FD-B67D6D978815}" type="slidenum">
              <a:rPr lang="en-US" smtClean="0"/>
              <a:t>52</a:t>
            </a:fld>
            <a:endParaRPr lang="en-US"/>
          </a:p>
        </p:txBody>
      </p:sp>
    </p:spTree>
    <p:extLst>
      <p:ext uri="{BB962C8B-B14F-4D97-AF65-F5344CB8AC3E}">
        <p14:creationId xmlns:p14="http://schemas.microsoft.com/office/powerpoint/2010/main" val="2949696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B3051-2834-1413-754C-02B2180C9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43BF7-55DE-CF25-C242-0AD14FCF68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50CDB-998E-A059-F49A-65B57B860B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343774-E27D-BF94-27BB-6BF40EC852B1}"/>
              </a:ext>
            </a:extLst>
          </p:cNvPr>
          <p:cNvSpPr>
            <a:spLocks noGrp="1"/>
          </p:cNvSpPr>
          <p:nvPr>
            <p:ph type="sldNum" sz="quarter" idx="5"/>
          </p:nvPr>
        </p:nvSpPr>
        <p:spPr/>
        <p:txBody>
          <a:bodyPr/>
          <a:lstStyle/>
          <a:p>
            <a:fld id="{6441FD76-DE94-4153-B3FD-B67D6D978815}" type="slidenum">
              <a:rPr lang="en-US" smtClean="0"/>
              <a:t>53</a:t>
            </a:fld>
            <a:endParaRPr lang="en-US"/>
          </a:p>
        </p:txBody>
      </p:sp>
    </p:spTree>
    <p:extLst>
      <p:ext uri="{BB962C8B-B14F-4D97-AF65-F5344CB8AC3E}">
        <p14:creationId xmlns:p14="http://schemas.microsoft.com/office/powerpoint/2010/main" val="20487439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7B6F6-F044-B41D-E017-3D43A0A2F6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49F86-0802-CB9F-2B8D-0AAC3A4D68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727D4D-BA8D-4AED-F668-2503577286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5B09D6-2FD9-807D-C546-ECBA50D2DF54}"/>
              </a:ext>
            </a:extLst>
          </p:cNvPr>
          <p:cNvSpPr>
            <a:spLocks noGrp="1"/>
          </p:cNvSpPr>
          <p:nvPr>
            <p:ph type="sldNum" sz="quarter" idx="5"/>
          </p:nvPr>
        </p:nvSpPr>
        <p:spPr/>
        <p:txBody>
          <a:bodyPr/>
          <a:lstStyle/>
          <a:p>
            <a:fld id="{6441FD76-DE94-4153-B3FD-B67D6D978815}" type="slidenum">
              <a:rPr lang="en-US" smtClean="0"/>
              <a:t>54</a:t>
            </a:fld>
            <a:endParaRPr lang="en-US"/>
          </a:p>
        </p:txBody>
      </p:sp>
    </p:spTree>
    <p:extLst>
      <p:ext uri="{BB962C8B-B14F-4D97-AF65-F5344CB8AC3E}">
        <p14:creationId xmlns:p14="http://schemas.microsoft.com/office/powerpoint/2010/main" val="6250013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7DD1F-57FB-80E9-9A37-82150CD37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57E21-C60A-C42D-4662-F9FA84148D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C83EBA-294A-8CD0-CDD5-CED0C9F5C2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6F35D4-63CB-3108-FBC1-DDE26ECD9835}"/>
              </a:ext>
            </a:extLst>
          </p:cNvPr>
          <p:cNvSpPr>
            <a:spLocks noGrp="1"/>
          </p:cNvSpPr>
          <p:nvPr>
            <p:ph type="sldNum" sz="quarter" idx="5"/>
          </p:nvPr>
        </p:nvSpPr>
        <p:spPr/>
        <p:txBody>
          <a:bodyPr/>
          <a:lstStyle/>
          <a:p>
            <a:fld id="{6441FD76-DE94-4153-B3FD-B67D6D978815}" type="slidenum">
              <a:rPr lang="en-US" smtClean="0"/>
              <a:t>55</a:t>
            </a:fld>
            <a:endParaRPr lang="en-US"/>
          </a:p>
        </p:txBody>
      </p:sp>
    </p:spTree>
    <p:extLst>
      <p:ext uri="{BB962C8B-B14F-4D97-AF65-F5344CB8AC3E}">
        <p14:creationId xmlns:p14="http://schemas.microsoft.com/office/powerpoint/2010/main" val="30422525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36F2A-4342-1586-FE33-CE4B3E3D5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782-8494-BBD0-4B64-3CDA1827E2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00D82F-EA70-4E03-D722-F5EC11973C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5D4D0C-2B00-185F-8316-E8214A287D13}"/>
              </a:ext>
            </a:extLst>
          </p:cNvPr>
          <p:cNvSpPr>
            <a:spLocks noGrp="1"/>
          </p:cNvSpPr>
          <p:nvPr>
            <p:ph type="sldNum" sz="quarter" idx="5"/>
          </p:nvPr>
        </p:nvSpPr>
        <p:spPr/>
        <p:txBody>
          <a:bodyPr/>
          <a:lstStyle/>
          <a:p>
            <a:fld id="{6441FD76-DE94-4153-B3FD-B67D6D978815}" type="slidenum">
              <a:rPr lang="en-US" smtClean="0"/>
              <a:t>56</a:t>
            </a:fld>
            <a:endParaRPr lang="en-US"/>
          </a:p>
        </p:txBody>
      </p:sp>
    </p:spTree>
    <p:extLst>
      <p:ext uri="{BB962C8B-B14F-4D97-AF65-F5344CB8AC3E}">
        <p14:creationId xmlns:p14="http://schemas.microsoft.com/office/powerpoint/2010/main" val="34565982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172C1-28C2-99D3-0542-49E34A8665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D8EDC-5B04-ABD9-35D6-578CCB4A6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58D29-0B82-9544-D2EF-71D3D415D0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A3E51C-A12E-FA1A-28C3-A2E6E34378BB}"/>
              </a:ext>
            </a:extLst>
          </p:cNvPr>
          <p:cNvSpPr>
            <a:spLocks noGrp="1"/>
          </p:cNvSpPr>
          <p:nvPr>
            <p:ph type="sldNum" sz="quarter" idx="5"/>
          </p:nvPr>
        </p:nvSpPr>
        <p:spPr/>
        <p:txBody>
          <a:bodyPr/>
          <a:lstStyle/>
          <a:p>
            <a:fld id="{6441FD76-DE94-4153-B3FD-B67D6D978815}" type="slidenum">
              <a:rPr lang="en-US" smtClean="0"/>
              <a:t>57</a:t>
            </a:fld>
            <a:endParaRPr lang="en-US"/>
          </a:p>
        </p:txBody>
      </p:sp>
    </p:spTree>
    <p:extLst>
      <p:ext uri="{BB962C8B-B14F-4D97-AF65-F5344CB8AC3E}">
        <p14:creationId xmlns:p14="http://schemas.microsoft.com/office/powerpoint/2010/main" val="7894092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B40FD-06A9-021F-D269-D495F39A8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7745F4-5333-7835-E97C-2B44A8BE46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215A7-ABB0-88D4-0F0B-CDFD032B20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33437F-8159-745E-2C89-F1518C3CA8AC}"/>
              </a:ext>
            </a:extLst>
          </p:cNvPr>
          <p:cNvSpPr>
            <a:spLocks noGrp="1"/>
          </p:cNvSpPr>
          <p:nvPr>
            <p:ph type="sldNum" sz="quarter" idx="5"/>
          </p:nvPr>
        </p:nvSpPr>
        <p:spPr/>
        <p:txBody>
          <a:bodyPr/>
          <a:lstStyle/>
          <a:p>
            <a:fld id="{6441FD76-DE94-4153-B3FD-B67D6D978815}" type="slidenum">
              <a:rPr lang="en-US" smtClean="0"/>
              <a:t>58</a:t>
            </a:fld>
            <a:endParaRPr lang="en-US"/>
          </a:p>
        </p:txBody>
      </p:sp>
    </p:spTree>
    <p:extLst>
      <p:ext uri="{BB962C8B-B14F-4D97-AF65-F5344CB8AC3E}">
        <p14:creationId xmlns:p14="http://schemas.microsoft.com/office/powerpoint/2010/main" val="7914636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13412-2CD5-C479-9BC9-34E774546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724B73-C047-E25A-5EB4-EAD213DBE6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59B4A3-593B-CDAA-D363-A7D8C0E91C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9E6244-F615-F188-FB6F-616E689B6C4A}"/>
              </a:ext>
            </a:extLst>
          </p:cNvPr>
          <p:cNvSpPr>
            <a:spLocks noGrp="1"/>
          </p:cNvSpPr>
          <p:nvPr>
            <p:ph type="sldNum" sz="quarter" idx="5"/>
          </p:nvPr>
        </p:nvSpPr>
        <p:spPr/>
        <p:txBody>
          <a:bodyPr/>
          <a:lstStyle/>
          <a:p>
            <a:fld id="{6441FD76-DE94-4153-B3FD-B67D6D978815}" type="slidenum">
              <a:rPr lang="en-US" smtClean="0"/>
              <a:t>59</a:t>
            </a:fld>
            <a:endParaRPr lang="en-US"/>
          </a:p>
        </p:txBody>
      </p:sp>
    </p:spTree>
    <p:extLst>
      <p:ext uri="{BB962C8B-B14F-4D97-AF65-F5344CB8AC3E}">
        <p14:creationId xmlns:p14="http://schemas.microsoft.com/office/powerpoint/2010/main" val="41607523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BC596-D930-A01B-6093-BC27E65D9C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291A3D-2387-BB61-1ACA-676E9CFB30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510906-C345-8A82-5EE1-A6CFFA12E2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6A13E0-AC0D-5410-7AEB-39C4A800660F}"/>
              </a:ext>
            </a:extLst>
          </p:cNvPr>
          <p:cNvSpPr>
            <a:spLocks noGrp="1"/>
          </p:cNvSpPr>
          <p:nvPr>
            <p:ph type="sldNum" sz="quarter" idx="5"/>
          </p:nvPr>
        </p:nvSpPr>
        <p:spPr/>
        <p:txBody>
          <a:bodyPr/>
          <a:lstStyle/>
          <a:p>
            <a:fld id="{6441FD76-DE94-4153-B3FD-B67D6D978815}" type="slidenum">
              <a:rPr lang="en-US" smtClean="0"/>
              <a:t>60</a:t>
            </a:fld>
            <a:endParaRPr lang="en-US"/>
          </a:p>
        </p:txBody>
      </p:sp>
    </p:spTree>
    <p:extLst>
      <p:ext uri="{BB962C8B-B14F-4D97-AF65-F5344CB8AC3E}">
        <p14:creationId xmlns:p14="http://schemas.microsoft.com/office/powerpoint/2010/main" val="23854728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289FF-B2C0-32D5-84B0-BD134B1D7B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D063F-DC0C-FF56-CDED-8B975C2EB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FE73-09ED-17F1-B1E8-FF6570FAE3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D9B736-055C-C25D-903B-89B2E30D30D0}"/>
              </a:ext>
            </a:extLst>
          </p:cNvPr>
          <p:cNvSpPr>
            <a:spLocks noGrp="1"/>
          </p:cNvSpPr>
          <p:nvPr>
            <p:ph type="sldNum" sz="quarter" idx="5"/>
          </p:nvPr>
        </p:nvSpPr>
        <p:spPr/>
        <p:txBody>
          <a:bodyPr/>
          <a:lstStyle/>
          <a:p>
            <a:fld id="{6441FD76-DE94-4153-B3FD-B67D6D978815}" type="slidenum">
              <a:rPr lang="en-US" smtClean="0"/>
              <a:t>61</a:t>
            </a:fld>
            <a:endParaRPr lang="en-US"/>
          </a:p>
        </p:txBody>
      </p:sp>
    </p:spTree>
    <p:extLst>
      <p:ext uri="{BB962C8B-B14F-4D97-AF65-F5344CB8AC3E}">
        <p14:creationId xmlns:p14="http://schemas.microsoft.com/office/powerpoint/2010/main" val="33094749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94A76-A6B0-AA70-F135-EEF8466842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A3016-6727-8F44-6A5B-1C77FDCC7D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34AE28-D756-059E-6E5C-D74E80A410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665032-BD59-9A4B-24FF-7D6997E08618}"/>
              </a:ext>
            </a:extLst>
          </p:cNvPr>
          <p:cNvSpPr>
            <a:spLocks noGrp="1"/>
          </p:cNvSpPr>
          <p:nvPr>
            <p:ph type="sldNum" sz="quarter" idx="5"/>
          </p:nvPr>
        </p:nvSpPr>
        <p:spPr/>
        <p:txBody>
          <a:bodyPr/>
          <a:lstStyle/>
          <a:p>
            <a:fld id="{6441FD76-DE94-4153-B3FD-B67D6D978815}" type="slidenum">
              <a:rPr lang="en-US" smtClean="0"/>
              <a:t>62</a:t>
            </a:fld>
            <a:endParaRPr lang="en-US"/>
          </a:p>
        </p:txBody>
      </p:sp>
    </p:spTree>
    <p:extLst>
      <p:ext uri="{BB962C8B-B14F-4D97-AF65-F5344CB8AC3E}">
        <p14:creationId xmlns:p14="http://schemas.microsoft.com/office/powerpoint/2010/main" val="25812699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310C5-0303-EF18-0F97-9D26B91254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A6083-0998-9341-3140-0DA1DE9291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582A52-D09C-D69D-7AC5-CFD698050A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A414B8-319D-CCFB-9D7C-29321D6B6901}"/>
              </a:ext>
            </a:extLst>
          </p:cNvPr>
          <p:cNvSpPr>
            <a:spLocks noGrp="1"/>
          </p:cNvSpPr>
          <p:nvPr>
            <p:ph type="sldNum" sz="quarter" idx="5"/>
          </p:nvPr>
        </p:nvSpPr>
        <p:spPr/>
        <p:txBody>
          <a:bodyPr/>
          <a:lstStyle/>
          <a:p>
            <a:fld id="{6441FD76-DE94-4153-B3FD-B67D6D978815}" type="slidenum">
              <a:rPr lang="en-US" smtClean="0"/>
              <a:t>63</a:t>
            </a:fld>
            <a:endParaRPr lang="en-US"/>
          </a:p>
        </p:txBody>
      </p:sp>
    </p:spTree>
    <p:extLst>
      <p:ext uri="{BB962C8B-B14F-4D97-AF65-F5344CB8AC3E}">
        <p14:creationId xmlns:p14="http://schemas.microsoft.com/office/powerpoint/2010/main" val="247596831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14D2E-AAA6-32D2-8B6A-1ED47E509A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FF79B0-9A2D-BCEE-C57D-E1020AC52F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52D987-9630-EF20-2101-610FCFBFA8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987413-D753-3DF3-B6A3-57AD2D0F1BA4}"/>
              </a:ext>
            </a:extLst>
          </p:cNvPr>
          <p:cNvSpPr>
            <a:spLocks noGrp="1"/>
          </p:cNvSpPr>
          <p:nvPr>
            <p:ph type="sldNum" sz="quarter" idx="5"/>
          </p:nvPr>
        </p:nvSpPr>
        <p:spPr/>
        <p:txBody>
          <a:bodyPr/>
          <a:lstStyle/>
          <a:p>
            <a:fld id="{6441FD76-DE94-4153-B3FD-B67D6D978815}" type="slidenum">
              <a:rPr lang="en-US" smtClean="0"/>
              <a:t>64</a:t>
            </a:fld>
            <a:endParaRPr lang="en-US"/>
          </a:p>
        </p:txBody>
      </p:sp>
    </p:spTree>
    <p:extLst>
      <p:ext uri="{BB962C8B-B14F-4D97-AF65-F5344CB8AC3E}">
        <p14:creationId xmlns:p14="http://schemas.microsoft.com/office/powerpoint/2010/main" val="24280587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3CFC7-648F-3A64-FCE1-CAF667A6C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F020A0-86CE-9F39-9462-04F7DF4768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DB42BA-6279-5679-5166-6CF4032B36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CE9B5F-BD6B-1262-6A95-89EC1E3135B9}"/>
              </a:ext>
            </a:extLst>
          </p:cNvPr>
          <p:cNvSpPr>
            <a:spLocks noGrp="1"/>
          </p:cNvSpPr>
          <p:nvPr>
            <p:ph type="sldNum" sz="quarter" idx="5"/>
          </p:nvPr>
        </p:nvSpPr>
        <p:spPr/>
        <p:txBody>
          <a:bodyPr/>
          <a:lstStyle/>
          <a:p>
            <a:fld id="{6441FD76-DE94-4153-B3FD-B67D6D978815}" type="slidenum">
              <a:rPr lang="en-US" smtClean="0"/>
              <a:t>65</a:t>
            </a:fld>
            <a:endParaRPr lang="en-US"/>
          </a:p>
        </p:txBody>
      </p:sp>
    </p:spTree>
    <p:extLst>
      <p:ext uri="{BB962C8B-B14F-4D97-AF65-F5344CB8AC3E}">
        <p14:creationId xmlns:p14="http://schemas.microsoft.com/office/powerpoint/2010/main" val="240132362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13744-9989-7E28-D957-FB41C50C5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9016C-2F83-8589-DFF6-1702BA9416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AB0738-7A76-DB1C-1D98-6AA005E235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247157-7E4D-F515-12DD-8AC5A75B43EC}"/>
              </a:ext>
            </a:extLst>
          </p:cNvPr>
          <p:cNvSpPr>
            <a:spLocks noGrp="1"/>
          </p:cNvSpPr>
          <p:nvPr>
            <p:ph type="sldNum" sz="quarter" idx="5"/>
          </p:nvPr>
        </p:nvSpPr>
        <p:spPr/>
        <p:txBody>
          <a:bodyPr/>
          <a:lstStyle/>
          <a:p>
            <a:fld id="{6441FD76-DE94-4153-B3FD-B67D6D978815}" type="slidenum">
              <a:rPr lang="en-US" smtClean="0"/>
              <a:t>66</a:t>
            </a:fld>
            <a:endParaRPr lang="en-US"/>
          </a:p>
        </p:txBody>
      </p:sp>
    </p:spTree>
    <p:extLst>
      <p:ext uri="{BB962C8B-B14F-4D97-AF65-F5344CB8AC3E}">
        <p14:creationId xmlns:p14="http://schemas.microsoft.com/office/powerpoint/2010/main" val="147419338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EB313-5827-999C-39D2-35FBF52BE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4D3B1-4C46-AE53-5EAF-531D9D1779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0490A-48F2-284D-1F13-96454913BA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A17BE5-EED1-F203-1949-629FC5237475}"/>
              </a:ext>
            </a:extLst>
          </p:cNvPr>
          <p:cNvSpPr>
            <a:spLocks noGrp="1"/>
          </p:cNvSpPr>
          <p:nvPr>
            <p:ph type="sldNum" sz="quarter" idx="5"/>
          </p:nvPr>
        </p:nvSpPr>
        <p:spPr/>
        <p:txBody>
          <a:bodyPr/>
          <a:lstStyle/>
          <a:p>
            <a:fld id="{6441FD76-DE94-4153-B3FD-B67D6D978815}" type="slidenum">
              <a:rPr lang="en-US" smtClean="0"/>
              <a:t>67</a:t>
            </a:fld>
            <a:endParaRPr lang="en-US"/>
          </a:p>
        </p:txBody>
      </p:sp>
    </p:spTree>
    <p:extLst>
      <p:ext uri="{BB962C8B-B14F-4D97-AF65-F5344CB8AC3E}">
        <p14:creationId xmlns:p14="http://schemas.microsoft.com/office/powerpoint/2010/main" val="24359424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23BD9-50F4-374F-9D90-186FBB20B9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56207-BB04-BC60-31CB-2909F783E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9DF52B-0D24-403D-A7AB-10B6E349ED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F14941-2EF1-5DF8-43A5-C0D39B6B19FC}"/>
              </a:ext>
            </a:extLst>
          </p:cNvPr>
          <p:cNvSpPr>
            <a:spLocks noGrp="1"/>
          </p:cNvSpPr>
          <p:nvPr>
            <p:ph type="sldNum" sz="quarter" idx="5"/>
          </p:nvPr>
        </p:nvSpPr>
        <p:spPr/>
        <p:txBody>
          <a:bodyPr/>
          <a:lstStyle/>
          <a:p>
            <a:fld id="{6441FD76-DE94-4153-B3FD-B67D6D978815}" type="slidenum">
              <a:rPr lang="en-US" smtClean="0"/>
              <a:t>68</a:t>
            </a:fld>
            <a:endParaRPr lang="en-US"/>
          </a:p>
        </p:txBody>
      </p:sp>
    </p:spTree>
    <p:extLst>
      <p:ext uri="{BB962C8B-B14F-4D97-AF65-F5344CB8AC3E}">
        <p14:creationId xmlns:p14="http://schemas.microsoft.com/office/powerpoint/2010/main" val="50546574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FCD3F-3412-9EE8-15C1-1962107C58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737F4-9F47-21A5-20B3-ABB766247D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42D8D-3E6D-DBE2-9247-153347C236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8249F1-4BD7-FB75-CFA0-2FBF6E9BA05A}"/>
              </a:ext>
            </a:extLst>
          </p:cNvPr>
          <p:cNvSpPr>
            <a:spLocks noGrp="1"/>
          </p:cNvSpPr>
          <p:nvPr>
            <p:ph type="sldNum" sz="quarter" idx="5"/>
          </p:nvPr>
        </p:nvSpPr>
        <p:spPr/>
        <p:txBody>
          <a:bodyPr/>
          <a:lstStyle/>
          <a:p>
            <a:fld id="{6441FD76-DE94-4153-B3FD-B67D6D978815}" type="slidenum">
              <a:rPr lang="en-US" smtClean="0"/>
              <a:t>69</a:t>
            </a:fld>
            <a:endParaRPr lang="en-US"/>
          </a:p>
        </p:txBody>
      </p:sp>
    </p:spTree>
    <p:extLst>
      <p:ext uri="{BB962C8B-B14F-4D97-AF65-F5344CB8AC3E}">
        <p14:creationId xmlns:p14="http://schemas.microsoft.com/office/powerpoint/2010/main" val="5690142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039B6-8869-91C4-FBF5-476420935F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5CB83-E1D1-19DC-591B-7A0F78130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D3CCA8-FD56-8B0E-E63B-8AE5DC0246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6EAA47-E6FA-079B-7BF2-14A0154AE149}"/>
              </a:ext>
            </a:extLst>
          </p:cNvPr>
          <p:cNvSpPr>
            <a:spLocks noGrp="1"/>
          </p:cNvSpPr>
          <p:nvPr>
            <p:ph type="sldNum" sz="quarter" idx="5"/>
          </p:nvPr>
        </p:nvSpPr>
        <p:spPr/>
        <p:txBody>
          <a:bodyPr/>
          <a:lstStyle/>
          <a:p>
            <a:fld id="{6441FD76-DE94-4153-B3FD-B67D6D978815}" type="slidenum">
              <a:rPr lang="en-US" smtClean="0"/>
              <a:t>70</a:t>
            </a:fld>
            <a:endParaRPr lang="en-US"/>
          </a:p>
        </p:txBody>
      </p:sp>
    </p:spTree>
    <p:extLst>
      <p:ext uri="{BB962C8B-B14F-4D97-AF65-F5344CB8AC3E}">
        <p14:creationId xmlns:p14="http://schemas.microsoft.com/office/powerpoint/2010/main" val="354879883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BDFCC-9166-FB0D-E53A-73D5EE503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67245F-32C4-61EA-07DA-B8E261C7F6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FD9D59-BE1B-AF94-2309-4845477599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20E9BD-AC97-2CAB-B20E-1B6A27B9AAF3}"/>
              </a:ext>
            </a:extLst>
          </p:cNvPr>
          <p:cNvSpPr>
            <a:spLocks noGrp="1"/>
          </p:cNvSpPr>
          <p:nvPr>
            <p:ph type="sldNum" sz="quarter" idx="5"/>
          </p:nvPr>
        </p:nvSpPr>
        <p:spPr/>
        <p:txBody>
          <a:bodyPr/>
          <a:lstStyle/>
          <a:p>
            <a:fld id="{6441FD76-DE94-4153-B3FD-B67D6D978815}" type="slidenum">
              <a:rPr lang="en-US" smtClean="0"/>
              <a:t>71</a:t>
            </a:fld>
            <a:endParaRPr lang="en-US"/>
          </a:p>
        </p:txBody>
      </p:sp>
    </p:spTree>
    <p:extLst>
      <p:ext uri="{BB962C8B-B14F-4D97-AF65-F5344CB8AC3E}">
        <p14:creationId xmlns:p14="http://schemas.microsoft.com/office/powerpoint/2010/main" val="33942280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4E463-B344-8B5A-678B-9B4050D80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BB2A1-1B5D-39B2-F73C-9FFA6ED24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1CEDBE-E5E9-F3FF-56D9-BA3BCE842F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E4FD72-0A6C-A3F1-DA49-6D67DF96B9C7}"/>
              </a:ext>
            </a:extLst>
          </p:cNvPr>
          <p:cNvSpPr>
            <a:spLocks noGrp="1"/>
          </p:cNvSpPr>
          <p:nvPr>
            <p:ph type="sldNum" sz="quarter" idx="5"/>
          </p:nvPr>
        </p:nvSpPr>
        <p:spPr/>
        <p:txBody>
          <a:bodyPr/>
          <a:lstStyle/>
          <a:p>
            <a:fld id="{6441FD76-DE94-4153-B3FD-B67D6D978815}" type="slidenum">
              <a:rPr lang="en-US" smtClean="0"/>
              <a:t>72</a:t>
            </a:fld>
            <a:endParaRPr lang="en-US"/>
          </a:p>
        </p:txBody>
      </p:sp>
    </p:spTree>
    <p:extLst>
      <p:ext uri="{BB962C8B-B14F-4D97-AF65-F5344CB8AC3E}">
        <p14:creationId xmlns:p14="http://schemas.microsoft.com/office/powerpoint/2010/main" val="396666217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0605D-E9BD-8114-CA34-3DE54E007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CB5D6-7D94-A808-4F4C-FE729000F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D2D378-96F2-EF48-3CCA-ADD371FAA1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36B163-A015-8AA1-FFED-CA385FE19DAA}"/>
              </a:ext>
            </a:extLst>
          </p:cNvPr>
          <p:cNvSpPr>
            <a:spLocks noGrp="1"/>
          </p:cNvSpPr>
          <p:nvPr>
            <p:ph type="sldNum" sz="quarter" idx="5"/>
          </p:nvPr>
        </p:nvSpPr>
        <p:spPr/>
        <p:txBody>
          <a:bodyPr/>
          <a:lstStyle/>
          <a:p>
            <a:fld id="{6441FD76-DE94-4153-B3FD-B67D6D978815}" type="slidenum">
              <a:rPr lang="en-US" smtClean="0"/>
              <a:t>73</a:t>
            </a:fld>
            <a:endParaRPr lang="en-US"/>
          </a:p>
        </p:txBody>
      </p:sp>
    </p:spTree>
    <p:extLst>
      <p:ext uri="{BB962C8B-B14F-4D97-AF65-F5344CB8AC3E}">
        <p14:creationId xmlns:p14="http://schemas.microsoft.com/office/powerpoint/2010/main" val="87315470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E39B6-6791-1E61-BDE6-69D24A69CE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A18EB5-B8BE-978C-569D-EF865C0C2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67655E-3C5B-3156-C0AF-6243CB4354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9E8F3D-1E03-30C1-896D-0B1D39622840}"/>
              </a:ext>
            </a:extLst>
          </p:cNvPr>
          <p:cNvSpPr>
            <a:spLocks noGrp="1"/>
          </p:cNvSpPr>
          <p:nvPr>
            <p:ph type="sldNum" sz="quarter" idx="5"/>
          </p:nvPr>
        </p:nvSpPr>
        <p:spPr/>
        <p:txBody>
          <a:bodyPr/>
          <a:lstStyle/>
          <a:p>
            <a:fld id="{6441FD76-DE94-4153-B3FD-B67D6D978815}" type="slidenum">
              <a:rPr lang="en-US" smtClean="0"/>
              <a:t>74</a:t>
            </a:fld>
            <a:endParaRPr lang="en-US"/>
          </a:p>
        </p:txBody>
      </p:sp>
    </p:spTree>
    <p:extLst>
      <p:ext uri="{BB962C8B-B14F-4D97-AF65-F5344CB8AC3E}">
        <p14:creationId xmlns:p14="http://schemas.microsoft.com/office/powerpoint/2010/main" val="81566027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AC632-28A4-B4A5-E18C-19C12C7AF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669C4B-2C36-5F4D-A3AF-9BA0F2902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734E04-CC42-6077-B730-E0E889CA0B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0B656B-5DCE-7574-0A6C-953CC7CE162E}"/>
              </a:ext>
            </a:extLst>
          </p:cNvPr>
          <p:cNvSpPr>
            <a:spLocks noGrp="1"/>
          </p:cNvSpPr>
          <p:nvPr>
            <p:ph type="sldNum" sz="quarter" idx="5"/>
          </p:nvPr>
        </p:nvSpPr>
        <p:spPr/>
        <p:txBody>
          <a:bodyPr/>
          <a:lstStyle/>
          <a:p>
            <a:fld id="{6441FD76-DE94-4153-B3FD-B67D6D978815}" type="slidenum">
              <a:rPr lang="en-US" smtClean="0"/>
              <a:t>75</a:t>
            </a:fld>
            <a:endParaRPr lang="en-US"/>
          </a:p>
        </p:txBody>
      </p:sp>
    </p:spTree>
    <p:extLst>
      <p:ext uri="{BB962C8B-B14F-4D97-AF65-F5344CB8AC3E}">
        <p14:creationId xmlns:p14="http://schemas.microsoft.com/office/powerpoint/2010/main" val="169457625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98536-20EB-2407-2F81-1FF1750A11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714BEB-4845-38D3-1B82-E71BF9C329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9EEF42-E5BC-D446-4D46-9FACD9075D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DD8A56-7A4F-1268-A34F-0F6D8ED6AC29}"/>
              </a:ext>
            </a:extLst>
          </p:cNvPr>
          <p:cNvSpPr>
            <a:spLocks noGrp="1"/>
          </p:cNvSpPr>
          <p:nvPr>
            <p:ph type="sldNum" sz="quarter" idx="5"/>
          </p:nvPr>
        </p:nvSpPr>
        <p:spPr/>
        <p:txBody>
          <a:bodyPr/>
          <a:lstStyle/>
          <a:p>
            <a:fld id="{6441FD76-DE94-4153-B3FD-B67D6D978815}" type="slidenum">
              <a:rPr lang="en-US" smtClean="0"/>
              <a:t>76</a:t>
            </a:fld>
            <a:endParaRPr lang="en-US"/>
          </a:p>
        </p:txBody>
      </p:sp>
    </p:spTree>
    <p:extLst>
      <p:ext uri="{BB962C8B-B14F-4D97-AF65-F5344CB8AC3E}">
        <p14:creationId xmlns:p14="http://schemas.microsoft.com/office/powerpoint/2010/main" val="14308622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C2528-B36B-BD5F-A83E-F22CB0C75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03FE3-7094-3BE1-DE47-CE94AFA9DB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8C3329-374D-E9C9-559D-BF486EBFDF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F849EE-CB5B-56AA-5578-9D341A25F468}"/>
              </a:ext>
            </a:extLst>
          </p:cNvPr>
          <p:cNvSpPr>
            <a:spLocks noGrp="1"/>
          </p:cNvSpPr>
          <p:nvPr>
            <p:ph type="sldNum" sz="quarter" idx="5"/>
          </p:nvPr>
        </p:nvSpPr>
        <p:spPr/>
        <p:txBody>
          <a:bodyPr/>
          <a:lstStyle/>
          <a:p>
            <a:fld id="{6441FD76-DE94-4153-B3FD-B67D6D978815}" type="slidenum">
              <a:rPr lang="en-US" smtClean="0"/>
              <a:t>77</a:t>
            </a:fld>
            <a:endParaRPr lang="en-US"/>
          </a:p>
        </p:txBody>
      </p:sp>
    </p:spTree>
    <p:extLst>
      <p:ext uri="{BB962C8B-B14F-4D97-AF65-F5344CB8AC3E}">
        <p14:creationId xmlns:p14="http://schemas.microsoft.com/office/powerpoint/2010/main" val="244320493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7A45F-9F94-31B7-1DE7-1DDE74777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99E17-483E-A467-6BA2-393AF892EC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4E3270-4B92-79B4-F1C1-C6C3F6678C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2C1060-F043-A97E-D133-2D9FAAE56B9C}"/>
              </a:ext>
            </a:extLst>
          </p:cNvPr>
          <p:cNvSpPr>
            <a:spLocks noGrp="1"/>
          </p:cNvSpPr>
          <p:nvPr>
            <p:ph type="sldNum" sz="quarter" idx="5"/>
          </p:nvPr>
        </p:nvSpPr>
        <p:spPr/>
        <p:txBody>
          <a:bodyPr/>
          <a:lstStyle/>
          <a:p>
            <a:fld id="{6441FD76-DE94-4153-B3FD-B67D6D978815}" type="slidenum">
              <a:rPr lang="en-US" smtClean="0"/>
              <a:t>78</a:t>
            </a:fld>
            <a:endParaRPr lang="en-US"/>
          </a:p>
        </p:txBody>
      </p:sp>
    </p:spTree>
    <p:extLst>
      <p:ext uri="{BB962C8B-B14F-4D97-AF65-F5344CB8AC3E}">
        <p14:creationId xmlns:p14="http://schemas.microsoft.com/office/powerpoint/2010/main" val="193017873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F5D14-0133-FB02-1975-044F982A5C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CFB66-18C4-AA38-1BBD-62E2CAD886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60C31F-00EF-5DE6-B7F4-D0A0E6F7A9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DB0583-AFCA-5B78-9894-C5039CC9BD49}"/>
              </a:ext>
            </a:extLst>
          </p:cNvPr>
          <p:cNvSpPr>
            <a:spLocks noGrp="1"/>
          </p:cNvSpPr>
          <p:nvPr>
            <p:ph type="sldNum" sz="quarter" idx="5"/>
          </p:nvPr>
        </p:nvSpPr>
        <p:spPr/>
        <p:txBody>
          <a:bodyPr/>
          <a:lstStyle/>
          <a:p>
            <a:fld id="{6441FD76-DE94-4153-B3FD-B67D6D978815}" type="slidenum">
              <a:rPr lang="en-US" smtClean="0"/>
              <a:t>79</a:t>
            </a:fld>
            <a:endParaRPr lang="en-US"/>
          </a:p>
        </p:txBody>
      </p:sp>
    </p:spTree>
    <p:extLst>
      <p:ext uri="{BB962C8B-B14F-4D97-AF65-F5344CB8AC3E}">
        <p14:creationId xmlns:p14="http://schemas.microsoft.com/office/powerpoint/2010/main" val="20586169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9EE37-5E9F-DBCF-670C-0544FEDF2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782ABE-854A-4DD4-4210-486A2F1B7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8C8CB-18A9-2EA9-3F24-9D002795D9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C16FCB-3637-CBB6-0B5D-A29A22D46782}"/>
              </a:ext>
            </a:extLst>
          </p:cNvPr>
          <p:cNvSpPr>
            <a:spLocks noGrp="1"/>
          </p:cNvSpPr>
          <p:nvPr>
            <p:ph type="sldNum" sz="quarter" idx="5"/>
          </p:nvPr>
        </p:nvSpPr>
        <p:spPr/>
        <p:txBody>
          <a:bodyPr/>
          <a:lstStyle/>
          <a:p>
            <a:fld id="{6441FD76-DE94-4153-B3FD-B67D6D978815}" type="slidenum">
              <a:rPr lang="en-US" smtClean="0"/>
              <a:t>80</a:t>
            </a:fld>
            <a:endParaRPr lang="en-US"/>
          </a:p>
        </p:txBody>
      </p:sp>
    </p:spTree>
    <p:extLst>
      <p:ext uri="{BB962C8B-B14F-4D97-AF65-F5344CB8AC3E}">
        <p14:creationId xmlns:p14="http://schemas.microsoft.com/office/powerpoint/2010/main" val="32930933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C57EB-CCF5-108E-30F7-F47E0B616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2DFD4C-3097-FC5A-E25A-E93FD88AA1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D1C408-1A4D-8F4F-6026-9E7D74F086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901F0E-0576-0EBB-D16D-8F6107A64646}"/>
              </a:ext>
            </a:extLst>
          </p:cNvPr>
          <p:cNvSpPr>
            <a:spLocks noGrp="1"/>
          </p:cNvSpPr>
          <p:nvPr>
            <p:ph type="sldNum" sz="quarter" idx="5"/>
          </p:nvPr>
        </p:nvSpPr>
        <p:spPr/>
        <p:txBody>
          <a:bodyPr/>
          <a:lstStyle/>
          <a:p>
            <a:fld id="{6441FD76-DE94-4153-B3FD-B67D6D978815}" type="slidenum">
              <a:rPr lang="en-US" smtClean="0"/>
              <a:t>81</a:t>
            </a:fld>
            <a:endParaRPr lang="en-US"/>
          </a:p>
        </p:txBody>
      </p:sp>
    </p:spTree>
    <p:extLst>
      <p:ext uri="{BB962C8B-B14F-4D97-AF65-F5344CB8AC3E}">
        <p14:creationId xmlns:p14="http://schemas.microsoft.com/office/powerpoint/2010/main" val="343869775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583CF-D940-E992-49EB-85A7BD820C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3D568-76AE-9F5B-724A-E3A80A88A3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C83C9-5B4D-39FD-1A63-FE657396DC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65309F-1B2C-B78C-E972-F0A623DAE027}"/>
              </a:ext>
            </a:extLst>
          </p:cNvPr>
          <p:cNvSpPr>
            <a:spLocks noGrp="1"/>
          </p:cNvSpPr>
          <p:nvPr>
            <p:ph type="sldNum" sz="quarter" idx="5"/>
          </p:nvPr>
        </p:nvSpPr>
        <p:spPr/>
        <p:txBody>
          <a:bodyPr/>
          <a:lstStyle/>
          <a:p>
            <a:fld id="{6441FD76-DE94-4153-B3FD-B67D6D978815}" type="slidenum">
              <a:rPr lang="en-US" smtClean="0"/>
              <a:t>82</a:t>
            </a:fld>
            <a:endParaRPr lang="en-US"/>
          </a:p>
        </p:txBody>
      </p:sp>
    </p:spTree>
    <p:extLst>
      <p:ext uri="{BB962C8B-B14F-4D97-AF65-F5344CB8AC3E}">
        <p14:creationId xmlns:p14="http://schemas.microsoft.com/office/powerpoint/2010/main" val="105883462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92ED1-A8FB-B637-9E6C-D5E32306C2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CDF98-C55B-A286-E64D-6093EC5AAD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43956-EC52-A509-3417-6D64984185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CAFE2C-622F-B565-A341-07CFA7E4FFA9}"/>
              </a:ext>
            </a:extLst>
          </p:cNvPr>
          <p:cNvSpPr>
            <a:spLocks noGrp="1"/>
          </p:cNvSpPr>
          <p:nvPr>
            <p:ph type="sldNum" sz="quarter" idx="5"/>
          </p:nvPr>
        </p:nvSpPr>
        <p:spPr/>
        <p:txBody>
          <a:bodyPr/>
          <a:lstStyle/>
          <a:p>
            <a:fld id="{6441FD76-DE94-4153-B3FD-B67D6D978815}" type="slidenum">
              <a:rPr lang="en-US" smtClean="0"/>
              <a:t>83</a:t>
            </a:fld>
            <a:endParaRPr lang="en-US"/>
          </a:p>
        </p:txBody>
      </p:sp>
    </p:spTree>
    <p:extLst>
      <p:ext uri="{BB962C8B-B14F-4D97-AF65-F5344CB8AC3E}">
        <p14:creationId xmlns:p14="http://schemas.microsoft.com/office/powerpoint/2010/main" val="402289286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0407C-B68D-11DF-72C2-56CDA5F93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A0C48-0D33-DAC4-840E-8BE1892643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210E9C-D66B-BFA3-8497-0C0CB87D23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6A383B-FAA6-D77A-D2DC-D63F4AB05E6A}"/>
              </a:ext>
            </a:extLst>
          </p:cNvPr>
          <p:cNvSpPr>
            <a:spLocks noGrp="1"/>
          </p:cNvSpPr>
          <p:nvPr>
            <p:ph type="sldNum" sz="quarter" idx="5"/>
          </p:nvPr>
        </p:nvSpPr>
        <p:spPr/>
        <p:txBody>
          <a:bodyPr/>
          <a:lstStyle/>
          <a:p>
            <a:fld id="{6441FD76-DE94-4153-B3FD-B67D6D978815}" type="slidenum">
              <a:rPr lang="en-US" smtClean="0"/>
              <a:t>84</a:t>
            </a:fld>
            <a:endParaRPr lang="en-US"/>
          </a:p>
        </p:txBody>
      </p:sp>
    </p:spTree>
    <p:extLst>
      <p:ext uri="{BB962C8B-B14F-4D97-AF65-F5344CB8AC3E}">
        <p14:creationId xmlns:p14="http://schemas.microsoft.com/office/powerpoint/2010/main" val="379737063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82601-A930-D7B1-1C0D-1833B8B6D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06B6D-9B26-EB24-1FD6-6C0F2FA8D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D578BC-8F6E-B960-DCF1-23B0C1EE5D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A96C84-EA21-7EDF-01C1-5B2B8DD1B557}"/>
              </a:ext>
            </a:extLst>
          </p:cNvPr>
          <p:cNvSpPr>
            <a:spLocks noGrp="1"/>
          </p:cNvSpPr>
          <p:nvPr>
            <p:ph type="sldNum" sz="quarter" idx="5"/>
          </p:nvPr>
        </p:nvSpPr>
        <p:spPr/>
        <p:txBody>
          <a:bodyPr/>
          <a:lstStyle/>
          <a:p>
            <a:fld id="{6441FD76-DE94-4153-B3FD-B67D6D978815}" type="slidenum">
              <a:rPr lang="en-US" smtClean="0"/>
              <a:t>85</a:t>
            </a:fld>
            <a:endParaRPr lang="en-US"/>
          </a:p>
        </p:txBody>
      </p:sp>
    </p:spTree>
    <p:extLst>
      <p:ext uri="{BB962C8B-B14F-4D97-AF65-F5344CB8AC3E}">
        <p14:creationId xmlns:p14="http://schemas.microsoft.com/office/powerpoint/2010/main" val="269441799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9C70B-8834-8FF0-A9C8-52E75121D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56478-9127-731F-32B1-D9352E580D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B3A101-14D0-65A3-4C48-629F020A5E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B13F9C-256A-4CA2-F21E-23EFA81BC107}"/>
              </a:ext>
            </a:extLst>
          </p:cNvPr>
          <p:cNvSpPr>
            <a:spLocks noGrp="1"/>
          </p:cNvSpPr>
          <p:nvPr>
            <p:ph type="sldNum" sz="quarter" idx="5"/>
          </p:nvPr>
        </p:nvSpPr>
        <p:spPr/>
        <p:txBody>
          <a:bodyPr/>
          <a:lstStyle/>
          <a:p>
            <a:fld id="{6441FD76-DE94-4153-B3FD-B67D6D978815}" type="slidenum">
              <a:rPr lang="en-US" smtClean="0"/>
              <a:t>86</a:t>
            </a:fld>
            <a:endParaRPr lang="en-US"/>
          </a:p>
        </p:txBody>
      </p:sp>
    </p:spTree>
    <p:extLst>
      <p:ext uri="{BB962C8B-B14F-4D97-AF65-F5344CB8AC3E}">
        <p14:creationId xmlns:p14="http://schemas.microsoft.com/office/powerpoint/2010/main" val="305395506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AFEEE-3AA3-FD32-52D8-0BB43AB40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F5654F-CF87-622F-6517-333F6BF05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D0B3DD-E35B-62AA-702F-7CB200FF01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89F7C4-C932-12A4-02D9-DB4AE643BC67}"/>
              </a:ext>
            </a:extLst>
          </p:cNvPr>
          <p:cNvSpPr>
            <a:spLocks noGrp="1"/>
          </p:cNvSpPr>
          <p:nvPr>
            <p:ph type="sldNum" sz="quarter" idx="5"/>
          </p:nvPr>
        </p:nvSpPr>
        <p:spPr/>
        <p:txBody>
          <a:bodyPr/>
          <a:lstStyle/>
          <a:p>
            <a:fld id="{6441FD76-DE94-4153-B3FD-B67D6D978815}" type="slidenum">
              <a:rPr lang="en-US" smtClean="0"/>
              <a:t>87</a:t>
            </a:fld>
            <a:endParaRPr lang="en-US"/>
          </a:p>
        </p:txBody>
      </p:sp>
    </p:spTree>
    <p:extLst>
      <p:ext uri="{BB962C8B-B14F-4D97-AF65-F5344CB8AC3E}">
        <p14:creationId xmlns:p14="http://schemas.microsoft.com/office/powerpoint/2010/main" val="233485123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6F901-5C8A-F47B-E9E0-CEF2E48CDF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096A1-B1D5-F13F-9E51-62CD36ABDF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942F93-0C45-4A29-A5F2-A5015B93CB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7146AE-9910-E02B-A7E8-DFFA3A6BCDB3}"/>
              </a:ext>
            </a:extLst>
          </p:cNvPr>
          <p:cNvSpPr>
            <a:spLocks noGrp="1"/>
          </p:cNvSpPr>
          <p:nvPr>
            <p:ph type="sldNum" sz="quarter" idx="5"/>
          </p:nvPr>
        </p:nvSpPr>
        <p:spPr/>
        <p:txBody>
          <a:bodyPr/>
          <a:lstStyle/>
          <a:p>
            <a:fld id="{6441FD76-DE94-4153-B3FD-B67D6D978815}" type="slidenum">
              <a:rPr lang="en-US" smtClean="0"/>
              <a:t>88</a:t>
            </a:fld>
            <a:endParaRPr lang="en-US"/>
          </a:p>
        </p:txBody>
      </p:sp>
    </p:spTree>
    <p:extLst>
      <p:ext uri="{BB962C8B-B14F-4D97-AF65-F5344CB8AC3E}">
        <p14:creationId xmlns:p14="http://schemas.microsoft.com/office/powerpoint/2010/main" val="205551940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5B2F8-B066-37D5-07E6-D193CC9A5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90197-2B9A-1CFB-8732-DC55046CF6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2D6B67-62EB-889C-C200-F73322BF99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A3664D-274A-A376-49EA-DB3B9C50EB21}"/>
              </a:ext>
            </a:extLst>
          </p:cNvPr>
          <p:cNvSpPr>
            <a:spLocks noGrp="1"/>
          </p:cNvSpPr>
          <p:nvPr>
            <p:ph type="sldNum" sz="quarter" idx="5"/>
          </p:nvPr>
        </p:nvSpPr>
        <p:spPr/>
        <p:txBody>
          <a:bodyPr/>
          <a:lstStyle/>
          <a:p>
            <a:fld id="{6441FD76-DE94-4153-B3FD-B67D6D978815}" type="slidenum">
              <a:rPr lang="en-US" smtClean="0"/>
              <a:t>89</a:t>
            </a:fld>
            <a:endParaRPr lang="en-US"/>
          </a:p>
        </p:txBody>
      </p:sp>
    </p:spTree>
    <p:extLst>
      <p:ext uri="{BB962C8B-B14F-4D97-AF65-F5344CB8AC3E}">
        <p14:creationId xmlns:p14="http://schemas.microsoft.com/office/powerpoint/2010/main" val="216576593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0C157-1E8A-4035-5E7F-3E9A5260A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B6CD8-4B4E-B9B4-B19B-56502F85D3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CE2AD-4F00-1D11-6696-FE7575E6EC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1573CB-8F9A-88DE-068E-91C70BEDCCFB}"/>
              </a:ext>
            </a:extLst>
          </p:cNvPr>
          <p:cNvSpPr>
            <a:spLocks noGrp="1"/>
          </p:cNvSpPr>
          <p:nvPr>
            <p:ph type="sldNum" sz="quarter" idx="5"/>
          </p:nvPr>
        </p:nvSpPr>
        <p:spPr/>
        <p:txBody>
          <a:bodyPr/>
          <a:lstStyle/>
          <a:p>
            <a:fld id="{6441FD76-DE94-4153-B3FD-B67D6D978815}" type="slidenum">
              <a:rPr lang="en-US" smtClean="0"/>
              <a:t>90</a:t>
            </a:fld>
            <a:endParaRPr lang="en-US"/>
          </a:p>
        </p:txBody>
      </p:sp>
    </p:spTree>
    <p:extLst>
      <p:ext uri="{BB962C8B-B14F-4D97-AF65-F5344CB8AC3E}">
        <p14:creationId xmlns:p14="http://schemas.microsoft.com/office/powerpoint/2010/main" val="207940865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02FD3-FBC1-E9CC-65AF-EDB9A21EE8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1394C6-CC2B-C69B-E4F5-D6761B066F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884CF-B8C4-1463-5C59-7FD43CD41C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EBA4B1-B2E3-E75A-9541-A3728711D577}"/>
              </a:ext>
            </a:extLst>
          </p:cNvPr>
          <p:cNvSpPr>
            <a:spLocks noGrp="1"/>
          </p:cNvSpPr>
          <p:nvPr>
            <p:ph type="sldNum" sz="quarter" idx="5"/>
          </p:nvPr>
        </p:nvSpPr>
        <p:spPr/>
        <p:txBody>
          <a:bodyPr/>
          <a:lstStyle/>
          <a:p>
            <a:fld id="{6441FD76-DE94-4153-B3FD-B67D6D978815}" type="slidenum">
              <a:rPr lang="en-US" smtClean="0"/>
              <a:t>91</a:t>
            </a:fld>
            <a:endParaRPr lang="en-US"/>
          </a:p>
        </p:txBody>
      </p:sp>
    </p:spTree>
    <p:extLst>
      <p:ext uri="{BB962C8B-B14F-4D97-AF65-F5344CB8AC3E}">
        <p14:creationId xmlns:p14="http://schemas.microsoft.com/office/powerpoint/2010/main" val="291529818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CD7FA-3042-2DD0-756D-E1D5070D9B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024BA-0FBE-19D8-2A60-C60629F059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D0D157-0F01-6280-D912-50DF366261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3E774C-6AB6-099D-DDAF-D7E6D1F0DC23}"/>
              </a:ext>
            </a:extLst>
          </p:cNvPr>
          <p:cNvSpPr>
            <a:spLocks noGrp="1"/>
          </p:cNvSpPr>
          <p:nvPr>
            <p:ph type="sldNum" sz="quarter" idx="5"/>
          </p:nvPr>
        </p:nvSpPr>
        <p:spPr/>
        <p:txBody>
          <a:bodyPr/>
          <a:lstStyle/>
          <a:p>
            <a:fld id="{6441FD76-DE94-4153-B3FD-B67D6D978815}" type="slidenum">
              <a:rPr lang="en-US" smtClean="0"/>
              <a:t>92</a:t>
            </a:fld>
            <a:endParaRPr lang="en-US"/>
          </a:p>
        </p:txBody>
      </p:sp>
    </p:spTree>
    <p:extLst>
      <p:ext uri="{BB962C8B-B14F-4D97-AF65-F5344CB8AC3E}">
        <p14:creationId xmlns:p14="http://schemas.microsoft.com/office/powerpoint/2010/main" val="213408321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8E8E4-991F-0F00-56A8-47C2B48BA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8B225-0B5C-EF9A-F650-CD63B665B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5D1019-FB5F-898A-8240-5BAF7F27D0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F33904-EE50-ADD1-8D67-7822A561886B}"/>
              </a:ext>
            </a:extLst>
          </p:cNvPr>
          <p:cNvSpPr>
            <a:spLocks noGrp="1"/>
          </p:cNvSpPr>
          <p:nvPr>
            <p:ph type="sldNum" sz="quarter" idx="5"/>
          </p:nvPr>
        </p:nvSpPr>
        <p:spPr/>
        <p:txBody>
          <a:bodyPr/>
          <a:lstStyle/>
          <a:p>
            <a:fld id="{6441FD76-DE94-4153-B3FD-B67D6D978815}" type="slidenum">
              <a:rPr lang="en-US" smtClean="0"/>
              <a:t>93</a:t>
            </a:fld>
            <a:endParaRPr lang="en-US"/>
          </a:p>
        </p:txBody>
      </p:sp>
    </p:spTree>
    <p:extLst>
      <p:ext uri="{BB962C8B-B14F-4D97-AF65-F5344CB8AC3E}">
        <p14:creationId xmlns:p14="http://schemas.microsoft.com/office/powerpoint/2010/main" val="318783406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E889E-D4C1-91B4-1ED7-760B5F93A9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CDD93C-87EE-7D7E-7440-34E52D265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4E3F3-98B3-AC96-EF32-541FDB3D06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3336F2-BC68-AE00-F7C8-21D7387408FC}"/>
              </a:ext>
            </a:extLst>
          </p:cNvPr>
          <p:cNvSpPr>
            <a:spLocks noGrp="1"/>
          </p:cNvSpPr>
          <p:nvPr>
            <p:ph type="sldNum" sz="quarter" idx="5"/>
          </p:nvPr>
        </p:nvSpPr>
        <p:spPr/>
        <p:txBody>
          <a:bodyPr/>
          <a:lstStyle/>
          <a:p>
            <a:fld id="{6441FD76-DE94-4153-B3FD-B67D6D978815}" type="slidenum">
              <a:rPr lang="en-US" smtClean="0"/>
              <a:t>94</a:t>
            </a:fld>
            <a:endParaRPr lang="en-US"/>
          </a:p>
        </p:txBody>
      </p:sp>
    </p:spTree>
    <p:extLst>
      <p:ext uri="{BB962C8B-B14F-4D97-AF65-F5344CB8AC3E}">
        <p14:creationId xmlns:p14="http://schemas.microsoft.com/office/powerpoint/2010/main" val="58511373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800BC-3772-EFA2-900F-51734F1109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CEE20-3DB5-8780-4D32-B7F6C11C8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59A45-C86F-4032-5813-9615640F7A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55E7F2-0C71-E3B9-E371-6776E4CC663B}"/>
              </a:ext>
            </a:extLst>
          </p:cNvPr>
          <p:cNvSpPr>
            <a:spLocks noGrp="1"/>
          </p:cNvSpPr>
          <p:nvPr>
            <p:ph type="sldNum" sz="quarter" idx="5"/>
          </p:nvPr>
        </p:nvSpPr>
        <p:spPr/>
        <p:txBody>
          <a:bodyPr/>
          <a:lstStyle/>
          <a:p>
            <a:fld id="{6441FD76-DE94-4153-B3FD-B67D6D978815}" type="slidenum">
              <a:rPr lang="en-US" smtClean="0"/>
              <a:t>95</a:t>
            </a:fld>
            <a:endParaRPr lang="en-US"/>
          </a:p>
        </p:txBody>
      </p:sp>
    </p:spTree>
    <p:extLst>
      <p:ext uri="{BB962C8B-B14F-4D97-AF65-F5344CB8AC3E}">
        <p14:creationId xmlns:p14="http://schemas.microsoft.com/office/powerpoint/2010/main" val="421662730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B90FD-9881-9F64-C8C7-1CE677070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41237-F640-7E7F-8BF5-E4946D018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0BDB76-0311-48CE-E611-A1BB829631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C34D3D-93A9-CEE0-7C78-6ADAB5647660}"/>
              </a:ext>
            </a:extLst>
          </p:cNvPr>
          <p:cNvSpPr>
            <a:spLocks noGrp="1"/>
          </p:cNvSpPr>
          <p:nvPr>
            <p:ph type="sldNum" sz="quarter" idx="5"/>
          </p:nvPr>
        </p:nvSpPr>
        <p:spPr/>
        <p:txBody>
          <a:bodyPr/>
          <a:lstStyle/>
          <a:p>
            <a:fld id="{6441FD76-DE94-4153-B3FD-B67D6D978815}" type="slidenum">
              <a:rPr lang="en-US" smtClean="0"/>
              <a:t>96</a:t>
            </a:fld>
            <a:endParaRPr lang="en-US"/>
          </a:p>
        </p:txBody>
      </p:sp>
    </p:spTree>
    <p:extLst>
      <p:ext uri="{BB962C8B-B14F-4D97-AF65-F5344CB8AC3E}">
        <p14:creationId xmlns:p14="http://schemas.microsoft.com/office/powerpoint/2010/main" val="11945238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F8845-EB69-4BA3-1672-B7219A736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881C2-E5E0-45F0-6FCB-EF8E3CE5EC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460414-3997-F513-2B4B-6FA8F5091F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EE4F16-90E5-C668-AB4A-95FF4D07A82B}"/>
              </a:ext>
            </a:extLst>
          </p:cNvPr>
          <p:cNvSpPr>
            <a:spLocks noGrp="1"/>
          </p:cNvSpPr>
          <p:nvPr>
            <p:ph type="sldNum" sz="quarter" idx="5"/>
          </p:nvPr>
        </p:nvSpPr>
        <p:spPr/>
        <p:txBody>
          <a:bodyPr/>
          <a:lstStyle/>
          <a:p>
            <a:fld id="{6441FD76-DE94-4153-B3FD-B67D6D978815}" type="slidenum">
              <a:rPr lang="en-US" smtClean="0"/>
              <a:t>97</a:t>
            </a:fld>
            <a:endParaRPr lang="en-US"/>
          </a:p>
        </p:txBody>
      </p:sp>
    </p:spTree>
    <p:extLst>
      <p:ext uri="{BB962C8B-B14F-4D97-AF65-F5344CB8AC3E}">
        <p14:creationId xmlns:p14="http://schemas.microsoft.com/office/powerpoint/2010/main" val="14565484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F26C9-E953-7A47-AFB9-BF319F029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BF7DA4-886C-4D6C-8F14-D2C96B834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A3D9D1-77C8-C69F-B35A-8111E41685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075F3C-738C-070F-31D6-92545EDFABF1}"/>
              </a:ext>
            </a:extLst>
          </p:cNvPr>
          <p:cNvSpPr>
            <a:spLocks noGrp="1"/>
          </p:cNvSpPr>
          <p:nvPr>
            <p:ph type="sldNum" sz="quarter" idx="5"/>
          </p:nvPr>
        </p:nvSpPr>
        <p:spPr/>
        <p:txBody>
          <a:bodyPr/>
          <a:lstStyle/>
          <a:p>
            <a:fld id="{6441FD76-DE94-4153-B3FD-B67D6D978815}" type="slidenum">
              <a:rPr lang="en-US" smtClean="0"/>
              <a:t>98</a:t>
            </a:fld>
            <a:endParaRPr lang="en-US"/>
          </a:p>
        </p:txBody>
      </p:sp>
    </p:spTree>
    <p:extLst>
      <p:ext uri="{BB962C8B-B14F-4D97-AF65-F5344CB8AC3E}">
        <p14:creationId xmlns:p14="http://schemas.microsoft.com/office/powerpoint/2010/main" val="329380710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04D1E-2396-12EF-F4D3-602CF5A777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FA799-2BE3-7F75-2974-7E6D737D6B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B39DC-55A0-DC55-0EBE-52F1BF983C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A19424-0CCA-8108-D490-C68EC71CFA53}"/>
              </a:ext>
            </a:extLst>
          </p:cNvPr>
          <p:cNvSpPr>
            <a:spLocks noGrp="1"/>
          </p:cNvSpPr>
          <p:nvPr>
            <p:ph type="sldNum" sz="quarter" idx="5"/>
          </p:nvPr>
        </p:nvSpPr>
        <p:spPr/>
        <p:txBody>
          <a:bodyPr/>
          <a:lstStyle/>
          <a:p>
            <a:fld id="{6441FD76-DE94-4153-B3FD-B67D6D978815}" type="slidenum">
              <a:rPr lang="en-US" smtClean="0"/>
              <a:t>99</a:t>
            </a:fld>
            <a:endParaRPr lang="en-US"/>
          </a:p>
        </p:txBody>
      </p:sp>
    </p:spTree>
    <p:extLst>
      <p:ext uri="{BB962C8B-B14F-4D97-AF65-F5344CB8AC3E}">
        <p14:creationId xmlns:p14="http://schemas.microsoft.com/office/powerpoint/2010/main" val="141016121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4BA99-8329-C6C5-6E30-5E7F3981A8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E65A16-1E2B-79E5-E663-0D0894A562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FBBE73-90C4-A75E-1A12-8C2D6F6849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154D4D-400F-F04E-B185-4B8E773E31D0}"/>
              </a:ext>
            </a:extLst>
          </p:cNvPr>
          <p:cNvSpPr>
            <a:spLocks noGrp="1"/>
          </p:cNvSpPr>
          <p:nvPr>
            <p:ph type="sldNum" sz="quarter" idx="5"/>
          </p:nvPr>
        </p:nvSpPr>
        <p:spPr/>
        <p:txBody>
          <a:bodyPr/>
          <a:lstStyle/>
          <a:p>
            <a:fld id="{6441FD76-DE94-4153-B3FD-B67D6D978815}" type="slidenum">
              <a:rPr lang="en-US" smtClean="0"/>
              <a:t>100</a:t>
            </a:fld>
            <a:endParaRPr lang="en-US"/>
          </a:p>
        </p:txBody>
      </p:sp>
    </p:spTree>
    <p:extLst>
      <p:ext uri="{BB962C8B-B14F-4D97-AF65-F5344CB8AC3E}">
        <p14:creationId xmlns:p14="http://schemas.microsoft.com/office/powerpoint/2010/main" val="300255606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89FBF-AEF3-A7A8-94E1-1D4524CCD5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780440-9B0F-7231-7431-8B5850A4AB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F3C377-4351-A1AE-AF03-E6771F1D95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38DDB4-53A4-311F-2476-4FEFDB875D75}"/>
              </a:ext>
            </a:extLst>
          </p:cNvPr>
          <p:cNvSpPr>
            <a:spLocks noGrp="1"/>
          </p:cNvSpPr>
          <p:nvPr>
            <p:ph type="sldNum" sz="quarter" idx="5"/>
          </p:nvPr>
        </p:nvSpPr>
        <p:spPr/>
        <p:txBody>
          <a:bodyPr/>
          <a:lstStyle/>
          <a:p>
            <a:fld id="{6441FD76-DE94-4153-B3FD-B67D6D978815}" type="slidenum">
              <a:rPr lang="en-US" smtClean="0"/>
              <a:t>101</a:t>
            </a:fld>
            <a:endParaRPr lang="en-US"/>
          </a:p>
        </p:txBody>
      </p:sp>
    </p:spTree>
    <p:extLst>
      <p:ext uri="{BB962C8B-B14F-4D97-AF65-F5344CB8AC3E}">
        <p14:creationId xmlns:p14="http://schemas.microsoft.com/office/powerpoint/2010/main" val="160031741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88120-9C5B-3CDA-AB9B-8E1EF5FBF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9BAC0-4C53-C11C-2EFD-721C293E84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6CF45-D9E8-F4F6-6244-855E7C01E2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A5772D-8349-EE5C-A5DB-22E3B2AFF6C5}"/>
              </a:ext>
            </a:extLst>
          </p:cNvPr>
          <p:cNvSpPr>
            <a:spLocks noGrp="1"/>
          </p:cNvSpPr>
          <p:nvPr>
            <p:ph type="sldNum" sz="quarter" idx="5"/>
          </p:nvPr>
        </p:nvSpPr>
        <p:spPr/>
        <p:txBody>
          <a:bodyPr/>
          <a:lstStyle/>
          <a:p>
            <a:fld id="{6441FD76-DE94-4153-B3FD-B67D6D978815}" type="slidenum">
              <a:rPr lang="en-US" smtClean="0"/>
              <a:t>102</a:t>
            </a:fld>
            <a:endParaRPr lang="en-US"/>
          </a:p>
        </p:txBody>
      </p:sp>
    </p:spTree>
    <p:extLst>
      <p:ext uri="{BB962C8B-B14F-4D97-AF65-F5344CB8AC3E}">
        <p14:creationId xmlns:p14="http://schemas.microsoft.com/office/powerpoint/2010/main" val="314136314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10BA7-EAAB-5CB2-E136-DA05D1AB2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151288-2C8D-E44F-B7FD-6C6CAE7B9C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E69A1C-FB9C-E9E0-41D3-BC2E87118C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98115A-0D1F-9B61-F5A3-084E13956C13}"/>
              </a:ext>
            </a:extLst>
          </p:cNvPr>
          <p:cNvSpPr>
            <a:spLocks noGrp="1"/>
          </p:cNvSpPr>
          <p:nvPr>
            <p:ph type="sldNum" sz="quarter" idx="5"/>
          </p:nvPr>
        </p:nvSpPr>
        <p:spPr/>
        <p:txBody>
          <a:bodyPr/>
          <a:lstStyle/>
          <a:p>
            <a:fld id="{6441FD76-DE94-4153-B3FD-B67D6D978815}" type="slidenum">
              <a:rPr lang="en-US" smtClean="0"/>
              <a:t>103</a:t>
            </a:fld>
            <a:endParaRPr lang="en-US"/>
          </a:p>
        </p:txBody>
      </p:sp>
    </p:spTree>
    <p:extLst>
      <p:ext uri="{BB962C8B-B14F-4D97-AF65-F5344CB8AC3E}">
        <p14:creationId xmlns:p14="http://schemas.microsoft.com/office/powerpoint/2010/main" val="37499123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303BA-831A-7771-AEAA-F46827AE3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51DE2-3CF1-8FBC-5E83-D5BA2B807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ECDE2F-41BD-6B59-E981-0F7673CAC7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CCC118-B6B3-3147-4B1F-F268FB21E191}"/>
              </a:ext>
            </a:extLst>
          </p:cNvPr>
          <p:cNvSpPr>
            <a:spLocks noGrp="1"/>
          </p:cNvSpPr>
          <p:nvPr>
            <p:ph type="sldNum" sz="quarter" idx="5"/>
          </p:nvPr>
        </p:nvSpPr>
        <p:spPr/>
        <p:txBody>
          <a:bodyPr/>
          <a:lstStyle/>
          <a:p>
            <a:fld id="{6441FD76-DE94-4153-B3FD-B67D6D978815}" type="slidenum">
              <a:rPr lang="en-US" smtClean="0"/>
              <a:t>104</a:t>
            </a:fld>
            <a:endParaRPr lang="en-US"/>
          </a:p>
        </p:txBody>
      </p:sp>
    </p:spTree>
    <p:extLst>
      <p:ext uri="{BB962C8B-B14F-4D97-AF65-F5344CB8AC3E}">
        <p14:creationId xmlns:p14="http://schemas.microsoft.com/office/powerpoint/2010/main" val="95506331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246E7-420B-9D65-58FF-C7575D94C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7EE70-42D5-D351-68DF-6C6F5E325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C1B34B-FA4E-FBA4-BC9D-641C894AD7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28F2C6-F27A-83DD-2FAC-278EF206068E}"/>
              </a:ext>
            </a:extLst>
          </p:cNvPr>
          <p:cNvSpPr>
            <a:spLocks noGrp="1"/>
          </p:cNvSpPr>
          <p:nvPr>
            <p:ph type="sldNum" sz="quarter" idx="5"/>
          </p:nvPr>
        </p:nvSpPr>
        <p:spPr/>
        <p:txBody>
          <a:bodyPr/>
          <a:lstStyle/>
          <a:p>
            <a:fld id="{6441FD76-DE94-4153-B3FD-B67D6D978815}" type="slidenum">
              <a:rPr lang="en-US" smtClean="0"/>
              <a:t>105</a:t>
            </a:fld>
            <a:endParaRPr lang="en-US"/>
          </a:p>
        </p:txBody>
      </p:sp>
    </p:spTree>
    <p:extLst>
      <p:ext uri="{BB962C8B-B14F-4D97-AF65-F5344CB8AC3E}">
        <p14:creationId xmlns:p14="http://schemas.microsoft.com/office/powerpoint/2010/main" val="37269812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C5C00-2C5C-3A39-6BE2-A3822FBF89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7E023-C772-41F7-04A4-D7315E98DE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94C8F4-97AD-C434-D16C-CDBC5DCB99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A539E2-FB9C-5568-F434-66A39A71BEA8}"/>
              </a:ext>
            </a:extLst>
          </p:cNvPr>
          <p:cNvSpPr>
            <a:spLocks noGrp="1"/>
          </p:cNvSpPr>
          <p:nvPr>
            <p:ph type="sldNum" sz="quarter" idx="5"/>
          </p:nvPr>
        </p:nvSpPr>
        <p:spPr/>
        <p:txBody>
          <a:bodyPr/>
          <a:lstStyle/>
          <a:p>
            <a:fld id="{6441FD76-DE94-4153-B3FD-B67D6D978815}" type="slidenum">
              <a:rPr lang="en-US" smtClean="0"/>
              <a:t>106</a:t>
            </a:fld>
            <a:endParaRPr lang="en-US"/>
          </a:p>
        </p:txBody>
      </p:sp>
    </p:spTree>
    <p:extLst>
      <p:ext uri="{BB962C8B-B14F-4D97-AF65-F5344CB8AC3E}">
        <p14:creationId xmlns:p14="http://schemas.microsoft.com/office/powerpoint/2010/main" val="176163065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C59BB-67F7-1D16-A10E-2B42391E7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4B008F-AC60-3EDE-6AD3-AF4EF2020F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6BCC33-D6DE-08E8-0966-D0E773DAA8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7E029C-1019-EB73-65D6-4A865450B6D0}"/>
              </a:ext>
            </a:extLst>
          </p:cNvPr>
          <p:cNvSpPr>
            <a:spLocks noGrp="1"/>
          </p:cNvSpPr>
          <p:nvPr>
            <p:ph type="sldNum" sz="quarter" idx="5"/>
          </p:nvPr>
        </p:nvSpPr>
        <p:spPr/>
        <p:txBody>
          <a:bodyPr/>
          <a:lstStyle/>
          <a:p>
            <a:fld id="{6441FD76-DE94-4153-B3FD-B67D6D978815}" type="slidenum">
              <a:rPr lang="en-US" smtClean="0"/>
              <a:t>107</a:t>
            </a:fld>
            <a:endParaRPr lang="en-US"/>
          </a:p>
        </p:txBody>
      </p:sp>
    </p:spTree>
    <p:extLst>
      <p:ext uri="{BB962C8B-B14F-4D97-AF65-F5344CB8AC3E}">
        <p14:creationId xmlns:p14="http://schemas.microsoft.com/office/powerpoint/2010/main" val="132751175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50300-11DC-D87A-1407-BC240CDF4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903F55-7B1D-D761-D138-646DE2583A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663952-B9DB-1F0F-37BE-E1C8EEE5A2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E85FFC-B3F8-3133-0ED7-1CF885BFBEFC}"/>
              </a:ext>
            </a:extLst>
          </p:cNvPr>
          <p:cNvSpPr>
            <a:spLocks noGrp="1"/>
          </p:cNvSpPr>
          <p:nvPr>
            <p:ph type="sldNum" sz="quarter" idx="5"/>
          </p:nvPr>
        </p:nvSpPr>
        <p:spPr/>
        <p:txBody>
          <a:bodyPr/>
          <a:lstStyle/>
          <a:p>
            <a:fld id="{6441FD76-DE94-4153-B3FD-B67D6D978815}" type="slidenum">
              <a:rPr lang="en-US" smtClean="0"/>
              <a:t>108</a:t>
            </a:fld>
            <a:endParaRPr lang="en-US"/>
          </a:p>
        </p:txBody>
      </p:sp>
    </p:spTree>
    <p:extLst>
      <p:ext uri="{BB962C8B-B14F-4D97-AF65-F5344CB8AC3E}">
        <p14:creationId xmlns:p14="http://schemas.microsoft.com/office/powerpoint/2010/main" val="298255284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43048-BE81-011D-D54E-A9AACFBE1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29ED26-4672-8FB7-609D-9227D6AB32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56941B-9E02-D3D7-3789-0A92108534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96663D-7E29-DC09-231A-7F6A761ACBAC}"/>
              </a:ext>
            </a:extLst>
          </p:cNvPr>
          <p:cNvSpPr>
            <a:spLocks noGrp="1"/>
          </p:cNvSpPr>
          <p:nvPr>
            <p:ph type="sldNum" sz="quarter" idx="5"/>
          </p:nvPr>
        </p:nvSpPr>
        <p:spPr/>
        <p:txBody>
          <a:bodyPr/>
          <a:lstStyle/>
          <a:p>
            <a:fld id="{6441FD76-DE94-4153-B3FD-B67D6D978815}" type="slidenum">
              <a:rPr lang="en-US" smtClean="0"/>
              <a:t>109</a:t>
            </a:fld>
            <a:endParaRPr lang="en-US"/>
          </a:p>
        </p:txBody>
      </p:sp>
    </p:spTree>
    <p:extLst>
      <p:ext uri="{BB962C8B-B14F-4D97-AF65-F5344CB8AC3E}">
        <p14:creationId xmlns:p14="http://schemas.microsoft.com/office/powerpoint/2010/main" val="192160358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56736-F8B5-AE1E-D971-679712925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8F57FA-121D-E812-D3C4-E44BC27B2D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4545D-C5BE-8E05-1943-7E7751237B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C4D074-8D6C-6197-97D8-8DD3D7D58592}"/>
              </a:ext>
            </a:extLst>
          </p:cNvPr>
          <p:cNvSpPr>
            <a:spLocks noGrp="1"/>
          </p:cNvSpPr>
          <p:nvPr>
            <p:ph type="sldNum" sz="quarter" idx="5"/>
          </p:nvPr>
        </p:nvSpPr>
        <p:spPr/>
        <p:txBody>
          <a:bodyPr/>
          <a:lstStyle/>
          <a:p>
            <a:fld id="{6441FD76-DE94-4153-B3FD-B67D6D978815}" type="slidenum">
              <a:rPr lang="en-US" smtClean="0"/>
              <a:t>110</a:t>
            </a:fld>
            <a:endParaRPr lang="en-US"/>
          </a:p>
        </p:txBody>
      </p:sp>
    </p:spTree>
    <p:extLst>
      <p:ext uri="{BB962C8B-B14F-4D97-AF65-F5344CB8AC3E}">
        <p14:creationId xmlns:p14="http://schemas.microsoft.com/office/powerpoint/2010/main" val="211280847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F698F-CEFD-A75F-DA24-4436BD726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CD703C-D7EB-FC8B-B44A-4C5CC7BA2A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4FE425-908D-3168-83F0-45CEFFB5FF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C1E5B1-4905-4105-01A0-19C8BD404792}"/>
              </a:ext>
            </a:extLst>
          </p:cNvPr>
          <p:cNvSpPr>
            <a:spLocks noGrp="1"/>
          </p:cNvSpPr>
          <p:nvPr>
            <p:ph type="sldNum" sz="quarter" idx="5"/>
          </p:nvPr>
        </p:nvSpPr>
        <p:spPr/>
        <p:txBody>
          <a:bodyPr/>
          <a:lstStyle/>
          <a:p>
            <a:fld id="{6441FD76-DE94-4153-B3FD-B67D6D978815}" type="slidenum">
              <a:rPr lang="en-US" smtClean="0"/>
              <a:t>111</a:t>
            </a:fld>
            <a:endParaRPr lang="en-US"/>
          </a:p>
        </p:txBody>
      </p:sp>
    </p:spTree>
    <p:extLst>
      <p:ext uri="{BB962C8B-B14F-4D97-AF65-F5344CB8AC3E}">
        <p14:creationId xmlns:p14="http://schemas.microsoft.com/office/powerpoint/2010/main" val="36200334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FED0-2CFA-122C-C081-71049A1C09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75F7B-6D23-2783-E02E-685AEE9FBA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AC65A-9B97-4EDD-869A-6957C712D5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C8752A-8265-2453-15D8-05E5B0D07C57}"/>
              </a:ext>
            </a:extLst>
          </p:cNvPr>
          <p:cNvSpPr>
            <a:spLocks noGrp="1"/>
          </p:cNvSpPr>
          <p:nvPr>
            <p:ph type="sldNum" sz="quarter" idx="5"/>
          </p:nvPr>
        </p:nvSpPr>
        <p:spPr/>
        <p:txBody>
          <a:bodyPr/>
          <a:lstStyle/>
          <a:p>
            <a:fld id="{6441FD76-DE94-4153-B3FD-B67D6D978815}" type="slidenum">
              <a:rPr lang="en-US" smtClean="0"/>
              <a:t>112</a:t>
            </a:fld>
            <a:endParaRPr lang="en-US"/>
          </a:p>
        </p:txBody>
      </p:sp>
    </p:spTree>
    <p:extLst>
      <p:ext uri="{BB962C8B-B14F-4D97-AF65-F5344CB8AC3E}">
        <p14:creationId xmlns:p14="http://schemas.microsoft.com/office/powerpoint/2010/main" val="278704468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BDEC9-9278-E0F7-05B3-2D517BC2B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45864E-A53A-CC7D-9430-27D42C23F3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690B80-8C11-7D57-B861-611EE18270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B12E13-8524-5B23-D75C-C6E30C0895FF}"/>
              </a:ext>
            </a:extLst>
          </p:cNvPr>
          <p:cNvSpPr>
            <a:spLocks noGrp="1"/>
          </p:cNvSpPr>
          <p:nvPr>
            <p:ph type="sldNum" sz="quarter" idx="5"/>
          </p:nvPr>
        </p:nvSpPr>
        <p:spPr/>
        <p:txBody>
          <a:bodyPr/>
          <a:lstStyle/>
          <a:p>
            <a:fld id="{6441FD76-DE94-4153-B3FD-B67D6D978815}" type="slidenum">
              <a:rPr lang="en-US" smtClean="0"/>
              <a:t>113</a:t>
            </a:fld>
            <a:endParaRPr lang="en-US"/>
          </a:p>
        </p:txBody>
      </p:sp>
    </p:spTree>
    <p:extLst>
      <p:ext uri="{BB962C8B-B14F-4D97-AF65-F5344CB8AC3E}">
        <p14:creationId xmlns:p14="http://schemas.microsoft.com/office/powerpoint/2010/main" val="46907201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D07C5-D761-2191-50FE-FFF95A8D0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CC9146-1A5E-D539-2011-2A8D18940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F5719-0DB9-E3CD-7237-3AB7D56AA2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79CE7C-FEC6-EEFF-DE59-53026F970E1C}"/>
              </a:ext>
            </a:extLst>
          </p:cNvPr>
          <p:cNvSpPr>
            <a:spLocks noGrp="1"/>
          </p:cNvSpPr>
          <p:nvPr>
            <p:ph type="sldNum" sz="quarter" idx="5"/>
          </p:nvPr>
        </p:nvSpPr>
        <p:spPr/>
        <p:txBody>
          <a:bodyPr/>
          <a:lstStyle/>
          <a:p>
            <a:fld id="{6441FD76-DE94-4153-B3FD-B67D6D978815}" type="slidenum">
              <a:rPr lang="en-US" smtClean="0"/>
              <a:t>114</a:t>
            </a:fld>
            <a:endParaRPr lang="en-US"/>
          </a:p>
        </p:txBody>
      </p:sp>
    </p:spTree>
    <p:extLst>
      <p:ext uri="{BB962C8B-B14F-4D97-AF65-F5344CB8AC3E}">
        <p14:creationId xmlns:p14="http://schemas.microsoft.com/office/powerpoint/2010/main" val="157045961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30538-85DA-2235-C744-4C50F0081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31C1E0-7942-150E-51E9-1208387D8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FF8773-E8B8-9B27-EA11-882B574CC4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435A54-528F-0FA9-8075-98CDA971AEA5}"/>
              </a:ext>
            </a:extLst>
          </p:cNvPr>
          <p:cNvSpPr>
            <a:spLocks noGrp="1"/>
          </p:cNvSpPr>
          <p:nvPr>
            <p:ph type="sldNum" sz="quarter" idx="5"/>
          </p:nvPr>
        </p:nvSpPr>
        <p:spPr/>
        <p:txBody>
          <a:bodyPr/>
          <a:lstStyle/>
          <a:p>
            <a:fld id="{6441FD76-DE94-4153-B3FD-B67D6D978815}" type="slidenum">
              <a:rPr lang="en-US" smtClean="0"/>
              <a:t>115</a:t>
            </a:fld>
            <a:endParaRPr lang="en-US"/>
          </a:p>
        </p:txBody>
      </p:sp>
    </p:spTree>
    <p:extLst>
      <p:ext uri="{BB962C8B-B14F-4D97-AF65-F5344CB8AC3E}">
        <p14:creationId xmlns:p14="http://schemas.microsoft.com/office/powerpoint/2010/main" val="79418323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C70DE-9DA6-B912-147A-0031FD4B7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60847-2029-C0F4-756A-F7727EF8F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D6DDA0-C490-411F-1DD1-91D81678DA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40FCC3-42AE-C214-0A03-3271A57BCCED}"/>
              </a:ext>
            </a:extLst>
          </p:cNvPr>
          <p:cNvSpPr>
            <a:spLocks noGrp="1"/>
          </p:cNvSpPr>
          <p:nvPr>
            <p:ph type="sldNum" sz="quarter" idx="5"/>
          </p:nvPr>
        </p:nvSpPr>
        <p:spPr/>
        <p:txBody>
          <a:bodyPr/>
          <a:lstStyle/>
          <a:p>
            <a:fld id="{6441FD76-DE94-4153-B3FD-B67D6D978815}" type="slidenum">
              <a:rPr lang="en-US" smtClean="0"/>
              <a:t>116</a:t>
            </a:fld>
            <a:endParaRPr lang="en-US"/>
          </a:p>
        </p:txBody>
      </p:sp>
    </p:spTree>
    <p:extLst>
      <p:ext uri="{BB962C8B-B14F-4D97-AF65-F5344CB8AC3E}">
        <p14:creationId xmlns:p14="http://schemas.microsoft.com/office/powerpoint/2010/main" val="2979660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0656285-711C-4ACB-A7CC-5B3DA8A0BA68}"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305D4F-14F8-40F5-86C0-9E3EF6F96AEC}" type="slidenum">
              <a:rPr lang="en-US" smtClean="0"/>
              <a:t>‹#›</a:t>
            </a:fld>
            <a:endParaRPr lang="en-US"/>
          </a:p>
        </p:txBody>
      </p:sp>
    </p:spTree>
    <p:extLst>
      <p:ext uri="{BB962C8B-B14F-4D97-AF65-F5344CB8AC3E}">
        <p14:creationId xmlns:p14="http://schemas.microsoft.com/office/powerpoint/2010/main" val="2985343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CUI">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0656285-711C-4ACB-A7CC-5B3DA8A0BA68}"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305D4F-14F8-40F5-86C0-9E3EF6F96AEC}" type="slidenum">
              <a:rPr lang="en-US" smtClean="0"/>
              <a:t>‹#›</a:t>
            </a:fld>
            <a:endParaRPr lang="en-US"/>
          </a:p>
        </p:txBody>
      </p:sp>
      <p:sp>
        <p:nvSpPr>
          <p:cNvPr id="7" name="Rectangle 6">
            <a:extLst>
              <a:ext uri="{FF2B5EF4-FFF2-40B4-BE49-F238E27FC236}">
                <a16:creationId xmlns:a16="http://schemas.microsoft.com/office/drawing/2014/main" id="{D868D661-FBB7-58C7-B591-A700FC8C81D7}"/>
              </a:ext>
            </a:extLst>
          </p:cNvPr>
          <p:cNvSpPr/>
          <p:nvPr userDrawn="1"/>
        </p:nvSpPr>
        <p:spPr>
          <a:xfrm>
            <a:off x="4887423" y="7249274"/>
            <a:ext cx="553945" cy="180046"/>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342916"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a:ln>
                  <a:noFill/>
                </a:ln>
                <a:solidFill>
                  <a:schemeClr val="tx1"/>
                </a:solidFill>
                <a:effectLst/>
                <a:uLnTx/>
                <a:uFillTx/>
                <a:latin typeface="+mj-lt"/>
                <a:ea typeface="+mn-ea"/>
                <a:cs typeface="Times New Roman" panose="02020603050405020304" pitchFamily="18" charset="0"/>
              </a:rPr>
              <a:t>CUI</a:t>
            </a:r>
          </a:p>
        </p:txBody>
      </p:sp>
      <p:sp>
        <p:nvSpPr>
          <p:cNvPr id="8" name="Rectangle 7">
            <a:extLst>
              <a:ext uri="{FF2B5EF4-FFF2-40B4-BE49-F238E27FC236}">
                <a16:creationId xmlns:a16="http://schemas.microsoft.com/office/drawing/2014/main" id="{6E410A4C-6724-6937-F237-EC3847C4B928}"/>
              </a:ext>
            </a:extLst>
          </p:cNvPr>
          <p:cNvSpPr/>
          <p:nvPr userDrawn="1"/>
        </p:nvSpPr>
        <p:spPr>
          <a:xfrm>
            <a:off x="4887422" y="163034"/>
            <a:ext cx="553945" cy="180046"/>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342916"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a:ln>
                  <a:noFill/>
                </a:ln>
                <a:solidFill>
                  <a:schemeClr val="tx1"/>
                </a:solidFill>
                <a:effectLst/>
                <a:uLnTx/>
                <a:uFillTx/>
                <a:latin typeface="+mj-lt"/>
                <a:ea typeface="+mn-ea"/>
                <a:cs typeface="Times New Roman" panose="02020603050405020304" pitchFamily="18" charset="0"/>
              </a:rPr>
              <a:t>CUI</a:t>
            </a:r>
          </a:p>
        </p:txBody>
      </p:sp>
    </p:spTree>
    <p:extLst>
      <p:ext uri="{BB962C8B-B14F-4D97-AF65-F5344CB8AC3E}">
        <p14:creationId xmlns:p14="http://schemas.microsoft.com/office/powerpoint/2010/main" val="476122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Purpose &amp; Agenda">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853BCF8-512E-442D-B61C-D4E03E6E78DF}"/>
              </a:ext>
            </a:extLst>
          </p:cNvPr>
          <p:cNvSpPr/>
          <p:nvPr userDrawn="1"/>
        </p:nvSpPr>
        <p:spPr>
          <a:xfrm>
            <a:off x="4855224" y="4107630"/>
            <a:ext cx="5193323" cy="148365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889E486-61F3-74BE-7173-9113F843B71E}"/>
              </a:ext>
            </a:extLst>
          </p:cNvPr>
          <p:cNvSpPr/>
          <p:nvPr userDrawn="1"/>
        </p:nvSpPr>
        <p:spPr>
          <a:xfrm>
            <a:off x="4855224" y="3703619"/>
            <a:ext cx="5193323" cy="395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F313B9D-B6A8-3E8C-EC62-6247625051DA}"/>
              </a:ext>
            </a:extLst>
          </p:cNvPr>
          <p:cNvSpPr/>
          <p:nvPr userDrawn="1"/>
        </p:nvSpPr>
        <p:spPr>
          <a:xfrm>
            <a:off x="4855224" y="1590636"/>
            <a:ext cx="5193323" cy="395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72676FE-A481-F504-037E-8182A27E5E58}"/>
              </a:ext>
            </a:extLst>
          </p:cNvPr>
          <p:cNvSpPr txBox="1"/>
          <p:nvPr userDrawn="1"/>
        </p:nvSpPr>
        <p:spPr>
          <a:xfrm>
            <a:off x="6772072" y="1566983"/>
            <a:ext cx="1359626" cy="369332"/>
          </a:xfrm>
          <a:prstGeom prst="rect">
            <a:avLst/>
          </a:prstGeom>
          <a:noFill/>
        </p:spPr>
        <p:txBody>
          <a:bodyPr wrap="square" rtlCol="0">
            <a:spAutoFit/>
          </a:bodyPr>
          <a:lstStyle/>
          <a:p>
            <a:r>
              <a:rPr lang="en-US" sz="1800" b="1">
                <a:solidFill>
                  <a:schemeClr val="bg1"/>
                </a:solidFill>
              </a:rPr>
              <a:t>Purpose:</a:t>
            </a:r>
          </a:p>
        </p:txBody>
      </p:sp>
      <p:sp>
        <p:nvSpPr>
          <p:cNvPr id="2" name="Text Placeholder 28">
            <a:extLst>
              <a:ext uri="{FF2B5EF4-FFF2-40B4-BE49-F238E27FC236}">
                <a16:creationId xmlns:a16="http://schemas.microsoft.com/office/drawing/2014/main" id="{F127D036-1FE9-59C6-0F37-B804C6419621}"/>
              </a:ext>
            </a:extLst>
          </p:cNvPr>
          <p:cNvSpPr>
            <a:spLocks noGrp="1"/>
          </p:cNvSpPr>
          <p:nvPr>
            <p:ph type="body" sz="quarter" idx="10"/>
          </p:nvPr>
        </p:nvSpPr>
        <p:spPr>
          <a:xfrm>
            <a:off x="5809951" y="812548"/>
            <a:ext cx="4238597" cy="427038"/>
          </a:xfrm>
          <a:prstGeom prst="rect">
            <a:avLst/>
          </a:prstGeom>
        </p:spPr>
        <p:txBody>
          <a:bodyPr/>
          <a:lstStyle>
            <a:lvl1pPr marL="0" indent="0" algn="r">
              <a:buNone/>
              <a:defRPr sz="1200">
                <a:solidFill>
                  <a:srgbClr val="C9AD62"/>
                </a:solidFill>
                <a:latin typeface="Raleway Black" pitchFamily="2" charset="0"/>
              </a:defRPr>
            </a:lvl1pPr>
          </a:lstStyle>
          <a:p>
            <a:pPr lvl="0"/>
            <a:r>
              <a:rPr lang="en-US" dirty="0"/>
              <a:t>Click to edit Master text styles</a:t>
            </a:r>
          </a:p>
        </p:txBody>
      </p:sp>
      <p:sp>
        <p:nvSpPr>
          <p:cNvPr id="3" name="Title 11">
            <a:extLst>
              <a:ext uri="{FF2B5EF4-FFF2-40B4-BE49-F238E27FC236}">
                <a16:creationId xmlns:a16="http://schemas.microsoft.com/office/drawing/2014/main" id="{934A65DC-326B-E6F0-5816-F32C91AD147C}"/>
              </a:ext>
            </a:extLst>
          </p:cNvPr>
          <p:cNvSpPr>
            <a:spLocks noGrp="1" noRot="1" noMove="1" noResize="1" noEditPoints="1" noAdjustHandles="1" noChangeArrowheads="1" noChangeShapeType="1"/>
          </p:cNvSpPr>
          <p:nvPr>
            <p:ph type="title"/>
          </p:nvPr>
        </p:nvSpPr>
        <p:spPr>
          <a:xfrm>
            <a:off x="2436168" y="313476"/>
            <a:ext cx="7612380" cy="427039"/>
          </a:xfrm>
          <a:prstGeom prst="rect">
            <a:avLst/>
          </a:prstGeom>
        </p:spPr>
        <p:txBody>
          <a:bodyPr/>
          <a:lstStyle>
            <a:lvl1pPr algn="r">
              <a:defRPr sz="2400">
                <a:latin typeface="Raleway Black" pitchFamily="2" charset="0"/>
              </a:defRPr>
            </a:lvl1pPr>
          </a:lstStyle>
          <a:p>
            <a:r>
              <a:rPr lang="en-US" dirty="0"/>
              <a:t>Click to edit Master title style</a:t>
            </a:r>
          </a:p>
        </p:txBody>
      </p:sp>
      <p:sp>
        <p:nvSpPr>
          <p:cNvPr id="6" name="Rectangle: Rounded Corners 5">
            <a:extLst>
              <a:ext uri="{FF2B5EF4-FFF2-40B4-BE49-F238E27FC236}">
                <a16:creationId xmlns:a16="http://schemas.microsoft.com/office/drawing/2014/main" id="{FC9DB60A-42AE-DDD4-9B8A-34E3BD84F212}"/>
              </a:ext>
            </a:extLst>
          </p:cNvPr>
          <p:cNvSpPr/>
          <p:nvPr userDrawn="1"/>
        </p:nvSpPr>
        <p:spPr>
          <a:xfrm>
            <a:off x="4855224" y="5850279"/>
            <a:ext cx="361546" cy="301971"/>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6FBD181-EB4E-AF05-2B25-1DBC856A938C}"/>
              </a:ext>
            </a:extLst>
          </p:cNvPr>
          <p:cNvSpPr txBox="1"/>
          <p:nvPr userDrawn="1"/>
        </p:nvSpPr>
        <p:spPr>
          <a:xfrm>
            <a:off x="5183360" y="5856459"/>
            <a:ext cx="1094057" cy="307777"/>
          </a:xfrm>
          <a:prstGeom prst="rect">
            <a:avLst/>
          </a:prstGeom>
          <a:noFill/>
        </p:spPr>
        <p:txBody>
          <a:bodyPr wrap="square" rtlCol="0">
            <a:spAutoFit/>
          </a:bodyPr>
          <a:lstStyle/>
          <a:p>
            <a:r>
              <a:rPr lang="en-US" sz="1400"/>
              <a:t>Information</a:t>
            </a:r>
          </a:p>
        </p:txBody>
      </p:sp>
      <p:sp>
        <p:nvSpPr>
          <p:cNvPr id="13" name="TextBox 12">
            <a:extLst>
              <a:ext uri="{FF2B5EF4-FFF2-40B4-BE49-F238E27FC236}">
                <a16:creationId xmlns:a16="http://schemas.microsoft.com/office/drawing/2014/main" id="{E0626EF5-744D-7C77-7ECB-0EA6FD3FF807}"/>
              </a:ext>
            </a:extLst>
          </p:cNvPr>
          <p:cNvSpPr txBox="1"/>
          <p:nvPr userDrawn="1"/>
        </p:nvSpPr>
        <p:spPr>
          <a:xfrm>
            <a:off x="9429740" y="5868181"/>
            <a:ext cx="665589" cy="307777"/>
          </a:xfrm>
          <a:prstGeom prst="rect">
            <a:avLst/>
          </a:prstGeom>
          <a:noFill/>
        </p:spPr>
        <p:txBody>
          <a:bodyPr wrap="square" rtlCol="0">
            <a:spAutoFit/>
          </a:bodyPr>
          <a:lstStyle/>
          <a:p>
            <a:r>
              <a:rPr lang="en-US" sz="1400"/>
              <a:t>Other</a:t>
            </a:r>
          </a:p>
        </p:txBody>
      </p:sp>
      <p:sp>
        <p:nvSpPr>
          <p:cNvPr id="21" name="Rectangle 20">
            <a:extLst>
              <a:ext uri="{FF2B5EF4-FFF2-40B4-BE49-F238E27FC236}">
                <a16:creationId xmlns:a16="http://schemas.microsoft.com/office/drawing/2014/main" id="{79C578B2-3380-A9AD-D7DB-A0D310A19A09}"/>
              </a:ext>
            </a:extLst>
          </p:cNvPr>
          <p:cNvSpPr/>
          <p:nvPr userDrawn="1"/>
        </p:nvSpPr>
        <p:spPr>
          <a:xfrm>
            <a:off x="4855224" y="1985683"/>
            <a:ext cx="5193323" cy="148365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50EAFB2F-149E-0559-08FC-192CE92C3784}"/>
              </a:ext>
            </a:extLst>
          </p:cNvPr>
          <p:cNvSpPr/>
          <p:nvPr userDrawn="1"/>
        </p:nvSpPr>
        <p:spPr>
          <a:xfrm>
            <a:off x="6345997" y="5862265"/>
            <a:ext cx="361546" cy="301971"/>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A336493-53DD-6D12-72EA-27C763DDFF6A}"/>
              </a:ext>
            </a:extLst>
          </p:cNvPr>
          <p:cNvSpPr txBox="1"/>
          <p:nvPr userDrawn="1"/>
        </p:nvSpPr>
        <p:spPr>
          <a:xfrm>
            <a:off x="6661175" y="5873987"/>
            <a:ext cx="1083567" cy="307777"/>
          </a:xfrm>
          <a:prstGeom prst="rect">
            <a:avLst/>
          </a:prstGeom>
          <a:noFill/>
        </p:spPr>
        <p:txBody>
          <a:bodyPr wrap="square" rtlCol="0">
            <a:spAutoFit/>
          </a:bodyPr>
          <a:lstStyle/>
          <a:p>
            <a:r>
              <a:rPr lang="en-US" sz="1400"/>
              <a:t>Guidance</a:t>
            </a:r>
          </a:p>
        </p:txBody>
      </p:sp>
      <p:sp>
        <p:nvSpPr>
          <p:cNvPr id="16" name="Rectangle: Rounded Corners 15">
            <a:extLst>
              <a:ext uri="{FF2B5EF4-FFF2-40B4-BE49-F238E27FC236}">
                <a16:creationId xmlns:a16="http://schemas.microsoft.com/office/drawing/2014/main" id="{2CC2F697-A0A9-8A98-B11F-90BC1A4A9041}"/>
              </a:ext>
            </a:extLst>
          </p:cNvPr>
          <p:cNvSpPr/>
          <p:nvPr userDrawn="1"/>
        </p:nvSpPr>
        <p:spPr>
          <a:xfrm>
            <a:off x="7772268" y="5862265"/>
            <a:ext cx="361546" cy="301971"/>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7A2908D-D113-2F89-8EE3-D8690592C1A0}"/>
              </a:ext>
            </a:extLst>
          </p:cNvPr>
          <p:cNvSpPr txBox="1"/>
          <p:nvPr userDrawn="1"/>
        </p:nvSpPr>
        <p:spPr>
          <a:xfrm>
            <a:off x="8099169" y="5873987"/>
            <a:ext cx="910155" cy="307777"/>
          </a:xfrm>
          <a:prstGeom prst="rect">
            <a:avLst/>
          </a:prstGeom>
          <a:noFill/>
        </p:spPr>
        <p:txBody>
          <a:bodyPr wrap="square" rtlCol="0">
            <a:spAutoFit/>
          </a:bodyPr>
          <a:lstStyle/>
          <a:p>
            <a:r>
              <a:rPr lang="en-US" sz="1400"/>
              <a:t>Decision</a:t>
            </a:r>
          </a:p>
        </p:txBody>
      </p:sp>
      <p:sp>
        <p:nvSpPr>
          <p:cNvPr id="18" name="Rectangle: Rounded Corners 17">
            <a:extLst>
              <a:ext uri="{FF2B5EF4-FFF2-40B4-BE49-F238E27FC236}">
                <a16:creationId xmlns:a16="http://schemas.microsoft.com/office/drawing/2014/main" id="{E6056261-293F-80E0-548F-08F121B0E9A1}"/>
              </a:ext>
            </a:extLst>
          </p:cNvPr>
          <p:cNvSpPr/>
          <p:nvPr userDrawn="1"/>
        </p:nvSpPr>
        <p:spPr>
          <a:xfrm>
            <a:off x="9100287" y="5873987"/>
            <a:ext cx="361546" cy="301971"/>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1">
            <a:extLst>
              <a:ext uri="{FF2B5EF4-FFF2-40B4-BE49-F238E27FC236}">
                <a16:creationId xmlns:a16="http://schemas.microsoft.com/office/drawing/2014/main" id="{7A2C510C-92A8-232A-FEAC-1A88DFBF8ADC}"/>
              </a:ext>
            </a:extLst>
          </p:cNvPr>
          <p:cNvSpPr txBox="1"/>
          <p:nvPr userDrawn="1"/>
        </p:nvSpPr>
        <p:spPr>
          <a:xfrm>
            <a:off x="6816639" y="3684024"/>
            <a:ext cx="1270492"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800" b="1">
                <a:solidFill>
                  <a:schemeClr val="bg1"/>
                </a:solidFill>
              </a:rPr>
              <a:t>Agenda</a:t>
            </a:r>
            <a:r>
              <a:rPr lang="en-US" sz="2000" b="1">
                <a:solidFill>
                  <a:schemeClr val="bg1"/>
                </a:solidFill>
              </a:rPr>
              <a:t>:</a:t>
            </a:r>
          </a:p>
        </p:txBody>
      </p:sp>
      <p:sp>
        <p:nvSpPr>
          <p:cNvPr id="4" name="Slide Number Placeholder 5">
            <a:extLst>
              <a:ext uri="{FF2B5EF4-FFF2-40B4-BE49-F238E27FC236}">
                <a16:creationId xmlns:a16="http://schemas.microsoft.com/office/drawing/2014/main" id="{F487EB35-0994-80B3-0D5D-AE183C54898C}"/>
              </a:ext>
            </a:extLst>
          </p:cNvPr>
          <p:cNvSpPr>
            <a:spLocks noGrp="1"/>
          </p:cNvSpPr>
          <p:nvPr userDrawn="1"/>
        </p:nvSpPr>
        <p:spPr>
          <a:xfrm>
            <a:off x="9906000" y="7335979"/>
            <a:ext cx="457200" cy="414338"/>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rgbClr val="C9AD62"/>
                </a:solidFill>
                <a:latin typeface="Raleway Black"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65700FE-BCEC-4E84-BA78-D55E132666CC}" type="slidenum">
              <a:rPr lang="en-US" sz="1200" smtClean="0"/>
              <a:pPr/>
              <a:t>‹#›</a:t>
            </a:fld>
            <a:endParaRPr lang="en-US" sz="1200" dirty="0"/>
          </a:p>
        </p:txBody>
      </p:sp>
    </p:spTree>
    <p:extLst>
      <p:ext uri="{BB962C8B-B14F-4D97-AF65-F5344CB8AC3E}">
        <p14:creationId xmlns:p14="http://schemas.microsoft.com/office/powerpoint/2010/main" val="1927413631"/>
      </p:ext>
    </p:extLst>
  </p:cSld>
  <p:clrMapOvr>
    <a:masterClrMapping/>
  </p:clrMapOvr>
  <p:extLst>
    <p:ext uri="{DCECCB84-F9BA-43D5-87BE-67443E8EF086}">
      <p15:sldGuideLst xmlns:p15="http://schemas.microsoft.com/office/powerpoint/2012/main">
        <p15:guide id="1" orient="horz" pos="2448">
          <p15:clr>
            <a:srgbClr val="FBAE40"/>
          </p15:clr>
        </p15:guide>
        <p15:guide id="2" pos="326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Purpose &amp; Agenda CUI">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853BCF8-512E-442D-B61C-D4E03E6E78DF}"/>
              </a:ext>
            </a:extLst>
          </p:cNvPr>
          <p:cNvSpPr/>
          <p:nvPr userDrawn="1"/>
        </p:nvSpPr>
        <p:spPr>
          <a:xfrm>
            <a:off x="4855224" y="4107630"/>
            <a:ext cx="5193323" cy="148365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889E486-61F3-74BE-7173-9113F843B71E}"/>
              </a:ext>
            </a:extLst>
          </p:cNvPr>
          <p:cNvSpPr/>
          <p:nvPr userDrawn="1"/>
        </p:nvSpPr>
        <p:spPr>
          <a:xfrm>
            <a:off x="4855224" y="3703619"/>
            <a:ext cx="5193323" cy="395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F313B9D-B6A8-3E8C-EC62-6247625051DA}"/>
              </a:ext>
            </a:extLst>
          </p:cNvPr>
          <p:cNvSpPr/>
          <p:nvPr userDrawn="1"/>
        </p:nvSpPr>
        <p:spPr>
          <a:xfrm>
            <a:off x="4855224" y="1590636"/>
            <a:ext cx="5193323" cy="395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72676FE-A481-F504-037E-8182A27E5E58}"/>
              </a:ext>
            </a:extLst>
          </p:cNvPr>
          <p:cNvSpPr txBox="1"/>
          <p:nvPr userDrawn="1"/>
        </p:nvSpPr>
        <p:spPr>
          <a:xfrm>
            <a:off x="6772072" y="1566983"/>
            <a:ext cx="1359626" cy="369332"/>
          </a:xfrm>
          <a:prstGeom prst="rect">
            <a:avLst/>
          </a:prstGeom>
          <a:noFill/>
        </p:spPr>
        <p:txBody>
          <a:bodyPr wrap="square" rtlCol="0">
            <a:spAutoFit/>
          </a:bodyPr>
          <a:lstStyle/>
          <a:p>
            <a:r>
              <a:rPr lang="en-US" sz="1800" b="1">
                <a:solidFill>
                  <a:schemeClr val="bg1"/>
                </a:solidFill>
              </a:rPr>
              <a:t>Purpose:</a:t>
            </a:r>
          </a:p>
        </p:txBody>
      </p:sp>
      <p:sp>
        <p:nvSpPr>
          <p:cNvPr id="2" name="Text Placeholder 28">
            <a:extLst>
              <a:ext uri="{FF2B5EF4-FFF2-40B4-BE49-F238E27FC236}">
                <a16:creationId xmlns:a16="http://schemas.microsoft.com/office/drawing/2014/main" id="{F127D036-1FE9-59C6-0F37-B804C6419621}"/>
              </a:ext>
            </a:extLst>
          </p:cNvPr>
          <p:cNvSpPr>
            <a:spLocks noGrp="1"/>
          </p:cNvSpPr>
          <p:nvPr>
            <p:ph type="body" sz="quarter" idx="10"/>
          </p:nvPr>
        </p:nvSpPr>
        <p:spPr>
          <a:xfrm>
            <a:off x="5809951" y="812548"/>
            <a:ext cx="4238597" cy="427038"/>
          </a:xfrm>
          <a:prstGeom prst="rect">
            <a:avLst/>
          </a:prstGeom>
        </p:spPr>
        <p:txBody>
          <a:bodyPr/>
          <a:lstStyle>
            <a:lvl1pPr marL="0" indent="0" algn="r">
              <a:buNone/>
              <a:defRPr sz="1200">
                <a:solidFill>
                  <a:srgbClr val="C9AD62"/>
                </a:solidFill>
                <a:latin typeface="Raleway Black" pitchFamily="2" charset="0"/>
              </a:defRPr>
            </a:lvl1pPr>
          </a:lstStyle>
          <a:p>
            <a:pPr lvl="0"/>
            <a:r>
              <a:rPr lang="en-US" dirty="0"/>
              <a:t>Click to edit Master text styles</a:t>
            </a:r>
          </a:p>
        </p:txBody>
      </p:sp>
      <p:sp>
        <p:nvSpPr>
          <p:cNvPr id="3" name="Title 11">
            <a:extLst>
              <a:ext uri="{FF2B5EF4-FFF2-40B4-BE49-F238E27FC236}">
                <a16:creationId xmlns:a16="http://schemas.microsoft.com/office/drawing/2014/main" id="{934A65DC-326B-E6F0-5816-F32C91AD147C}"/>
              </a:ext>
            </a:extLst>
          </p:cNvPr>
          <p:cNvSpPr>
            <a:spLocks noGrp="1"/>
          </p:cNvSpPr>
          <p:nvPr>
            <p:ph type="title"/>
          </p:nvPr>
        </p:nvSpPr>
        <p:spPr>
          <a:xfrm>
            <a:off x="2436168" y="313476"/>
            <a:ext cx="7612380" cy="427039"/>
          </a:xfrm>
          <a:prstGeom prst="rect">
            <a:avLst/>
          </a:prstGeom>
        </p:spPr>
        <p:txBody>
          <a:bodyPr/>
          <a:lstStyle>
            <a:lvl1pPr algn="r">
              <a:defRPr sz="2400" baseline="0">
                <a:latin typeface="Raleway Black" pitchFamily="2" charset="0"/>
              </a:defRPr>
            </a:lvl1pPr>
          </a:lstStyle>
          <a:p>
            <a:r>
              <a:rPr lang="en-US" dirty="0"/>
              <a:t>Click to edit Master title style</a:t>
            </a:r>
          </a:p>
        </p:txBody>
      </p:sp>
      <p:sp>
        <p:nvSpPr>
          <p:cNvPr id="6" name="Rectangle: Rounded Corners 5">
            <a:extLst>
              <a:ext uri="{FF2B5EF4-FFF2-40B4-BE49-F238E27FC236}">
                <a16:creationId xmlns:a16="http://schemas.microsoft.com/office/drawing/2014/main" id="{FC9DB60A-42AE-DDD4-9B8A-34E3BD84F212}"/>
              </a:ext>
            </a:extLst>
          </p:cNvPr>
          <p:cNvSpPr/>
          <p:nvPr userDrawn="1"/>
        </p:nvSpPr>
        <p:spPr>
          <a:xfrm>
            <a:off x="4855224" y="5850279"/>
            <a:ext cx="361546" cy="301971"/>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6FBD181-EB4E-AF05-2B25-1DBC856A938C}"/>
              </a:ext>
            </a:extLst>
          </p:cNvPr>
          <p:cNvSpPr txBox="1"/>
          <p:nvPr userDrawn="1"/>
        </p:nvSpPr>
        <p:spPr>
          <a:xfrm>
            <a:off x="5183360" y="5856459"/>
            <a:ext cx="1094057" cy="307777"/>
          </a:xfrm>
          <a:prstGeom prst="rect">
            <a:avLst/>
          </a:prstGeom>
          <a:noFill/>
        </p:spPr>
        <p:txBody>
          <a:bodyPr wrap="square" rtlCol="0">
            <a:spAutoFit/>
          </a:bodyPr>
          <a:lstStyle/>
          <a:p>
            <a:r>
              <a:rPr lang="en-US" sz="1400"/>
              <a:t>Information</a:t>
            </a:r>
          </a:p>
        </p:txBody>
      </p:sp>
      <p:sp>
        <p:nvSpPr>
          <p:cNvPr id="13" name="TextBox 12">
            <a:extLst>
              <a:ext uri="{FF2B5EF4-FFF2-40B4-BE49-F238E27FC236}">
                <a16:creationId xmlns:a16="http://schemas.microsoft.com/office/drawing/2014/main" id="{E0626EF5-744D-7C77-7ECB-0EA6FD3FF807}"/>
              </a:ext>
            </a:extLst>
          </p:cNvPr>
          <p:cNvSpPr txBox="1"/>
          <p:nvPr userDrawn="1"/>
        </p:nvSpPr>
        <p:spPr>
          <a:xfrm>
            <a:off x="9429740" y="5868181"/>
            <a:ext cx="665589" cy="307777"/>
          </a:xfrm>
          <a:prstGeom prst="rect">
            <a:avLst/>
          </a:prstGeom>
          <a:noFill/>
        </p:spPr>
        <p:txBody>
          <a:bodyPr wrap="square" rtlCol="0">
            <a:spAutoFit/>
          </a:bodyPr>
          <a:lstStyle/>
          <a:p>
            <a:r>
              <a:rPr lang="en-US" sz="1400"/>
              <a:t>Other</a:t>
            </a:r>
          </a:p>
        </p:txBody>
      </p:sp>
      <p:sp>
        <p:nvSpPr>
          <p:cNvPr id="21" name="Rectangle 20">
            <a:extLst>
              <a:ext uri="{FF2B5EF4-FFF2-40B4-BE49-F238E27FC236}">
                <a16:creationId xmlns:a16="http://schemas.microsoft.com/office/drawing/2014/main" id="{79C578B2-3380-A9AD-D7DB-A0D310A19A09}"/>
              </a:ext>
            </a:extLst>
          </p:cNvPr>
          <p:cNvSpPr/>
          <p:nvPr userDrawn="1"/>
        </p:nvSpPr>
        <p:spPr>
          <a:xfrm>
            <a:off x="4855224" y="1985683"/>
            <a:ext cx="5193323" cy="148365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50EAFB2F-149E-0559-08FC-192CE92C3784}"/>
              </a:ext>
            </a:extLst>
          </p:cNvPr>
          <p:cNvSpPr/>
          <p:nvPr userDrawn="1"/>
        </p:nvSpPr>
        <p:spPr>
          <a:xfrm>
            <a:off x="6345997" y="5862265"/>
            <a:ext cx="361546" cy="301971"/>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A336493-53DD-6D12-72EA-27C763DDFF6A}"/>
              </a:ext>
            </a:extLst>
          </p:cNvPr>
          <p:cNvSpPr txBox="1"/>
          <p:nvPr userDrawn="1"/>
        </p:nvSpPr>
        <p:spPr>
          <a:xfrm>
            <a:off x="6661175" y="5873987"/>
            <a:ext cx="1083567" cy="307777"/>
          </a:xfrm>
          <a:prstGeom prst="rect">
            <a:avLst/>
          </a:prstGeom>
          <a:noFill/>
        </p:spPr>
        <p:txBody>
          <a:bodyPr wrap="square" rtlCol="0">
            <a:spAutoFit/>
          </a:bodyPr>
          <a:lstStyle/>
          <a:p>
            <a:r>
              <a:rPr lang="en-US" sz="1400"/>
              <a:t>Guidance</a:t>
            </a:r>
          </a:p>
        </p:txBody>
      </p:sp>
      <p:sp>
        <p:nvSpPr>
          <p:cNvPr id="16" name="Rectangle: Rounded Corners 15">
            <a:extLst>
              <a:ext uri="{FF2B5EF4-FFF2-40B4-BE49-F238E27FC236}">
                <a16:creationId xmlns:a16="http://schemas.microsoft.com/office/drawing/2014/main" id="{2CC2F697-A0A9-8A98-B11F-90BC1A4A9041}"/>
              </a:ext>
            </a:extLst>
          </p:cNvPr>
          <p:cNvSpPr/>
          <p:nvPr userDrawn="1"/>
        </p:nvSpPr>
        <p:spPr>
          <a:xfrm>
            <a:off x="7772268" y="5862265"/>
            <a:ext cx="361546" cy="301971"/>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7A2908D-D113-2F89-8EE3-D8690592C1A0}"/>
              </a:ext>
            </a:extLst>
          </p:cNvPr>
          <p:cNvSpPr txBox="1"/>
          <p:nvPr userDrawn="1"/>
        </p:nvSpPr>
        <p:spPr>
          <a:xfrm>
            <a:off x="8099169" y="5873987"/>
            <a:ext cx="910155" cy="307777"/>
          </a:xfrm>
          <a:prstGeom prst="rect">
            <a:avLst/>
          </a:prstGeom>
          <a:noFill/>
        </p:spPr>
        <p:txBody>
          <a:bodyPr wrap="square" rtlCol="0">
            <a:spAutoFit/>
          </a:bodyPr>
          <a:lstStyle/>
          <a:p>
            <a:r>
              <a:rPr lang="en-US" sz="1400"/>
              <a:t>Decision</a:t>
            </a:r>
          </a:p>
        </p:txBody>
      </p:sp>
      <p:sp>
        <p:nvSpPr>
          <p:cNvPr id="18" name="Rectangle: Rounded Corners 17">
            <a:extLst>
              <a:ext uri="{FF2B5EF4-FFF2-40B4-BE49-F238E27FC236}">
                <a16:creationId xmlns:a16="http://schemas.microsoft.com/office/drawing/2014/main" id="{E6056261-293F-80E0-548F-08F121B0E9A1}"/>
              </a:ext>
            </a:extLst>
          </p:cNvPr>
          <p:cNvSpPr/>
          <p:nvPr userDrawn="1"/>
        </p:nvSpPr>
        <p:spPr>
          <a:xfrm>
            <a:off x="9100287" y="5873987"/>
            <a:ext cx="361546" cy="301971"/>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1">
            <a:extLst>
              <a:ext uri="{FF2B5EF4-FFF2-40B4-BE49-F238E27FC236}">
                <a16:creationId xmlns:a16="http://schemas.microsoft.com/office/drawing/2014/main" id="{7A2C510C-92A8-232A-FEAC-1A88DFBF8ADC}"/>
              </a:ext>
            </a:extLst>
          </p:cNvPr>
          <p:cNvSpPr txBox="1"/>
          <p:nvPr userDrawn="1"/>
        </p:nvSpPr>
        <p:spPr>
          <a:xfrm>
            <a:off x="6816639" y="3684024"/>
            <a:ext cx="1270492"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800" b="1">
                <a:solidFill>
                  <a:schemeClr val="bg1"/>
                </a:solidFill>
              </a:rPr>
              <a:t>Agenda</a:t>
            </a:r>
            <a:r>
              <a:rPr lang="en-US" sz="2000" b="1">
                <a:solidFill>
                  <a:schemeClr val="bg1"/>
                </a:solidFill>
              </a:rPr>
              <a:t>:</a:t>
            </a:r>
          </a:p>
        </p:txBody>
      </p:sp>
      <p:sp>
        <p:nvSpPr>
          <p:cNvPr id="4" name="Rectangle 3">
            <a:extLst>
              <a:ext uri="{FF2B5EF4-FFF2-40B4-BE49-F238E27FC236}">
                <a16:creationId xmlns:a16="http://schemas.microsoft.com/office/drawing/2014/main" id="{EE42D65B-6278-F9C3-701B-9B27A0B29149}"/>
              </a:ext>
            </a:extLst>
          </p:cNvPr>
          <p:cNvSpPr/>
          <p:nvPr userDrawn="1"/>
        </p:nvSpPr>
        <p:spPr>
          <a:xfrm>
            <a:off x="4759024" y="7278878"/>
            <a:ext cx="553945" cy="180046"/>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342916"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chemeClr val="tx1"/>
                </a:solidFill>
                <a:effectLst/>
                <a:uLnTx/>
                <a:uFillTx/>
                <a:latin typeface="+mj-lt"/>
                <a:ea typeface="+mn-ea"/>
                <a:cs typeface="Times New Roman" panose="02020603050405020304" pitchFamily="18" charset="0"/>
              </a:rPr>
              <a:t>CUI</a:t>
            </a:r>
          </a:p>
        </p:txBody>
      </p:sp>
      <p:sp>
        <p:nvSpPr>
          <p:cNvPr id="5" name="Rectangle 4">
            <a:extLst>
              <a:ext uri="{FF2B5EF4-FFF2-40B4-BE49-F238E27FC236}">
                <a16:creationId xmlns:a16="http://schemas.microsoft.com/office/drawing/2014/main" id="{CED70738-0568-0687-CC02-0A133EE93C7F}"/>
              </a:ext>
            </a:extLst>
          </p:cNvPr>
          <p:cNvSpPr/>
          <p:nvPr userDrawn="1"/>
        </p:nvSpPr>
        <p:spPr>
          <a:xfrm>
            <a:off x="4759024" y="81559"/>
            <a:ext cx="553945" cy="180046"/>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342916"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a:ln>
                  <a:noFill/>
                </a:ln>
                <a:solidFill>
                  <a:schemeClr val="tx1"/>
                </a:solidFill>
                <a:effectLst/>
                <a:uLnTx/>
                <a:uFillTx/>
                <a:latin typeface="+mj-lt"/>
                <a:ea typeface="+mn-ea"/>
                <a:cs typeface="Times New Roman" panose="02020603050405020304" pitchFamily="18" charset="0"/>
              </a:rPr>
              <a:t>CUI</a:t>
            </a:r>
          </a:p>
        </p:txBody>
      </p:sp>
      <p:sp>
        <p:nvSpPr>
          <p:cNvPr id="7" name="Slide Number Placeholder 5">
            <a:extLst>
              <a:ext uri="{FF2B5EF4-FFF2-40B4-BE49-F238E27FC236}">
                <a16:creationId xmlns:a16="http://schemas.microsoft.com/office/drawing/2014/main" id="{8A82B912-0345-0685-3315-3ECE6AAC3BFC}"/>
              </a:ext>
            </a:extLst>
          </p:cNvPr>
          <p:cNvSpPr>
            <a:spLocks noGrp="1"/>
          </p:cNvSpPr>
          <p:nvPr userDrawn="1"/>
        </p:nvSpPr>
        <p:spPr>
          <a:xfrm>
            <a:off x="9906000" y="7335979"/>
            <a:ext cx="457200" cy="414338"/>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rgbClr val="C9AD62"/>
                </a:solidFill>
                <a:latin typeface="Raleway Black"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65700FE-BCEC-4E84-BA78-D55E132666CC}" type="slidenum">
              <a:rPr lang="en-US" sz="1200" smtClean="0"/>
              <a:pPr/>
              <a:t>‹#›</a:t>
            </a:fld>
            <a:endParaRPr lang="en-US" sz="1200" dirty="0"/>
          </a:p>
        </p:txBody>
      </p:sp>
    </p:spTree>
    <p:extLst>
      <p:ext uri="{BB962C8B-B14F-4D97-AF65-F5344CB8AC3E}">
        <p14:creationId xmlns:p14="http://schemas.microsoft.com/office/powerpoint/2010/main" val="3024539586"/>
      </p:ext>
    </p:extLst>
  </p:cSld>
  <p:clrMapOvr>
    <a:masterClrMapping/>
  </p:clrMapOvr>
  <p:extLst>
    <p:ext uri="{DCECCB84-F9BA-43D5-87BE-67443E8EF086}">
      <p15:sldGuideLst xmlns:p15="http://schemas.microsoft.com/office/powerpoint/2012/main">
        <p15:guide id="1" orient="horz" pos="2448">
          <p15:clr>
            <a:srgbClr val="FBAE40"/>
          </p15:clr>
        </p15:guide>
        <p15:guide id="2" pos="326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Content Slide">
    <p:spTree>
      <p:nvGrpSpPr>
        <p:cNvPr id="1" name=""/>
        <p:cNvGrpSpPr/>
        <p:nvPr/>
      </p:nvGrpSpPr>
      <p:grpSpPr>
        <a:xfrm>
          <a:off x="0" y="0"/>
          <a:ext cx="0" cy="0"/>
          <a:chOff x="0" y="0"/>
          <a:chExt cx="0" cy="0"/>
        </a:xfrm>
      </p:grpSpPr>
      <p:sp>
        <p:nvSpPr>
          <p:cNvPr id="2" name="Text Placeholder 28">
            <a:extLst>
              <a:ext uri="{FF2B5EF4-FFF2-40B4-BE49-F238E27FC236}">
                <a16:creationId xmlns:a16="http://schemas.microsoft.com/office/drawing/2014/main" id="{23A9B41E-E955-7D9F-D4CE-C23C2A7A9EE5}"/>
              </a:ext>
            </a:extLst>
          </p:cNvPr>
          <p:cNvSpPr>
            <a:spLocks noGrp="1"/>
          </p:cNvSpPr>
          <p:nvPr>
            <p:ph type="body" sz="quarter" idx="10"/>
          </p:nvPr>
        </p:nvSpPr>
        <p:spPr>
          <a:xfrm>
            <a:off x="5809951" y="812548"/>
            <a:ext cx="4238597" cy="427038"/>
          </a:xfrm>
          <a:prstGeom prst="rect">
            <a:avLst/>
          </a:prstGeom>
        </p:spPr>
        <p:txBody>
          <a:bodyPr/>
          <a:lstStyle>
            <a:lvl1pPr marL="0" indent="0" algn="r">
              <a:buNone/>
              <a:defRPr sz="1200">
                <a:solidFill>
                  <a:srgbClr val="C9AD62"/>
                </a:solidFill>
                <a:latin typeface="Raleway Black" pitchFamily="2" charset="0"/>
              </a:defRPr>
            </a:lvl1pPr>
          </a:lstStyle>
          <a:p>
            <a:pPr lvl="0"/>
            <a:r>
              <a:rPr lang="en-US" dirty="0"/>
              <a:t>Click to edit Master text styles</a:t>
            </a:r>
          </a:p>
        </p:txBody>
      </p:sp>
      <p:sp>
        <p:nvSpPr>
          <p:cNvPr id="3" name="Title 11">
            <a:extLst>
              <a:ext uri="{FF2B5EF4-FFF2-40B4-BE49-F238E27FC236}">
                <a16:creationId xmlns:a16="http://schemas.microsoft.com/office/drawing/2014/main" id="{794DD37D-14FA-654C-687D-87AE016DFB7F}"/>
              </a:ext>
            </a:extLst>
          </p:cNvPr>
          <p:cNvSpPr>
            <a:spLocks noGrp="1" noRot="1" noMove="1" noResize="1" noEditPoints="1" noAdjustHandles="1" noChangeArrowheads="1" noChangeShapeType="1"/>
          </p:cNvSpPr>
          <p:nvPr>
            <p:ph type="title"/>
          </p:nvPr>
        </p:nvSpPr>
        <p:spPr>
          <a:xfrm>
            <a:off x="2436168" y="313476"/>
            <a:ext cx="7612380" cy="427039"/>
          </a:xfrm>
          <a:prstGeom prst="rect">
            <a:avLst/>
          </a:prstGeom>
        </p:spPr>
        <p:txBody>
          <a:bodyPr/>
          <a:lstStyle>
            <a:lvl1pPr algn="r">
              <a:defRPr sz="2400">
                <a:latin typeface="Raleway Black" pitchFamily="2" charset="0"/>
              </a:defRPr>
            </a:lvl1pPr>
          </a:lstStyle>
          <a:p>
            <a:r>
              <a:rPr lang="en-US" dirty="0"/>
              <a:t>Click to edit Master title style</a:t>
            </a:r>
          </a:p>
        </p:txBody>
      </p:sp>
      <p:grpSp>
        <p:nvGrpSpPr>
          <p:cNvPr id="21" name="Group 20">
            <a:extLst>
              <a:ext uri="{FF2B5EF4-FFF2-40B4-BE49-F238E27FC236}">
                <a16:creationId xmlns:a16="http://schemas.microsoft.com/office/drawing/2014/main" id="{2BAD4CEE-3E77-95F0-0241-20928CC52301}"/>
              </a:ext>
            </a:extLst>
          </p:cNvPr>
          <p:cNvGrpSpPr>
            <a:grpSpLocks noGrp="1" noUngrp="1" noRot="1" noMove="1" noResize="1"/>
          </p:cNvGrpSpPr>
          <p:nvPr userDrawn="1"/>
        </p:nvGrpSpPr>
        <p:grpSpPr>
          <a:xfrm>
            <a:off x="155370" y="7445873"/>
            <a:ext cx="6118664" cy="261536"/>
            <a:chOff x="155370" y="7445873"/>
            <a:chExt cx="6118664" cy="261536"/>
          </a:xfrm>
        </p:grpSpPr>
        <p:sp>
          <p:nvSpPr>
            <p:cNvPr id="16" name="TextBox 15">
              <a:extLst>
                <a:ext uri="{FF2B5EF4-FFF2-40B4-BE49-F238E27FC236}">
                  <a16:creationId xmlns:a16="http://schemas.microsoft.com/office/drawing/2014/main" id="{A29D5BFE-CB1C-47D3-A113-E806DD459902}"/>
                </a:ext>
              </a:extLst>
            </p:cNvPr>
            <p:cNvSpPr txBox="1">
              <a:spLocks noGrp="1" noRot="1" noMove="1" noResize="1" noEditPoints="1" noAdjustHandles="1" noChangeArrowheads="1" noChangeShapeType="1"/>
            </p:cNvSpPr>
            <p:nvPr userDrawn="1"/>
          </p:nvSpPr>
          <p:spPr>
            <a:xfrm>
              <a:off x="4089167" y="7445873"/>
              <a:ext cx="2184867" cy="253916"/>
            </a:xfrm>
            <a:prstGeom prst="rect">
              <a:avLst/>
            </a:prstGeom>
            <a:noFill/>
          </p:spPr>
          <p:txBody>
            <a:bodyPr wrap="square" rtlCol="0">
              <a:spAutoFit/>
            </a:bodyPr>
            <a:lstStyle/>
            <a:p>
              <a:pPr marL="0" marR="0" lvl="0" indent="0" algn="ctr" defTabSz="457222" rtl="0" eaLnBrk="1" fontAlgn="auto" latinLnBrk="0" hangingPunct="1">
                <a:lnSpc>
                  <a:spcPct val="100000"/>
                </a:lnSpc>
                <a:spcBef>
                  <a:spcPts val="0"/>
                </a:spcBef>
                <a:spcAft>
                  <a:spcPts val="0"/>
                </a:spcAft>
                <a:buClrTx/>
                <a:buSzTx/>
                <a:buFontTx/>
                <a:buNone/>
                <a:tabLst/>
                <a:defRPr/>
              </a:pPr>
              <a:r>
                <a:rPr kumimoji="0" lang="en-US" sz="1050" b="1" i="0" u="none" strike="noStrike" kern="1200" cap="all" spc="0" normalizeH="0" baseline="0" noProof="0">
                  <a:ln>
                    <a:noFill/>
                  </a:ln>
                  <a:solidFill>
                    <a:schemeClr val="bg1"/>
                  </a:solidFill>
                  <a:effectLst/>
                  <a:uLnTx/>
                  <a:uFillTx/>
                  <a:latin typeface="+mn-lt"/>
                  <a:ea typeface="+mn-ea"/>
                  <a:cs typeface="+mn-cs"/>
                </a:rPr>
                <a:t>Warfighter Always</a:t>
              </a:r>
              <a:endParaRPr lang="en-US" sz="1050">
                <a:solidFill>
                  <a:schemeClr val="bg1"/>
                </a:solidFill>
              </a:endParaRPr>
            </a:p>
          </p:txBody>
        </p:sp>
        <p:sp>
          <p:nvSpPr>
            <p:cNvPr id="17" name="TextBox 16">
              <a:extLst>
                <a:ext uri="{FF2B5EF4-FFF2-40B4-BE49-F238E27FC236}">
                  <a16:creationId xmlns:a16="http://schemas.microsoft.com/office/drawing/2014/main" id="{13B7B9A0-A956-26B8-662E-67C104F4AA13}"/>
                </a:ext>
              </a:extLst>
            </p:cNvPr>
            <p:cNvSpPr txBox="1">
              <a:spLocks noGrp="1" noRot="1" noMove="1" noResize="1" noEditPoints="1" noAdjustHandles="1" noChangeArrowheads="1" noChangeShapeType="1"/>
            </p:cNvSpPr>
            <p:nvPr userDrawn="1"/>
          </p:nvSpPr>
          <p:spPr>
            <a:xfrm>
              <a:off x="155370" y="7453493"/>
              <a:ext cx="4216836" cy="253916"/>
            </a:xfrm>
            <a:prstGeom prst="rect">
              <a:avLst/>
            </a:prstGeom>
            <a:noFill/>
          </p:spPr>
          <p:txBody>
            <a:bodyPr wrap="square" rtlCol="0">
              <a:spAutoFit/>
            </a:bodyPr>
            <a:lstStyle/>
            <a:p>
              <a:pPr marL="0" marR="0" lvl="0" indent="0" defTabSz="457222" rtl="0" eaLnBrk="1" fontAlgn="auto" latinLnBrk="0" hangingPunct="1">
                <a:lnSpc>
                  <a:spcPct val="100000"/>
                </a:lnSpc>
                <a:spcBef>
                  <a:spcPts val="0"/>
                </a:spcBef>
                <a:spcAft>
                  <a:spcPts val="0"/>
                </a:spcAft>
                <a:buClrTx/>
                <a:buSzTx/>
                <a:buFontTx/>
                <a:buNone/>
                <a:tabLst/>
                <a:defRPr/>
              </a:pPr>
              <a:r>
                <a:rPr kumimoji="0" lang="en-US" sz="1000" b="1" i="0" u="none" strike="noStrike" kern="1200" spc="0" normalizeH="0" baseline="0" noProof="0">
                  <a:ln>
                    <a:noFill/>
                  </a:ln>
                  <a:solidFill>
                    <a:srgbClr val="C9AD62"/>
                  </a:solidFill>
                  <a:effectLst/>
                  <a:uLnTx/>
                  <a:uFillTx/>
                  <a:latin typeface="+mn-lt"/>
                  <a:ea typeface="+mn-ea"/>
                  <a:cs typeface="+mn-cs"/>
                </a:rPr>
                <a:t>PEOP</a:t>
              </a:r>
              <a:r>
                <a:rPr kumimoji="0" lang="en-US" sz="1000" b="1" i="0" u="none" strike="noStrike" kern="1200" spc="0" normalizeH="0" baseline="0" noProof="0">
                  <a:ln>
                    <a:noFill/>
                  </a:ln>
                  <a:solidFill>
                    <a:srgbClr val="CAAD62"/>
                  </a:solidFill>
                  <a:effectLst/>
                  <a:uLnTx/>
                  <a:uFillTx/>
                  <a:latin typeface="+mn-lt"/>
                  <a:ea typeface="+mn-ea"/>
                  <a:cs typeface="+mn-cs"/>
                </a:rPr>
                <a:t>LE          PRECISION          </a:t>
              </a:r>
              <a:r>
                <a:rPr lang="en-US" sz="1000" b="1">
                  <a:solidFill>
                    <a:srgbClr val="CAAD62"/>
                  </a:solidFill>
                </a:rPr>
                <a:t>P</a:t>
              </a:r>
              <a:r>
                <a:rPr kumimoji="0" lang="en-US" sz="1000" b="1" i="0" u="none" strike="noStrike" kern="1200" spc="0" normalizeH="0" baseline="0" noProof="0">
                  <a:ln>
                    <a:noFill/>
                  </a:ln>
                  <a:solidFill>
                    <a:srgbClr val="CAAD62"/>
                  </a:solidFill>
                  <a:effectLst/>
                  <a:uLnTx/>
                  <a:uFillTx/>
                  <a:latin typeface="+mn-lt"/>
                  <a:ea typeface="+mn-ea"/>
                  <a:cs typeface="+mn-cs"/>
                </a:rPr>
                <a:t>OSTURE          PARTNERSHIPS</a:t>
              </a:r>
              <a:endParaRPr lang="en-US" sz="1000">
                <a:solidFill>
                  <a:srgbClr val="CAAD62"/>
                </a:solidFill>
              </a:endParaRPr>
            </a:p>
          </p:txBody>
        </p:sp>
        <p:sp>
          <p:nvSpPr>
            <p:cNvPr id="18" name="Star: 5 Points 17">
              <a:extLst>
                <a:ext uri="{FF2B5EF4-FFF2-40B4-BE49-F238E27FC236}">
                  <a16:creationId xmlns:a16="http://schemas.microsoft.com/office/drawing/2014/main" id="{99CA3BB8-7D67-479D-538E-E457BC49998D}"/>
                </a:ext>
              </a:extLst>
            </p:cNvPr>
            <p:cNvSpPr>
              <a:spLocks noGrp="1" noRot="1" noMove="1" noResize="1" noEditPoints="1" noAdjustHandles="1" noChangeArrowheads="1" noChangeShapeType="1"/>
            </p:cNvSpPr>
            <p:nvPr userDrawn="1"/>
          </p:nvSpPr>
          <p:spPr>
            <a:xfrm>
              <a:off x="867033" y="7504474"/>
              <a:ext cx="135925" cy="135925"/>
            </a:xfrm>
            <a:prstGeom prst="star5">
              <a:avLst/>
            </a:prstGeom>
            <a:solidFill>
              <a:srgbClr val="C9AD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Star: 5 Points 18">
              <a:extLst>
                <a:ext uri="{FF2B5EF4-FFF2-40B4-BE49-F238E27FC236}">
                  <a16:creationId xmlns:a16="http://schemas.microsoft.com/office/drawing/2014/main" id="{79CFC711-1440-6C53-2D3D-4F6C30D531A6}"/>
                </a:ext>
              </a:extLst>
            </p:cNvPr>
            <p:cNvSpPr>
              <a:spLocks noGrp="1" noRot="1" noMove="1" noResize="1" noEditPoints="1" noAdjustHandles="1" noChangeArrowheads="1" noChangeShapeType="1"/>
            </p:cNvSpPr>
            <p:nvPr userDrawn="1"/>
          </p:nvSpPr>
          <p:spPr>
            <a:xfrm>
              <a:off x="1908674" y="7504474"/>
              <a:ext cx="135925" cy="135925"/>
            </a:xfrm>
            <a:prstGeom prst="star5">
              <a:avLst/>
            </a:prstGeom>
            <a:solidFill>
              <a:srgbClr val="C9AD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Star: 5 Points 19">
              <a:extLst>
                <a:ext uri="{FF2B5EF4-FFF2-40B4-BE49-F238E27FC236}">
                  <a16:creationId xmlns:a16="http://schemas.microsoft.com/office/drawing/2014/main" id="{E6AD96E3-AB76-C66C-9C2F-46E93A66154A}"/>
                </a:ext>
              </a:extLst>
            </p:cNvPr>
            <p:cNvSpPr>
              <a:spLocks noGrp="1" noRot="1" noMove="1" noResize="1" noEditPoints="1" noAdjustHandles="1" noChangeArrowheads="1" noChangeShapeType="1"/>
            </p:cNvSpPr>
            <p:nvPr userDrawn="1"/>
          </p:nvSpPr>
          <p:spPr>
            <a:xfrm>
              <a:off x="2866394" y="7504474"/>
              <a:ext cx="135925" cy="135925"/>
            </a:xfrm>
            <a:prstGeom prst="star5">
              <a:avLst/>
            </a:prstGeom>
            <a:solidFill>
              <a:srgbClr val="C9AD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4" name="Slide Number Placeholder 5">
            <a:extLst>
              <a:ext uri="{FF2B5EF4-FFF2-40B4-BE49-F238E27FC236}">
                <a16:creationId xmlns:a16="http://schemas.microsoft.com/office/drawing/2014/main" id="{2AA07EA7-50EB-A14C-608F-9240907C2543}"/>
              </a:ext>
            </a:extLst>
          </p:cNvPr>
          <p:cNvSpPr>
            <a:spLocks noGrp="1"/>
          </p:cNvSpPr>
          <p:nvPr userDrawn="1"/>
        </p:nvSpPr>
        <p:spPr>
          <a:xfrm>
            <a:off x="9906000" y="7335979"/>
            <a:ext cx="457200" cy="414338"/>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rgbClr val="C9AD62"/>
                </a:solidFill>
                <a:latin typeface="Raleway Black"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65700FE-BCEC-4E84-BA78-D55E132666CC}" type="slidenum">
              <a:rPr lang="en-US" sz="1200" smtClean="0"/>
              <a:pPr/>
              <a:t>‹#›</a:t>
            </a:fld>
            <a:endParaRPr lang="en-US" sz="1200" dirty="0"/>
          </a:p>
        </p:txBody>
      </p:sp>
    </p:spTree>
    <p:extLst>
      <p:ext uri="{BB962C8B-B14F-4D97-AF65-F5344CB8AC3E}">
        <p14:creationId xmlns:p14="http://schemas.microsoft.com/office/powerpoint/2010/main" val="269336330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Content Slide_CUI">
    <p:spTree>
      <p:nvGrpSpPr>
        <p:cNvPr id="1" name=""/>
        <p:cNvGrpSpPr/>
        <p:nvPr/>
      </p:nvGrpSpPr>
      <p:grpSpPr>
        <a:xfrm>
          <a:off x="0" y="0"/>
          <a:ext cx="0" cy="0"/>
          <a:chOff x="0" y="0"/>
          <a:chExt cx="0" cy="0"/>
        </a:xfrm>
      </p:grpSpPr>
      <p:sp>
        <p:nvSpPr>
          <p:cNvPr id="10" name="Text Placeholder 28">
            <a:extLst>
              <a:ext uri="{FF2B5EF4-FFF2-40B4-BE49-F238E27FC236}">
                <a16:creationId xmlns:a16="http://schemas.microsoft.com/office/drawing/2014/main" id="{8D6F8CFD-E831-0944-5A93-6E7A2C89BBCB}"/>
              </a:ext>
            </a:extLst>
          </p:cNvPr>
          <p:cNvSpPr>
            <a:spLocks noGrp="1"/>
          </p:cNvSpPr>
          <p:nvPr userDrawn="1">
            <p:ph type="body" sz="quarter" idx="10"/>
          </p:nvPr>
        </p:nvSpPr>
        <p:spPr>
          <a:xfrm>
            <a:off x="5809951" y="812548"/>
            <a:ext cx="4238597" cy="427038"/>
          </a:xfrm>
          <a:prstGeom prst="rect">
            <a:avLst/>
          </a:prstGeom>
        </p:spPr>
        <p:txBody>
          <a:bodyPr/>
          <a:lstStyle>
            <a:lvl1pPr marL="0" indent="0" algn="r">
              <a:buNone/>
              <a:defRPr sz="1200">
                <a:solidFill>
                  <a:srgbClr val="C9AD62"/>
                </a:solidFill>
                <a:latin typeface="Raleway Black" pitchFamily="2" charset="0"/>
              </a:defRPr>
            </a:lvl1pPr>
          </a:lstStyle>
          <a:p>
            <a:pPr lvl="0"/>
            <a:r>
              <a:rPr lang="en-US" dirty="0"/>
              <a:t>Click to edit Master text styles</a:t>
            </a:r>
          </a:p>
        </p:txBody>
      </p:sp>
      <p:sp>
        <p:nvSpPr>
          <p:cNvPr id="11" name="Title 11">
            <a:extLst>
              <a:ext uri="{FF2B5EF4-FFF2-40B4-BE49-F238E27FC236}">
                <a16:creationId xmlns:a16="http://schemas.microsoft.com/office/drawing/2014/main" id="{53F21022-D87F-E441-A23C-9B4EE4DCAB8B}"/>
              </a:ext>
            </a:extLst>
          </p:cNvPr>
          <p:cNvSpPr>
            <a:spLocks noGrp="1" noRot="1" noMove="1" noResize="1" noEditPoints="1" noAdjustHandles="1" noChangeArrowheads="1" noChangeShapeType="1"/>
          </p:cNvSpPr>
          <p:nvPr userDrawn="1">
            <p:ph type="title"/>
          </p:nvPr>
        </p:nvSpPr>
        <p:spPr>
          <a:xfrm>
            <a:off x="2436168" y="313476"/>
            <a:ext cx="7612380" cy="427039"/>
          </a:xfrm>
          <a:prstGeom prst="rect">
            <a:avLst/>
          </a:prstGeom>
        </p:spPr>
        <p:txBody>
          <a:bodyPr/>
          <a:lstStyle>
            <a:lvl1pPr algn="r">
              <a:defRPr sz="2400" baseline="0">
                <a:latin typeface="Raleway Black" pitchFamily="2" charset="0"/>
              </a:defRPr>
            </a:lvl1pPr>
          </a:lstStyle>
          <a:p>
            <a:r>
              <a:rPr lang="en-US" dirty="0"/>
              <a:t>Click to edit Master title style</a:t>
            </a:r>
          </a:p>
        </p:txBody>
      </p:sp>
      <p:sp>
        <p:nvSpPr>
          <p:cNvPr id="13" name="Rectangle 12">
            <a:extLst>
              <a:ext uri="{FF2B5EF4-FFF2-40B4-BE49-F238E27FC236}">
                <a16:creationId xmlns:a16="http://schemas.microsoft.com/office/drawing/2014/main" id="{92478774-2AB7-7AEC-4EA9-4DA66B5AB146}"/>
              </a:ext>
            </a:extLst>
          </p:cNvPr>
          <p:cNvSpPr>
            <a:spLocks noGrp="1" noRot="1" noMove="1" noResize="1" noEditPoints="1" noAdjustHandles="1" noChangeArrowheads="1" noChangeShapeType="1"/>
          </p:cNvSpPr>
          <p:nvPr userDrawn="1"/>
        </p:nvSpPr>
        <p:spPr>
          <a:xfrm>
            <a:off x="4887423" y="90193"/>
            <a:ext cx="553945" cy="180046"/>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342916"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a:ln>
                  <a:noFill/>
                </a:ln>
                <a:solidFill>
                  <a:schemeClr val="tx1"/>
                </a:solidFill>
                <a:effectLst/>
                <a:uLnTx/>
                <a:uFillTx/>
                <a:latin typeface="+mj-lt"/>
                <a:ea typeface="+mn-ea"/>
                <a:cs typeface="Times New Roman" panose="02020603050405020304" pitchFamily="18" charset="0"/>
              </a:rPr>
              <a:t>CUI</a:t>
            </a:r>
          </a:p>
        </p:txBody>
      </p:sp>
      <p:grpSp>
        <p:nvGrpSpPr>
          <p:cNvPr id="5" name="Group 4">
            <a:extLst>
              <a:ext uri="{FF2B5EF4-FFF2-40B4-BE49-F238E27FC236}">
                <a16:creationId xmlns:a16="http://schemas.microsoft.com/office/drawing/2014/main" id="{D982A84C-E3E4-8051-7662-41A3EBEE1329}"/>
              </a:ext>
            </a:extLst>
          </p:cNvPr>
          <p:cNvGrpSpPr>
            <a:grpSpLocks noGrp="1" noUngrp="1" noRot="1" noMove="1" noResize="1"/>
          </p:cNvGrpSpPr>
          <p:nvPr userDrawn="1"/>
        </p:nvGrpSpPr>
        <p:grpSpPr>
          <a:xfrm>
            <a:off x="155370" y="7249274"/>
            <a:ext cx="6118664" cy="458135"/>
            <a:chOff x="155370" y="7249274"/>
            <a:chExt cx="6118664" cy="458135"/>
          </a:xfrm>
        </p:grpSpPr>
        <p:sp>
          <p:nvSpPr>
            <p:cNvPr id="12" name="Rectangle 11">
              <a:extLst>
                <a:ext uri="{FF2B5EF4-FFF2-40B4-BE49-F238E27FC236}">
                  <a16:creationId xmlns:a16="http://schemas.microsoft.com/office/drawing/2014/main" id="{1CFE9A48-BFDE-B1A1-EC0B-ADDE27BCB510}"/>
                </a:ext>
              </a:extLst>
            </p:cNvPr>
            <p:cNvSpPr>
              <a:spLocks noGrp="1" noRot="1" noMove="1" noResize="1" noEditPoints="1" noAdjustHandles="1" noChangeArrowheads="1" noChangeShapeType="1"/>
            </p:cNvSpPr>
            <p:nvPr userDrawn="1"/>
          </p:nvSpPr>
          <p:spPr>
            <a:xfrm>
              <a:off x="4887423" y="7249274"/>
              <a:ext cx="553945" cy="180046"/>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342916"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a:ln>
                    <a:noFill/>
                  </a:ln>
                  <a:solidFill>
                    <a:schemeClr val="tx1"/>
                  </a:solidFill>
                  <a:effectLst/>
                  <a:uLnTx/>
                  <a:uFillTx/>
                  <a:latin typeface="+mj-lt"/>
                  <a:ea typeface="+mn-ea"/>
                  <a:cs typeface="Times New Roman" panose="02020603050405020304" pitchFamily="18" charset="0"/>
                </a:rPr>
                <a:t>CUI</a:t>
              </a:r>
            </a:p>
          </p:txBody>
        </p:sp>
        <p:sp>
          <p:nvSpPr>
            <p:cNvPr id="2" name="TextBox 1">
              <a:extLst>
                <a:ext uri="{FF2B5EF4-FFF2-40B4-BE49-F238E27FC236}">
                  <a16:creationId xmlns:a16="http://schemas.microsoft.com/office/drawing/2014/main" id="{2BAE05E5-3E43-823D-0C10-C2CFCBB8066E}"/>
                </a:ext>
              </a:extLst>
            </p:cNvPr>
            <p:cNvSpPr txBox="1">
              <a:spLocks noGrp="1" noRot="1" noMove="1" noResize="1" noEditPoints="1" noAdjustHandles="1" noChangeArrowheads="1" noChangeShapeType="1"/>
            </p:cNvSpPr>
            <p:nvPr userDrawn="1"/>
          </p:nvSpPr>
          <p:spPr>
            <a:xfrm>
              <a:off x="4089167" y="7445873"/>
              <a:ext cx="2184867" cy="253916"/>
            </a:xfrm>
            <a:prstGeom prst="rect">
              <a:avLst/>
            </a:prstGeom>
            <a:noFill/>
          </p:spPr>
          <p:txBody>
            <a:bodyPr wrap="square" rtlCol="0">
              <a:spAutoFit/>
            </a:bodyPr>
            <a:lstStyle/>
            <a:p>
              <a:pPr marL="0" marR="0" lvl="0" indent="0" algn="ctr" defTabSz="457222" rtl="0" eaLnBrk="1" fontAlgn="auto" latinLnBrk="0" hangingPunct="1">
                <a:lnSpc>
                  <a:spcPct val="100000"/>
                </a:lnSpc>
                <a:spcBef>
                  <a:spcPts val="0"/>
                </a:spcBef>
                <a:spcAft>
                  <a:spcPts val="0"/>
                </a:spcAft>
                <a:buClrTx/>
                <a:buSzTx/>
                <a:buFontTx/>
                <a:buNone/>
                <a:tabLst/>
                <a:defRPr/>
              </a:pPr>
              <a:r>
                <a:rPr kumimoji="0" lang="en-US" sz="1050" b="1" i="0" u="none" strike="noStrike" kern="1200" cap="all" spc="0" normalizeH="0" baseline="0" noProof="0">
                  <a:ln>
                    <a:noFill/>
                  </a:ln>
                  <a:solidFill>
                    <a:schemeClr val="bg1"/>
                  </a:solidFill>
                  <a:effectLst/>
                  <a:uLnTx/>
                  <a:uFillTx/>
                  <a:latin typeface="+mn-lt"/>
                  <a:ea typeface="+mn-ea"/>
                  <a:cs typeface="+mn-cs"/>
                </a:rPr>
                <a:t>Warfighter Always</a:t>
              </a:r>
              <a:endParaRPr lang="en-US" sz="1050">
                <a:solidFill>
                  <a:schemeClr val="bg1"/>
                </a:solidFill>
              </a:endParaRPr>
            </a:p>
          </p:txBody>
        </p:sp>
        <p:sp>
          <p:nvSpPr>
            <p:cNvPr id="4" name="TextBox 3">
              <a:extLst>
                <a:ext uri="{FF2B5EF4-FFF2-40B4-BE49-F238E27FC236}">
                  <a16:creationId xmlns:a16="http://schemas.microsoft.com/office/drawing/2014/main" id="{6F86ACC1-1F94-1E5A-065D-3ED478D477FF}"/>
                </a:ext>
              </a:extLst>
            </p:cNvPr>
            <p:cNvSpPr txBox="1">
              <a:spLocks noGrp="1" noRot="1" noMove="1" noResize="1" noEditPoints="1" noAdjustHandles="1" noChangeArrowheads="1" noChangeShapeType="1"/>
            </p:cNvSpPr>
            <p:nvPr userDrawn="1"/>
          </p:nvSpPr>
          <p:spPr>
            <a:xfrm>
              <a:off x="155370" y="7453493"/>
              <a:ext cx="4216836" cy="253916"/>
            </a:xfrm>
            <a:prstGeom prst="rect">
              <a:avLst/>
            </a:prstGeom>
            <a:noFill/>
          </p:spPr>
          <p:txBody>
            <a:bodyPr wrap="square" rtlCol="0">
              <a:spAutoFit/>
            </a:bodyPr>
            <a:lstStyle/>
            <a:p>
              <a:pPr marL="0" marR="0" lvl="0" indent="0" defTabSz="457222" rtl="0" eaLnBrk="1" fontAlgn="auto" latinLnBrk="0" hangingPunct="1">
                <a:lnSpc>
                  <a:spcPct val="100000"/>
                </a:lnSpc>
                <a:spcBef>
                  <a:spcPts val="0"/>
                </a:spcBef>
                <a:spcAft>
                  <a:spcPts val="0"/>
                </a:spcAft>
                <a:buClrTx/>
                <a:buSzTx/>
                <a:buFontTx/>
                <a:buNone/>
                <a:tabLst/>
                <a:defRPr/>
              </a:pPr>
              <a:r>
                <a:rPr kumimoji="0" lang="en-US" sz="1000" b="1" i="0" u="none" strike="noStrike" kern="1200" spc="0" normalizeH="0" baseline="0" noProof="0">
                  <a:ln>
                    <a:noFill/>
                  </a:ln>
                  <a:solidFill>
                    <a:srgbClr val="C9AD62"/>
                  </a:solidFill>
                  <a:effectLst/>
                  <a:uLnTx/>
                  <a:uFillTx/>
                  <a:latin typeface="+mn-lt"/>
                  <a:ea typeface="+mn-ea"/>
                  <a:cs typeface="+mn-cs"/>
                </a:rPr>
                <a:t>PEOP</a:t>
              </a:r>
              <a:r>
                <a:rPr kumimoji="0" lang="en-US" sz="1000" b="1" i="0" u="none" strike="noStrike" kern="1200" spc="0" normalizeH="0" baseline="0" noProof="0">
                  <a:ln>
                    <a:noFill/>
                  </a:ln>
                  <a:solidFill>
                    <a:srgbClr val="CAAD62"/>
                  </a:solidFill>
                  <a:effectLst/>
                  <a:uLnTx/>
                  <a:uFillTx/>
                  <a:latin typeface="+mn-lt"/>
                  <a:ea typeface="+mn-ea"/>
                  <a:cs typeface="+mn-cs"/>
                </a:rPr>
                <a:t>LE          PRECISION          </a:t>
              </a:r>
              <a:r>
                <a:rPr lang="en-US" sz="1000" b="1">
                  <a:solidFill>
                    <a:srgbClr val="CAAD62"/>
                  </a:solidFill>
                </a:rPr>
                <a:t>P</a:t>
              </a:r>
              <a:r>
                <a:rPr kumimoji="0" lang="en-US" sz="1000" b="1" i="0" u="none" strike="noStrike" kern="1200" spc="0" normalizeH="0" baseline="0" noProof="0">
                  <a:ln>
                    <a:noFill/>
                  </a:ln>
                  <a:solidFill>
                    <a:srgbClr val="CAAD62"/>
                  </a:solidFill>
                  <a:effectLst/>
                  <a:uLnTx/>
                  <a:uFillTx/>
                  <a:latin typeface="+mn-lt"/>
                  <a:ea typeface="+mn-ea"/>
                  <a:cs typeface="+mn-cs"/>
                </a:rPr>
                <a:t>OSTURE          PARTNERSHIPS</a:t>
              </a:r>
              <a:endParaRPr lang="en-US" sz="1000">
                <a:solidFill>
                  <a:srgbClr val="CAAD62"/>
                </a:solidFill>
              </a:endParaRPr>
            </a:p>
          </p:txBody>
        </p:sp>
        <p:sp>
          <p:nvSpPr>
            <p:cNvPr id="14" name="Star: 5 Points 13">
              <a:extLst>
                <a:ext uri="{FF2B5EF4-FFF2-40B4-BE49-F238E27FC236}">
                  <a16:creationId xmlns:a16="http://schemas.microsoft.com/office/drawing/2014/main" id="{92DF3345-37FE-4759-0E7D-9B6475A261A7}"/>
                </a:ext>
              </a:extLst>
            </p:cNvPr>
            <p:cNvSpPr>
              <a:spLocks noGrp="1" noRot="1" noMove="1" noResize="1" noEditPoints="1" noAdjustHandles="1" noChangeArrowheads="1" noChangeShapeType="1"/>
            </p:cNvSpPr>
            <p:nvPr userDrawn="1"/>
          </p:nvSpPr>
          <p:spPr>
            <a:xfrm>
              <a:off x="867033" y="7504474"/>
              <a:ext cx="135925" cy="135925"/>
            </a:xfrm>
            <a:prstGeom prst="star5">
              <a:avLst/>
            </a:prstGeom>
            <a:solidFill>
              <a:srgbClr val="C9AD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Star: 5 Points 14">
              <a:extLst>
                <a:ext uri="{FF2B5EF4-FFF2-40B4-BE49-F238E27FC236}">
                  <a16:creationId xmlns:a16="http://schemas.microsoft.com/office/drawing/2014/main" id="{59A38822-1D3D-7762-F578-5E4EF3157F12}"/>
                </a:ext>
              </a:extLst>
            </p:cNvPr>
            <p:cNvSpPr>
              <a:spLocks noGrp="1" noRot="1" noMove="1" noResize="1" noEditPoints="1" noAdjustHandles="1" noChangeArrowheads="1" noChangeShapeType="1"/>
            </p:cNvSpPr>
            <p:nvPr userDrawn="1"/>
          </p:nvSpPr>
          <p:spPr>
            <a:xfrm>
              <a:off x="1908674" y="7504474"/>
              <a:ext cx="135925" cy="135925"/>
            </a:xfrm>
            <a:prstGeom prst="star5">
              <a:avLst/>
            </a:prstGeom>
            <a:solidFill>
              <a:srgbClr val="C9AD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Star: 5 Points 15">
              <a:extLst>
                <a:ext uri="{FF2B5EF4-FFF2-40B4-BE49-F238E27FC236}">
                  <a16:creationId xmlns:a16="http://schemas.microsoft.com/office/drawing/2014/main" id="{738DAE09-D2DD-EE87-FF86-C19598760808}"/>
                </a:ext>
              </a:extLst>
            </p:cNvPr>
            <p:cNvSpPr>
              <a:spLocks noGrp="1" noRot="1" noMove="1" noResize="1" noEditPoints="1" noAdjustHandles="1" noChangeArrowheads="1" noChangeShapeType="1"/>
            </p:cNvSpPr>
            <p:nvPr userDrawn="1"/>
          </p:nvSpPr>
          <p:spPr>
            <a:xfrm>
              <a:off x="2866394" y="7504474"/>
              <a:ext cx="135925" cy="135925"/>
            </a:xfrm>
            <a:prstGeom prst="star5">
              <a:avLst/>
            </a:prstGeom>
            <a:solidFill>
              <a:srgbClr val="C9AD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3" name="Slide Number Placeholder 5">
            <a:extLst>
              <a:ext uri="{FF2B5EF4-FFF2-40B4-BE49-F238E27FC236}">
                <a16:creationId xmlns:a16="http://schemas.microsoft.com/office/drawing/2014/main" id="{30627FDE-4845-665E-67CB-CEED9172A3CB}"/>
              </a:ext>
            </a:extLst>
          </p:cNvPr>
          <p:cNvSpPr>
            <a:spLocks noGrp="1"/>
          </p:cNvSpPr>
          <p:nvPr userDrawn="1"/>
        </p:nvSpPr>
        <p:spPr>
          <a:xfrm>
            <a:off x="9906000" y="7335979"/>
            <a:ext cx="457200" cy="414338"/>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rgbClr val="C9AD62"/>
                </a:solidFill>
                <a:latin typeface="Raleway Black"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65700FE-BCEC-4E84-BA78-D55E132666CC}" type="slidenum">
              <a:rPr lang="en-US" sz="1200" smtClean="0"/>
              <a:pPr/>
              <a:t>‹#›</a:t>
            </a:fld>
            <a:endParaRPr lang="en-US" sz="1200" dirty="0"/>
          </a:p>
        </p:txBody>
      </p:sp>
    </p:spTree>
    <p:extLst>
      <p:ext uri="{BB962C8B-B14F-4D97-AF65-F5344CB8AC3E}">
        <p14:creationId xmlns:p14="http://schemas.microsoft.com/office/powerpoint/2010/main" val="1115461732"/>
      </p:ext>
    </p:extLst>
  </p:cSld>
  <p:clrMapOvr>
    <a:masterClrMapping/>
  </p:clrMapOvr>
  <p:extLst>
    <p:ext uri="{DCECCB84-F9BA-43D5-87BE-67443E8EF086}">
      <p15:sldGuideLst xmlns:p15="http://schemas.microsoft.com/office/powerpoint/2012/main">
        <p15:guide id="2" pos="326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4_End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85DAE35-72F5-6B64-8214-AA3B64C6C7FB}"/>
              </a:ext>
            </a:extLst>
          </p:cNvPr>
          <p:cNvPicPr>
            <a:picLocks noGrp="1" noRot="1" noMove="1" noResize="1" noEditPoints="1" noAdjustHandles="1" noChangeArrowheads="1" noChangeShapeType="1" noCrop="1"/>
          </p:cNvPicPr>
          <p:nvPr userDrawn="1"/>
        </p:nvPicPr>
        <p:blipFill>
          <a:blip r:embed="rId2">
            <a:alphaModFix/>
            <a:extLst>
              <a:ext uri="{28A0092B-C50C-407E-A947-70E740481C1C}">
                <a14:useLocalDpi xmlns:a14="http://schemas.microsoft.com/office/drawing/2010/main" val="0"/>
              </a:ext>
            </a:extLst>
          </a:blip>
          <a:stretch/>
        </p:blipFill>
        <p:spPr>
          <a:xfrm>
            <a:off x="3480619" y="1909856"/>
            <a:ext cx="3401962" cy="4169922"/>
          </a:xfrm>
          <a:prstGeom prst="rect">
            <a:avLst/>
          </a:prstGeom>
        </p:spPr>
      </p:pic>
      <p:sp>
        <p:nvSpPr>
          <p:cNvPr id="3" name="Slide Number Placeholder 5">
            <a:extLst>
              <a:ext uri="{FF2B5EF4-FFF2-40B4-BE49-F238E27FC236}">
                <a16:creationId xmlns:a16="http://schemas.microsoft.com/office/drawing/2014/main" id="{D32EA077-B66F-4F51-CD93-CC394F24D288}"/>
              </a:ext>
            </a:extLst>
          </p:cNvPr>
          <p:cNvSpPr>
            <a:spLocks noGrp="1"/>
          </p:cNvSpPr>
          <p:nvPr userDrawn="1"/>
        </p:nvSpPr>
        <p:spPr>
          <a:xfrm>
            <a:off x="9906000" y="7335979"/>
            <a:ext cx="457200" cy="414338"/>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rgbClr val="C9AD62"/>
                </a:solidFill>
                <a:latin typeface="Raleway Black"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65700FE-BCEC-4E84-BA78-D55E132666CC}" type="slidenum">
              <a:rPr lang="en-US" sz="1200" smtClean="0"/>
              <a:pPr/>
              <a:t>‹#›</a:t>
            </a:fld>
            <a:endParaRPr lang="en-US" sz="1200" dirty="0"/>
          </a:p>
        </p:txBody>
      </p:sp>
    </p:spTree>
    <p:extLst>
      <p:ext uri="{BB962C8B-B14F-4D97-AF65-F5344CB8AC3E}">
        <p14:creationId xmlns:p14="http://schemas.microsoft.com/office/powerpoint/2010/main" val="3119595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4_End Slide CUI">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85DAE35-72F5-6B64-8214-AA3B64C6C7FB}"/>
              </a:ext>
            </a:extLst>
          </p:cNvPr>
          <p:cNvPicPr>
            <a:picLocks noGrp="1" noRot="1" noMove="1" noResize="1" noEditPoints="1" noAdjustHandles="1" noChangeArrowheads="1" noChangeShapeType="1" noCrop="1"/>
          </p:cNvPicPr>
          <p:nvPr userDrawn="1"/>
        </p:nvPicPr>
        <p:blipFill>
          <a:blip r:embed="rId2">
            <a:alphaModFix/>
            <a:extLst>
              <a:ext uri="{28A0092B-C50C-407E-A947-70E740481C1C}">
                <a14:useLocalDpi xmlns:a14="http://schemas.microsoft.com/office/drawing/2010/main" val="0"/>
              </a:ext>
            </a:extLst>
          </a:blip>
          <a:stretch/>
        </p:blipFill>
        <p:spPr>
          <a:xfrm>
            <a:off x="3480619" y="1909856"/>
            <a:ext cx="3401962" cy="4169922"/>
          </a:xfrm>
          <a:prstGeom prst="rect">
            <a:avLst/>
          </a:prstGeom>
        </p:spPr>
      </p:pic>
      <p:sp>
        <p:nvSpPr>
          <p:cNvPr id="4" name="Rectangle 3">
            <a:extLst>
              <a:ext uri="{FF2B5EF4-FFF2-40B4-BE49-F238E27FC236}">
                <a16:creationId xmlns:a16="http://schemas.microsoft.com/office/drawing/2014/main" id="{5E6D82B4-02F9-3A94-3BA5-95ECCE8A5C0C}"/>
              </a:ext>
            </a:extLst>
          </p:cNvPr>
          <p:cNvSpPr/>
          <p:nvPr userDrawn="1"/>
        </p:nvSpPr>
        <p:spPr>
          <a:xfrm>
            <a:off x="4887423" y="7249274"/>
            <a:ext cx="553945" cy="180046"/>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342916"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a:ln>
                  <a:noFill/>
                </a:ln>
                <a:solidFill>
                  <a:schemeClr val="tx1"/>
                </a:solidFill>
                <a:effectLst/>
                <a:uLnTx/>
                <a:uFillTx/>
                <a:latin typeface="+mj-lt"/>
                <a:ea typeface="+mn-ea"/>
                <a:cs typeface="Times New Roman" panose="02020603050405020304" pitchFamily="18" charset="0"/>
              </a:rPr>
              <a:t>CUI</a:t>
            </a:r>
          </a:p>
        </p:txBody>
      </p:sp>
      <p:sp>
        <p:nvSpPr>
          <p:cNvPr id="5" name="Rectangle 4">
            <a:extLst>
              <a:ext uri="{FF2B5EF4-FFF2-40B4-BE49-F238E27FC236}">
                <a16:creationId xmlns:a16="http://schemas.microsoft.com/office/drawing/2014/main" id="{A519181E-6D57-B264-74E9-7FC8DCED2E86}"/>
              </a:ext>
            </a:extLst>
          </p:cNvPr>
          <p:cNvSpPr/>
          <p:nvPr userDrawn="1"/>
        </p:nvSpPr>
        <p:spPr>
          <a:xfrm>
            <a:off x="4887423" y="29060"/>
            <a:ext cx="553945" cy="180046"/>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342916"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a:ln>
                  <a:noFill/>
                </a:ln>
                <a:solidFill>
                  <a:schemeClr val="tx1"/>
                </a:solidFill>
                <a:effectLst/>
                <a:uLnTx/>
                <a:uFillTx/>
                <a:latin typeface="+mj-lt"/>
                <a:ea typeface="+mn-ea"/>
                <a:cs typeface="Times New Roman" panose="02020603050405020304" pitchFamily="18" charset="0"/>
              </a:rPr>
              <a:t>CUI</a:t>
            </a:r>
          </a:p>
        </p:txBody>
      </p:sp>
      <p:sp>
        <p:nvSpPr>
          <p:cNvPr id="3" name="Slide Number Placeholder 5">
            <a:extLst>
              <a:ext uri="{FF2B5EF4-FFF2-40B4-BE49-F238E27FC236}">
                <a16:creationId xmlns:a16="http://schemas.microsoft.com/office/drawing/2014/main" id="{E9A50E54-09A6-38C6-A696-E148CF174E5B}"/>
              </a:ext>
            </a:extLst>
          </p:cNvPr>
          <p:cNvSpPr>
            <a:spLocks noGrp="1"/>
          </p:cNvSpPr>
          <p:nvPr userDrawn="1"/>
        </p:nvSpPr>
        <p:spPr>
          <a:xfrm>
            <a:off x="9906000" y="7335979"/>
            <a:ext cx="457200" cy="414338"/>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rgbClr val="C9AD62"/>
                </a:solidFill>
                <a:latin typeface="Raleway Black"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65700FE-BCEC-4E84-BA78-D55E132666CC}" type="slidenum">
              <a:rPr lang="en-US" sz="1200" smtClean="0"/>
              <a:pPr/>
              <a:t>‹#›</a:t>
            </a:fld>
            <a:endParaRPr lang="en-US" sz="1200" dirty="0"/>
          </a:p>
        </p:txBody>
      </p:sp>
    </p:spTree>
    <p:extLst>
      <p:ext uri="{BB962C8B-B14F-4D97-AF65-F5344CB8AC3E}">
        <p14:creationId xmlns:p14="http://schemas.microsoft.com/office/powerpoint/2010/main" val="2307881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4_End Slide_Transparen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D3D843-835D-5E9A-776A-20E00CDC7AB8}"/>
              </a:ext>
            </a:extLst>
          </p:cNvPr>
          <p:cNvPicPr>
            <a:picLocks noGrp="1" noRot="1" noMove="1" noResize="1" noEditPoints="1" noAdjustHandles="1" noChangeArrowheads="1" noChangeShapeType="1" noCrop="1"/>
          </p:cNvPicPr>
          <p:nvPr userDrawn="1"/>
        </p:nvPicPr>
        <p:blipFill>
          <a:blip r:embed="rId2">
            <a:alphaModFix amt="20000"/>
            <a:extLst>
              <a:ext uri="{28A0092B-C50C-407E-A947-70E740481C1C}">
                <a14:useLocalDpi xmlns:a14="http://schemas.microsoft.com/office/drawing/2010/main" val="0"/>
              </a:ext>
            </a:extLst>
          </a:blip>
          <a:stretch/>
        </p:blipFill>
        <p:spPr>
          <a:xfrm>
            <a:off x="3480619" y="1909856"/>
            <a:ext cx="3401962" cy="4169922"/>
          </a:xfrm>
          <a:prstGeom prst="rect">
            <a:avLst/>
          </a:prstGeom>
        </p:spPr>
      </p:pic>
      <p:sp>
        <p:nvSpPr>
          <p:cNvPr id="3" name="Slide Number Placeholder 5">
            <a:extLst>
              <a:ext uri="{FF2B5EF4-FFF2-40B4-BE49-F238E27FC236}">
                <a16:creationId xmlns:a16="http://schemas.microsoft.com/office/drawing/2014/main" id="{A07EE742-BA87-A4BF-7FD1-59BBD8E145DE}"/>
              </a:ext>
            </a:extLst>
          </p:cNvPr>
          <p:cNvSpPr>
            <a:spLocks noGrp="1"/>
          </p:cNvSpPr>
          <p:nvPr userDrawn="1"/>
        </p:nvSpPr>
        <p:spPr>
          <a:xfrm>
            <a:off x="9906000" y="7335979"/>
            <a:ext cx="457200" cy="414338"/>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rgbClr val="C9AD62"/>
                </a:solidFill>
                <a:latin typeface="Raleway Black"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65700FE-BCEC-4E84-BA78-D55E132666CC}" type="slidenum">
              <a:rPr lang="en-US" sz="1200" smtClean="0"/>
              <a:pPr/>
              <a:t>‹#›</a:t>
            </a:fld>
            <a:endParaRPr lang="en-US" sz="1200" dirty="0"/>
          </a:p>
        </p:txBody>
      </p:sp>
    </p:spTree>
    <p:extLst>
      <p:ext uri="{BB962C8B-B14F-4D97-AF65-F5344CB8AC3E}">
        <p14:creationId xmlns:p14="http://schemas.microsoft.com/office/powerpoint/2010/main" val="944817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04_End Slide_Transparent CUI">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D3D843-835D-5E9A-776A-20E00CDC7AB8}"/>
              </a:ext>
            </a:extLst>
          </p:cNvPr>
          <p:cNvPicPr>
            <a:picLocks noGrp="1" noRot="1" noMove="1" noResize="1" noEditPoints="1" noAdjustHandles="1" noChangeArrowheads="1" noChangeShapeType="1" noCrop="1"/>
          </p:cNvPicPr>
          <p:nvPr userDrawn="1"/>
        </p:nvPicPr>
        <p:blipFill>
          <a:blip r:embed="rId2">
            <a:alphaModFix amt="20000"/>
            <a:extLst>
              <a:ext uri="{28A0092B-C50C-407E-A947-70E740481C1C}">
                <a14:useLocalDpi xmlns:a14="http://schemas.microsoft.com/office/drawing/2010/main" val="0"/>
              </a:ext>
            </a:extLst>
          </a:blip>
          <a:stretch/>
        </p:blipFill>
        <p:spPr>
          <a:xfrm>
            <a:off x="3480619" y="1909856"/>
            <a:ext cx="3401962" cy="4169922"/>
          </a:xfrm>
          <a:prstGeom prst="rect">
            <a:avLst/>
          </a:prstGeom>
        </p:spPr>
      </p:pic>
      <p:sp>
        <p:nvSpPr>
          <p:cNvPr id="3" name="Rectangle 2">
            <a:extLst>
              <a:ext uri="{FF2B5EF4-FFF2-40B4-BE49-F238E27FC236}">
                <a16:creationId xmlns:a16="http://schemas.microsoft.com/office/drawing/2014/main" id="{A38D24C0-8658-F2E5-735E-F57B81E279A3}"/>
              </a:ext>
            </a:extLst>
          </p:cNvPr>
          <p:cNvSpPr/>
          <p:nvPr userDrawn="1"/>
        </p:nvSpPr>
        <p:spPr>
          <a:xfrm>
            <a:off x="4887423" y="7249274"/>
            <a:ext cx="553945" cy="180046"/>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342916"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a:ln>
                  <a:noFill/>
                </a:ln>
                <a:solidFill>
                  <a:schemeClr val="tx1"/>
                </a:solidFill>
                <a:effectLst/>
                <a:uLnTx/>
                <a:uFillTx/>
                <a:latin typeface="+mj-lt"/>
                <a:ea typeface="+mn-ea"/>
                <a:cs typeface="Times New Roman" panose="02020603050405020304" pitchFamily="18" charset="0"/>
              </a:rPr>
              <a:t>CUI</a:t>
            </a:r>
          </a:p>
        </p:txBody>
      </p:sp>
      <p:sp>
        <p:nvSpPr>
          <p:cNvPr id="4" name="Rectangle 3">
            <a:extLst>
              <a:ext uri="{FF2B5EF4-FFF2-40B4-BE49-F238E27FC236}">
                <a16:creationId xmlns:a16="http://schemas.microsoft.com/office/drawing/2014/main" id="{E89B461D-92EC-B03C-5B62-7D614E8C1D5A}"/>
              </a:ext>
            </a:extLst>
          </p:cNvPr>
          <p:cNvSpPr/>
          <p:nvPr userDrawn="1"/>
        </p:nvSpPr>
        <p:spPr>
          <a:xfrm>
            <a:off x="4887422" y="60957"/>
            <a:ext cx="553945" cy="180046"/>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342916"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a:ln>
                  <a:noFill/>
                </a:ln>
                <a:solidFill>
                  <a:schemeClr val="tx1"/>
                </a:solidFill>
                <a:effectLst/>
                <a:uLnTx/>
                <a:uFillTx/>
                <a:latin typeface="+mj-lt"/>
                <a:ea typeface="+mn-ea"/>
                <a:cs typeface="Times New Roman" panose="02020603050405020304" pitchFamily="18" charset="0"/>
              </a:rPr>
              <a:t>CUI</a:t>
            </a:r>
          </a:p>
        </p:txBody>
      </p:sp>
      <p:sp>
        <p:nvSpPr>
          <p:cNvPr id="5" name="Slide Number Placeholder 5">
            <a:extLst>
              <a:ext uri="{FF2B5EF4-FFF2-40B4-BE49-F238E27FC236}">
                <a16:creationId xmlns:a16="http://schemas.microsoft.com/office/drawing/2014/main" id="{E09F1043-2203-24D0-D112-E69438267B60}"/>
              </a:ext>
            </a:extLst>
          </p:cNvPr>
          <p:cNvSpPr>
            <a:spLocks noGrp="1"/>
          </p:cNvSpPr>
          <p:nvPr userDrawn="1"/>
        </p:nvSpPr>
        <p:spPr>
          <a:xfrm>
            <a:off x="9906000" y="7335979"/>
            <a:ext cx="457200" cy="414338"/>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rgbClr val="C9AD62"/>
                </a:solidFill>
                <a:latin typeface="Raleway Black"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65700FE-BCEC-4E84-BA78-D55E132666CC}" type="slidenum">
              <a:rPr lang="en-US" sz="1200" smtClean="0"/>
              <a:pPr/>
              <a:t>‹#›</a:t>
            </a:fld>
            <a:endParaRPr lang="en-US" sz="1200" dirty="0"/>
          </a:p>
        </p:txBody>
      </p:sp>
    </p:spTree>
    <p:extLst>
      <p:ext uri="{BB962C8B-B14F-4D97-AF65-F5344CB8AC3E}">
        <p14:creationId xmlns:p14="http://schemas.microsoft.com/office/powerpoint/2010/main" val="3599515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_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81885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microsoft.com/office/2007/relationships/hdphoto" Target="../media/hdphoto1.wdp"/><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theme" Target="../theme/theme4.xml"/><Relationship Id="rId4"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9422EEE-B03C-C434-D819-C70910909FC8}"/>
              </a:ext>
            </a:extLst>
          </p:cNvPr>
          <p:cNvPicPr>
            <a:picLocks noChangeAspect="1"/>
          </p:cNvPicPr>
          <p:nvPr userDrawn="1"/>
        </p:nvPicPr>
        <p:blipFill>
          <a:blip r:embed="rId4"/>
          <a:srcRect/>
          <a:stretch/>
        </p:blipFill>
        <p:spPr>
          <a:xfrm>
            <a:off x="404" y="971777"/>
            <a:ext cx="10362391" cy="5828845"/>
          </a:xfrm>
          <a:prstGeom prst="rect">
            <a:avLst/>
          </a:prstGeom>
        </p:spPr>
      </p:pic>
      <p:sp>
        <p:nvSpPr>
          <p:cNvPr id="8" name="Rectangle 7">
            <a:extLst>
              <a:ext uri="{FF2B5EF4-FFF2-40B4-BE49-F238E27FC236}">
                <a16:creationId xmlns:a16="http://schemas.microsoft.com/office/drawing/2014/main" id="{2388A482-2CF7-AA61-AFD8-9F0514F07DB7}"/>
              </a:ext>
            </a:extLst>
          </p:cNvPr>
          <p:cNvSpPr>
            <a:spLocks/>
          </p:cNvSpPr>
          <p:nvPr userDrawn="1"/>
        </p:nvSpPr>
        <p:spPr>
          <a:xfrm>
            <a:off x="0" y="631579"/>
            <a:ext cx="10352166" cy="5794950"/>
          </a:xfrm>
          <a:prstGeom prst="rect">
            <a:avLst/>
          </a:prstGeom>
          <a:gradFill flip="none" rotWithShape="1">
            <a:gsLst>
              <a:gs pos="12000">
                <a:schemeClr val="bg1">
                  <a:lumMod val="95000"/>
                  <a:alpha val="54000"/>
                </a:schemeClr>
              </a:gs>
              <a:gs pos="100000">
                <a:schemeClr val="bg1">
                  <a:lumMod val="75000"/>
                  <a:alpha val="19000"/>
                </a:scheme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9B99B57A-977E-57DC-83A5-0643185043CA}"/>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1034" y="-13282"/>
            <a:ext cx="10374234" cy="7780675"/>
          </a:xfrm>
          <a:prstGeom prst="rect">
            <a:avLst/>
          </a:prstGeom>
        </p:spPr>
      </p:pic>
      <p:grpSp>
        <p:nvGrpSpPr>
          <p:cNvPr id="20" name="Group 19">
            <a:extLst>
              <a:ext uri="{FF2B5EF4-FFF2-40B4-BE49-F238E27FC236}">
                <a16:creationId xmlns:a16="http://schemas.microsoft.com/office/drawing/2014/main" id="{4706934B-33E6-66EA-C606-A0C0AA77E9CC}"/>
              </a:ext>
            </a:extLst>
          </p:cNvPr>
          <p:cNvGrpSpPr>
            <a:grpSpLocks noGrp="1" noUngrp="1" noRot="1" noMove="1" noResize="1"/>
          </p:cNvGrpSpPr>
          <p:nvPr userDrawn="1"/>
        </p:nvGrpSpPr>
        <p:grpSpPr>
          <a:xfrm>
            <a:off x="1092382" y="680186"/>
            <a:ext cx="1798302" cy="879741"/>
            <a:chOff x="1187093" y="4410699"/>
            <a:chExt cx="1967348" cy="962439"/>
          </a:xfrm>
        </p:grpSpPr>
        <p:pic>
          <p:nvPicPr>
            <p:cNvPr id="21" name="Picture 20">
              <a:extLst>
                <a:ext uri="{FF2B5EF4-FFF2-40B4-BE49-F238E27FC236}">
                  <a16:creationId xmlns:a16="http://schemas.microsoft.com/office/drawing/2014/main" id="{6BB0AFAF-B0A7-7455-8356-9D17E794A86C}"/>
                </a:ext>
              </a:extLst>
            </p:cNvPr>
            <p:cNvPicPr>
              <a:picLocks noGrp="1" noRot="1" noChangeAspect="1" noMove="1" noResize="1" noEditPoints="1" noAdjustHandles="1" noChangeArrowheads="1" noChangeShapeType="1" noCrop="1"/>
            </p:cNvPicPr>
            <p:nvPr userDrawn="1"/>
          </p:nvPicPr>
          <p:blipFill>
            <a:blip r:embed="rId6">
              <a:extLst>
                <a:ext uri="{28A0092B-C50C-407E-A947-70E740481C1C}">
                  <a14:useLocalDpi xmlns:a14="http://schemas.microsoft.com/office/drawing/2010/main" val="0"/>
                </a:ext>
              </a:extLst>
            </a:blip>
            <a:srcRect/>
            <a:stretch/>
          </p:blipFill>
          <p:spPr>
            <a:xfrm>
              <a:off x="2369250" y="4410699"/>
              <a:ext cx="785191" cy="962439"/>
            </a:xfrm>
            <a:prstGeom prst="rect">
              <a:avLst/>
            </a:prstGeom>
            <a:effectLst>
              <a:outerShdw blurRad="50800" dist="38100" dir="10800000" algn="r" rotWithShape="0">
                <a:prstClr val="black">
                  <a:alpha val="40000"/>
                </a:prstClr>
              </a:outerShdw>
            </a:effectLst>
          </p:spPr>
        </p:pic>
        <p:pic>
          <p:nvPicPr>
            <p:cNvPr id="23" name="Picture 22" descr="A close up of a sign&#10;&#10;Description automatically generated">
              <a:extLst>
                <a:ext uri="{FF2B5EF4-FFF2-40B4-BE49-F238E27FC236}">
                  <a16:creationId xmlns:a16="http://schemas.microsoft.com/office/drawing/2014/main" id="{1CC8467C-9139-E8A3-AED9-57C689C1F315}"/>
                </a:ext>
              </a:extLst>
            </p:cNvPr>
            <p:cNvPicPr>
              <a:picLocks noGrp="1" noRot="1" noChangeAspect="1" noMove="1" noResize="1" noEditPoints="1" noAdjustHandles="1" noChangeArrowheads="1" noChangeShapeType="1" noCrop="1"/>
            </p:cNvPicPr>
            <p:nvPr userDrawn="1"/>
          </p:nvPicPr>
          <p:blipFill>
            <a:blip r:embed="rId7" cstate="hqprint">
              <a:extLst>
                <a:ext uri="{28A0092B-C50C-407E-A947-70E740481C1C}">
                  <a14:useLocalDpi xmlns:a14="http://schemas.microsoft.com/office/drawing/2010/main" val="0"/>
                </a:ext>
              </a:extLst>
            </a:blip>
            <a:stretch>
              <a:fillRect/>
            </a:stretch>
          </p:blipFill>
          <p:spPr>
            <a:xfrm>
              <a:off x="1187093" y="4441928"/>
              <a:ext cx="841276" cy="841276"/>
            </a:xfrm>
            <a:prstGeom prst="rect">
              <a:avLst/>
            </a:prstGeom>
            <a:effectLst>
              <a:outerShdw blurRad="50800" dist="38100" dir="10800000" algn="r" rotWithShape="0">
                <a:prstClr val="black">
                  <a:alpha val="40000"/>
                </a:prstClr>
              </a:outerShdw>
            </a:effectLst>
          </p:spPr>
        </p:pic>
      </p:grpSp>
    </p:spTree>
    <p:extLst>
      <p:ext uri="{BB962C8B-B14F-4D97-AF65-F5344CB8AC3E}">
        <p14:creationId xmlns:p14="http://schemas.microsoft.com/office/powerpoint/2010/main" val="1470325988"/>
      </p:ext>
    </p:extLst>
  </p:cSld>
  <p:clrMap bg1="lt1" tx1="dk1" bg2="lt2" tx2="dk2" accent1="accent1" accent2="accent2" accent3="accent3" accent4="accent4" accent5="accent5" accent6="accent6" hlink="hlink" folHlink="folHlink"/>
  <p:sldLayoutIdLst>
    <p:sldLayoutId id="2147483680" r:id="rId1"/>
    <p:sldLayoutId id="2147483681" r:id="rId2"/>
  </p:sldLayoutIdLst>
  <p:hf hdr="0" ftr="0" dt="0"/>
  <p:txStyles>
    <p:titleStyle>
      <a:lvl1pPr algn="ctr" defTabSz="1036317" rtl="0" eaLnBrk="1" latinLnBrk="0" hangingPunct="1">
        <a:lnSpc>
          <a:spcPct val="90000"/>
        </a:lnSpc>
        <a:spcBef>
          <a:spcPct val="0"/>
        </a:spcBef>
        <a:buNone/>
        <a:defRPr sz="3627" b="1" kern="1200">
          <a:solidFill>
            <a:schemeClr val="tx1"/>
          </a:solidFill>
          <a:latin typeface="+mj-lt"/>
          <a:ea typeface="+mj-ea"/>
          <a:cs typeface="+mj-cs"/>
        </a:defRPr>
      </a:lvl1pPr>
    </p:titleStyle>
    <p:bodyStyle>
      <a:lvl1pPr marL="259079" indent="-259079" algn="l" defTabSz="1036317" rtl="0" eaLnBrk="1" latinLnBrk="0" hangingPunct="1">
        <a:lnSpc>
          <a:spcPct val="90000"/>
        </a:lnSpc>
        <a:spcBef>
          <a:spcPts val="1133"/>
        </a:spcBef>
        <a:buFont typeface="Arial" panose="020B0604020202020204" pitchFamily="34" charset="0"/>
        <a:buChar char="•"/>
        <a:defRPr sz="2267" kern="1200">
          <a:solidFill>
            <a:schemeClr val="tx1"/>
          </a:solidFill>
          <a:latin typeface="+mn-lt"/>
          <a:ea typeface="+mn-ea"/>
          <a:cs typeface="+mn-cs"/>
        </a:defRPr>
      </a:lvl1pPr>
      <a:lvl2pPr marL="777238" indent="-259079" algn="l" defTabSz="1036317" rtl="0" eaLnBrk="1" latinLnBrk="0" hangingPunct="1">
        <a:lnSpc>
          <a:spcPct val="90000"/>
        </a:lnSpc>
        <a:spcBef>
          <a:spcPts val="567"/>
        </a:spcBef>
        <a:buFont typeface="Arial" panose="020B0604020202020204" pitchFamily="34" charset="0"/>
        <a:buChar char="•"/>
        <a:defRPr sz="2267" kern="1200">
          <a:solidFill>
            <a:schemeClr val="tx1"/>
          </a:solidFill>
          <a:latin typeface="+mn-lt"/>
          <a:ea typeface="+mn-ea"/>
          <a:cs typeface="+mn-cs"/>
        </a:defRPr>
      </a:lvl2pPr>
      <a:lvl3pPr marL="1295396" indent="-259079" algn="l" defTabSz="1036317" rtl="0" eaLnBrk="1" latinLnBrk="0" hangingPunct="1">
        <a:lnSpc>
          <a:spcPct val="90000"/>
        </a:lnSpc>
        <a:spcBef>
          <a:spcPts val="567"/>
        </a:spcBef>
        <a:buFont typeface="Arial" panose="020B0604020202020204" pitchFamily="34" charset="0"/>
        <a:buChar char="•"/>
        <a:defRPr sz="2267" kern="1200">
          <a:solidFill>
            <a:schemeClr val="tx1"/>
          </a:solidFill>
          <a:latin typeface="+mn-lt"/>
          <a:ea typeface="+mn-ea"/>
          <a:cs typeface="+mn-cs"/>
        </a:defRPr>
      </a:lvl3pPr>
      <a:lvl4pPr marL="1813555" indent="-259079" algn="l" defTabSz="1036317" rtl="0" eaLnBrk="1" latinLnBrk="0" hangingPunct="1">
        <a:lnSpc>
          <a:spcPct val="90000"/>
        </a:lnSpc>
        <a:spcBef>
          <a:spcPts val="567"/>
        </a:spcBef>
        <a:buFont typeface="Arial" panose="020B0604020202020204" pitchFamily="34" charset="0"/>
        <a:buChar char="•"/>
        <a:defRPr sz="2267" kern="1200">
          <a:solidFill>
            <a:schemeClr val="tx1"/>
          </a:solidFill>
          <a:latin typeface="+mn-lt"/>
          <a:ea typeface="+mn-ea"/>
          <a:cs typeface="+mn-cs"/>
        </a:defRPr>
      </a:lvl4pPr>
      <a:lvl5pPr marL="2331713" indent="-259079" algn="l" defTabSz="1036317" rtl="0" eaLnBrk="1" latinLnBrk="0" hangingPunct="1">
        <a:lnSpc>
          <a:spcPct val="90000"/>
        </a:lnSpc>
        <a:spcBef>
          <a:spcPts val="567"/>
        </a:spcBef>
        <a:buFont typeface="Arial" panose="020B0604020202020204" pitchFamily="34" charset="0"/>
        <a:buChar char="•"/>
        <a:defRPr sz="2267" kern="1200">
          <a:solidFill>
            <a:schemeClr val="tx1"/>
          </a:solidFill>
          <a:latin typeface="+mn-lt"/>
          <a:ea typeface="+mn-ea"/>
          <a:cs typeface="+mn-cs"/>
        </a:defRPr>
      </a:lvl5pPr>
      <a:lvl6pPr marL="2849872"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8030"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189"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347"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p:bodyStyle>
    <p:otherStyle>
      <a:defPPr>
        <a:defRPr lang="en-US"/>
      </a:defPPr>
      <a:lvl1pPr marL="0" algn="l" defTabSz="1036317" rtl="0" eaLnBrk="1" latinLnBrk="0" hangingPunct="1">
        <a:defRPr sz="2040" kern="1200">
          <a:solidFill>
            <a:schemeClr val="tx1"/>
          </a:solidFill>
          <a:latin typeface="+mn-lt"/>
          <a:ea typeface="+mn-ea"/>
          <a:cs typeface="+mn-cs"/>
        </a:defRPr>
      </a:lvl1pPr>
      <a:lvl2pPr marL="518158" algn="l" defTabSz="1036317" rtl="0" eaLnBrk="1" latinLnBrk="0" hangingPunct="1">
        <a:defRPr sz="2040" kern="1200">
          <a:solidFill>
            <a:schemeClr val="tx1"/>
          </a:solidFill>
          <a:latin typeface="+mn-lt"/>
          <a:ea typeface="+mn-ea"/>
          <a:cs typeface="+mn-cs"/>
        </a:defRPr>
      </a:lvl2pPr>
      <a:lvl3pPr marL="1036317" algn="l" defTabSz="1036317" rtl="0" eaLnBrk="1" latinLnBrk="0" hangingPunct="1">
        <a:defRPr sz="2040" kern="1200">
          <a:solidFill>
            <a:schemeClr val="tx1"/>
          </a:solidFill>
          <a:latin typeface="+mn-lt"/>
          <a:ea typeface="+mn-ea"/>
          <a:cs typeface="+mn-cs"/>
        </a:defRPr>
      </a:lvl3pPr>
      <a:lvl4pPr marL="1554475" algn="l" defTabSz="1036317" rtl="0" eaLnBrk="1" latinLnBrk="0" hangingPunct="1">
        <a:defRPr sz="2040" kern="1200">
          <a:solidFill>
            <a:schemeClr val="tx1"/>
          </a:solidFill>
          <a:latin typeface="+mn-lt"/>
          <a:ea typeface="+mn-ea"/>
          <a:cs typeface="+mn-cs"/>
        </a:defRPr>
      </a:lvl4pPr>
      <a:lvl5pPr marL="2072634" algn="l" defTabSz="1036317" rtl="0" eaLnBrk="1" latinLnBrk="0" hangingPunct="1">
        <a:defRPr sz="2040" kern="1200">
          <a:solidFill>
            <a:schemeClr val="tx1"/>
          </a:solidFill>
          <a:latin typeface="+mn-lt"/>
          <a:ea typeface="+mn-ea"/>
          <a:cs typeface="+mn-cs"/>
        </a:defRPr>
      </a:lvl5pPr>
      <a:lvl6pPr marL="2590792" algn="l" defTabSz="1036317" rtl="0" eaLnBrk="1" latinLnBrk="0" hangingPunct="1">
        <a:defRPr sz="2040" kern="1200">
          <a:solidFill>
            <a:schemeClr val="tx1"/>
          </a:solidFill>
          <a:latin typeface="+mn-lt"/>
          <a:ea typeface="+mn-ea"/>
          <a:cs typeface="+mn-cs"/>
        </a:defRPr>
      </a:lvl6pPr>
      <a:lvl7pPr marL="3108951" algn="l" defTabSz="1036317" rtl="0" eaLnBrk="1" latinLnBrk="0" hangingPunct="1">
        <a:defRPr sz="2040" kern="1200">
          <a:solidFill>
            <a:schemeClr val="tx1"/>
          </a:solidFill>
          <a:latin typeface="+mn-lt"/>
          <a:ea typeface="+mn-ea"/>
          <a:cs typeface="+mn-cs"/>
        </a:defRPr>
      </a:lvl7pPr>
      <a:lvl8pPr marL="3627109" algn="l" defTabSz="1036317" rtl="0" eaLnBrk="1" latinLnBrk="0" hangingPunct="1">
        <a:defRPr sz="2040" kern="1200">
          <a:solidFill>
            <a:schemeClr val="tx1"/>
          </a:solidFill>
          <a:latin typeface="+mn-lt"/>
          <a:ea typeface="+mn-ea"/>
          <a:cs typeface="+mn-cs"/>
        </a:defRPr>
      </a:lvl8pPr>
      <a:lvl9pPr marL="4145268" algn="l" defTabSz="1036317" rtl="0" eaLnBrk="1" latinLnBrk="0" hangingPunct="1">
        <a:defRPr sz="20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72" userDrawn="1">
          <p15:clr>
            <a:srgbClr val="F26B43"/>
          </p15:clr>
        </p15:guide>
        <p15:guide id="2" pos="32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A picture containing text&#10;&#10;Description automatically generated">
            <a:extLst>
              <a:ext uri="{FF2B5EF4-FFF2-40B4-BE49-F238E27FC236}">
                <a16:creationId xmlns:a16="http://schemas.microsoft.com/office/drawing/2014/main" id="{C8D2F5E4-3C51-8553-80E8-AFF530D493F6}"/>
              </a:ext>
            </a:extLst>
          </p:cNvPr>
          <p:cNvPicPr>
            <a:picLocks noGrp="1" noRot="1" noChangeAspect="1" noMove="1" noResize="1" noEditPoints="1" noAdjustHandles="1" noChangeArrowheads="1" noChangeShapeType="1" noCrop="1"/>
          </p:cNvPicPr>
          <p:nvPr userDrawn="1"/>
        </p:nvPicPr>
        <p:blipFill>
          <a:blip r:embed="rId4">
            <a:alphaModFix amt="70000"/>
            <a:extLst>
              <a:ext uri="{28A0092B-C50C-407E-A947-70E740481C1C}">
                <a14:useLocalDpi xmlns:a14="http://schemas.microsoft.com/office/drawing/2010/main"/>
              </a:ext>
            </a:extLst>
          </a:blip>
          <a:stretch>
            <a:fillRect/>
          </a:stretch>
        </p:blipFill>
        <p:spPr>
          <a:xfrm>
            <a:off x="0" y="0"/>
            <a:ext cx="10363200" cy="7772400"/>
          </a:xfrm>
          <a:prstGeom prst="rect">
            <a:avLst/>
          </a:prstGeom>
        </p:spPr>
      </p:pic>
      <p:sp>
        <p:nvSpPr>
          <p:cNvPr id="2" name="Rectangle 27">
            <a:extLst>
              <a:ext uri="{FF2B5EF4-FFF2-40B4-BE49-F238E27FC236}">
                <a16:creationId xmlns:a16="http://schemas.microsoft.com/office/drawing/2014/main" id="{B1A78B5C-908B-2FEA-39E6-D706B35C6A8C}"/>
              </a:ext>
            </a:extLst>
          </p:cNvPr>
          <p:cNvSpPr>
            <a:spLocks noGrp="1" noRot="1" noMove="1" noResize="1" noEditPoints="1" noAdjustHandles="1" noChangeArrowheads="1" noChangeShapeType="1"/>
          </p:cNvSpPr>
          <p:nvPr userDrawn="1"/>
        </p:nvSpPr>
        <p:spPr>
          <a:xfrm flipH="1">
            <a:off x="0" y="537076"/>
            <a:ext cx="10363200" cy="932688"/>
          </a:xfrm>
          <a:custGeom>
            <a:avLst/>
            <a:gdLst>
              <a:gd name="connsiteX0" fmla="*/ 0 w 9117825"/>
              <a:gd name="connsiteY0" fmla="*/ 0 h 1412802"/>
              <a:gd name="connsiteX1" fmla="*/ 9117825 w 9117825"/>
              <a:gd name="connsiteY1" fmla="*/ 0 h 1412802"/>
              <a:gd name="connsiteX2" fmla="*/ 9117825 w 9117825"/>
              <a:gd name="connsiteY2" fmla="*/ 1412802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22829"/>
              <a:gd name="connsiteX1" fmla="*/ 9117825 w 9117825"/>
              <a:gd name="connsiteY1" fmla="*/ 0 h 1422829"/>
              <a:gd name="connsiteX2" fmla="*/ 9117825 w 9117825"/>
              <a:gd name="connsiteY2" fmla="*/ 724825 h 1422829"/>
              <a:gd name="connsiteX3" fmla="*/ 0 w 9117825"/>
              <a:gd name="connsiteY3" fmla="*/ 1412802 h 1422829"/>
              <a:gd name="connsiteX4" fmla="*/ 0 w 9117825"/>
              <a:gd name="connsiteY4" fmla="*/ 0 h 1422829"/>
              <a:gd name="connsiteX0" fmla="*/ 0 w 9117825"/>
              <a:gd name="connsiteY0" fmla="*/ 0 h 1426217"/>
              <a:gd name="connsiteX1" fmla="*/ 9117825 w 9117825"/>
              <a:gd name="connsiteY1" fmla="*/ 0 h 1426217"/>
              <a:gd name="connsiteX2" fmla="*/ 9117825 w 9117825"/>
              <a:gd name="connsiteY2" fmla="*/ 724825 h 1426217"/>
              <a:gd name="connsiteX3" fmla="*/ 0 w 9117825"/>
              <a:gd name="connsiteY3" fmla="*/ 1412802 h 1426217"/>
              <a:gd name="connsiteX4" fmla="*/ 0 w 9117825"/>
              <a:gd name="connsiteY4" fmla="*/ 0 h 1426217"/>
              <a:gd name="connsiteX0" fmla="*/ 0 w 9117825"/>
              <a:gd name="connsiteY0" fmla="*/ 0 h 1432832"/>
              <a:gd name="connsiteX1" fmla="*/ 9117825 w 9117825"/>
              <a:gd name="connsiteY1" fmla="*/ 0 h 1432832"/>
              <a:gd name="connsiteX2" fmla="*/ 9117825 w 9117825"/>
              <a:gd name="connsiteY2" fmla="*/ 724825 h 1432832"/>
              <a:gd name="connsiteX3" fmla="*/ 0 w 9117825"/>
              <a:gd name="connsiteY3" fmla="*/ 1412802 h 1432832"/>
              <a:gd name="connsiteX4" fmla="*/ 0 w 9117825"/>
              <a:gd name="connsiteY4" fmla="*/ 0 h 1432832"/>
              <a:gd name="connsiteX0" fmla="*/ 0 w 9117825"/>
              <a:gd name="connsiteY0" fmla="*/ 0 h 1430499"/>
              <a:gd name="connsiteX1" fmla="*/ 9117825 w 9117825"/>
              <a:gd name="connsiteY1" fmla="*/ 0 h 1430499"/>
              <a:gd name="connsiteX2" fmla="*/ 9117825 w 9117825"/>
              <a:gd name="connsiteY2" fmla="*/ 724825 h 1430499"/>
              <a:gd name="connsiteX3" fmla="*/ 0 w 9117825"/>
              <a:gd name="connsiteY3" fmla="*/ 1412802 h 1430499"/>
              <a:gd name="connsiteX4" fmla="*/ 0 w 9117825"/>
              <a:gd name="connsiteY4" fmla="*/ 0 h 1430499"/>
              <a:gd name="connsiteX0" fmla="*/ 0 w 9117825"/>
              <a:gd name="connsiteY0" fmla="*/ 0 h 1431392"/>
              <a:gd name="connsiteX1" fmla="*/ 9117825 w 9117825"/>
              <a:gd name="connsiteY1" fmla="*/ 0 h 1431392"/>
              <a:gd name="connsiteX2" fmla="*/ 9117825 w 9117825"/>
              <a:gd name="connsiteY2" fmla="*/ 724825 h 1431392"/>
              <a:gd name="connsiteX3" fmla="*/ 0 w 9117825"/>
              <a:gd name="connsiteY3" fmla="*/ 1412802 h 1431392"/>
              <a:gd name="connsiteX4" fmla="*/ 0 w 9117825"/>
              <a:gd name="connsiteY4" fmla="*/ 0 h 1431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7825" h="1431392">
                <a:moveTo>
                  <a:pt x="0" y="0"/>
                </a:moveTo>
                <a:lnTo>
                  <a:pt x="9117825" y="0"/>
                </a:lnTo>
                <a:lnTo>
                  <a:pt x="9117825" y="724825"/>
                </a:lnTo>
                <a:cubicBezTo>
                  <a:pt x="4702595" y="510013"/>
                  <a:pt x="5468967" y="1584070"/>
                  <a:pt x="0" y="1412802"/>
                </a:cubicBezTo>
                <a:lnTo>
                  <a:pt x="0" y="0"/>
                </a:lnTo>
                <a:close/>
              </a:path>
            </a:pathLst>
          </a:custGeom>
          <a:gradFill>
            <a:gsLst>
              <a:gs pos="84000">
                <a:srgbClr val="B99E55"/>
              </a:gs>
              <a:gs pos="55000">
                <a:schemeClr val="bg1"/>
              </a:gs>
              <a:gs pos="100000">
                <a:srgbClr val="C7AA61"/>
              </a:gs>
            </a:gsLst>
            <a:path path="circle">
              <a:fillToRect r="100000" b="100000"/>
            </a:path>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036317" rtl="0" eaLnBrk="1" fontAlgn="auto" latinLnBrk="0" hangingPunct="1">
              <a:lnSpc>
                <a:spcPct val="100000"/>
              </a:lnSpc>
              <a:spcBef>
                <a:spcPts val="0"/>
              </a:spcBef>
              <a:spcAft>
                <a:spcPts val="0"/>
              </a:spcAft>
              <a:buClrTx/>
              <a:buSzTx/>
              <a:buFontTx/>
              <a:buNone/>
              <a:tabLst/>
              <a:defRPr/>
            </a:pPr>
            <a:endParaRPr kumimoji="0" lang="en-US" sz="1473" b="1" i="0" u="none" strike="noStrike" kern="1200" cap="all" spc="0" normalizeH="0" baseline="0" noProof="0">
              <a:ln>
                <a:noFill/>
              </a:ln>
              <a:solidFill>
                <a:prstClr val="white"/>
              </a:solidFill>
              <a:effectLst/>
              <a:uLnTx/>
              <a:uFillTx/>
              <a:latin typeface="+mj-lt"/>
              <a:ea typeface="+mn-ea"/>
              <a:cs typeface="+mn-cs"/>
            </a:endParaRPr>
          </a:p>
        </p:txBody>
      </p:sp>
      <p:sp>
        <p:nvSpPr>
          <p:cNvPr id="7" name="Rectangle 27">
            <a:extLst>
              <a:ext uri="{FF2B5EF4-FFF2-40B4-BE49-F238E27FC236}">
                <a16:creationId xmlns:a16="http://schemas.microsoft.com/office/drawing/2014/main" id="{0A5AE57E-5373-C94C-545F-0A72BDB3ED1C}"/>
              </a:ext>
            </a:extLst>
          </p:cNvPr>
          <p:cNvSpPr>
            <a:spLocks noGrp="1" noRot="1" noMove="1" noResize="1" noEditPoints="1" noAdjustHandles="1" noChangeArrowheads="1" noChangeShapeType="1"/>
          </p:cNvSpPr>
          <p:nvPr userDrawn="1"/>
        </p:nvSpPr>
        <p:spPr>
          <a:xfrm flipH="1">
            <a:off x="-8827" y="-12577"/>
            <a:ext cx="10371473" cy="1394095"/>
          </a:xfrm>
          <a:custGeom>
            <a:avLst/>
            <a:gdLst>
              <a:gd name="connsiteX0" fmla="*/ 0 w 9117825"/>
              <a:gd name="connsiteY0" fmla="*/ 0 h 1412802"/>
              <a:gd name="connsiteX1" fmla="*/ 9117825 w 9117825"/>
              <a:gd name="connsiteY1" fmla="*/ 0 h 1412802"/>
              <a:gd name="connsiteX2" fmla="*/ 9117825 w 9117825"/>
              <a:gd name="connsiteY2" fmla="*/ 1412802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22829"/>
              <a:gd name="connsiteX1" fmla="*/ 9117825 w 9117825"/>
              <a:gd name="connsiteY1" fmla="*/ 0 h 1422829"/>
              <a:gd name="connsiteX2" fmla="*/ 9117825 w 9117825"/>
              <a:gd name="connsiteY2" fmla="*/ 724825 h 1422829"/>
              <a:gd name="connsiteX3" fmla="*/ 0 w 9117825"/>
              <a:gd name="connsiteY3" fmla="*/ 1412802 h 1422829"/>
              <a:gd name="connsiteX4" fmla="*/ 0 w 9117825"/>
              <a:gd name="connsiteY4" fmla="*/ 0 h 1422829"/>
              <a:gd name="connsiteX0" fmla="*/ 0 w 9117825"/>
              <a:gd name="connsiteY0" fmla="*/ 0 h 1426217"/>
              <a:gd name="connsiteX1" fmla="*/ 9117825 w 9117825"/>
              <a:gd name="connsiteY1" fmla="*/ 0 h 1426217"/>
              <a:gd name="connsiteX2" fmla="*/ 9117825 w 9117825"/>
              <a:gd name="connsiteY2" fmla="*/ 724825 h 1426217"/>
              <a:gd name="connsiteX3" fmla="*/ 0 w 9117825"/>
              <a:gd name="connsiteY3" fmla="*/ 1412802 h 1426217"/>
              <a:gd name="connsiteX4" fmla="*/ 0 w 9117825"/>
              <a:gd name="connsiteY4" fmla="*/ 0 h 1426217"/>
              <a:gd name="connsiteX0" fmla="*/ 0 w 9117825"/>
              <a:gd name="connsiteY0" fmla="*/ 0 h 1432832"/>
              <a:gd name="connsiteX1" fmla="*/ 9117825 w 9117825"/>
              <a:gd name="connsiteY1" fmla="*/ 0 h 1432832"/>
              <a:gd name="connsiteX2" fmla="*/ 9117825 w 9117825"/>
              <a:gd name="connsiteY2" fmla="*/ 724825 h 1432832"/>
              <a:gd name="connsiteX3" fmla="*/ 0 w 9117825"/>
              <a:gd name="connsiteY3" fmla="*/ 1412802 h 1432832"/>
              <a:gd name="connsiteX4" fmla="*/ 0 w 9117825"/>
              <a:gd name="connsiteY4" fmla="*/ 0 h 1432832"/>
              <a:gd name="connsiteX0" fmla="*/ 0 w 9117825"/>
              <a:gd name="connsiteY0" fmla="*/ 0 h 1430499"/>
              <a:gd name="connsiteX1" fmla="*/ 9117825 w 9117825"/>
              <a:gd name="connsiteY1" fmla="*/ 0 h 1430499"/>
              <a:gd name="connsiteX2" fmla="*/ 9117825 w 9117825"/>
              <a:gd name="connsiteY2" fmla="*/ 724825 h 1430499"/>
              <a:gd name="connsiteX3" fmla="*/ 0 w 9117825"/>
              <a:gd name="connsiteY3" fmla="*/ 1412802 h 1430499"/>
              <a:gd name="connsiteX4" fmla="*/ 0 w 9117825"/>
              <a:gd name="connsiteY4" fmla="*/ 0 h 1430499"/>
              <a:gd name="connsiteX0" fmla="*/ 0 w 9117825"/>
              <a:gd name="connsiteY0" fmla="*/ 0 h 1431392"/>
              <a:gd name="connsiteX1" fmla="*/ 9117825 w 9117825"/>
              <a:gd name="connsiteY1" fmla="*/ 0 h 1431392"/>
              <a:gd name="connsiteX2" fmla="*/ 9117825 w 9117825"/>
              <a:gd name="connsiteY2" fmla="*/ 724825 h 1431392"/>
              <a:gd name="connsiteX3" fmla="*/ 0 w 9117825"/>
              <a:gd name="connsiteY3" fmla="*/ 1412802 h 1431392"/>
              <a:gd name="connsiteX4" fmla="*/ 0 w 9117825"/>
              <a:gd name="connsiteY4" fmla="*/ 0 h 1431392"/>
              <a:gd name="connsiteX0" fmla="*/ 0 w 9117825"/>
              <a:gd name="connsiteY0" fmla="*/ 0 h 1435570"/>
              <a:gd name="connsiteX1" fmla="*/ 9117825 w 9117825"/>
              <a:gd name="connsiteY1" fmla="*/ 0 h 1435570"/>
              <a:gd name="connsiteX2" fmla="*/ 9117825 w 9117825"/>
              <a:gd name="connsiteY2" fmla="*/ 724825 h 1435570"/>
              <a:gd name="connsiteX3" fmla="*/ 0 w 9117825"/>
              <a:gd name="connsiteY3" fmla="*/ 1412802 h 1435570"/>
              <a:gd name="connsiteX4" fmla="*/ 0 w 9117825"/>
              <a:gd name="connsiteY4" fmla="*/ 0 h 1435570"/>
              <a:gd name="connsiteX0" fmla="*/ 0 w 9117825"/>
              <a:gd name="connsiteY0" fmla="*/ 0 h 1437990"/>
              <a:gd name="connsiteX1" fmla="*/ 9117825 w 9117825"/>
              <a:gd name="connsiteY1" fmla="*/ 0 h 1437990"/>
              <a:gd name="connsiteX2" fmla="*/ 9117825 w 9117825"/>
              <a:gd name="connsiteY2" fmla="*/ 817812 h 1437990"/>
              <a:gd name="connsiteX3" fmla="*/ 0 w 9117825"/>
              <a:gd name="connsiteY3" fmla="*/ 1412802 h 1437990"/>
              <a:gd name="connsiteX4" fmla="*/ 0 w 9117825"/>
              <a:gd name="connsiteY4" fmla="*/ 0 h 1437990"/>
              <a:gd name="connsiteX0" fmla="*/ 0 w 9117825"/>
              <a:gd name="connsiteY0" fmla="*/ 0 h 1423865"/>
              <a:gd name="connsiteX1" fmla="*/ 9117825 w 9117825"/>
              <a:gd name="connsiteY1" fmla="*/ 0 h 1423865"/>
              <a:gd name="connsiteX2" fmla="*/ 9117825 w 9117825"/>
              <a:gd name="connsiteY2" fmla="*/ 817812 h 1423865"/>
              <a:gd name="connsiteX3" fmla="*/ 0 w 9117825"/>
              <a:gd name="connsiteY3" fmla="*/ 1412802 h 1423865"/>
              <a:gd name="connsiteX4" fmla="*/ 0 w 9117825"/>
              <a:gd name="connsiteY4" fmla="*/ 0 h 1423865"/>
              <a:gd name="connsiteX0" fmla="*/ 0 w 9117825"/>
              <a:gd name="connsiteY0" fmla="*/ 0 h 1420649"/>
              <a:gd name="connsiteX1" fmla="*/ 9117825 w 9117825"/>
              <a:gd name="connsiteY1" fmla="*/ 0 h 1420649"/>
              <a:gd name="connsiteX2" fmla="*/ 9117825 w 9117825"/>
              <a:gd name="connsiteY2" fmla="*/ 817812 h 1420649"/>
              <a:gd name="connsiteX3" fmla="*/ 0 w 9117825"/>
              <a:gd name="connsiteY3" fmla="*/ 1412802 h 1420649"/>
              <a:gd name="connsiteX4" fmla="*/ 0 w 9117825"/>
              <a:gd name="connsiteY4" fmla="*/ 0 h 1420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7825" h="1420649">
                <a:moveTo>
                  <a:pt x="0" y="0"/>
                </a:moveTo>
                <a:lnTo>
                  <a:pt x="9117825" y="0"/>
                </a:lnTo>
                <a:lnTo>
                  <a:pt x="9117825" y="817812"/>
                </a:lnTo>
                <a:cubicBezTo>
                  <a:pt x="4721380" y="826170"/>
                  <a:pt x="5478359" y="1500383"/>
                  <a:pt x="0" y="1412802"/>
                </a:cubicBezTo>
                <a:lnTo>
                  <a:pt x="0" y="0"/>
                </a:lnTo>
                <a:close/>
              </a:path>
            </a:pathLst>
          </a:custGeom>
          <a:solidFill>
            <a:srgbClr val="1716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036317" rtl="0" eaLnBrk="1" fontAlgn="auto" latinLnBrk="0" hangingPunct="1">
              <a:lnSpc>
                <a:spcPct val="100000"/>
              </a:lnSpc>
              <a:spcBef>
                <a:spcPts val="0"/>
              </a:spcBef>
              <a:spcAft>
                <a:spcPts val="0"/>
              </a:spcAft>
              <a:buClrTx/>
              <a:buSzTx/>
              <a:buFontTx/>
              <a:buNone/>
              <a:tabLst/>
              <a:defRPr/>
            </a:pPr>
            <a:endParaRPr kumimoji="0" lang="en-US" sz="1473" b="1" i="0" u="none" strike="noStrike" kern="1200" cap="all" spc="0" normalizeH="0" baseline="0" noProof="0">
              <a:ln>
                <a:noFill/>
              </a:ln>
              <a:solidFill>
                <a:prstClr val="white"/>
              </a:solidFill>
              <a:effectLst/>
              <a:uLnTx/>
              <a:uFillTx/>
              <a:latin typeface="+mj-lt"/>
              <a:ea typeface="+mn-ea"/>
              <a:cs typeface="+mn-cs"/>
            </a:endParaRPr>
          </a:p>
        </p:txBody>
      </p:sp>
      <p:sp>
        <p:nvSpPr>
          <p:cNvPr id="8" name="Rectangle 7">
            <a:extLst>
              <a:ext uri="{FF2B5EF4-FFF2-40B4-BE49-F238E27FC236}">
                <a16:creationId xmlns:a16="http://schemas.microsoft.com/office/drawing/2014/main" id="{039C2A2D-8FFF-A47E-568F-A54303B962D0}"/>
              </a:ext>
            </a:extLst>
          </p:cNvPr>
          <p:cNvSpPr>
            <a:spLocks noGrp="1" noRot="1" noMove="1" noResize="1" noEditPoints="1" noAdjustHandles="1" noChangeArrowheads="1" noChangeShapeType="1"/>
          </p:cNvSpPr>
          <p:nvPr userDrawn="1"/>
        </p:nvSpPr>
        <p:spPr>
          <a:xfrm>
            <a:off x="1" y="7323570"/>
            <a:ext cx="10374115" cy="470925"/>
          </a:xfrm>
          <a:prstGeom prst="rect">
            <a:avLst/>
          </a:prstGeom>
          <a:solidFill>
            <a:srgbClr val="1716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036317" rtl="0" eaLnBrk="1" fontAlgn="auto" latinLnBrk="0" hangingPunct="1">
              <a:lnSpc>
                <a:spcPct val="100000"/>
              </a:lnSpc>
              <a:spcBef>
                <a:spcPts val="0"/>
              </a:spcBef>
              <a:spcAft>
                <a:spcPts val="0"/>
              </a:spcAft>
              <a:buClrTx/>
              <a:buSzTx/>
              <a:buFontTx/>
              <a:buNone/>
              <a:tabLst/>
              <a:defRPr/>
            </a:pPr>
            <a:endParaRPr kumimoji="0" lang="en-US" sz="1473" b="1" i="0" u="none" strike="noStrike" kern="1200" cap="all" spc="0" normalizeH="0" baseline="0" noProof="0">
              <a:ln>
                <a:noFill/>
              </a:ln>
              <a:solidFill>
                <a:prstClr val="white"/>
              </a:solidFill>
              <a:effectLst/>
              <a:uLnTx/>
              <a:uFillTx/>
              <a:latin typeface="+mj-lt"/>
              <a:ea typeface="+mn-ea"/>
              <a:cs typeface="+mn-cs"/>
            </a:endParaRPr>
          </a:p>
        </p:txBody>
      </p:sp>
      <p:grpSp>
        <p:nvGrpSpPr>
          <p:cNvPr id="20" name="Group 19">
            <a:extLst>
              <a:ext uri="{FF2B5EF4-FFF2-40B4-BE49-F238E27FC236}">
                <a16:creationId xmlns:a16="http://schemas.microsoft.com/office/drawing/2014/main" id="{9BE90986-5868-7DA1-D50C-B9A48C5F2B4C}"/>
              </a:ext>
            </a:extLst>
          </p:cNvPr>
          <p:cNvGrpSpPr>
            <a:grpSpLocks noGrp="1" noUngrp="1" noRot="1" noMove="1" noResize="1"/>
          </p:cNvGrpSpPr>
          <p:nvPr userDrawn="1"/>
        </p:nvGrpSpPr>
        <p:grpSpPr>
          <a:xfrm>
            <a:off x="518160" y="487655"/>
            <a:ext cx="1773120" cy="859562"/>
            <a:chOff x="457200" y="464703"/>
            <a:chExt cx="1360416" cy="659494"/>
          </a:xfrm>
          <a:effectLst>
            <a:outerShdw blurRad="50800" dist="38100" dir="5400000" algn="t" rotWithShape="0">
              <a:prstClr val="black">
                <a:alpha val="40000"/>
              </a:prstClr>
            </a:outerShdw>
          </a:effectLst>
        </p:grpSpPr>
        <p:pic>
          <p:nvPicPr>
            <p:cNvPr id="16" name="Picture 15">
              <a:extLst>
                <a:ext uri="{FF2B5EF4-FFF2-40B4-BE49-F238E27FC236}">
                  <a16:creationId xmlns:a16="http://schemas.microsoft.com/office/drawing/2014/main" id="{F5307292-38BF-4B5C-AE99-4953EB0ED829}"/>
                </a:ext>
              </a:extLst>
            </p:cNvPr>
            <p:cNvPicPr>
              <a:picLocks noGrp="1" noRot="1" noChangeAspect="1" noMove="1" noResize="1" noEditPoints="1" noAdjustHandles="1" noChangeArrowheads="1" noChangeShapeType="1" noCrop="1"/>
            </p:cNvPicPr>
            <p:nvPr userDrawn="1"/>
          </p:nvPicPr>
          <p:blipFill>
            <a:blip r:embed="rId5" cstate="screen">
              <a:extLst>
                <a:ext uri="{28A0092B-C50C-407E-A947-70E740481C1C}">
                  <a14:useLocalDpi xmlns:a14="http://schemas.microsoft.com/office/drawing/2010/main"/>
                </a:ext>
              </a:extLst>
            </a:blip>
            <a:srcRect/>
            <a:stretch/>
          </p:blipFill>
          <p:spPr>
            <a:xfrm>
              <a:off x="1279579" y="464703"/>
              <a:ext cx="538037" cy="659494"/>
            </a:xfrm>
            <a:prstGeom prst="rect">
              <a:avLst/>
            </a:prstGeom>
          </p:spPr>
        </p:pic>
        <p:pic>
          <p:nvPicPr>
            <p:cNvPr id="17" name="Picture 16" descr="A close up of a sign&#10;&#10;Description automatically generated">
              <a:extLst>
                <a:ext uri="{FF2B5EF4-FFF2-40B4-BE49-F238E27FC236}">
                  <a16:creationId xmlns:a16="http://schemas.microsoft.com/office/drawing/2014/main" id="{9FE87EE1-BF16-41DC-B66C-F206E45ED29C}"/>
                </a:ext>
              </a:extLst>
            </p:cNvPr>
            <p:cNvPicPr>
              <a:picLocks noGrp="1" noRot="1" noChangeAspect="1" noMove="1" noResize="1" noEditPoints="1" noAdjustHandles="1" noChangeArrowheads="1" noChangeShapeType="1" noCrop="1"/>
            </p:cNvPicPr>
            <p:nvPr userDrawn="1"/>
          </p:nvPicPr>
          <p:blipFill>
            <a:blip r:embed="rId6" cstate="screen">
              <a:extLst>
                <a:ext uri="{28A0092B-C50C-407E-A947-70E740481C1C}">
                  <a14:useLocalDpi xmlns:a14="http://schemas.microsoft.com/office/drawing/2010/main"/>
                </a:ext>
              </a:extLst>
            </a:blip>
            <a:stretch>
              <a:fillRect/>
            </a:stretch>
          </p:blipFill>
          <p:spPr>
            <a:xfrm>
              <a:off x="457200" y="501910"/>
              <a:ext cx="585080" cy="585080"/>
            </a:xfrm>
            <a:prstGeom prst="rect">
              <a:avLst/>
            </a:prstGeom>
          </p:spPr>
        </p:pic>
      </p:grpSp>
      <p:sp>
        <p:nvSpPr>
          <p:cNvPr id="5" name="TextBox 4">
            <a:extLst>
              <a:ext uri="{FF2B5EF4-FFF2-40B4-BE49-F238E27FC236}">
                <a16:creationId xmlns:a16="http://schemas.microsoft.com/office/drawing/2014/main" id="{9D1B8010-14B0-8DF9-AFE4-CBD2B700F9DB}"/>
              </a:ext>
            </a:extLst>
          </p:cNvPr>
          <p:cNvSpPr txBox="1">
            <a:spLocks/>
          </p:cNvSpPr>
          <p:nvPr userDrawn="1"/>
        </p:nvSpPr>
        <p:spPr>
          <a:xfrm>
            <a:off x="4089167" y="7445873"/>
            <a:ext cx="2184867" cy="253916"/>
          </a:xfrm>
          <a:prstGeom prst="rect">
            <a:avLst/>
          </a:prstGeom>
          <a:noFill/>
        </p:spPr>
        <p:txBody>
          <a:bodyPr wrap="square" rtlCol="0">
            <a:spAutoFit/>
          </a:bodyPr>
          <a:lstStyle/>
          <a:p>
            <a:pPr marL="0" marR="0" lvl="0" indent="0" algn="ctr" defTabSz="457222" rtl="0" eaLnBrk="1" fontAlgn="auto" latinLnBrk="0" hangingPunct="1">
              <a:lnSpc>
                <a:spcPct val="100000"/>
              </a:lnSpc>
              <a:spcBef>
                <a:spcPts val="0"/>
              </a:spcBef>
              <a:spcAft>
                <a:spcPts val="0"/>
              </a:spcAft>
              <a:buClrTx/>
              <a:buSzTx/>
              <a:buFontTx/>
              <a:buNone/>
              <a:tabLst/>
              <a:defRPr/>
            </a:pPr>
            <a:r>
              <a:rPr kumimoji="0" lang="en-US" sz="1050" b="1" i="0" u="none" strike="noStrike" kern="1200" cap="all" spc="0" normalizeH="0" baseline="0" noProof="0">
                <a:ln>
                  <a:noFill/>
                </a:ln>
                <a:solidFill>
                  <a:schemeClr val="bg1"/>
                </a:solidFill>
                <a:effectLst/>
                <a:uLnTx/>
                <a:uFillTx/>
                <a:latin typeface="+mn-lt"/>
                <a:ea typeface="+mn-ea"/>
                <a:cs typeface="+mn-cs"/>
              </a:rPr>
              <a:t>Warfighter Always</a:t>
            </a:r>
            <a:endParaRPr lang="en-US" sz="1050">
              <a:solidFill>
                <a:schemeClr val="bg1"/>
              </a:solidFill>
            </a:endParaRPr>
          </a:p>
        </p:txBody>
      </p:sp>
      <p:sp>
        <p:nvSpPr>
          <p:cNvPr id="6" name="TextBox 5">
            <a:extLst>
              <a:ext uri="{FF2B5EF4-FFF2-40B4-BE49-F238E27FC236}">
                <a16:creationId xmlns:a16="http://schemas.microsoft.com/office/drawing/2014/main" id="{20696D2B-49D4-8DD2-5FF3-D395187038E8}"/>
              </a:ext>
            </a:extLst>
          </p:cNvPr>
          <p:cNvSpPr txBox="1">
            <a:spLocks/>
          </p:cNvSpPr>
          <p:nvPr userDrawn="1"/>
        </p:nvSpPr>
        <p:spPr>
          <a:xfrm>
            <a:off x="155370" y="7453493"/>
            <a:ext cx="4216836" cy="253916"/>
          </a:xfrm>
          <a:prstGeom prst="rect">
            <a:avLst/>
          </a:prstGeom>
          <a:noFill/>
        </p:spPr>
        <p:txBody>
          <a:bodyPr wrap="square" rtlCol="0">
            <a:spAutoFit/>
          </a:bodyPr>
          <a:lstStyle/>
          <a:p>
            <a:pPr marL="0" marR="0" lvl="0" indent="0" defTabSz="457222" rtl="0" eaLnBrk="1" fontAlgn="auto" latinLnBrk="0" hangingPunct="1">
              <a:lnSpc>
                <a:spcPct val="100000"/>
              </a:lnSpc>
              <a:spcBef>
                <a:spcPts val="0"/>
              </a:spcBef>
              <a:spcAft>
                <a:spcPts val="0"/>
              </a:spcAft>
              <a:buClrTx/>
              <a:buSzTx/>
              <a:buFontTx/>
              <a:buNone/>
              <a:tabLst/>
              <a:defRPr/>
            </a:pPr>
            <a:r>
              <a:rPr kumimoji="0" lang="en-US" sz="1000" b="1" i="0" u="none" strike="noStrike" kern="1200" spc="0" normalizeH="0" baseline="0" noProof="0">
                <a:ln>
                  <a:noFill/>
                </a:ln>
                <a:solidFill>
                  <a:srgbClr val="C9AD62"/>
                </a:solidFill>
                <a:effectLst/>
                <a:uLnTx/>
                <a:uFillTx/>
                <a:latin typeface="+mn-lt"/>
                <a:ea typeface="+mn-ea"/>
                <a:cs typeface="+mn-cs"/>
              </a:rPr>
              <a:t>PEOP</a:t>
            </a:r>
            <a:r>
              <a:rPr kumimoji="0" lang="en-US" sz="1000" b="1" i="0" u="none" strike="noStrike" kern="1200" spc="0" normalizeH="0" baseline="0" noProof="0">
                <a:ln>
                  <a:noFill/>
                </a:ln>
                <a:solidFill>
                  <a:srgbClr val="CAAD62"/>
                </a:solidFill>
                <a:effectLst/>
                <a:uLnTx/>
                <a:uFillTx/>
                <a:latin typeface="+mn-lt"/>
                <a:ea typeface="+mn-ea"/>
                <a:cs typeface="+mn-cs"/>
              </a:rPr>
              <a:t>LE          PRECISION          </a:t>
            </a:r>
            <a:r>
              <a:rPr lang="en-US" sz="1000" b="1">
                <a:solidFill>
                  <a:srgbClr val="CAAD62"/>
                </a:solidFill>
              </a:rPr>
              <a:t>P</a:t>
            </a:r>
            <a:r>
              <a:rPr kumimoji="0" lang="en-US" sz="1000" b="1" i="0" u="none" strike="noStrike" kern="1200" spc="0" normalizeH="0" baseline="0" noProof="0">
                <a:ln>
                  <a:noFill/>
                </a:ln>
                <a:solidFill>
                  <a:srgbClr val="CAAD62"/>
                </a:solidFill>
                <a:effectLst/>
                <a:uLnTx/>
                <a:uFillTx/>
                <a:latin typeface="+mn-lt"/>
                <a:ea typeface="+mn-ea"/>
                <a:cs typeface="+mn-cs"/>
              </a:rPr>
              <a:t>OSTURE          PARTNERSHIPS</a:t>
            </a:r>
            <a:endParaRPr lang="en-US" sz="1000">
              <a:solidFill>
                <a:srgbClr val="CAAD62"/>
              </a:solidFill>
            </a:endParaRPr>
          </a:p>
        </p:txBody>
      </p:sp>
      <p:sp>
        <p:nvSpPr>
          <p:cNvPr id="9" name="Star: 5 Points 8">
            <a:extLst>
              <a:ext uri="{FF2B5EF4-FFF2-40B4-BE49-F238E27FC236}">
                <a16:creationId xmlns:a16="http://schemas.microsoft.com/office/drawing/2014/main" id="{415DD267-E404-EEA1-5AFD-42E46AEF8706}"/>
              </a:ext>
            </a:extLst>
          </p:cNvPr>
          <p:cNvSpPr>
            <a:spLocks/>
          </p:cNvSpPr>
          <p:nvPr userDrawn="1"/>
        </p:nvSpPr>
        <p:spPr>
          <a:xfrm>
            <a:off x="867033" y="7504474"/>
            <a:ext cx="135925" cy="135925"/>
          </a:xfrm>
          <a:prstGeom prst="star5">
            <a:avLst/>
          </a:prstGeom>
          <a:solidFill>
            <a:srgbClr val="C9AD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Star: 5 Points 9">
            <a:extLst>
              <a:ext uri="{FF2B5EF4-FFF2-40B4-BE49-F238E27FC236}">
                <a16:creationId xmlns:a16="http://schemas.microsoft.com/office/drawing/2014/main" id="{B7BB43D5-3CA3-BBD0-210E-81487B08CE22}"/>
              </a:ext>
            </a:extLst>
          </p:cNvPr>
          <p:cNvSpPr>
            <a:spLocks/>
          </p:cNvSpPr>
          <p:nvPr userDrawn="1"/>
        </p:nvSpPr>
        <p:spPr>
          <a:xfrm>
            <a:off x="1908674" y="7504474"/>
            <a:ext cx="135925" cy="135925"/>
          </a:xfrm>
          <a:prstGeom prst="star5">
            <a:avLst/>
          </a:prstGeom>
          <a:solidFill>
            <a:srgbClr val="C9AD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Star: 5 Points 10">
            <a:extLst>
              <a:ext uri="{FF2B5EF4-FFF2-40B4-BE49-F238E27FC236}">
                <a16:creationId xmlns:a16="http://schemas.microsoft.com/office/drawing/2014/main" id="{F1D99ECB-6119-D613-A961-9BE1EB3B3B19}"/>
              </a:ext>
            </a:extLst>
          </p:cNvPr>
          <p:cNvSpPr>
            <a:spLocks/>
          </p:cNvSpPr>
          <p:nvPr userDrawn="1"/>
        </p:nvSpPr>
        <p:spPr>
          <a:xfrm>
            <a:off x="2866394" y="7504474"/>
            <a:ext cx="135925" cy="135925"/>
          </a:xfrm>
          <a:prstGeom prst="star5">
            <a:avLst/>
          </a:prstGeom>
          <a:solidFill>
            <a:srgbClr val="C9AD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735158802"/>
      </p:ext>
    </p:extLst>
  </p:cSld>
  <p:clrMap bg1="lt1" tx1="dk1" bg2="lt2" tx2="dk2" accent1="accent1" accent2="accent2" accent3="accent3" accent4="accent4" accent5="accent5" accent6="accent6" hlink="hlink" folHlink="folHlink"/>
  <p:sldLayoutIdLst>
    <p:sldLayoutId id="2147483697" r:id="rId1"/>
    <p:sldLayoutId id="2147483699" r:id="rId2"/>
  </p:sldLayoutIdLst>
  <p:hf hdr="0" ftr="0" dt="0"/>
  <p:txStyles>
    <p:titleStyle>
      <a:lvl1pPr algn="ctr" defTabSz="1036317" rtl="0" eaLnBrk="1" latinLnBrk="0" hangingPunct="1">
        <a:lnSpc>
          <a:spcPct val="100000"/>
        </a:lnSpc>
        <a:spcBef>
          <a:spcPct val="0"/>
        </a:spcBef>
        <a:buNone/>
        <a:defRPr sz="2720" b="1" kern="1200">
          <a:solidFill>
            <a:srgbClr val="C9AD62"/>
          </a:solidFill>
          <a:latin typeface="+mj-lt"/>
          <a:ea typeface="+mj-ea"/>
          <a:cs typeface="+mj-cs"/>
        </a:defRPr>
      </a:lvl1pPr>
    </p:titleStyle>
    <p:bodyStyle>
      <a:lvl1pPr marL="259079" indent="-259079" algn="l" defTabSz="1036317" rtl="0" eaLnBrk="1" latinLnBrk="0" hangingPunct="1">
        <a:lnSpc>
          <a:spcPct val="90000"/>
        </a:lnSpc>
        <a:spcBef>
          <a:spcPts val="1360"/>
        </a:spcBef>
        <a:spcAft>
          <a:spcPts val="0"/>
        </a:spcAft>
        <a:buFont typeface="Arial" panose="020B0604020202020204" pitchFamily="34" charset="0"/>
        <a:buChar char="•"/>
        <a:defRPr sz="2720" kern="1200">
          <a:solidFill>
            <a:srgbClr val="171610"/>
          </a:solidFill>
          <a:latin typeface="+mn-lt"/>
          <a:ea typeface="+mn-ea"/>
          <a:cs typeface="+mn-cs"/>
        </a:defRPr>
      </a:lvl1pPr>
      <a:lvl2pPr marL="777238" indent="-259079" algn="l" defTabSz="1036317" rtl="0" eaLnBrk="1" latinLnBrk="0" hangingPunct="1">
        <a:lnSpc>
          <a:spcPct val="90000"/>
        </a:lnSpc>
        <a:spcBef>
          <a:spcPts val="680"/>
        </a:spcBef>
        <a:spcAft>
          <a:spcPts val="0"/>
        </a:spcAft>
        <a:buFont typeface="Courier New" panose="02070309020205020404" pitchFamily="49" charset="0"/>
        <a:buChar char="o"/>
        <a:defRPr sz="2493" kern="1200">
          <a:solidFill>
            <a:srgbClr val="171610"/>
          </a:solidFill>
          <a:latin typeface="+mn-lt"/>
          <a:ea typeface="+mn-ea"/>
          <a:cs typeface="+mn-cs"/>
        </a:defRPr>
      </a:lvl2pPr>
      <a:lvl3pPr marL="1295396" indent="-259079" algn="l" defTabSz="1036317" rtl="0" eaLnBrk="1" latinLnBrk="0" hangingPunct="1">
        <a:lnSpc>
          <a:spcPct val="90000"/>
        </a:lnSpc>
        <a:spcBef>
          <a:spcPts val="680"/>
        </a:spcBef>
        <a:spcAft>
          <a:spcPts val="0"/>
        </a:spcAft>
        <a:buFont typeface="Wingdings" panose="05000000000000000000" pitchFamily="2" charset="2"/>
        <a:buChar char="§"/>
        <a:defRPr sz="2267" kern="1200">
          <a:solidFill>
            <a:srgbClr val="171610"/>
          </a:solidFill>
          <a:latin typeface="+mn-lt"/>
          <a:ea typeface="+mn-ea"/>
          <a:cs typeface="+mn-cs"/>
        </a:defRPr>
      </a:lvl3pPr>
      <a:lvl4pPr marL="1813555" indent="-259079" algn="l" defTabSz="1036317" rtl="0" eaLnBrk="1" latinLnBrk="0" hangingPunct="1">
        <a:lnSpc>
          <a:spcPct val="90000"/>
        </a:lnSpc>
        <a:spcBef>
          <a:spcPts val="680"/>
        </a:spcBef>
        <a:spcAft>
          <a:spcPts val="0"/>
        </a:spcAft>
        <a:buFont typeface="Arial" panose="020B0604020202020204" pitchFamily="34" charset="0"/>
        <a:buChar char="–"/>
        <a:defRPr sz="2040" kern="1200">
          <a:solidFill>
            <a:srgbClr val="171610"/>
          </a:solidFill>
          <a:latin typeface="+mn-lt"/>
          <a:ea typeface="+mn-ea"/>
          <a:cs typeface="+mn-cs"/>
        </a:defRPr>
      </a:lvl4pPr>
      <a:lvl5pPr marL="2331713" indent="-259079" algn="l" defTabSz="1036317" rtl="0" eaLnBrk="1" latinLnBrk="0" hangingPunct="1">
        <a:lnSpc>
          <a:spcPct val="90000"/>
        </a:lnSpc>
        <a:spcBef>
          <a:spcPts val="680"/>
        </a:spcBef>
        <a:spcAft>
          <a:spcPts val="0"/>
        </a:spcAft>
        <a:buFont typeface="Arial" panose="020B0604020202020204" pitchFamily="34" charset="0"/>
        <a:buChar char="•"/>
        <a:defRPr sz="1813" kern="1200">
          <a:solidFill>
            <a:srgbClr val="171610"/>
          </a:solidFill>
          <a:latin typeface="+mn-lt"/>
          <a:ea typeface="+mn-ea"/>
          <a:cs typeface="+mn-cs"/>
        </a:defRPr>
      </a:lvl5pPr>
      <a:lvl6pPr marL="2849872"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8030"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189"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347"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p:bodyStyle>
    <p:otherStyle>
      <a:defPPr>
        <a:defRPr lang="en-US"/>
      </a:defPPr>
      <a:lvl1pPr marL="0" algn="l" defTabSz="1036317" rtl="0" eaLnBrk="1" latinLnBrk="0" hangingPunct="1">
        <a:defRPr sz="2040" kern="1200">
          <a:solidFill>
            <a:schemeClr val="tx1"/>
          </a:solidFill>
          <a:latin typeface="+mn-lt"/>
          <a:ea typeface="+mn-ea"/>
          <a:cs typeface="+mn-cs"/>
        </a:defRPr>
      </a:lvl1pPr>
      <a:lvl2pPr marL="518158" algn="l" defTabSz="1036317" rtl="0" eaLnBrk="1" latinLnBrk="0" hangingPunct="1">
        <a:defRPr sz="2040" kern="1200">
          <a:solidFill>
            <a:schemeClr val="tx1"/>
          </a:solidFill>
          <a:latin typeface="+mn-lt"/>
          <a:ea typeface="+mn-ea"/>
          <a:cs typeface="+mn-cs"/>
        </a:defRPr>
      </a:lvl2pPr>
      <a:lvl3pPr marL="1036317" algn="l" defTabSz="1036317" rtl="0" eaLnBrk="1" latinLnBrk="0" hangingPunct="1">
        <a:defRPr sz="2040" kern="1200">
          <a:solidFill>
            <a:schemeClr val="tx1"/>
          </a:solidFill>
          <a:latin typeface="+mn-lt"/>
          <a:ea typeface="+mn-ea"/>
          <a:cs typeface="+mn-cs"/>
        </a:defRPr>
      </a:lvl3pPr>
      <a:lvl4pPr marL="1554475" algn="l" defTabSz="1036317" rtl="0" eaLnBrk="1" latinLnBrk="0" hangingPunct="1">
        <a:defRPr sz="2040" kern="1200">
          <a:solidFill>
            <a:schemeClr val="tx1"/>
          </a:solidFill>
          <a:latin typeface="+mn-lt"/>
          <a:ea typeface="+mn-ea"/>
          <a:cs typeface="+mn-cs"/>
        </a:defRPr>
      </a:lvl4pPr>
      <a:lvl5pPr marL="2072634" algn="l" defTabSz="1036317" rtl="0" eaLnBrk="1" latinLnBrk="0" hangingPunct="1">
        <a:defRPr sz="2040" kern="1200">
          <a:solidFill>
            <a:schemeClr val="tx1"/>
          </a:solidFill>
          <a:latin typeface="+mn-lt"/>
          <a:ea typeface="+mn-ea"/>
          <a:cs typeface="+mn-cs"/>
        </a:defRPr>
      </a:lvl5pPr>
      <a:lvl6pPr marL="2590792" algn="l" defTabSz="1036317" rtl="0" eaLnBrk="1" latinLnBrk="0" hangingPunct="1">
        <a:defRPr sz="2040" kern="1200">
          <a:solidFill>
            <a:schemeClr val="tx1"/>
          </a:solidFill>
          <a:latin typeface="+mn-lt"/>
          <a:ea typeface="+mn-ea"/>
          <a:cs typeface="+mn-cs"/>
        </a:defRPr>
      </a:lvl6pPr>
      <a:lvl7pPr marL="3108951" algn="l" defTabSz="1036317" rtl="0" eaLnBrk="1" latinLnBrk="0" hangingPunct="1">
        <a:defRPr sz="2040" kern="1200">
          <a:solidFill>
            <a:schemeClr val="tx1"/>
          </a:solidFill>
          <a:latin typeface="+mn-lt"/>
          <a:ea typeface="+mn-ea"/>
          <a:cs typeface="+mn-cs"/>
        </a:defRPr>
      </a:lvl7pPr>
      <a:lvl8pPr marL="3627109" algn="l" defTabSz="1036317" rtl="0" eaLnBrk="1" latinLnBrk="0" hangingPunct="1">
        <a:defRPr sz="2040" kern="1200">
          <a:solidFill>
            <a:schemeClr val="tx1"/>
          </a:solidFill>
          <a:latin typeface="+mn-lt"/>
          <a:ea typeface="+mn-ea"/>
          <a:cs typeface="+mn-cs"/>
        </a:defRPr>
      </a:lvl8pPr>
      <a:lvl9pPr marL="4145268" algn="l" defTabSz="1036317" rtl="0" eaLnBrk="1" latinLnBrk="0" hangingPunct="1">
        <a:defRPr sz="20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48">
          <p15:clr>
            <a:srgbClr val="F26B43"/>
          </p15:clr>
        </p15:guide>
        <p15:guide id="2" pos="3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27">
            <a:extLst>
              <a:ext uri="{FF2B5EF4-FFF2-40B4-BE49-F238E27FC236}">
                <a16:creationId xmlns:a16="http://schemas.microsoft.com/office/drawing/2014/main" id="{B1A78B5C-908B-2FEA-39E6-D706B35C6A8C}"/>
              </a:ext>
            </a:extLst>
          </p:cNvPr>
          <p:cNvSpPr>
            <a:spLocks noGrp="1" noRot="1" noMove="1" noResize="1" noEditPoints="1" noAdjustHandles="1" noChangeArrowheads="1" noChangeShapeType="1"/>
          </p:cNvSpPr>
          <p:nvPr userDrawn="1"/>
        </p:nvSpPr>
        <p:spPr>
          <a:xfrm flipH="1">
            <a:off x="0" y="537076"/>
            <a:ext cx="10363200" cy="932688"/>
          </a:xfrm>
          <a:custGeom>
            <a:avLst/>
            <a:gdLst>
              <a:gd name="connsiteX0" fmla="*/ 0 w 9117825"/>
              <a:gd name="connsiteY0" fmla="*/ 0 h 1412802"/>
              <a:gd name="connsiteX1" fmla="*/ 9117825 w 9117825"/>
              <a:gd name="connsiteY1" fmla="*/ 0 h 1412802"/>
              <a:gd name="connsiteX2" fmla="*/ 9117825 w 9117825"/>
              <a:gd name="connsiteY2" fmla="*/ 1412802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22829"/>
              <a:gd name="connsiteX1" fmla="*/ 9117825 w 9117825"/>
              <a:gd name="connsiteY1" fmla="*/ 0 h 1422829"/>
              <a:gd name="connsiteX2" fmla="*/ 9117825 w 9117825"/>
              <a:gd name="connsiteY2" fmla="*/ 724825 h 1422829"/>
              <a:gd name="connsiteX3" fmla="*/ 0 w 9117825"/>
              <a:gd name="connsiteY3" fmla="*/ 1412802 h 1422829"/>
              <a:gd name="connsiteX4" fmla="*/ 0 w 9117825"/>
              <a:gd name="connsiteY4" fmla="*/ 0 h 1422829"/>
              <a:gd name="connsiteX0" fmla="*/ 0 w 9117825"/>
              <a:gd name="connsiteY0" fmla="*/ 0 h 1426217"/>
              <a:gd name="connsiteX1" fmla="*/ 9117825 w 9117825"/>
              <a:gd name="connsiteY1" fmla="*/ 0 h 1426217"/>
              <a:gd name="connsiteX2" fmla="*/ 9117825 w 9117825"/>
              <a:gd name="connsiteY2" fmla="*/ 724825 h 1426217"/>
              <a:gd name="connsiteX3" fmla="*/ 0 w 9117825"/>
              <a:gd name="connsiteY3" fmla="*/ 1412802 h 1426217"/>
              <a:gd name="connsiteX4" fmla="*/ 0 w 9117825"/>
              <a:gd name="connsiteY4" fmla="*/ 0 h 1426217"/>
              <a:gd name="connsiteX0" fmla="*/ 0 w 9117825"/>
              <a:gd name="connsiteY0" fmla="*/ 0 h 1432832"/>
              <a:gd name="connsiteX1" fmla="*/ 9117825 w 9117825"/>
              <a:gd name="connsiteY1" fmla="*/ 0 h 1432832"/>
              <a:gd name="connsiteX2" fmla="*/ 9117825 w 9117825"/>
              <a:gd name="connsiteY2" fmla="*/ 724825 h 1432832"/>
              <a:gd name="connsiteX3" fmla="*/ 0 w 9117825"/>
              <a:gd name="connsiteY3" fmla="*/ 1412802 h 1432832"/>
              <a:gd name="connsiteX4" fmla="*/ 0 w 9117825"/>
              <a:gd name="connsiteY4" fmla="*/ 0 h 1432832"/>
              <a:gd name="connsiteX0" fmla="*/ 0 w 9117825"/>
              <a:gd name="connsiteY0" fmla="*/ 0 h 1430499"/>
              <a:gd name="connsiteX1" fmla="*/ 9117825 w 9117825"/>
              <a:gd name="connsiteY1" fmla="*/ 0 h 1430499"/>
              <a:gd name="connsiteX2" fmla="*/ 9117825 w 9117825"/>
              <a:gd name="connsiteY2" fmla="*/ 724825 h 1430499"/>
              <a:gd name="connsiteX3" fmla="*/ 0 w 9117825"/>
              <a:gd name="connsiteY3" fmla="*/ 1412802 h 1430499"/>
              <a:gd name="connsiteX4" fmla="*/ 0 w 9117825"/>
              <a:gd name="connsiteY4" fmla="*/ 0 h 1430499"/>
              <a:gd name="connsiteX0" fmla="*/ 0 w 9117825"/>
              <a:gd name="connsiteY0" fmla="*/ 0 h 1431392"/>
              <a:gd name="connsiteX1" fmla="*/ 9117825 w 9117825"/>
              <a:gd name="connsiteY1" fmla="*/ 0 h 1431392"/>
              <a:gd name="connsiteX2" fmla="*/ 9117825 w 9117825"/>
              <a:gd name="connsiteY2" fmla="*/ 724825 h 1431392"/>
              <a:gd name="connsiteX3" fmla="*/ 0 w 9117825"/>
              <a:gd name="connsiteY3" fmla="*/ 1412802 h 1431392"/>
              <a:gd name="connsiteX4" fmla="*/ 0 w 9117825"/>
              <a:gd name="connsiteY4" fmla="*/ 0 h 1431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7825" h="1431392">
                <a:moveTo>
                  <a:pt x="0" y="0"/>
                </a:moveTo>
                <a:lnTo>
                  <a:pt x="9117825" y="0"/>
                </a:lnTo>
                <a:lnTo>
                  <a:pt x="9117825" y="724825"/>
                </a:lnTo>
                <a:cubicBezTo>
                  <a:pt x="4702595" y="510013"/>
                  <a:pt x="5468967" y="1584070"/>
                  <a:pt x="0" y="1412802"/>
                </a:cubicBezTo>
                <a:lnTo>
                  <a:pt x="0" y="0"/>
                </a:lnTo>
                <a:close/>
              </a:path>
            </a:pathLst>
          </a:custGeom>
          <a:gradFill>
            <a:gsLst>
              <a:gs pos="84000">
                <a:srgbClr val="B99E55"/>
              </a:gs>
              <a:gs pos="55000">
                <a:schemeClr val="bg1"/>
              </a:gs>
              <a:gs pos="100000">
                <a:srgbClr val="C7AA61"/>
              </a:gs>
            </a:gsLst>
            <a:path path="circle">
              <a:fillToRect r="100000" b="100000"/>
            </a:path>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036317" rtl="0" eaLnBrk="1" fontAlgn="auto" latinLnBrk="0" hangingPunct="1">
              <a:lnSpc>
                <a:spcPct val="100000"/>
              </a:lnSpc>
              <a:spcBef>
                <a:spcPts val="0"/>
              </a:spcBef>
              <a:spcAft>
                <a:spcPts val="0"/>
              </a:spcAft>
              <a:buClrTx/>
              <a:buSzTx/>
              <a:buFontTx/>
              <a:buNone/>
              <a:tabLst/>
              <a:defRPr/>
            </a:pPr>
            <a:endParaRPr kumimoji="0" lang="en-US" sz="1473" b="1" i="0" u="none" strike="noStrike" kern="1200" cap="all" spc="0" normalizeH="0" baseline="0" noProof="0">
              <a:ln>
                <a:noFill/>
              </a:ln>
              <a:solidFill>
                <a:prstClr val="white"/>
              </a:solidFill>
              <a:effectLst/>
              <a:uLnTx/>
              <a:uFillTx/>
              <a:latin typeface="+mj-lt"/>
              <a:ea typeface="+mn-ea"/>
              <a:cs typeface="+mn-cs"/>
            </a:endParaRPr>
          </a:p>
        </p:txBody>
      </p:sp>
      <p:sp>
        <p:nvSpPr>
          <p:cNvPr id="7" name="Rectangle 27">
            <a:extLst>
              <a:ext uri="{FF2B5EF4-FFF2-40B4-BE49-F238E27FC236}">
                <a16:creationId xmlns:a16="http://schemas.microsoft.com/office/drawing/2014/main" id="{0A5AE57E-5373-C94C-545F-0A72BDB3ED1C}"/>
              </a:ext>
            </a:extLst>
          </p:cNvPr>
          <p:cNvSpPr>
            <a:spLocks noGrp="1" noRot="1" noMove="1" noResize="1" noEditPoints="1" noAdjustHandles="1" noChangeArrowheads="1" noChangeShapeType="1"/>
          </p:cNvSpPr>
          <p:nvPr userDrawn="1"/>
        </p:nvSpPr>
        <p:spPr>
          <a:xfrm flipH="1">
            <a:off x="-8827" y="-12577"/>
            <a:ext cx="10371473" cy="1394095"/>
          </a:xfrm>
          <a:custGeom>
            <a:avLst/>
            <a:gdLst>
              <a:gd name="connsiteX0" fmla="*/ 0 w 9117825"/>
              <a:gd name="connsiteY0" fmla="*/ 0 h 1412802"/>
              <a:gd name="connsiteX1" fmla="*/ 9117825 w 9117825"/>
              <a:gd name="connsiteY1" fmla="*/ 0 h 1412802"/>
              <a:gd name="connsiteX2" fmla="*/ 9117825 w 9117825"/>
              <a:gd name="connsiteY2" fmla="*/ 1412802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12802"/>
              <a:gd name="connsiteX1" fmla="*/ 9117825 w 9117825"/>
              <a:gd name="connsiteY1" fmla="*/ 0 h 1412802"/>
              <a:gd name="connsiteX2" fmla="*/ 9117825 w 9117825"/>
              <a:gd name="connsiteY2" fmla="*/ 724825 h 1412802"/>
              <a:gd name="connsiteX3" fmla="*/ 0 w 9117825"/>
              <a:gd name="connsiteY3" fmla="*/ 1412802 h 1412802"/>
              <a:gd name="connsiteX4" fmla="*/ 0 w 9117825"/>
              <a:gd name="connsiteY4" fmla="*/ 0 h 1412802"/>
              <a:gd name="connsiteX0" fmla="*/ 0 w 9117825"/>
              <a:gd name="connsiteY0" fmla="*/ 0 h 1422829"/>
              <a:gd name="connsiteX1" fmla="*/ 9117825 w 9117825"/>
              <a:gd name="connsiteY1" fmla="*/ 0 h 1422829"/>
              <a:gd name="connsiteX2" fmla="*/ 9117825 w 9117825"/>
              <a:gd name="connsiteY2" fmla="*/ 724825 h 1422829"/>
              <a:gd name="connsiteX3" fmla="*/ 0 w 9117825"/>
              <a:gd name="connsiteY3" fmla="*/ 1412802 h 1422829"/>
              <a:gd name="connsiteX4" fmla="*/ 0 w 9117825"/>
              <a:gd name="connsiteY4" fmla="*/ 0 h 1422829"/>
              <a:gd name="connsiteX0" fmla="*/ 0 w 9117825"/>
              <a:gd name="connsiteY0" fmla="*/ 0 h 1426217"/>
              <a:gd name="connsiteX1" fmla="*/ 9117825 w 9117825"/>
              <a:gd name="connsiteY1" fmla="*/ 0 h 1426217"/>
              <a:gd name="connsiteX2" fmla="*/ 9117825 w 9117825"/>
              <a:gd name="connsiteY2" fmla="*/ 724825 h 1426217"/>
              <a:gd name="connsiteX3" fmla="*/ 0 w 9117825"/>
              <a:gd name="connsiteY3" fmla="*/ 1412802 h 1426217"/>
              <a:gd name="connsiteX4" fmla="*/ 0 w 9117825"/>
              <a:gd name="connsiteY4" fmla="*/ 0 h 1426217"/>
              <a:gd name="connsiteX0" fmla="*/ 0 w 9117825"/>
              <a:gd name="connsiteY0" fmla="*/ 0 h 1432832"/>
              <a:gd name="connsiteX1" fmla="*/ 9117825 w 9117825"/>
              <a:gd name="connsiteY1" fmla="*/ 0 h 1432832"/>
              <a:gd name="connsiteX2" fmla="*/ 9117825 w 9117825"/>
              <a:gd name="connsiteY2" fmla="*/ 724825 h 1432832"/>
              <a:gd name="connsiteX3" fmla="*/ 0 w 9117825"/>
              <a:gd name="connsiteY3" fmla="*/ 1412802 h 1432832"/>
              <a:gd name="connsiteX4" fmla="*/ 0 w 9117825"/>
              <a:gd name="connsiteY4" fmla="*/ 0 h 1432832"/>
              <a:gd name="connsiteX0" fmla="*/ 0 w 9117825"/>
              <a:gd name="connsiteY0" fmla="*/ 0 h 1430499"/>
              <a:gd name="connsiteX1" fmla="*/ 9117825 w 9117825"/>
              <a:gd name="connsiteY1" fmla="*/ 0 h 1430499"/>
              <a:gd name="connsiteX2" fmla="*/ 9117825 w 9117825"/>
              <a:gd name="connsiteY2" fmla="*/ 724825 h 1430499"/>
              <a:gd name="connsiteX3" fmla="*/ 0 w 9117825"/>
              <a:gd name="connsiteY3" fmla="*/ 1412802 h 1430499"/>
              <a:gd name="connsiteX4" fmla="*/ 0 w 9117825"/>
              <a:gd name="connsiteY4" fmla="*/ 0 h 1430499"/>
              <a:gd name="connsiteX0" fmla="*/ 0 w 9117825"/>
              <a:gd name="connsiteY0" fmla="*/ 0 h 1431392"/>
              <a:gd name="connsiteX1" fmla="*/ 9117825 w 9117825"/>
              <a:gd name="connsiteY1" fmla="*/ 0 h 1431392"/>
              <a:gd name="connsiteX2" fmla="*/ 9117825 w 9117825"/>
              <a:gd name="connsiteY2" fmla="*/ 724825 h 1431392"/>
              <a:gd name="connsiteX3" fmla="*/ 0 w 9117825"/>
              <a:gd name="connsiteY3" fmla="*/ 1412802 h 1431392"/>
              <a:gd name="connsiteX4" fmla="*/ 0 w 9117825"/>
              <a:gd name="connsiteY4" fmla="*/ 0 h 1431392"/>
              <a:gd name="connsiteX0" fmla="*/ 0 w 9117825"/>
              <a:gd name="connsiteY0" fmla="*/ 0 h 1435570"/>
              <a:gd name="connsiteX1" fmla="*/ 9117825 w 9117825"/>
              <a:gd name="connsiteY1" fmla="*/ 0 h 1435570"/>
              <a:gd name="connsiteX2" fmla="*/ 9117825 w 9117825"/>
              <a:gd name="connsiteY2" fmla="*/ 724825 h 1435570"/>
              <a:gd name="connsiteX3" fmla="*/ 0 w 9117825"/>
              <a:gd name="connsiteY3" fmla="*/ 1412802 h 1435570"/>
              <a:gd name="connsiteX4" fmla="*/ 0 w 9117825"/>
              <a:gd name="connsiteY4" fmla="*/ 0 h 1435570"/>
              <a:gd name="connsiteX0" fmla="*/ 0 w 9117825"/>
              <a:gd name="connsiteY0" fmla="*/ 0 h 1437990"/>
              <a:gd name="connsiteX1" fmla="*/ 9117825 w 9117825"/>
              <a:gd name="connsiteY1" fmla="*/ 0 h 1437990"/>
              <a:gd name="connsiteX2" fmla="*/ 9117825 w 9117825"/>
              <a:gd name="connsiteY2" fmla="*/ 817812 h 1437990"/>
              <a:gd name="connsiteX3" fmla="*/ 0 w 9117825"/>
              <a:gd name="connsiteY3" fmla="*/ 1412802 h 1437990"/>
              <a:gd name="connsiteX4" fmla="*/ 0 w 9117825"/>
              <a:gd name="connsiteY4" fmla="*/ 0 h 1437990"/>
              <a:gd name="connsiteX0" fmla="*/ 0 w 9117825"/>
              <a:gd name="connsiteY0" fmla="*/ 0 h 1423865"/>
              <a:gd name="connsiteX1" fmla="*/ 9117825 w 9117825"/>
              <a:gd name="connsiteY1" fmla="*/ 0 h 1423865"/>
              <a:gd name="connsiteX2" fmla="*/ 9117825 w 9117825"/>
              <a:gd name="connsiteY2" fmla="*/ 817812 h 1423865"/>
              <a:gd name="connsiteX3" fmla="*/ 0 w 9117825"/>
              <a:gd name="connsiteY3" fmla="*/ 1412802 h 1423865"/>
              <a:gd name="connsiteX4" fmla="*/ 0 w 9117825"/>
              <a:gd name="connsiteY4" fmla="*/ 0 h 1423865"/>
              <a:gd name="connsiteX0" fmla="*/ 0 w 9117825"/>
              <a:gd name="connsiteY0" fmla="*/ 0 h 1420649"/>
              <a:gd name="connsiteX1" fmla="*/ 9117825 w 9117825"/>
              <a:gd name="connsiteY1" fmla="*/ 0 h 1420649"/>
              <a:gd name="connsiteX2" fmla="*/ 9117825 w 9117825"/>
              <a:gd name="connsiteY2" fmla="*/ 817812 h 1420649"/>
              <a:gd name="connsiteX3" fmla="*/ 0 w 9117825"/>
              <a:gd name="connsiteY3" fmla="*/ 1412802 h 1420649"/>
              <a:gd name="connsiteX4" fmla="*/ 0 w 9117825"/>
              <a:gd name="connsiteY4" fmla="*/ 0 h 1420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7825" h="1420649">
                <a:moveTo>
                  <a:pt x="0" y="0"/>
                </a:moveTo>
                <a:lnTo>
                  <a:pt x="9117825" y="0"/>
                </a:lnTo>
                <a:lnTo>
                  <a:pt x="9117825" y="817812"/>
                </a:lnTo>
                <a:cubicBezTo>
                  <a:pt x="4721380" y="826170"/>
                  <a:pt x="5478359" y="1500383"/>
                  <a:pt x="0" y="1412802"/>
                </a:cubicBezTo>
                <a:lnTo>
                  <a:pt x="0" y="0"/>
                </a:lnTo>
                <a:close/>
              </a:path>
            </a:pathLst>
          </a:custGeom>
          <a:solidFill>
            <a:srgbClr val="1716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036317" rtl="0" eaLnBrk="1" fontAlgn="auto" latinLnBrk="0" hangingPunct="1">
              <a:lnSpc>
                <a:spcPct val="100000"/>
              </a:lnSpc>
              <a:spcBef>
                <a:spcPts val="0"/>
              </a:spcBef>
              <a:spcAft>
                <a:spcPts val="0"/>
              </a:spcAft>
              <a:buClrTx/>
              <a:buSzTx/>
              <a:buFontTx/>
              <a:buNone/>
              <a:tabLst/>
              <a:defRPr/>
            </a:pPr>
            <a:endParaRPr kumimoji="0" lang="en-US" sz="1473" b="1" i="0" u="none" strike="noStrike" kern="1200" cap="all" spc="0" normalizeH="0" baseline="0" noProof="0">
              <a:ln>
                <a:noFill/>
              </a:ln>
              <a:solidFill>
                <a:prstClr val="white"/>
              </a:solidFill>
              <a:effectLst/>
              <a:uLnTx/>
              <a:uFillTx/>
              <a:latin typeface="+mj-lt"/>
              <a:ea typeface="+mn-ea"/>
              <a:cs typeface="+mn-cs"/>
            </a:endParaRPr>
          </a:p>
        </p:txBody>
      </p:sp>
      <p:sp>
        <p:nvSpPr>
          <p:cNvPr id="8" name="Rectangle 7">
            <a:extLst>
              <a:ext uri="{FF2B5EF4-FFF2-40B4-BE49-F238E27FC236}">
                <a16:creationId xmlns:a16="http://schemas.microsoft.com/office/drawing/2014/main" id="{039C2A2D-8FFF-A47E-568F-A54303B962D0}"/>
              </a:ext>
            </a:extLst>
          </p:cNvPr>
          <p:cNvSpPr>
            <a:spLocks noGrp="1" noRot="1" noMove="1" noResize="1" noEditPoints="1" noAdjustHandles="1" noChangeArrowheads="1" noChangeShapeType="1"/>
          </p:cNvSpPr>
          <p:nvPr userDrawn="1"/>
        </p:nvSpPr>
        <p:spPr>
          <a:xfrm>
            <a:off x="1" y="7323570"/>
            <a:ext cx="10374115" cy="470925"/>
          </a:xfrm>
          <a:prstGeom prst="rect">
            <a:avLst/>
          </a:prstGeom>
          <a:solidFill>
            <a:srgbClr val="1716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036317" rtl="0" eaLnBrk="1" fontAlgn="auto" latinLnBrk="0" hangingPunct="1">
              <a:lnSpc>
                <a:spcPct val="100000"/>
              </a:lnSpc>
              <a:spcBef>
                <a:spcPts val="0"/>
              </a:spcBef>
              <a:spcAft>
                <a:spcPts val="0"/>
              </a:spcAft>
              <a:buClrTx/>
              <a:buSzTx/>
              <a:buFontTx/>
              <a:buNone/>
              <a:tabLst/>
              <a:defRPr/>
            </a:pPr>
            <a:endParaRPr kumimoji="0" lang="en-US" sz="1473" b="1" i="0" u="none" strike="noStrike" kern="1200" cap="all" spc="0" normalizeH="0" baseline="0" noProof="0">
              <a:ln>
                <a:noFill/>
              </a:ln>
              <a:solidFill>
                <a:prstClr val="white"/>
              </a:solidFill>
              <a:effectLst/>
              <a:uLnTx/>
              <a:uFillTx/>
              <a:latin typeface="+mj-lt"/>
              <a:ea typeface="+mn-ea"/>
              <a:cs typeface="+mn-cs"/>
            </a:endParaRPr>
          </a:p>
        </p:txBody>
      </p:sp>
      <p:grpSp>
        <p:nvGrpSpPr>
          <p:cNvPr id="20" name="Group 19">
            <a:extLst>
              <a:ext uri="{FF2B5EF4-FFF2-40B4-BE49-F238E27FC236}">
                <a16:creationId xmlns:a16="http://schemas.microsoft.com/office/drawing/2014/main" id="{9BE90986-5868-7DA1-D50C-B9A48C5F2B4C}"/>
              </a:ext>
            </a:extLst>
          </p:cNvPr>
          <p:cNvGrpSpPr>
            <a:grpSpLocks noGrp="1" noUngrp="1" noRot="1" noMove="1" noResize="1"/>
          </p:cNvGrpSpPr>
          <p:nvPr userDrawn="1"/>
        </p:nvGrpSpPr>
        <p:grpSpPr>
          <a:xfrm>
            <a:off x="518160" y="487655"/>
            <a:ext cx="1773120" cy="859562"/>
            <a:chOff x="457200" y="464703"/>
            <a:chExt cx="1360416" cy="659494"/>
          </a:xfrm>
          <a:effectLst>
            <a:outerShdw blurRad="50800" dist="38100" dir="5400000" algn="t" rotWithShape="0">
              <a:prstClr val="black">
                <a:alpha val="40000"/>
              </a:prstClr>
            </a:outerShdw>
          </a:effectLst>
        </p:grpSpPr>
        <p:pic>
          <p:nvPicPr>
            <p:cNvPr id="16" name="Picture 15">
              <a:extLst>
                <a:ext uri="{FF2B5EF4-FFF2-40B4-BE49-F238E27FC236}">
                  <a16:creationId xmlns:a16="http://schemas.microsoft.com/office/drawing/2014/main" id="{F5307292-38BF-4B5C-AE99-4953EB0ED829}"/>
                </a:ext>
              </a:extLst>
            </p:cNvPr>
            <p:cNvPicPr>
              <a:picLocks noGrp="1" noRot="1" noChangeAspec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Lst>
            </a:blip>
            <a:srcRect/>
            <a:stretch/>
          </p:blipFill>
          <p:spPr>
            <a:xfrm>
              <a:off x="1279579" y="464703"/>
              <a:ext cx="538037" cy="659494"/>
            </a:xfrm>
            <a:prstGeom prst="rect">
              <a:avLst/>
            </a:prstGeom>
          </p:spPr>
        </p:pic>
        <p:pic>
          <p:nvPicPr>
            <p:cNvPr id="17" name="Picture 16" descr="A close up of a sign&#10;&#10;Description automatically generated">
              <a:extLst>
                <a:ext uri="{FF2B5EF4-FFF2-40B4-BE49-F238E27FC236}">
                  <a16:creationId xmlns:a16="http://schemas.microsoft.com/office/drawing/2014/main" id="{9FE87EE1-BF16-41DC-B66C-F206E45ED29C}"/>
                </a:ext>
              </a:extLst>
            </p:cNvPr>
            <p:cNvPicPr>
              <a:picLocks noGrp="1" noRot="1" noChangeAspect="1" noMove="1" noResize="1" noEditPoints="1" noAdjustHandles="1" noChangeArrowheads="1" noChangeShapeType="1" noCrop="1"/>
            </p:cNvPicPr>
            <p:nvPr userDrawn="1"/>
          </p:nvPicPr>
          <p:blipFill>
            <a:blip r:embed="rId5" cstate="hqprint">
              <a:extLst>
                <a:ext uri="{28A0092B-C50C-407E-A947-70E740481C1C}">
                  <a14:useLocalDpi xmlns:a14="http://schemas.microsoft.com/office/drawing/2010/main" val="0"/>
                </a:ext>
              </a:extLst>
            </a:blip>
            <a:stretch>
              <a:fillRect/>
            </a:stretch>
          </p:blipFill>
          <p:spPr>
            <a:xfrm>
              <a:off x="457200" y="501910"/>
              <a:ext cx="585080" cy="585080"/>
            </a:xfrm>
            <a:prstGeom prst="rect">
              <a:avLst/>
            </a:prstGeom>
          </p:spPr>
        </p:pic>
      </p:grpSp>
    </p:spTree>
    <p:extLst>
      <p:ext uri="{BB962C8B-B14F-4D97-AF65-F5344CB8AC3E}">
        <p14:creationId xmlns:p14="http://schemas.microsoft.com/office/powerpoint/2010/main" val="2223538199"/>
      </p:ext>
    </p:extLst>
  </p:cSld>
  <p:clrMap bg1="lt1" tx1="dk1" bg2="lt2" tx2="dk2" accent1="accent1" accent2="accent2" accent3="accent3" accent4="accent4" accent5="accent5" accent6="accent6" hlink="hlink" folHlink="folHlink"/>
  <p:sldLayoutIdLst>
    <p:sldLayoutId id="2147483692" r:id="rId1"/>
    <p:sldLayoutId id="2147483693" r:id="rId2"/>
  </p:sldLayoutIdLst>
  <p:hf hdr="0" ftr="0" dt="0"/>
  <p:txStyles>
    <p:titleStyle>
      <a:lvl1pPr algn="ctr" defTabSz="1036317" rtl="0" eaLnBrk="1" latinLnBrk="0" hangingPunct="1">
        <a:lnSpc>
          <a:spcPct val="100000"/>
        </a:lnSpc>
        <a:spcBef>
          <a:spcPct val="0"/>
        </a:spcBef>
        <a:buNone/>
        <a:defRPr sz="2720" b="1" kern="1200">
          <a:solidFill>
            <a:srgbClr val="C9AD62"/>
          </a:solidFill>
          <a:latin typeface="+mj-lt"/>
          <a:ea typeface="+mj-ea"/>
          <a:cs typeface="+mj-cs"/>
        </a:defRPr>
      </a:lvl1pPr>
    </p:titleStyle>
    <p:bodyStyle>
      <a:lvl1pPr marL="259079" indent="-259079" algn="l" defTabSz="1036317" rtl="0" eaLnBrk="1" latinLnBrk="0" hangingPunct="1">
        <a:lnSpc>
          <a:spcPct val="90000"/>
        </a:lnSpc>
        <a:spcBef>
          <a:spcPts val="1360"/>
        </a:spcBef>
        <a:spcAft>
          <a:spcPts val="0"/>
        </a:spcAft>
        <a:buFont typeface="Arial" panose="020B0604020202020204" pitchFamily="34" charset="0"/>
        <a:buChar char="•"/>
        <a:defRPr sz="2720" kern="1200">
          <a:solidFill>
            <a:srgbClr val="171610"/>
          </a:solidFill>
          <a:latin typeface="+mn-lt"/>
          <a:ea typeface="+mn-ea"/>
          <a:cs typeface="+mn-cs"/>
        </a:defRPr>
      </a:lvl1pPr>
      <a:lvl2pPr marL="777238" indent="-259079" algn="l" defTabSz="1036317" rtl="0" eaLnBrk="1" latinLnBrk="0" hangingPunct="1">
        <a:lnSpc>
          <a:spcPct val="90000"/>
        </a:lnSpc>
        <a:spcBef>
          <a:spcPts val="680"/>
        </a:spcBef>
        <a:spcAft>
          <a:spcPts val="0"/>
        </a:spcAft>
        <a:buFont typeface="Courier New" panose="02070309020205020404" pitchFamily="49" charset="0"/>
        <a:buChar char="o"/>
        <a:defRPr sz="2493" kern="1200">
          <a:solidFill>
            <a:srgbClr val="171610"/>
          </a:solidFill>
          <a:latin typeface="+mn-lt"/>
          <a:ea typeface="+mn-ea"/>
          <a:cs typeface="+mn-cs"/>
        </a:defRPr>
      </a:lvl2pPr>
      <a:lvl3pPr marL="1295396" indent="-259079" algn="l" defTabSz="1036317" rtl="0" eaLnBrk="1" latinLnBrk="0" hangingPunct="1">
        <a:lnSpc>
          <a:spcPct val="90000"/>
        </a:lnSpc>
        <a:spcBef>
          <a:spcPts val="680"/>
        </a:spcBef>
        <a:spcAft>
          <a:spcPts val="0"/>
        </a:spcAft>
        <a:buFont typeface="Wingdings" panose="05000000000000000000" pitchFamily="2" charset="2"/>
        <a:buChar char="§"/>
        <a:defRPr sz="2267" kern="1200">
          <a:solidFill>
            <a:srgbClr val="171610"/>
          </a:solidFill>
          <a:latin typeface="+mn-lt"/>
          <a:ea typeface="+mn-ea"/>
          <a:cs typeface="+mn-cs"/>
        </a:defRPr>
      </a:lvl3pPr>
      <a:lvl4pPr marL="1813555" indent="-259079" algn="l" defTabSz="1036317" rtl="0" eaLnBrk="1" latinLnBrk="0" hangingPunct="1">
        <a:lnSpc>
          <a:spcPct val="90000"/>
        </a:lnSpc>
        <a:spcBef>
          <a:spcPts val="680"/>
        </a:spcBef>
        <a:spcAft>
          <a:spcPts val="0"/>
        </a:spcAft>
        <a:buFont typeface="Arial" panose="020B0604020202020204" pitchFamily="34" charset="0"/>
        <a:buChar char="–"/>
        <a:defRPr sz="2040" kern="1200">
          <a:solidFill>
            <a:srgbClr val="171610"/>
          </a:solidFill>
          <a:latin typeface="+mn-lt"/>
          <a:ea typeface="+mn-ea"/>
          <a:cs typeface="+mn-cs"/>
        </a:defRPr>
      </a:lvl4pPr>
      <a:lvl5pPr marL="2331713" indent="-259079" algn="l" defTabSz="1036317" rtl="0" eaLnBrk="1" latinLnBrk="0" hangingPunct="1">
        <a:lnSpc>
          <a:spcPct val="90000"/>
        </a:lnSpc>
        <a:spcBef>
          <a:spcPts val="680"/>
        </a:spcBef>
        <a:spcAft>
          <a:spcPts val="0"/>
        </a:spcAft>
        <a:buFont typeface="Arial" panose="020B0604020202020204" pitchFamily="34" charset="0"/>
        <a:buChar char="•"/>
        <a:defRPr sz="1813" kern="1200">
          <a:solidFill>
            <a:srgbClr val="171610"/>
          </a:solidFill>
          <a:latin typeface="+mn-lt"/>
          <a:ea typeface="+mn-ea"/>
          <a:cs typeface="+mn-cs"/>
        </a:defRPr>
      </a:lvl5pPr>
      <a:lvl6pPr marL="2849872"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8030"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189"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347"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p:bodyStyle>
    <p:otherStyle>
      <a:defPPr>
        <a:defRPr lang="en-US"/>
      </a:defPPr>
      <a:lvl1pPr marL="0" algn="l" defTabSz="1036317" rtl="0" eaLnBrk="1" latinLnBrk="0" hangingPunct="1">
        <a:defRPr sz="2040" kern="1200">
          <a:solidFill>
            <a:schemeClr val="tx1"/>
          </a:solidFill>
          <a:latin typeface="+mn-lt"/>
          <a:ea typeface="+mn-ea"/>
          <a:cs typeface="+mn-cs"/>
        </a:defRPr>
      </a:lvl1pPr>
      <a:lvl2pPr marL="518158" algn="l" defTabSz="1036317" rtl="0" eaLnBrk="1" latinLnBrk="0" hangingPunct="1">
        <a:defRPr sz="2040" kern="1200">
          <a:solidFill>
            <a:schemeClr val="tx1"/>
          </a:solidFill>
          <a:latin typeface="+mn-lt"/>
          <a:ea typeface="+mn-ea"/>
          <a:cs typeface="+mn-cs"/>
        </a:defRPr>
      </a:lvl2pPr>
      <a:lvl3pPr marL="1036317" algn="l" defTabSz="1036317" rtl="0" eaLnBrk="1" latinLnBrk="0" hangingPunct="1">
        <a:defRPr sz="2040" kern="1200">
          <a:solidFill>
            <a:schemeClr val="tx1"/>
          </a:solidFill>
          <a:latin typeface="+mn-lt"/>
          <a:ea typeface="+mn-ea"/>
          <a:cs typeface="+mn-cs"/>
        </a:defRPr>
      </a:lvl3pPr>
      <a:lvl4pPr marL="1554475" algn="l" defTabSz="1036317" rtl="0" eaLnBrk="1" latinLnBrk="0" hangingPunct="1">
        <a:defRPr sz="2040" kern="1200">
          <a:solidFill>
            <a:schemeClr val="tx1"/>
          </a:solidFill>
          <a:latin typeface="+mn-lt"/>
          <a:ea typeface="+mn-ea"/>
          <a:cs typeface="+mn-cs"/>
        </a:defRPr>
      </a:lvl4pPr>
      <a:lvl5pPr marL="2072634" algn="l" defTabSz="1036317" rtl="0" eaLnBrk="1" latinLnBrk="0" hangingPunct="1">
        <a:defRPr sz="2040" kern="1200">
          <a:solidFill>
            <a:schemeClr val="tx1"/>
          </a:solidFill>
          <a:latin typeface="+mn-lt"/>
          <a:ea typeface="+mn-ea"/>
          <a:cs typeface="+mn-cs"/>
        </a:defRPr>
      </a:lvl5pPr>
      <a:lvl6pPr marL="2590792" algn="l" defTabSz="1036317" rtl="0" eaLnBrk="1" latinLnBrk="0" hangingPunct="1">
        <a:defRPr sz="2040" kern="1200">
          <a:solidFill>
            <a:schemeClr val="tx1"/>
          </a:solidFill>
          <a:latin typeface="+mn-lt"/>
          <a:ea typeface="+mn-ea"/>
          <a:cs typeface="+mn-cs"/>
        </a:defRPr>
      </a:lvl6pPr>
      <a:lvl7pPr marL="3108951" algn="l" defTabSz="1036317" rtl="0" eaLnBrk="1" latinLnBrk="0" hangingPunct="1">
        <a:defRPr sz="2040" kern="1200">
          <a:solidFill>
            <a:schemeClr val="tx1"/>
          </a:solidFill>
          <a:latin typeface="+mn-lt"/>
          <a:ea typeface="+mn-ea"/>
          <a:cs typeface="+mn-cs"/>
        </a:defRPr>
      </a:lvl7pPr>
      <a:lvl8pPr marL="3627109" algn="l" defTabSz="1036317" rtl="0" eaLnBrk="1" latinLnBrk="0" hangingPunct="1">
        <a:defRPr sz="2040" kern="1200">
          <a:solidFill>
            <a:schemeClr val="tx1"/>
          </a:solidFill>
          <a:latin typeface="+mn-lt"/>
          <a:ea typeface="+mn-ea"/>
          <a:cs typeface="+mn-cs"/>
        </a:defRPr>
      </a:lvl8pPr>
      <a:lvl9pPr marL="4145268" algn="l" defTabSz="1036317" rtl="0" eaLnBrk="1" latinLnBrk="0" hangingPunct="1">
        <a:defRPr sz="20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48" userDrawn="1">
          <p15:clr>
            <a:srgbClr val="F26B43"/>
          </p15:clr>
        </p15:guide>
        <p15:guide id="2" pos="326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Map&#10;&#10;Description automatically generated">
            <a:extLst>
              <a:ext uri="{FF2B5EF4-FFF2-40B4-BE49-F238E27FC236}">
                <a16:creationId xmlns:a16="http://schemas.microsoft.com/office/drawing/2014/main" id="{D0972657-D021-2E90-B692-BCB6ED563FBA}"/>
              </a:ext>
            </a:extLst>
          </p:cNvPr>
          <p:cNvPicPr>
            <a:picLocks noGrp="1" noRot="1" noChangeAspect="1" noMove="1" noResize="1" noEditPoints="1" noAdjustHandles="1" noChangeArrowheads="1" noChangeShapeType="1" noCrop="1"/>
          </p:cNvPicPr>
          <p:nvPr userDrawn="1"/>
        </p:nvPicPr>
        <p:blipFill rotWithShape="1">
          <a:blip r:embed="rId6">
            <a:duotone>
              <a:schemeClr val="accent5">
                <a:shade val="45000"/>
                <a:satMod val="135000"/>
              </a:schemeClr>
              <a:prstClr val="white"/>
            </a:duotone>
            <a:alphaModFix amt="35000"/>
            <a:extLst>
              <a:ext uri="{BEBA8EAE-BF5A-486C-A8C5-ECC9F3942E4B}">
                <a14:imgProps xmlns:a14="http://schemas.microsoft.com/office/drawing/2010/main">
                  <a14:imgLayer r:embed="rId7">
                    <a14:imgEffect>
                      <a14:colorTemperature colorTemp="11200"/>
                    </a14:imgEffect>
                    <a14:imgEffect>
                      <a14:brightnessContrast contrast="-40000"/>
                    </a14:imgEffect>
                  </a14:imgLayer>
                </a14:imgProps>
              </a:ext>
              <a:ext uri="{28A0092B-C50C-407E-A947-70E740481C1C}">
                <a14:useLocalDpi xmlns:a14="http://schemas.microsoft.com/office/drawing/2010/main" val="0"/>
              </a:ext>
            </a:extLst>
          </a:blip>
          <a:srcRect l="179" t="-934" r="-1" b="3633"/>
          <a:stretch/>
        </p:blipFill>
        <p:spPr>
          <a:xfrm>
            <a:off x="0" y="314935"/>
            <a:ext cx="10363200" cy="7203272"/>
          </a:xfrm>
          <a:prstGeom prst="rect">
            <a:avLst/>
          </a:prstGeom>
        </p:spPr>
      </p:pic>
      <p:sp>
        <p:nvSpPr>
          <p:cNvPr id="7" name="Rectangle 6">
            <a:extLst>
              <a:ext uri="{FF2B5EF4-FFF2-40B4-BE49-F238E27FC236}">
                <a16:creationId xmlns:a16="http://schemas.microsoft.com/office/drawing/2014/main" id="{83C8653E-B861-B050-CB75-62B864663EF3}"/>
              </a:ext>
            </a:extLst>
          </p:cNvPr>
          <p:cNvSpPr>
            <a:spLocks noGrp="1" noRot="1" noMove="1" noResize="1" noEditPoints="1" noAdjustHandles="1" noChangeArrowheads="1" noChangeShapeType="1"/>
          </p:cNvSpPr>
          <p:nvPr userDrawn="1"/>
        </p:nvSpPr>
        <p:spPr>
          <a:xfrm>
            <a:off x="-10915" y="7323570"/>
            <a:ext cx="10385032" cy="470925"/>
          </a:xfrm>
          <a:prstGeom prst="rect">
            <a:avLst/>
          </a:prstGeom>
          <a:solidFill>
            <a:srgbClr val="1716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036317" rtl="0" eaLnBrk="1" fontAlgn="auto" latinLnBrk="0" hangingPunct="1">
              <a:lnSpc>
                <a:spcPct val="100000"/>
              </a:lnSpc>
              <a:spcBef>
                <a:spcPts val="0"/>
              </a:spcBef>
              <a:spcAft>
                <a:spcPts val="0"/>
              </a:spcAft>
              <a:buClrTx/>
              <a:buSzTx/>
              <a:buFontTx/>
              <a:buNone/>
              <a:tabLst/>
              <a:defRPr/>
            </a:pPr>
            <a:endParaRPr kumimoji="0" lang="en-US" sz="1473" b="1" i="0" u="none" strike="noStrike" kern="1200" cap="all" spc="0" normalizeH="0" baseline="0" noProof="0">
              <a:ln>
                <a:noFill/>
              </a:ln>
              <a:solidFill>
                <a:prstClr val="white"/>
              </a:solidFill>
              <a:effectLst/>
              <a:uLnTx/>
              <a:uFillTx/>
              <a:latin typeface="+mj-lt"/>
              <a:ea typeface="+mn-ea"/>
              <a:cs typeface="+mn-cs"/>
            </a:endParaRPr>
          </a:p>
        </p:txBody>
      </p:sp>
      <p:sp>
        <p:nvSpPr>
          <p:cNvPr id="18" name="Rectangle 17">
            <a:extLst>
              <a:ext uri="{FF2B5EF4-FFF2-40B4-BE49-F238E27FC236}">
                <a16:creationId xmlns:a16="http://schemas.microsoft.com/office/drawing/2014/main" id="{D251E0B1-25FD-E9FD-982A-C7499597BC42}"/>
              </a:ext>
            </a:extLst>
          </p:cNvPr>
          <p:cNvSpPr>
            <a:spLocks noGrp="1" noRot="1" noMove="1" noResize="1" noEditPoints="1" noAdjustHandles="1" noChangeArrowheads="1" noChangeShapeType="1"/>
          </p:cNvSpPr>
          <p:nvPr userDrawn="1"/>
        </p:nvSpPr>
        <p:spPr>
          <a:xfrm>
            <a:off x="-10915" y="-30480"/>
            <a:ext cx="10385031" cy="470927"/>
          </a:xfrm>
          <a:prstGeom prst="rect">
            <a:avLst/>
          </a:prstGeom>
          <a:solidFill>
            <a:srgbClr val="1716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1036317" rtl="0" eaLnBrk="1" fontAlgn="auto" latinLnBrk="0" hangingPunct="1">
              <a:lnSpc>
                <a:spcPct val="100000"/>
              </a:lnSpc>
              <a:spcBef>
                <a:spcPts val="0"/>
              </a:spcBef>
              <a:spcAft>
                <a:spcPts val="0"/>
              </a:spcAft>
              <a:buClrTx/>
              <a:buSzTx/>
              <a:buFontTx/>
              <a:buNone/>
              <a:tabLst/>
              <a:defRPr/>
            </a:pPr>
            <a:endParaRPr kumimoji="0" lang="en-US" sz="1473" b="1" i="0" u="none" strike="noStrike" kern="1200" cap="all" spc="0" normalizeH="0" baseline="0" noProof="0">
              <a:ln>
                <a:noFill/>
              </a:ln>
              <a:solidFill>
                <a:prstClr val="white"/>
              </a:solidFill>
              <a:effectLst/>
              <a:uLnTx/>
              <a:uFillTx/>
              <a:latin typeface="+mj-lt"/>
              <a:ea typeface="+mn-ea"/>
              <a:cs typeface="+mn-cs"/>
            </a:endParaRPr>
          </a:p>
        </p:txBody>
      </p:sp>
      <p:sp>
        <p:nvSpPr>
          <p:cNvPr id="12" name="TextBox 11">
            <a:extLst>
              <a:ext uri="{FF2B5EF4-FFF2-40B4-BE49-F238E27FC236}">
                <a16:creationId xmlns:a16="http://schemas.microsoft.com/office/drawing/2014/main" id="{2F737A15-CCF7-A460-8673-A43A821723D2}"/>
              </a:ext>
            </a:extLst>
          </p:cNvPr>
          <p:cNvSpPr txBox="1">
            <a:spLocks noGrp="1" noRot="1" noMove="1" noResize="1" noEditPoints="1" noAdjustHandles="1" noChangeArrowheads="1" noChangeShapeType="1"/>
          </p:cNvSpPr>
          <p:nvPr userDrawn="1"/>
        </p:nvSpPr>
        <p:spPr>
          <a:xfrm>
            <a:off x="4089167" y="7445873"/>
            <a:ext cx="2184867" cy="253916"/>
          </a:xfrm>
          <a:prstGeom prst="rect">
            <a:avLst/>
          </a:prstGeom>
          <a:noFill/>
        </p:spPr>
        <p:txBody>
          <a:bodyPr wrap="square" rtlCol="0">
            <a:spAutoFit/>
          </a:bodyPr>
          <a:lstStyle/>
          <a:p>
            <a:pPr marL="0" marR="0" lvl="0" indent="0" algn="ctr" defTabSz="457222" rtl="0" eaLnBrk="1" fontAlgn="auto" latinLnBrk="0" hangingPunct="1">
              <a:lnSpc>
                <a:spcPct val="100000"/>
              </a:lnSpc>
              <a:spcBef>
                <a:spcPts val="0"/>
              </a:spcBef>
              <a:spcAft>
                <a:spcPts val="0"/>
              </a:spcAft>
              <a:buClrTx/>
              <a:buSzTx/>
              <a:buFontTx/>
              <a:buNone/>
              <a:tabLst/>
              <a:defRPr/>
            </a:pPr>
            <a:r>
              <a:rPr kumimoji="0" lang="en-US" sz="1050" b="1" i="0" u="none" strike="noStrike" kern="1200" cap="all" spc="0" normalizeH="0" baseline="0" noProof="0" dirty="0">
                <a:ln>
                  <a:noFill/>
                </a:ln>
                <a:solidFill>
                  <a:schemeClr val="bg1"/>
                </a:solidFill>
                <a:effectLst/>
                <a:uLnTx/>
                <a:uFillTx/>
                <a:latin typeface="+mn-lt"/>
                <a:ea typeface="+mn-ea"/>
                <a:cs typeface="+mn-cs"/>
              </a:rPr>
              <a:t>Warfighter Always</a:t>
            </a:r>
            <a:endParaRPr lang="en-US" sz="1050" dirty="0">
              <a:solidFill>
                <a:schemeClr val="bg1"/>
              </a:solidFill>
            </a:endParaRPr>
          </a:p>
        </p:txBody>
      </p:sp>
      <p:sp>
        <p:nvSpPr>
          <p:cNvPr id="13" name="TextBox 12">
            <a:extLst>
              <a:ext uri="{FF2B5EF4-FFF2-40B4-BE49-F238E27FC236}">
                <a16:creationId xmlns:a16="http://schemas.microsoft.com/office/drawing/2014/main" id="{8BA78E70-409E-BFAF-7A4A-B516FBB801BE}"/>
              </a:ext>
            </a:extLst>
          </p:cNvPr>
          <p:cNvSpPr txBox="1">
            <a:spLocks noGrp="1" noRot="1" noMove="1" noResize="1" noEditPoints="1" noAdjustHandles="1" noChangeArrowheads="1" noChangeShapeType="1"/>
          </p:cNvSpPr>
          <p:nvPr userDrawn="1"/>
        </p:nvSpPr>
        <p:spPr>
          <a:xfrm>
            <a:off x="155370" y="7453493"/>
            <a:ext cx="4216836" cy="253916"/>
          </a:xfrm>
          <a:prstGeom prst="rect">
            <a:avLst/>
          </a:prstGeom>
          <a:noFill/>
        </p:spPr>
        <p:txBody>
          <a:bodyPr wrap="square" rtlCol="0">
            <a:spAutoFit/>
          </a:bodyPr>
          <a:lstStyle/>
          <a:p>
            <a:pPr marL="0" marR="0" lvl="0" indent="0" defTabSz="457222" rtl="0" eaLnBrk="1" fontAlgn="auto" latinLnBrk="0" hangingPunct="1">
              <a:lnSpc>
                <a:spcPct val="100000"/>
              </a:lnSpc>
              <a:spcBef>
                <a:spcPts val="0"/>
              </a:spcBef>
              <a:spcAft>
                <a:spcPts val="0"/>
              </a:spcAft>
              <a:buClrTx/>
              <a:buSzTx/>
              <a:buFontTx/>
              <a:buNone/>
              <a:tabLst/>
              <a:defRPr/>
            </a:pPr>
            <a:r>
              <a:rPr kumimoji="0" lang="en-US" sz="1000" b="1" i="0" u="none" strike="noStrike" kern="1200" spc="0" normalizeH="0" baseline="0" noProof="0" dirty="0">
                <a:ln>
                  <a:noFill/>
                </a:ln>
                <a:solidFill>
                  <a:srgbClr val="C9AD62"/>
                </a:solidFill>
                <a:effectLst/>
                <a:uLnTx/>
                <a:uFillTx/>
                <a:latin typeface="+mn-lt"/>
                <a:ea typeface="+mn-ea"/>
                <a:cs typeface="+mn-cs"/>
              </a:rPr>
              <a:t>PEOP</a:t>
            </a:r>
            <a:r>
              <a:rPr kumimoji="0" lang="en-US" sz="1000" b="1" i="0" u="none" strike="noStrike" kern="1200" spc="0" normalizeH="0" baseline="0" noProof="0" dirty="0">
                <a:ln>
                  <a:noFill/>
                </a:ln>
                <a:solidFill>
                  <a:srgbClr val="CAAD62"/>
                </a:solidFill>
                <a:effectLst/>
                <a:uLnTx/>
                <a:uFillTx/>
                <a:latin typeface="+mn-lt"/>
                <a:ea typeface="+mn-ea"/>
                <a:cs typeface="+mn-cs"/>
              </a:rPr>
              <a:t>LE          PRECISION          </a:t>
            </a:r>
            <a:r>
              <a:rPr lang="en-US" sz="1000" b="1" dirty="0">
                <a:solidFill>
                  <a:srgbClr val="CAAD62"/>
                </a:solidFill>
              </a:rPr>
              <a:t>P</a:t>
            </a:r>
            <a:r>
              <a:rPr kumimoji="0" lang="en-US" sz="1000" b="1" i="0" u="none" strike="noStrike" kern="1200" spc="0" normalizeH="0" baseline="0" noProof="0" dirty="0">
                <a:ln>
                  <a:noFill/>
                </a:ln>
                <a:solidFill>
                  <a:srgbClr val="CAAD62"/>
                </a:solidFill>
                <a:effectLst/>
                <a:uLnTx/>
                <a:uFillTx/>
                <a:latin typeface="+mn-lt"/>
                <a:ea typeface="+mn-ea"/>
                <a:cs typeface="+mn-cs"/>
              </a:rPr>
              <a:t>OSTURE          PARTNERSHIPS</a:t>
            </a:r>
            <a:endParaRPr lang="en-US" sz="1000" dirty="0">
              <a:solidFill>
                <a:srgbClr val="CAAD62"/>
              </a:solidFill>
            </a:endParaRPr>
          </a:p>
        </p:txBody>
      </p:sp>
      <p:sp>
        <p:nvSpPr>
          <p:cNvPr id="14" name="Star: 5 Points 13">
            <a:extLst>
              <a:ext uri="{FF2B5EF4-FFF2-40B4-BE49-F238E27FC236}">
                <a16:creationId xmlns:a16="http://schemas.microsoft.com/office/drawing/2014/main" id="{61C61F89-00E2-3229-1C56-9A12D1542310}"/>
              </a:ext>
            </a:extLst>
          </p:cNvPr>
          <p:cNvSpPr>
            <a:spLocks noGrp="1" noRot="1" noMove="1" noResize="1" noEditPoints="1" noAdjustHandles="1" noChangeArrowheads="1" noChangeShapeType="1"/>
          </p:cNvSpPr>
          <p:nvPr userDrawn="1"/>
        </p:nvSpPr>
        <p:spPr>
          <a:xfrm>
            <a:off x="867033" y="7504474"/>
            <a:ext cx="135925" cy="135925"/>
          </a:xfrm>
          <a:prstGeom prst="star5">
            <a:avLst/>
          </a:prstGeom>
          <a:solidFill>
            <a:srgbClr val="C9AD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Star: 5 Points 14">
            <a:extLst>
              <a:ext uri="{FF2B5EF4-FFF2-40B4-BE49-F238E27FC236}">
                <a16:creationId xmlns:a16="http://schemas.microsoft.com/office/drawing/2014/main" id="{D2E1A33B-2F09-4F3C-B63A-0F1ED8E71296}"/>
              </a:ext>
            </a:extLst>
          </p:cNvPr>
          <p:cNvSpPr>
            <a:spLocks noGrp="1" noRot="1" noMove="1" noResize="1" noEditPoints="1" noAdjustHandles="1" noChangeArrowheads="1" noChangeShapeType="1"/>
          </p:cNvSpPr>
          <p:nvPr userDrawn="1"/>
        </p:nvSpPr>
        <p:spPr>
          <a:xfrm>
            <a:off x="1908674" y="7504474"/>
            <a:ext cx="135925" cy="135925"/>
          </a:xfrm>
          <a:prstGeom prst="star5">
            <a:avLst/>
          </a:prstGeom>
          <a:solidFill>
            <a:srgbClr val="C9AD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Star: 5 Points 15">
            <a:extLst>
              <a:ext uri="{FF2B5EF4-FFF2-40B4-BE49-F238E27FC236}">
                <a16:creationId xmlns:a16="http://schemas.microsoft.com/office/drawing/2014/main" id="{85DB4E38-A733-D47C-76B9-6ACBAB05BFD2}"/>
              </a:ext>
            </a:extLst>
          </p:cNvPr>
          <p:cNvSpPr>
            <a:spLocks noGrp="1" noRot="1" noMove="1" noResize="1" noEditPoints="1" noAdjustHandles="1" noChangeArrowheads="1" noChangeShapeType="1"/>
          </p:cNvSpPr>
          <p:nvPr userDrawn="1"/>
        </p:nvSpPr>
        <p:spPr>
          <a:xfrm>
            <a:off x="2866394" y="7504474"/>
            <a:ext cx="135925" cy="135925"/>
          </a:xfrm>
          <a:prstGeom prst="star5">
            <a:avLst/>
          </a:prstGeom>
          <a:solidFill>
            <a:srgbClr val="C9AD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4220602920"/>
      </p:ext>
    </p:extLst>
  </p:cSld>
  <p:clrMap bg1="lt1" tx1="dk1" bg2="lt2" tx2="dk2" accent1="accent1" accent2="accent2" accent3="accent3" accent4="accent4" accent5="accent5" accent6="accent6" hlink="hlink" folHlink="folHlink"/>
  <p:sldLayoutIdLst>
    <p:sldLayoutId id="2147483679" r:id="rId1"/>
    <p:sldLayoutId id="2147483700" r:id="rId2"/>
    <p:sldLayoutId id="2147483698" r:id="rId3"/>
    <p:sldLayoutId id="2147483701" r:id="rId4"/>
  </p:sldLayoutIdLst>
  <p:hf hdr="0" ftr="0" dt="0"/>
  <p:txStyles>
    <p:titleStyle>
      <a:lvl1pPr algn="ctr" defTabSz="1036317" rtl="0" eaLnBrk="1" latinLnBrk="0" hangingPunct="1">
        <a:lnSpc>
          <a:spcPct val="100000"/>
        </a:lnSpc>
        <a:spcBef>
          <a:spcPct val="0"/>
        </a:spcBef>
        <a:buNone/>
        <a:defRPr sz="2720" b="1" kern="1200">
          <a:solidFill>
            <a:schemeClr val="accent5">
              <a:lumMod val="50000"/>
            </a:schemeClr>
          </a:solidFill>
          <a:latin typeface="+mj-lt"/>
          <a:ea typeface="+mj-ea"/>
          <a:cs typeface="+mj-cs"/>
        </a:defRPr>
      </a:lvl1pPr>
    </p:titleStyle>
    <p:bodyStyle>
      <a:lvl1pPr marL="259079" indent="-259079" algn="l" defTabSz="1036317" rtl="0" eaLnBrk="1" latinLnBrk="0" hangingPunct="1">
        <a:lnSpc>
          <a:spcPct val="90000"/>
        </a:lnSpc>
        <a:spcBef>
          <a:spcPts val="1360"/>
        </a:spcBef>
        <a:spcAft>
          <a:spcPts val="0"/>
        </a:spcAft>
        <a:buFont typeface="Arial" panose="020B0604020202020204" pitchFamily="34" charset="0"/>
        <a:buChar char="•"/>
        <a:defRPr sz="2720" kern="1200">
          <a:solidFill>
            <a:schemeClr val="tx1"/>
          </a:solidFill>
          <a:latin typeface="+mn-lt"/>
          <a:ea typeface="+mn-ea"/>
          <a:cs typeface="+mn-cs"/>
        </a:defRPr>
      </a:lvl1pPr>
      <a:lvl2pPr marL="777238" indent="-259079" algn="l" defTabSz="1036317" rtl="0" eaLnBrk="1" latinLnBrk="0" hangingPunct="1">
        <a:lnSpc>
          <a:spcPct val="90000"/>
        </a:lnSpc>
        <a:spcBef>
          <a:spcPts val="680"/>
        </a:spcBef>
        <a:spcAft>
          <a:spcPts val="0"/>
        </a:spcAft>
        <a:buFont typeface="Arial" panose="020B0604020202020204" pitchFamily="34" charset="0"/>
        <a:buChar char="–"/>
        <a:defRPr sz="2720" kern="1200">
          <a:solidFill>
            <a:schemeClr val="tx1"/>
          </a:solidFill>
          <a:latin typeface="+mn-lt"/>
          <a:ea typeface="+mn-ea"/>
          <a:cs typeface="+mn-cs"/>
        </a:defRPr>
      </a:lvl2pPr>
      <a:lvl3pPr marL="1295396" indent="-259079" algn="l" defTabSz="1036317" rtl="0" eaLnBrk="1" latinLnBrk="0" hangingPunct="1">
        <a:lnSpc>
          <a:spcPct val="90000"/>
        </a:lnSpc>
        <a:spcBef>
          <a:spcPts val="680"/>
        </a:spcBef>
        <a:spcAft>
          <a:spcPts val="0"/>
        </a:spcAft>
        <a:buFont typeface="Arial" panose="020B0604020202020204" pitchFamily="34" charset="0"/>
        <a:buChar char="•"/>
        <a:defRPr sz="2267" kern="1200">
          <a:solidFill>
            <a:schemeClr val="tx1"/>
          </a:solidFill>
          <a:latin typeface="+mn-lt"/>
          <a:ea typeface="+mn-ea"/>
          <a:cs typeface="+mn-cs"/>
        </a:defRPr>
      </a:lvl3pPr>
      <a:lvl4pPr marL="1813555" indent="-259079" algn="l" defTabSz="1036317" rtl="0" eaLnBrk="1" latinLnBrk="0" hangingPunct="1">
        <a:lnSpc>
          <a:spcPct val="90000"/>
        </a:lnSpc>
        <a:spcBef>
          <a:spcPts val="680"/>
        </a:spcBef>
        <a:spcAft>
          <a:spcPts val="0"/>
        </a:spcAft>
        <a:buFont typeface="Arial" panose="020B0604020202020204" pitchFamily="34" charset="0"/>
        <a:buChar char="–"/>
        <a:defRPr sz="2267" kern="1200">
          <a:solidFill>
            <a:schemeClr val="tx1"/>
          </a:solidFill>
          <a:latin typeface="+mn-lt"/>
          <a:ea typeface="+mn-ea"/>
          <a:cs typeface="+mn-cs"/>
        </a:defRPr>
      </a:lvl4pPr>
      <a:lvl5pPr marL="2331713" indent="-259079" algn="l" defTabSz="1036317" rtl="0" eaLnBrk="1" latinLnBrk="0" hangingPunct="1">
        <a:lnSpc>
          <a:spcPct val="90000"/>
        </a:lnSpc>
        <a:spcBef>
          <a:spcPts val="680"/>
        </a:spcBef>
        <a:spcAft>
          <a:spcPts val="0"/>
        </a:spcAft>
        <a:buFont typeface="Arial" panose="020B0604020202020204" pitchFamily="34" charset="0"/>
        <a:buChar char="•"/>
        <a:defRPr sz="1813" kern="1200">
          <a:solidFill>
            <a:schemeClr val="tx1"/>
          </a:solidFill>
          <a:latin typeface="+mn-lt"/>
          <a:ea typeface="+mn-ea"/>
          <a:cs typeface="+mn-cs"/>
        </a:defRPr>
      </a:lvl5pPr>
      <a:lvl6pPr marL="2849872"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8030"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189"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347"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p:bodyStyle>
    <p:otherStyle>
      <a:defPPr>
        <a:defRPr lang="en-US"/>
      </a:defPPr>
      <a:lvl1pPr marL="0" algn="l" defTabSz="1036317" rtl="0" eaLnBrk="1" latinLnBrk="0" hangingPunct="1">
        <a:defRPr sz="2040" kern="1200">
          <a:solidFill>
            <a:schemeClr val="tx1"/>
          </a:solidFill>
          <a:latin typeface="+mn-lt"/>
          <a:ea typeface="+mn-ea"/>
          <a:cs typeface="+mn-cs"/>
        </a:defRPr>
      </a:lvl1pPr>
      <a:lvl2pPr marL="518158" algn="l" defTabSz="1036317" rtl="0" eaLnBrk="1" latinLnBrk="0" hangingPunct="1">
        <a:defRPr sz="2040" kern="1200">
          <a:solidFill>
            <a:schemeClr val="tx1"/>
          </a:solidFill>
          <a:latin typeface="+mn-lt"/>
          <a:ea typeface="+mn-ea"/>
          <a:cs typeface="+mn-cs"/>
        </a:defRPr>
      </a:lvl2pPr>
      <a:lvl3pPr marL="1036317" algn="l" defTabSz="1036317" rtl="0" eaLnBrk="1" latinLnBrk="0" hangingPunct="1">
        <a:defRPr sz="2040" kern="1200">
          <a:solidFill>
            <a:schemeClr val="tx1"/>
          </a:solidFill>
          <a:latin typeface="+mn-lt"/>
          <a:ea typeface="+mn-ea"/>
          <a:cs typeface="+mn-cs"/>
        </a:defRPr>
      </a:lvl3pPr>
      <a:lvl4pPr marL="1554475" algn="l" defTabSz="1036317" rtl="0" eaLnBrk="1" latinLnBrk="0" hangingPunct="1">
        <a:defRPr sz="2040" kern="1200">
          <a:solidFill>
            <a:schemeClr val="tx1"/>
          </a:solidFill>
          <a:latin typeface="+mn-lt"/>
          <a:ea typeface="+mn-ea"/>
          <a:cs typeface="+mn-cs"/>
        </a:defRPr>
      </a:lvl4pPr>
      <a:lvl5pPr marL="2072634" algn="l" defTabSz="1036317" rtl="0" eaLnBrk="1" latinLnBrk="0" hangingPunct="1">
        <a:defRPr sz="2040" kern="1200">
          <a:solidFill>
            <a:schemeClr val="tx1"/>
          </a:solidFill>
          <a:latin typeface="+mn-lt"/>
          <a:ea typeface="+mn-ea"/>
          <a:cs typeface="+mn-cs"/>
        </a:defRPr>
      </a:lvl5pPr>
      <a:lvl6pPr marL="2590792" algn="l" defTabSz="1036317" rtl="0" eaLnBrk="1" latinLnBrk="0" hangingPunct="1">
        <a:defRPr sz="2040" kern="1200">
          <a:solidFill>
            <a:schemeClr val="tx1"/>
          </a:solidFill>
          <a:latin typeface="+mn-lt"/>
          <a:ea typeface="+mn-ea"/>
          <a:cs typeface="+mn-cs"/>
        </a:defRPr>
      </a:lvl6pPr>
      <a:lvl7pPr marL="3108951" algn="l" defTabSz="1036317" rtl="0" eaLnBrk="1" latinLnBrk="0" hangingPunct="1">
        <a:defRPr sz="2040" kern="1200">
          <a:solidFill>
            <a:schemeClr val="tx1"/>
          </a:solidFill>
          <a:latin typeface="+mn-lt"/>
          <a:ea typeface="+mn-ea"/>
          <a:cs typeface="+mn-cs"/>
        </a:defRPr>
      </a:lvl7pPr>
      <a:lvl8pPr marL="3627109" algn="l" defTabSz="1036317" rtl="0" eaLnBrk="1" latinLnBrk="0" hangingPunct="1">
        <a:defRPr sz="2040" kern="1200">
          <a:solidFill>
            <a:schemeClr val="tx1"/>
          </a:solidFill>
          <a:latin typeface="+mn-lt"/>
          <a:ea typeface="+mn-ea"/>
          <a:cs typeface="+mn-cs"/>
        </a:defRPr>
      </a:lvl8pPr>
      <a:lvl9pPr marL="4145268" algn="l" defTabSz="1036317" rtl="0" eaLnBrk="1" latinLnBrk="0" hangingPunct="1">
        <a:defRPr sz="20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48" userDrawn="1">
          <p15:clr>
            <a:srgbClr val="F26B43"/>
          </p15:clr>
        </p15:guide>
        <p15:guide id="2" pos="3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576438"/>
      </p:ext>
    </p:extLst>
  </p:cSld>
  <p:clrMap bg1="lt1" tx1="dk1" bg2="lt2" tx2="dk2" accent1="accent1" accent2="accent2" accent3="accent3" accent4="accent4" accent5="accent5" accent6="accent6" hlink="hlink" folHlink="folHlink"/>
  <p:sldLayoutIdLst>
    <p:sldLayoutId id="2147483686" r:id="rId1"/>
  </p:sldLayoutIdLst>
  <p:hf hdr="0" ftr="0" dt="0"/>
  <p:txStyles>
    <p:titleStyle>
      <a:lvl1pPr algn="ctr" defTabSz="1036317" rtl="0" eaLnBrk="1" latinLnBrk="0" hangingPunct="1">
        <a:lnSpc>
          <a:spcPct val="100000"/>
        </a:lnSpc>
        <a:spcBef>
          <a:spcPct val="0"/>
        </a:spcBef>
        <a:buNone/>
        <a:defRPr sz="2720" b="1" kern="1200">
          <a:solidFill>
            <a:schemeClr val="accent5">
              <a:lumMod val="50000"/>
            </a:schemeClr>
          </a:solidFill>
          <a:latin typeface="+mj-lt"/>
          <a:ea typeface="+mj-ea"/>
          <a:cs typeface="+mj-cs"/>
        </a:defRPr>
      </a:lvl1pPr>
    </p:titleStyle>
    <p:bodyStyle>
      <a:lvl1pPr marL="259079" indent="-259079" algn="l" defTabSz="1036317" rtl="0" eaLnBrk="1" latinLnBrk="0" hangingPunct="1">
        <a:lnSpc>
          <a:spcPct val="90000"/>
        </a:lnSpc>
        <a:spcBef>
          <a:spcPts val="1360"/>
        </a:spcBef>
        <a:spcAft>
          <a:spcPts val="0"/>
        </a:spcAft>
        <a:buFont typeface="Arial" panose="020B0604020202020204" pitchFamily="34" charset="0"/>
        <a:buChar char="•"/>
        <a:defRPr sz="2720" kern="1200">
          <a:solidFill>
            <a:schemeClr val="tx1"/>
          </a:solidFill>
          <a:latin typeface="+mn-lt"/>
          <a:ea typeface="+mn-ea"/>
          <a:cs typeface="+mn-cs"/>
        </a:defRPr>
      </a:lvl1pPr>
      <a:lvl2pPr marL="777238" indent="-259079" algn="l" defTabSz="1036317" rtl="0" eaLnBrk="1" latinLnBrk="0" hangingPunct="1">
        <a:lnSpc>
          <a:spcPct val="90000"/>
        </a:lnSpc>
        <a:spcBef>
          <a:spcPts val="680"/>
        </a:spcBef>
        <a:spcAft>
          <a:spcPts val="0"/>
        </a:spcAft>
        <a:buFont typeface="Arial" panose="020B0604020202020204" pitchFamily="34" charset="0"/>
        <a:buChar char="–"/>
        <a:defRPr sz="2720" kern="1200">
          <a:solidFill>
            <a:schemeClr val="tx1"/>
          </a:solidFill>
          <a:latin typeface="+mn-lt"/>
          <a:ea typeface="+mn-ea"/>
          <a:cs typeface="+mn-cs"/>
        </a:defRPr>
      </a:lvl2pPr>
      <a:lvl3pPr marL="1295396" indent="-259079" algn="l" defTabSz="1036317" rtl="0" eaLnBrk="1" latinLnBrk="0" hangingPunct="1">
        <a:lnSpc>
          <a:spcPct val="90000"/>
        </a:lnSpc>
        <a:spcBef>
          <a:spcPts val="680"/>
        </a:spcBef>
        <a:spcAft>
          <a:spcPts val="0"/>
        </a:spcAft>
        <a:buFont typeface="Arial" panose="020B0604020202020204" pitchFamily="34" charset="0"/>
        <a:buChar char="•"/>
        <a:defRPr sz="2267" kern="1200">
          <a:solidFill>
            <a:schemeClr val="tx1"/>
          </a:solidFill>
          <a:latin typeface="+mn-lt"/>
          <a:ea typeface="+mn-ea"/>
          <a:cs typeface="+mn-cs"/>
        </a:defRPr>
      </a:lvl3pPr>
      <a:lvl4pPr marL="1813555" indent="-259079" algn="l" defTabSz="1036317" rtl="0" eaLnBrk="1" latinLnBrk="0" hangingPunct="1">
        <a:lnSpc>
          <a:spcPct val="90000"/>
        </a:lnSpc>
        <a:spcBef>
          <a:spcPts val="680"/>
        </a:spcBef>
        <a:spcAft>
          <a:spcPts val="0"/>
        </a:spcAft>
        <a:buFont typeface="Arial" panose="020B0604020202020204" pitchFamily="34" charset="0"/>
        <a:buChar char="–"/>
        <a:defRPr sz="2267" kern="1200">
          <a:solidFill>
            <a:schemeClr val="tx1"/>
          </a:solidFill>
          <a:latin typeface="+mn-lt"/>
          <a:ea typeface="+mn-ea"/>
          <a:cs typeface="+mn-cs"/>
        </a:defRPr>
      </a:lvl4pPr>
      <a:lvl5pPr marL="2331713" indent="-259079" algn="l" defTabSz="1036317" rtl="0" eaLnBrk="1" latinLnBrk="0" hangingPunct="1">
        <a:lnSpc>
          <a:spcPct val="90000"/>
        </a:lnSpc>
        <a:spcBef>
          <a:spcPts val="680"/>
        </a:spcBef>
        <a:spcAft>
          <a:spcPts val="0"/>
        </a:spcAft>
        <a:buFont typeface="Arial" panose="020B0604020202020204" pitchFamily="34" charset="0"/>
        <a:buChar char="•"/>
        <a:defRPr sz="1813" kern="1200">
          <a:solidFill>
            <a:schemeClr val="tx1"/>
          </a:solidFill>
          <a:latin typeface="+mn-lt"/>
          <a:ea typeface="+mn-ea"/>
          <a:cs typeface="+mn-cs"/>
        </a:defRPr>
      </a:lvl5pPr>
      <a:lvl6pPr marL="2849872"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8030"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189"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347"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p:bodyStyle>
    <p:otherStyle>
      <a:defPPr>
        <a:defRPr lang="en-US"/>
      </a:defPPr>
      <a:lvl1pPr marL="0" algn="l" defTabSz="1036317" rtl="0" eaLnBrk="1" latinLnBrk="0" hangingPunct="1">
        <a:defRPr sz="2040" kern="1200">
          <a:solidFill>
            <a:schemeClr val="tx1"/>
          </a:solidFill>
          <a:latin typeface="+mn-lt"/>
          <a:ea typeface="+mn-ea"/>
          <a:cs typeface="+mn-cs"/>
        </a:defRPr>
      </a:lvl1pPr>
      <a:lvl2pPr marL="518158" algn="l" defTabSz="1036317" rtl="0" eaLnBrk="1" latinLnBrk="0" hangingPunct="1">
        <a:defRPr sz="2040" kern="1200">
          <a:solidFill>
            <a:schemeClr val="tx1"/>
          </a:solidFill>
          <a:latin typeface="+mn-lt"/>
          <a:ea typeface="+mn-ea"/>
          <a:cs typeface="+mn-cs"/>
        </a:defRPr>
      </a:lvl2pPr>
      <a:lvl3pPr marL="1036317" algn="l" defTabSz="1036317" rtl="0" eaLnBrk="1" latinLnBrk="0" hangingPunct="1">
        <a:defRPr sz="2040" kern="1200">
          <a:solidFill>
            <a:schemeClr val="tx1"/>
          </a:solidFill>
          <a:latin typeface="+mn-lt"/>
          <a:ea typeface="+mn-ea"/>
          <a:cs typeface="+mn-cs"/>
        </a:defRPr>
      </a:lvl3pPr>
      <a:lvl4pPr marL="1554475" algn="l" defTabSz="1036317" rtl="0" eaLnBrk="1" latinLnBrk="0" hangingPunct="1">
        <a:defRPr sz="2040" kern="1200">
          <a:solidFill>
            <a:schemeClr val="tx1"/>
          </a:solidFill>
          <a:latin typeface="+mn-lt"/>
          <a:ea typeface="+mn-ea"/>
          <a:cs typeface="+mn-cs"/>
        </a:defRPr>
      </a:lvl4pPr>
      <a:lvl5pPr marL="2072634" algn="l" defTabSz="1036317" rtl="0" eaLnBrk="1" latinLnBrk="0" hangingPunct="1">
        <a:defRPr sz="2040" kern="1200">
          <a:solidFill>
            <a:schemeClr val="tx1"/>
          </a:solidFill>
          <a:latin typeface="+mn-lt"/>
          <a:ea typeface="+mn-ea"/>
          <a:cs typeface="+mn-cs"/>
        </a:defRPr>
      </a:lvl5pPr>
      <a:lvl6pPr marL="2590792" algn="l" defTabSz="1036317" rtl="0" eaLnBrk="1" latinLnBrk="0" hangingPunct="1">
        <a:defRPr sz="2040" kern="1200">
          <a:solidFill>
            <a:schemeClr val="tx1"/>
          </a:solidFill>
          <a:latin typeface="+mn-lt"/>
          <a:ea typeface="+mn-ea"/>
          <a:cs typeface="+mn-cs"/>
        </a:defRPr>
      </a:lvl6pPr>
      <a:lvl7pPr marL="3108951" algn="l" defTabSz="1036317" rtl="0" eaLnBrk="1" latinLnBrk="0" hangingPunct="1">
        <a:defRPr sz="2040" kern="1200">
          <a:solidFill>
            <a:schemeClr val="tx1"/>
          </a:solidFill>
          <a:latin typeface="+mn-lt"/>
          <a:ea typeface="+mn-ea"/>
          <a:cs typeface="+mn-cs"/>
        </a:defRPr>
      </a:lvl7pPr>
      <a:lvl8pPr marL="3627109" algn="l" defTabSz="1036317" rtl="0" eaLnBrk="1" latinLnBrk="0" hangingPunct="1">
        <a:defRPr sz="2040" kern="1200">
          <a:solidFill>
            <a:schemeClr val="tx1"/>
          </a:solidFill>
          <a:latin typeface="+mn-lt"/>
          <a:ea typeface="+mn-ea"/>
          <a:cs typeface="+mn-cs"/>
        </a:defRPr>
      </a:lvl8pPr>
      <a:lvl9pPr marL="4145268" algn="l" defTabSz="1036317" rtl="0" eaLnBrk="1" latinLnBrk="0" hangingPunct="1">
        <a:defRPr sz="20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2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jp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35.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4.xml"/><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7.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8.xml"/><Relationship Id="rId1" Type="http://schemas.openxmlformats.org/officeDocument/2006/relationships/slideLayout" Target="../slideLayouts/slideLayout5.xml"/><Relationship Id="rId4" Type="http://schemas.openxmlformats.org/officeDocument/2006/relationships/image" Target="../media/image46.png"/></Relationships>
</file>

<file path=ppt/slides/_rels/slide9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9.xml"/><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0.xml"/><Relationship Id="rId1" Type="http://schemas.openxmlformats.org/officeDocument/2006/relationships/slideLayout" Target="../slideLayouts/slideLayout5.xml"/><Relationship Id="rId4" Type="http://schemas.openxmlformats.org/officeDocument/2006/relationships/image" Target="../media/image49.png"/></Relationships>
</file>

<file path=ppt/slides/_rels/slide10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1.xml"/><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3.xml"/><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4.xml"/><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6.xml"/><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7.xml"/><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9.xml"/><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00.xml"/><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01.xml"/><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3.xml"/><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38C7EE0-97CA-E418-29BA-BB8AF0BE15F6}"/>
              </a:ext>
            </a:extLst>
          </p:cNvPr>
          <p:cNvSpPr txBox="1">
            <a:spLocks noGrp="1"/>
          </p:cNvSpPr>
          <p:nvPr>
            <p:ph type="title" idx="4294967295"/>
          </p:nvPr>
        </p:nvSpPr>
        <p:spPr>
          <a:xfrm>
            <a:off x="501795" y="1634744"/>
            <a:ext cx="6871068" cy="6538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03433"/>
            <a:r>
              <a:rPr lang="en-US" sz="2400" b="1" dirty="0">
                <a:solidFill>
                  <a:prstClr val="black"/>
                </a:solidFill>
                <a:latin typeface="Arial" panose="020B0604020202020204"/>
                <a:cs typeface="Arial"/>
              </a:rPr>
              <a:t>DLA Distribution Expeditionary Capabilities Contract (DECAP)</a:t>
            </a:r>
            <a:br>
              <a:rPr lang="en-US" sz="2400" b="1" dirty="0">
                <a:solidFill>
                  <a:prstClr val="black"/>
                </a:solidFill>
                <a:latin typeface="Arial" panose="020B0604020202020204"/>
                <a:cs typeface="Arial"/>
              </a:rPr>
            </a:br>
            <a:r>
              <a:rPr lang="en-US" sz="2400" b="1" dirty="0">
                <a:solidFill>
                  <a:prstClr val="black"/>
                </a:solidFill>
                <a:latin typeface="Arial" panose="020B0604020202020204"/>
                <a:cs typeface="Arial"/>
              </a:rPr>
              <a:t>Pre-Proposal Conference</a:t>
            </a:r>
            <a:br>
              <a:rPr lang="en-US" sz="2400" b="1" dirty="0">
                <a:solidFill>
                  <a:prstClr val="black"/>
                </a:solidFill>
                <a:latin typeface="Arial" panose="020B0604020202020204"/>
                <a:cs typeface="Arial"/>
              </a:rPr>
            </a:br>
            <a:endParaRPr lang="en-US" sz="2400" b="1" dirty="0">
              <a:solidFill>
                <a:prstClr val="black"/>
              </a:solidFill>
              <a:latin typeface="Arial" panose="020B0604020202020204"/>
              <a:cs typeface="Arial"/>
            </a:endParaRPr>
          </a:p>
        </p:txBody>
      </p:sp>
      <p:sp>
        <p:nvSpPr>
          <p:cNvPr id="6" name="TextBox 4">
            <a:extLst>
              <a:ext uri="{FF2B5EF4-FFF2-40B4-BE49-F238E27FC236}">
                <a16:creationId xmlns:a16="http://schemas.microsoft.com/office/drawing/2014/main" id="{505E9E10-2580-A1DE-A321-EF1A2B852E7E}"/>
              </a:ext>
            </a:extLst>
          </p:cNvPr>
          <p:cNvSpPr txBox="1"/>
          <p:nvPr/>
        </p:nvSpPr>
        <p:spPr>
          <a:xfrm>
            <a:off x="501795" y="2968678"/>
            <a:ext cx="3420926" cy="523220"/>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03433"/>
            <a:r>
              <a:rPr lang="en-US" sz="1400" b="1" dirty="0">
                <a:latin typeface="Arial" panose="020B0604020202020204"/>
              </a:rPr>
              <a:t>Eric Jensen, Distribution J7 AF​</a:t>
            </a:r>
          </a:p>
          <a:p>
            <a:pPr defTabSz="403433"/>
            <a:r>
              <a:rPr lang="en-US" sz="1400" b="1" dirty="0">
                <a:solidFill>
                  <a:prstClr val="black"/>
                </a:solidFill>
                <a:latin typeface="Arial" panose="020B0604020202020204"/>
                <a:cs typeface="Arial"/>
              </a:rPr>
              <a:t>May 15, 2025</a:t>
            </a:r>
          </a:p>
        </p:txBody>
      </p:sp>
      <p:sp>
        <p:nvSpPr>
          <p:cNvPr id="3" name="TextBox 2">
            <a:extLst>
              <a:ext uri="{FF2B5EF4-FFF2-40B4-BE49-F238E27FC236}">
                <a16:creationId xmlns:a16="http://schemas.microsoft.com/office/drawing/2014/main" id="{121996ED-B96E-C11B-DAA9-B68555C3DFD0}"/>
              </a:ext>
            </a:extLst>
          </p:cNvPr>
          <p:cNvSpPr txBox="1"/>
          <p:nvPr/>
        </p:nvSpPr>
        <p:spPr>
          <a:xfrm>
            <a:off x="7372863" y="7432089"/>
            <a:ext cx="2903838" cy="276999"/>
          </a:xfrm>
          <a:prstGeom prst="rect">
            <a:avLst/>
          </a:prstGeom>
          <a:noFill/>
        </p:spPr>
        <p:txBody>
          <a:bodyPr wrap="square" rtlCol="0">
            <a:spAutoFit/>
          </a:bodyPr>
          <a:lstStyle/>
          <a:p>
            <a:pPr algn="r"/>
            <a:r>
              <a:rPr lang="en-US" sz="1200" b="1" dirty="0">
                <a:solidFill>
                  <a:srgbClr val="C9AD62"/>
                </a:solidFill>
                <a:latin typeface="Raleway Black" pitchFamily="2" charset="0"/>
              </a:rPr>
              <a:t>Updated as </a:t>
            </a:r>
            <a:r>
              <a:rPr lang="en-US" sz="1200" b="1">
                <a:solidFill>
                  <a:srgbClr val="C9AD62"/>
                </a:solidFill>
                <a:latin typeface="Raleway Black" pitchFamily="2" charset="0"/>
              </a:rPr>
              <a:t>of Feb 19, 2025</a:t>
            </a:r>
            <a:endParaRPr lang="en-US" sz="1200" b="1" dirty="0">
              <a:solidFill>
                <a:srgbClr val="C9AD62"/>
              </a:solidFill>
              <a:latin typeface="Raleway Black" pitchFamily="2" charset="0"/>
            </a:endParaRPr>
          </a:p>
        </p:txBody>
      </p:sp>
    </p:spTree>
    <p:extLst>
      <p:ext uri="{BB962C8B-B14F-4D97-AF65-F5344CB8AC3E}">
        <p14:creationId xmlns:p14="http://schemas.microsoft.com/office/powerpoint/2010/main" val="2884141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F1DE2C-1B34-DBF7-542B-52B4E0AC6D39}"/>
              </a:ext>
            </a:extLst>
          </p:cNvPr>
          <p:cNvSpPr>
            <a:spLocks noGrp="1"/>
          </p:cNvSpPr>
          <p:nvPr>
            <p:ph type="title"/>
          </p:nvPr>
        </p:nvSpPr>
        <p:spPr/>
        <p:txBody>
          <a:bodyPr lIns="91440" tIns="45720" rIns="91440" bIns="45720" anchor="t"/>
          <a:lstStyle/>
          <a:p>
            <a:r>
              <a:rPr lang="en-US" dirty="0">
                <a:latin typeface="Raleway Black" pitchFamily="2" charset="0"/>
              </a:rPr>
              <a:t>DECAP Pre-Proposal Conference</a:t>
            </a:r>
            <a:endParaRPr lang="en-US" sz="2400" dirty="0">
              <a:latin typeface="Raleway Black"/>
            </a:endParaRPr>
          </a:p>
        </p:txBody>
      </p:sp>
      <p:sp>
        <p:nvSpPr>
          <p:cNvPr id="5" name="Text Placeholder 4">
            <a:extLst>
              <a:ext uri="{FF2B5EF4-FFF2-40B4-BE49-F238E27FC236}">
                <a16:creationId xmlns:a16="http://schemas.microsoft.com/office/drawing/2014/main" id="{0C81878E-1039-47AC-34A6-1D0168EF940F}"/>
              </a:ext>
            </a:extLst>
          </p:cNvPr>
          <p:cNvSpPr>
            <a:spLocks noGrp="1"/>
          </p:cNvSpPr>
          <p:nvPr>
            <p:ph type="body" sz="quarter" idx="10"/>
          </p:nvPr>
        </p:nvSpPr>
        <p:spPr/>
        <p:txBody>
          <a:bodyPr/>
          <a:lstStyle/>
          <a:p>
            <a:endParaRPr lang="en-US" dirty="0"/>
          </a:p>
        </p:txBody>
      </p:sp>
      <p:sp>
        <p:nvSpPr>
          <p:cNvPr id="9" name="TextBox 8">
            <a:extLst>
              <a:ext uri="{FF2B5EF4-FFF2-40B4-BE49-F238E27FC236}">
                <a16:creationId xmlns:a16="http://schemas.microsoft.com/office/drawing/2014/main" id="{E4A4EF03-EE66-28BE-E716-C89CF69F78F5}"/>
              </a:ext>
            </a:extLst>
          </p:cNvPr>
          <p:cNvSpPr txBox="1"/>
          <p:nvPr/>
        </p:nvSpPr>
        <p:spPr>
          <a:xfrm>
            <a:off x="5022755" y="2118702"/>
            <a:ext cx="5238520" cy="461665"/>
          </a:xfrm>
          <a:prstGeom prst="rect">
            <a:avLst/>
          </a:prstGeom>
          <a:noFill/>
        </p:spPr>
        <p:txBody>
          <a:bodyPr wrap="square">
            <a:spAutoFit/>
          </a:bodyPr>
          <a:lstStyle/>
          <a:p>
            <a:r>
              <a:rPr lang="en-US" sz="1200" b="0" i="0" dirty="0">
                <a:solidFill>
                  <a:srgbClr val="000000"/>
                </a:solidFill>
                <a:effectLst/>
              </a:rPr>
              <a:t>To provide prospective offerors with details and background of the DECAP concept enabling the preparation of acceptable proposals. </a:t>
            </a:r>
            <a:endParaRPr lang="en-US" sz="1200" dirty="0"/>
          </a:p>
        </p:txBody>
      </p:sp>
      <p:sp>
        <p:nvSpPr>
          <p:cNvPr id="10" name="TextBox 6">
            <a:extLst>
              <a:ext uri="{FF2B5EF4-FFF2-40B4-BE49-F238E27FC236}">
                <a16:creationId xmlns:a16="http://schemas.microsoft.com/office/drawing/2014/main" id="{E74296A9-4519-4AE7-CB05-16760F411B2B}"/>
              </a:ext>
            </a:extLst>
          </p:cNvPr>
          <p:cNvSpPr txBox="1"/>
          <p:nvPr/>
        </p:nvSpPr>
        <p:spPr>
          <a:xfrm>
            <a:off x="4912482" y="4213545"/>
            <a:ext cx="4974767" cy="138499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52146" indent="-252146" defTabSz="403433">
              <a:buFont typeface="Arial" panose="020B0604020202020204" pitchFamily="34" charset="0"/>
              <a:buChar char="•"/>
            </a:pPr>
            <a:r>
              <a:rPr lang="en-US" sz="1200" dirty="0">
                <a:solidFill>
                  <a:srgbClr val="000000"/>
                </a:solidFill>
                <a:latin typeface="Arial" panose="020B0604020202020204"/>
              </a:rPr>
              <a:t>Administrative and Introductions</a:t>
            </a:r>
          </a:p>
          <a:p>
            <a:pPr marL="252146" indent="-252146" defTabSz="403433">
              <a:buFont typeface="Arial" panose="020B0604020202020204" pitchFamily="34" charset="0"/>
              <a:buChar char="•"/>
            </a:pPr>
            <a:r>
              <a:rPr lang="en-US" sz="1200" dirty="0">
                <a:solidFill>
                  <a:srgbClr val="000000"/>
                </a:solidFill>
                <a:latin typeface="Arial" panose="020B0604020202020204"/>
              </a:rPr>
              <a:t>DLA Strategic Plan </a:t>
            </a:r>
          </a:p>
          <a:p>
            <a:pPr marL="252146" indent="-252146" defTabSz="403433">
              <a:buFont typeface="Arial" panose="020B0604020202020204" pitchFamily="34" charset="0"/>
              <a:buChar char="•"/>
            </a:pPr>
            <a:r>
              <a:rPr lang="en-US" sz="1200" dirty="0">
                <a:solidFill>
                  <a:srgbClr val="000000"/>
                </a:solidFill>
                <a:latin typeface="Arial" panose="020B0604020202020204"/>
              </a:rPr>
              <a:t>Mission, Vision, Values</a:t>
            </a:r>
          </a:p>
          <a:p>
            <a:pPr marL="252146" indent="-252146" defTabSz="403433">
              <a:buFont typeface="Arial" panose="020B0604020202020204" pitchFamily="34" charset="0"/>
              <a:buChar char="•"/>
            </a:pPr>
            <a:r>
              <a:rPr lang="en-US" sz="1200" dirty="0">
                <a:solidFill>
                  <a:srgbClr val="000000"/>
                </a:solidFill>
                <a:latin typeface="Arial" panose="020B0604020202020204"/>
              </a:rPr>
              <a:t>WMS Introduction</a:t>
            </a:r>
          </a:p>
          <a:p>
            <a:pPr marL="252146" indent="-252146" defTabSz="403433">
              <a:buFont typeface="Arial" panose="020B0604020202020204" pitchFamily="34" charset="0"/>
              <a:buChar char="•"/>
            </a:pPr>
            <a:r>
              <a:rPr lang="en-US" sz="1200" dirty="0">
                <a:solidFill>
                  <a:srgbClr val="000000"/>
                </a:solidFill>
                <a:latin typeface="Arial" panose="020B0604020202020204"/>
              </a:rPr>
              <a:t>Contract Overview</a:t>
            </a:r>
          </a:p>
          <a:p>
            <a:pPr marL="252146" indent="-252146" defTabSz="403433">
              <a:buFont typeface="Arial" panose="020B0604020202020204" pitchFamily="34" charset="0"/>
              <a:buChar char="•"/>
            </a:pPr>
            <a:r>
              <a:rPr lang="en-US" sz="1200" dirty="0">
                <a:solidFill>
                  <a:srgbClr val="000000"/>
                </a:solidFill>
                <a:latin typeface="Arial" panose="020B0604020202020204"/>
              </a:rPr>
              <a:t>Performance Work Statement Overview</a:t>
            </a:r>
          </a:p>
          <a:p>
            <a:pPr marL="252146" indent="-252146" defTabSz="403433">
              <a:buFont typeface="Arial" panose="020B0604020202020204" pitchFamily="34" charset="0"/>
              <a:buChar char="•"/>
            </a:pPr>
            <a:r>
              <a:rPr lang="en-US" sz="1200" dirty="0">
                <a:solidFill>
                  <a:srgbClr val="000000"/>
                </a:solidFill>
                <a:latin typeface="Arial" panose="020B0604020202020204"/>
              </a:rPr>
              <a:t>Solicitation Overview</a:t>
            </a:r>
          </a:p>
        </p:txBody>
      </p:sp>
      <p:sp>
        <p:nvSpPr>
          <p:cNvPr id="6" name="Oval 5">
            <a:extLst>
              <a:ext uri="{FF2B5EF4-FFF2-40B4-BE49-F238E27FC236}">
                <a16:creationId xmlns:a16="http://schemas.microsoft.com/office/drawing/2014/main" id="{D083955C-4BE9-05FD-1663-30918A8A729B}"/>
              </a:ext>
              <a:ext uri="{C183D7F6-B498-43B3-948B-1728B52AA6E4}">
                <adec:decorative xmlns:adec="http://schemas.microsoft.com/office/drawing/2017/decorative" val="1"/>
              </a:ext>
            </a:extLst>
          </p:cNvPr>
          <p:cNvSpPr/>
          <p:nvPr/>
        </p:nvSpPr>
        <p:spPr>
          <a:xfrm>
            <a:off x="7858129" y="5934953"/>
            <a:ext cx="182880" cy="182880"/>
          </a:xfrm>
          <a:prstGeom prst="ellipse">
            <a:avLst/>
          </a:prstGeom>
          <a:solidFill>
            <a:schemeClr val="tx1">
              <a:lumMod val="65000"/>
              <a:lumOff val="35000"/>
            </a:schemeClr>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CFBBC822-1C67-91AB-DCA0-655149A53474}"/>
              </a:ext>
              <a:ext uri="{C183D7F6-B498-43B3-948B-1728B52AA6E4}">
                <adec:decorative xmlns:adec="http://schemas.microsoft.com/office/drawing/2017/decorative" val="1"/>
              </a:ext>
            </a:extLst>
          </p:cNvPr>
          <p:cNvSpPr/>
          <p:nvPr/>
        </p:nvSpPr>
        <p:spPr>
          <a:xfrm>
            <a:off x="4931315" y="5934953"/>
            <a:ext cx="182880" cy="182880"/>
          </a:xfrm>
          <a:prstGeom prst="ellipse">
            <a:avLst/>
          </a:prstGeom>
          <a:solidFill>
            <a:srgbClr val="00B05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B050"/>
              </a:highlight>
            </a:endParaRPr>
          </a:p>
        </p:txBody>
      </p:sp>
      <p:sp>
        <p:nvSpPr>
          <p:cNvPr id="11" name="TextBox 10">
            <a:extLst>
              <a:ext uri="{FF2B5EF4-FFF2-40B4-BE49-F238E27FC236}">
                <a16:creationId xmlns:a16="http://schemas.microsoft.com/office/drawing/2014/main" id="{3A330ABA-CC24-07C1-B098-116E7CCA3E42}"/>
              </a:ext>
            </a:extLst>
          </p:cNvPr>
          <p:cNvSpPr txBox="1"/>
          <p:nvPr/>
        </p:nvSpPr>
        <p:spPr>
          <a:xfrm>
            <a:off x="4803203" y="6238013"/>
            <a:ext cx="5193323" cy="276999"/>
          </a:xfrm>
          <a:prstGeom prst="rect">
            <a:avLst/>
          </a:prstGeom>
          <a:noFill/>
        </p:spPr>
        <p:txBody>
          <a:bodyPr wrap="square">
            <a:spAutoFit/>
          </a:bodyPr>
          <a:lstStyle/>
          <a:p>
            <a:r>
              <a:rPr lang="en-US" sz="1200" i="1" dirty="0"/>
              <a:t>(Copy or move the radio button into your choice). </a:t>
            </a:r>
          </a:p>
        </p:txBody>
      </p:sp>
      <p:sp>
        <p:nvSpPr>
          <p:cNvPr id="2" name="Oval 1">
            <a:extLst>
              <a:ext uri="{FF2B5EF4-FFF2-40B4-BE49-F238E27FC236}">
                <a16:creationId xmlns:a16="http://schemas.microsoft.com/office/drawing/2014/main" id="{3C78934E-0801-935C-FCED-E204DFFAFFE7}"/>
              </a:ext>
              <a:ext uri="{C183D7F6-B498-43B3-948B-1728B52AA6E4}">
                <adec:decorative xmlns:adec="http://schemas.microsoft.com/office/drawing/2017/decorative" val="1"/>
              </a:ext>
            </a:extLst>
          </p:cNvPr>
          <p:cNvSpPr/>
          <p:nvPr/>
        </p:nvSpPr>
        <p:spPr>
          <a:xfrm>
            <a:off x="6394722" y="5934953"/>
            <a:ext cx="182880" cy="182880"/>
          </a:xfrm>
          <a:prstGeom prst="ellipse">
            <a:avLst/>
          </a:prstGeom>
          <a:solidFill>
            <a:schemeClr val="tx1">
              <a:lumMod val="65000"/>
              <a:lumOff val="35000"/>
            </a:schemeClr>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3CFC7025-24FD-1351-FAD2-44E057C262A1}"/>
              </a:ext>
              <a:ext uri="{C183D7F6-B498-43B3-948B-1728B52AA6E4}">
                <adec:decorative xmlns:adec="http://schemas.microsoft.com/office/drawing/2017/decorative" val="1"/>
              </a:ext>
            </a:extLst>
          </p:cNvPr>
          <p:cNvSpPr/>
          <p:nvPr/>
        </p:nvSpPr>
        <p:spPr>
          <a:xfrm>
            <a:off x="9230096" y="5934953"/>
            <a:ext cx="182880" cy="182880"/>
          </a:xfrm>
          <a:prstGeom prst="ellipse">
            <a:avLst/>
          </a:prstGeom>
          <a:solidFill>
            <a:schemeClr val="tx1">
              <a:lumMod val="65000"/>
              <a:lumOff val="35000"/>
            </a:schemeClr>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0323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0D91DF-CB98-1B9B-920C-8D802537E26B}"/>
              </a:ext>
            </a:extLst>
          </p:cNvPr>
          <p:cNvSpPr>
            <a:spLocks noGrp="1" noRot="1" noMove="1" noResize="1" noEditPoints="1" noAdjustHandles="1" noChangeArrowheads="1" noChangeShapeType="1"/>
          </p:cNvSpPr>
          <p:nvPr>
            <p:ph type="title"/>
          </p:nvPr>
        </p:nvSpPr>
        <p:spPr/>
        <p:txBody>
          <a:bodyPr/>
          <a:lstStyle/>
          <a:p>
            <a:r>
              <a:rPr lang="en-US" sz="2400" dirty="0">
                <a:solidFill>
                  <a:srgbClr val="C9AD62"/>
                </a:solidFill>
                <a:latin typeface="Raleway Black" pitchFamily="2" charset="0"/>
              </a:rPr>
              <a:t>Administrative and Introductions</a:t>
            </a:r>
            <a:endParaRPr lang="en-US" dirty="0">
              <a:latin typeface="Raleway Black" pitchFamily="2" charset="0"/>
            </a:endParaRPr>
          </a:p>
        </p:txBody>
      </p:sp>
      <p:sp>
        <p:nvSpPr>
          <p:cNvPr id="5" name="Text Placeholder 4">
            <a:extLst>
              <a:ext uri="{FF2B5EF4-FFF2-40B4-BE49-F238E27FC236}">
                <a16:creationId xmlns:a16="http://schemas.microsoft.com/office/drawing/2014/main" id="{B2811D36-F1A2-0CA0-58A6-EAFA876DD735}"/>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A7B4DD81-A842-4613-F95E-C8CA90836194}"/>
              </a:ext>
            </a:extLst>
          </p:cNvPr>
          <p:cNvSpPr txBox="1">
            <a:spLocks/>
          </p:cNvSpPr>
          <p:nvPr/>
        </p:nvSpPr>
        <p:spPr>
          <a:xfrm>
            <a:off x="1003300" y="1951038"/>
            <a:ext cx="8886658" cy="3392487"/>
          </a:xfrm>
          <a:prstGeom prst="rect">
            <a:avLst/>
          </a:prstGeom>
        </p:spPr>
        <p:txBody>
          <a:bodyPr/>
          <a:lstStyle>
            <a:lvl1pPr marL="259079" indent="-259079" algn="l" defTabSz="1036317" rtl="0" eaLnBrk="1" latinLnBrk="0" hangingPunct="1">
              <a:lnSpc>
                <a:spcPct val="90000"/>
              </a:lnSpc>
              <a:spcBef>
                <a:spcPts val="1360"/>
              </a:spcBef>
              <a:spcAft>
                <a:spcPts val="0"/>
              </a:spcAft>
              <a:buFont typeface="Arial" panose="020B0604020202020204" pitchFamily="34" charset="0"/>
              <a:buChar char="•"/>
              <a:defRPr sz="2720" kern="1200">
                <a:solidFill>
                  <a:srgbClr val="171610"/>
                </a:solidFill>
                <a:latin typeface="+mn-lt"/>
                <a:ea typeface="+mn-ea"/>
                <a:cs typeface="+mn-cs"/>
              </a:defRPr>
            </a:lvl1pPr>
            <a:lvl2pPr marL="777238" indent="-259079" algn="l" defTabSz="1036317" rtl="0" eaLnBrk="1" latinLnBrk="0" hangingPunct="1">
              <a:lnSpc>
                <a:spcPct val="90000"/>
              </a:lnSpc>
              <a:spcBef>
                <a:spcPts val="680"/>
              </a:spcBef>
              <a:spcAft>
                <a:spcPts val="0"/>
              </a:spcAft>
              <a:buFont typeface="Courier New" panose="02070309020205020404" pitchFamily="49" charset="0"/>
              <a:buChar char="o"/>
              <a:defRPr sz="2493" kern="1200">
                <a:solidFill>
                  <a:srgbClr val="171610"/>
                </a:solidFill>
                <a:latin typeface="+mn-lt"/>
                <a:ea typeface="+mn-ea"/>
                <a:cs typeface="+mn-cs"/>
              </a:defRPr>
            </a:lvl2pPr>
            <a:lvl3pPr marL="1295396" indent="-259079" algn="l" defTabSz="1036317" rtl="0" eaLnBrk="1" latinLnBrk="0" hangingPunct="1">
              <a:lnSpc>
                <a:spcPct val="90000"/>
              </a:lnSpc>
              <a:spcBef>
                <a:spcPts val="680"/>
              </a:spcBef>
              <a:spcAft>
                <a:spcPts val="0"/>
              </a:spcAft>
              <a:buFont typeface="Wingdings" panose="05000000000000000000" pitchFamily="2" charset="2"/>
              <a:buChar char="§"/>
              <a:defRPr sz="2267" kern="1200">
                <a:solidFill>
                  <a:srgbClr val="171610"/>
                </a:solidFill>
                <a:latin typeface="+mn-lt"/>
                <a:ea typeface="+mn-ea"/>
                <a:cs typeface="+mn-cs"/>
              </a:defRPr>
            </a:lvl3pPr>
            <a:lvl4pPr marL="1813555" indent="-259079" algn="l" defTabSz="1036317" rtl="0" eaLnBrk="1" latinLnBrk="0" hangingPunct="1">
              <a:lnSpc>
                <a:spcPct val="90000"/>
              </a:lnSpc>
              <a:spcBef>
                <a:spcPts val="680"/>
              </a:spcBef>
              <a:spcAft>
                <a:spcPts val="0"/>
              </a:spcAft>
              <a:buFont typeface="Arial" panose="020B0604020202020204" pitchFamily="34" charset="0"/>
              <a:buChar char="–"/>
              <a:defRPr sz="2040" kern="1200">
                <a:solidFill>
                  <a:srgbClr val="171610"/>
                </a:solidFill>
                <a:latin typeface="+mn-lt"/>
                <a:ea typeface="+mn-ea"/>
                <a:cs typeface="+mn-cs"/>
              </a:defRPr>
            </a:lvl4pPr>
            <a:lvl5pPr marL="2331713" indent="-259079" algn="l" defTabSz="1036317" rtl="0" eaLnBrk="1" latinLnBrk="0" hangingPunct="1">
              <a:lnSpc>
                <a:spcPct val="90000"/>
              </a:lnSpc>
              <a:spcBef>
                <a:spcPts val="680"/>
              </a:spcBef>
              <a:spcAft>
                <a:spcPts val="0"/>
              </a:spcAft>
              <a:buFont typeface="Arial" panose="020B0604020202020204" pitchFamily="34" charset="0"/>
              <a:buChar char="•"/>
              <a:defRPr sz="1813" kern="1200">
                <a:solidFill>
                  <a:srgbClr val="171610"/>
                </a:solidFill>
                <a:latin typeface="+mn-lt"/>
                <a:ea typeface="+mn-ea"/>
                <a:cs typeface="+mn-cs"/>
              </a:defRPr>
            </a:lvl5pPr>
            <a:lvl6pPr marL="2849872"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8030"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189"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347"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a:lstStyle>
          <a:p>
            <a:pPr marL="257175" marR="0" lvl="0" indent="-257175" algn="l" defTabSz="685800" rtl="0" eaLnBrk="1" fontAlgn="auto" latinLnBrk="0" hangingPunct="1">
              <a:lnSpc>
                <a:spcPct val="90000"/>
              </a:lnSpc>
              <a:spcBef>
                <a:spcPct val="20000"/>
              </a:spcBef>
              <a:spcAft>
                <a:spcPts val="0"/>
              </a:spcAft>
              <a:buClrTx/>
              <a:buSzTx/>
              <a:buFont typeface="Arial" charset="0"/>
              <a:buChar char="•"/>
              <a:tabLst/>
              <a:defRPr/>
            </a:pPr>
            <a:r>
              <a:rPr kumimoji="0" lang="en-US" altLang="en-US" sz="2000" b="1" i="0" u="none" strike="noStrike" kern="1200" cap="none" spc="0" normalizeH="0" baseline="0" noProof="0" dirty="0">
                <a:ln>
                  <a:noFill/>
                </a:ln>
                <a:solidFill>
                  <a:prstClr val="black"/>
                </a:solidFill>
                <a:effectLst/>
                <a:uLnTx/>
                <a:uFillTx/>
                <a:ea typeface="+mn-ea"/>
                <a:cs typeface="Times New Roman" panose="02020603050405020304" pitchFamily="18" charset="0"/>
              </a:rPr>
              <a:t>Administrative</a:t>
            </a:r>
          </a:p>
          <a:p>
            <a:pPr marL="557213" marR="0" lvl="1" indent="-214313" algn="l" defTabSz="685800" rtl="0" eaLnBrk="1" fontAlgn="auto" latinLnBrk="0" hangingPunct="1">
              <a:lnSpc>
                <a:spcPct val="90000"/>
              </a:lnSpc>
              <a:spcBef>
                <a:spcPct val="20000"/>
              </a:spcBef>
              <a:spcAft>
                <a:spcPts val="0"/>
              </a:spcAft>
              <a:buClrTx/>
              <a:buSzTx/>
              <a:buFont typeface="Arial" charset="0"/>
              <a:buChar char="–"/>
              <a:tabLst/>
              <a:defRPr/>
            </a:pPr>
            <a:r>
              <a:rPr kumimoji="0" lang="en-US" altLang="en-US" sz="1800" b="0" i="0" u="none" strike="noStrike" kern="1200" cap="none" spc="0" normalizeH="0" baseline="0" noProof="0" dirty="0">
                <a:ln>
                  <a:noFill/>
                </a:ln>
                <a:solidFill>
                  <a:prstClr val="black"/>
                </a:solidFill>
                <a:effectLst/>
                <a:uLnTx/>
                <a:uFillTx/>
                <a:ea typeface="+mn-ea"/>
                <a:cs typeface="Times New Roman" panose="02020603050405020304" pitchFamily="18" charset="0"/>
              </a:rPr>
              <a:t>Introductions</a:t>
            </a:r>
          </a:p>
          <a:p>
            <a:pPr marL="557213" marR="0" lvl="1" indent="-214313" algn="l" defTabSz="685800" rtl="0" eaLnBrk="1" fontAlgn="auto" latinLnBrk="0" hangingPunct="1">
              <a:lnSpc>
                <a:spcPct val="90000"/>
              </a:lnSpc>
              <a:spcBef>
                <a:spcPct val="20000"/>
              </a:spcBef>
              <a:spcAft>
                <a:spcPts val="0"/>
              </a:spcAft>
              <a:buClrTx/>
              <a:buSzTx/>
              <a:buFont typeface="Arial" charset="0"/>
              <a:buChar char="–"/>
              <a:tabLst/>
              <a:defRPr/>
            </a:pPr>
            <a:r>
              <a:rPr kumimoji="0" lang="en-US" altLang="en-US" sz="1800" b="0" i="0" u="none" strike="noStrike" kern="1200" cap="none" spc="0" normalizeH="0" baseline="0" noProof="0" dirty="0">
                <a:ln>
                  <a:noFill/>
                </a:ln>
                <a:solidFill>
                  <a:prstClr val="black"/>
                </a:solidFill>
                <a:effectLst/>
                <a:uLnTx/>
                <a:uFillTx/>
                <a:ea typeface="+mn-ea"/>
                <a:cs typeface="Times New Roman" panose="02020603050405020304" pitchFamily="18" charset="0"/>
              </a:rPr>
              <a:t>Breaks</a:t>
            </a:r>
          </a:p>
          <a:p>
            <a:pPr marL="557213" marR="0" lvl="1" indent="-214313" algn="l" defTabSz="685800" rtl="0" eaLnBrk="1" fontAlgn="auto" latinLnBrk="0" hangingPunct="1">
              <a:lnSpc>
                <a:spcPct val="90000"/>
              </a:lnSpc>
              <a:spcBef>
                <a:spcPct val="20000"/>
              </a:spcBef>
              <a:spcAft>
                <a:spcPts val="0"/>
              </a:spcAft>
              <a:buClrTx/>
              <a:buSzTx/>
              <a:buFont typeface="Arial" charset="0"/>
              <a:buChar char="–"/>
              <a:tabLst/>
              <a:defRPr/>
            </a:pPr>
            <a:r>
              <a:rPr kumimoji="0" lang="en-US" altLang="en-US" sz="1800" b="0" i="0" u="none" strike="noStrike" kern="1200" cap="none" spc="0" normalizeH="0" baseline="0" noProof="0" dirty="0">
                <a:ln>
                  <a:noFill/>
                </a:ln>
                <a:solidFill>
                  <a:prstClr val="black"/>
                </a:solidFill>
                <a:effectLst/>
                <a:uLnTx/>
                <a:uFillTx/>
                <a:ea typeface="+mn-ea"/>
                <a:cs typeface="Times New Roman" panose="02020603050405020304" pitchFamily="18" charset="0"/>
              </a:rPr>
              <a:t>Rules of Engagement</a:t>
            </a:r>
          </a:p>
          <a:p>
            <a:pPr marL="342900" marR="0" lvl="1" indent="0" algn="l" defTabSz="685800" rtl="0" eaLnBrk="1" fontAlgn="auto" latinLnBrk="0" hangingPunct="1">
              <a:lnSpc>
                <a:spcPct val="90000"/>
              </a:lnSpc>
              <a:spcBef>
                <a:spcPct val="20000"/>
              </a:spcBef>
              <a:spcAft>
                <a:spcPts val="0"/>
              </a:spcAft>
              <a:buClrTx/>
              <a:buSzTx/>
              <a:buFontTx/>
              <a:buNone/>
              <a:tabLst/>
              <a:defRPr/>
            </a:pPr>
            <a:endParaRPr kumimoji="0" lang="en-US" altLang="en-US" sz="14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a:p>
            <a:pPr marL="257175" marR="0" lvl="0" indent="-257175" algn="l" defTabSz="685800" rtl="0" eaLnBrk="1" fontAlgn="auto" latinLnBrk="0" hangingPunct="1">
              <a:lnSpc>
                <a:spcPct val="90000"/>
              </a:lnSpc>
              <a:spcBef>
                <a:spcPct val="20000"/>
              </a:spcBef>
              <a:spcAft>
                <a:spcPts val="0"/>
              </a:spcAft>
              <a:buClrTx/>
              <a:buSzTx/>
              <a:buFont typeface="Arial" charset="0"/>
              <a:buChar char="•"/>
              <a:tabLst/>
              <a:defRPr/>
            </a:pPr>
            <a:r>
              <a:rPr kumimoji="0" lang="en-US" altLang="en-US" sz="2000" b="1" i="0" u="none" strike="noStrike" kern="1200" cap="none" spc="0" normalizeH="0" baseline="0" noProof="0" dirty="0">
                <a:ln>
                  <a:noFill/>
                </a:ln>
                <a:solidFill>
                  <a:prstClr val="black"/>
                </a:solidFill>
                <a:effectLst/>
                <a:uLnTx/>
                <a:uFillTx/>
                <a:ea typeface="+mn-ea"/>
                <a:cs typeface="Times New Roman" panose="02020603050405020304" pitchFamily="18" charset="0"/>
              </a:rPr>
              <a:t>Introductions</a:t>
            </a:r>
          </a:p>
          <a:p>
            <a:pPr marL="400050" marR="0" lvl="1" indent="0" algn="l" defTabSz="685800" rtl="0" eaLnBrk="1" fontAlgn="auto" latinLnBrk="0" hangingPunct="1">
              <a:lnSpc>
                <a:spcPct val="90000"/>
              </a:lnSpc>
              <a:spcBef>
                <a:spcPct val="2000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ea typeface="+mn-ea"/>
                <a:cs typeface="Times New Roman" panose="02020603050405020304" pitchFamily="18" charset="0"/>
              </a:rPr>
              <a:t>Headquarters DLA Distribution, New Cumberland, PA</a:t>
            </a:r>
          </a:p>
          <a:p>
            <a:pPr marL="557213" marR="0" lvl="1" indent="-214313" algn="l" defTabSz="685800" rtl="0" eaLnBrk="1" fontAlgn="auto" latinLnBrk="0" hangingPunct="1">
              <a:lnSpc>
                <a:spcPct val="90000"/>
              </a:lnSpc>
              <a:spcBef>
                <a:spcPct val="20000"/>
              </a:spcBef>
              <a:spcAft>
                <a:spcPts val="0"/>
              </a:spcAft>
              <a:buClrTx/>
              <a:buSzTx/>
              <a:buFont typeface="Arial" charset="0"/>
              <a:buChar char="–"/>
              <a:tabLst/>
              <a:defRPr/>
            </a:pPr>
            <a:r>
              <a:rPr kumimoji="0" lang="en-US" altLang="en-US" sz="1800" b="0" i="0" u="none" strike="noStrike" kern="1200" cap="none" spc="0" normalizeH="0" baseline="0" noProof="0" dirty="0">
                <a:ln>
                  <a:noFill/>
                </a:ln>
                <a:solidFill>
                  <a:prstClr val="black"/>
                </a:solidFill>
                <a:effectLst/>
                <a:uLnTx/>
                <a:uFillTx/>
                <a:ea typeface="+mn-ea"/>
                <a:cs typeface="Times New Roman" panose="02020603050405020304" pitchFamily="18" charset="0"/>
              </a:rPr>
              <a:t>Meg Ross, DLA Distribution </a:t>
            </a:r>
            <a:r>
              <a:rPr lang="en-US" altLang="en-US" sz="1800" dirty="0">
                <a:solidFill>
                  <a:prstClr val="black"/>
                </a:solidFill>
                <a:cs typeface="Times New Roman" panose="02020603050405020304" pitchFamily="18" charset="0"/>
              </a:rPr>
              <a:t>J7 Director</a:t>
            </a:r>
          </a:p>
          <a:p>
            <a:pPr marL="557213" marR="0" lvl="1" indent="-214313" algn="l" defTabSz="685800" rtl="0" eaLnBrk="1" fontAlgn="auto" latinLnBrk="0" hangingPunct="1">
              <a:lnSpc>
                <a:spcPct val="90000"/>
              </a:lnSpc>
              <a:spcBef>
                <a:spcPct val="20000"/>
              </a:spcBef>
              <a:spcAft>
                <a:spcPts val="0"/>
              </a:spcAft>
              <a:buClrTx/>
              <a:buSzTx/>
              <a:buFont typeface="Arial" charset="0"/>
              <a:buChar char="–"/>
              <a:tabLst/>
              <a:defRPr/>
            </a:pPr>
            <a:r>
              <a:rPr kumimoji="0" lang="en-US" altLang="en-US" sz="1800" b="0" i="0" u="none" strike="noStrike" kern="1200" cap="none" spc="0" normalizeH="0" baseline="0" noProof="0" dirty="0">
                <a:ln>
                  <a:noFill/>
                </a:ln>
                <a:solidFill>
                  <a:prstClr val="black"/>
                </a:solidFill>
                <a:effectLst/>
                <a:uLnTx/>
                <a:uFillTx/>
                <a:ea typeface="+mn-ea"/>
                <a:cs typeface="Times New Roman" panose="02020603050405020304" pitchFamily="18" charset="0"/>
              </a:rPr>
              <a:t>Karen Ghani, Chief Contracting Officer</a:t>
            </a:r>
          </a:p>
          <a:p>
            <a:pPr marL="557213" marR="0" lvl="1" indent="-214313" algn="l" defTabSz="685800" rtl="0" eaLnBrk="1" fontAlgn="auto" latinLnBrk="0" hangingPunct="1">
              <a:lnSpc>
                <a:spcPct val="90000"/>
              </a:lnSpc>
              <a:spcBef>
                <a:spcPct val="20000"/>
              </a:spcBef>
              <a:spcAft>
                <a:spcPts val="0"/>
              </a:spcAft>
              <a:buClrTx/>
              <a:buSzTx/>
              <a:buFont typeface="Arial" charset="0"/>
              <a:buChar char="–"/>
              <a:tabLst/>
              <a:defRPr/>
            </a:pPr>
            <a:r>
              <a:rPr kumimoji="0" lang="en-US" altLang="en-US" sz="1800" b="0" i="0" u="none" strike="noStrike" kern="1200" cap="none" spc="0" normalizeH="0" baseline="0" noProof="0" dirty="0">
                <a:ln>
                  <a:noFill/>
                </a:ln>
                <a:solidFill>
                  <a:prstClr val="black"/>
                </a:solidFill>
                <a:effectLst/>
                <a:uLnTx/>
                <a:uFillTx/>
                <a:ea typeface="+mn-ea"/>
                <a:cs typeface="Times New Roman" panose="02020603050405020304" pitchFamily="18" charset="0"/>
              </a:rPr>
              <a:t>David Gilson, Contracting Officer</a:t>
            </a:r>
          </a:p>
          <a:p>
            <a:pPr marL="557213" marR="0" lvl="1" indent="-214313" algn="l" defTabSz="685800" rtl="0" eaLnBrk="1" fontAlgn="auto" latinLnBrk="0" hangingPunct="1">
              <a:lnSpc>
                <a:spcPct val="90000"/>
              </a:lnSpc>
              <a:spcBef>
                <a:spcPct val="20000"/>
              </a:spcBef>
              <a:spcAft>
                <a:spcPts val="0"/>
              </a:spcAft>
              <a:buClrTx/>
              <a:buSzTx/>
              <a:buFont typeface="Arial" charset="0"/>
              <a:buChar char="–"/>
              <a:tabLst/>
              <a:defRPr/>
            </a:pPr>
            <a:r>
              <a:rPr kumimoji="0" lang="en-US" altLang="en-US" sz="1800" b="0" i="0" u="none" strike="noStrike" kern="1200" cap="none" spc="0" normalizeH="0" baseline="0" noProof="0" dirty="0">
                <a:ln>
                  <a:noFill/>
                </a:ln>
                <a:solidFill>
                  <a:prstClr val="black"/>
                </a:solidFill>
                <a:effectLst/>
                <a:uLnTx/>
                <a:uFillTx/>
                <a:ea typeface="+mn-ea"/>
                <a:cs typeface="Times New Roman" panose="02020603050405020304" pitchFamily="18" charset="0"/>
              </a:rPr>
              <a:t>Scott Lesh, Contract Specialist </a:t>
            </a:r>
          </a:p>
          <a:p>
            <a:pPr marL="557213" marR="0" lvl="1" indent="-214313" algn="l" defTabSz="685800" rtl="0" eaLnBrk="1" fontAlgn="auto" latinLnBrk="0" hangingPunct="1">
              <a:lnSpc>
                <a:spcPct val="90000"/>
              </a:lnSpc>
              <a:spcBef>
                <a:spcPct val="20000"/>
              </a:spcBef>
              <a:spcAft>
                <a:spcPts val="0"/>
              </a:spcAft>
              <a:buClrTx/>
              <a:buSzTx/>
              <a:buFont typeface="Arial" charset="0"/>
              <a:buChar char="–"/>
              <a:tabLst/>
              <a:defRPr/>
            </a:pPr>
            <a:r>
              <a:rPr lang="en-US" altLang="en-US" sz="1800" dirty="0">
                <a:solidFill>
                  <a:prstClr val="black"/>
                </a:solidFill>
                <a:cs typeface="Times New Roman" panose="02020603050405020304" pitchFamily="18" charset="0"/>
              </a:rPr>
              <a:t>Sean Tighe, Chief Acquisition Management</a:t>
            </a:r>
            <a:endParaRPr kumimoji="0" lang="en-US" altLang="en-US" sz="1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a:p>
            <a:pPr marL="557213" lvl="1" indent="-214313" defTabSz="685800" eaLnBrk="1" fontAlgn="auto" hangingPunct="1">
              <a:lnSpc>
                <a:spcPct val="90000"/>
              </a:lnSpc>
              <a:spcBef>
                <a:spcPct val="20000"/>
              </a:spcBef>
              <a:spcAft>
                <a:spcPts val="0"/>
              </a:spcAft>
              <a:buFont typeface="Arial" charset="0"/>
              <a:buChar char="–"/>
              <a:defRPr/>
            </a:pPr>
            <a:r>
              <a:rPr lang="en-US" altLang="en-US" sz="1800" dirty="0">
                <a:solidFill>
                  <a:prstClr val="black"/>
                </a:solidFill>
                <a:cs typeface="Times New Roman" panose="02020603050405020304" pitchFamily="18" charset="0"/>
              </a:rPr>
              <a:t>Cullen Powers, Supervisor Acquisition Assistance </a:t>
            </a:r>
          </a:p>
          <a:p>
            <a:pPr marL="557213" marR="0" lvl="1" indent="-214313" algn="l" defTabSz="685800" rtl="0" eaLnBrk="1" fontAlgn="auto" latinLnBrk="0" hangingPunct="1">
              <a:lnSpc>
                <a:spcPct val="90000"/>
              </a:lnSpc>
              <a:spcBef>
                <a:spcPct val="20000"/>
              </a:spcBef>
              <a:spcAft>
                <a:spcPts val="0"/>
              </a:spcAft>
              <a:buClrTx/>
              <a:buSzTx/>
              <a:buFont typeface="Arial" charset="0"/>
              <a:buChar char="–"/>
              <a:tabLst/>
              <a:defRPr/>
            </a:pPr>
            <a:r>
              <a:rPr kumimoji="0" lang="en-US" altLang="en-US" sz="1800" b="0" i="0" u="none" strike="noStrike" kern="1200" cap="none" spc="0" normalizeH="0" baseline="0" noProof="0" dirty="0">
                <a:ln>
                  <a:noFill/>
                </a:ln>
                <a:solidFill>
                  <a:prstClr val="black"/>
                </a:solidFill>
                <a:effectLst/>
                <a:uLnTx/>
                <a:uFillTx/>
                <a:ea typeface="+mn-ea"/>
                <a:cs typeface="Times New Roman" panose="02020603050405020304" pitchFamily="18" charset="0"/>
              </a:rPr>
              <a:t>Eric Jensen II, Functional Service Manager / COR</a:t>
            </a:r>
          </a:p>
        </p:txBody>
      </p:sp>
    </p:spTree>
    <p:extLst>
      <p:ext uri="{BB962C8B-B14F-4D97-AF65-F5344CB8AC3E}">
        <p14:creationId xmlns:p14="http://schemas.microsoft.com/office/powerpoint/2010/main" val="1015556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82B96-BBBA-A61C-5C9E-4BF3C6B81C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F052ED-BEF1-C309-90BC-D25A949FFCE0}"/>
              </a:ext>
            </a:extLst>
          </p:cNvPr>
          <p:cNvSpPr>
            <a:spLocks noGrp="1" noRot="1" noMove="1" noResize="1" noEditPoints="1" noAdjustHandles="1" noChangeArrowheads="1" noChangeShapeType="1"/>
          </p:cNvSpPr>
          <p:nvPr>
            <p:ph type="title"/>
          </p:nvPr>
        </p:nvSpPr>
        <p:spPr/>
        <p:txBody>
          <a:bodyPr/>
          <a:lstStyle/>
          <a:p>
            <a:r>
              <a:rPr lang="en-US" sz="2400" dirty="0">
                <a:solidFill>
                  <a:srgbClr val="C9AD62"/>
                </a:solidFill>
                <a:latin typeface="Raleway Black" pitchFamily="2" charset="0"/>
              </a:rPr>
              <a:t>Administrative and Introductions</a:t>
            </a:r>
            <a:endParaRPr lang="en-US" dirty="0">
              <a:latin typeface="Raleway Black" pitchFamily="2" charset="0"/>
            </a:endParaRPr>
          </a:p>
        </p:txBody>
      </p:sp>
      <p:sp>
        <p:nvSpPr>
          <p:cNvPr id="5" name="Text Placeholder 4">
            <a:extLst>
              <a:ext uri="{FF2B5EF4-FFF2-40B4-BE49-F238E27FC236}">
                <a16:creationId xmlns:a16="http://schemas.microsoft.com/office/drawing/2014/main" id="{4E7F2C2E-ED64-76F5-19ED-E3F4EDCC5099}"/>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8B82DC5F-6DE2-9D7B-FEE9-CE552935A7A1}"/>
              </a:ext>
            </a:extLst>
          </p:cNvPr>
          <p:cNvSpPr txBox="1">
            <a:spLocks/>
          </p:cNvSpPr>
          <p:nvPr/>
        </p:nvSpPr>
        <p:spPr>
          <a:xfrm>
            <a:off x="1003300" y="1568705"/>
            <a:ext cx="8886658" cy="3392487"/>
          </a:xfrm>
          <a:prstGeom prst="rect">
            <a:avLst/>
          </a:prstGeom>
        </p:spPr>
        <p:txBody>
          <a:bodyPr/>
          <a:lstStyle>
            <a:lvl1pPr marL="259079" indent="-259079" algn="l" defTabSz="1036317" rtl="0" eaLnBrk="1" latinLnBrk="0" hangingPunct="1">
              <a:lnSpc>
                <a:spcPct val="90000"/>
              </a:lnSpc>
              <a:spcBef>
                <a:spcPts val="1360"/>
              </a:spcBef>
              <a:spcAft>
                <a:spcPts val="0"/>
              </a:spcAft>
              <a:buFont typeface="Arial" panose="020B0604020202020204" pitchFamily="34" charset="0"/>
              <a:buChar char="•"/>
              <a:defRPr sz="2720" kern="1200">
                <a:solidFill>
                  <a:srgbClr val="171610"/>
                </a:solidFill>
                <a:latin typeface="+mn-lt"/>
                <a:ea typeface="+mn-ea"/>
                <a:cs typeface="+mn-cs"/>
              </a:defRPr>
            </a:lvl1pPr>
            <a:lvl2pPr marL="777238" indent="-259079" algn="l" defTabSz="1036317" rtl="0" eaLnBrk="1" latinLnBrk="0" hangingPunct="1">
              <a:lnSpc>
                <a:spcPct val="90000"/>
              </a:lnSpc>
              <a:spcBef>
                <a:spcPts val="680"/>
              </a:spcBef>
              <a:spcAft>
                <a:spcPts val="0"/>
              </a:spcAft>
              <a:buFont typeface="Courier New" panose="02070309020205020404" pitchFamily="49" charset="0"/>
              <a:buChar char="o"/>
              <a:defRPr sz="2493" kern="1200">
                <a:solidFill>
                  <a:srgbClr val="171610"/>
                </a:solidFill>
                <a:latin typeface="+mn-lt"/>
                <a:ea typeface="+mn-ea"/>
                <a:cs typeface="+mn-cs"/>
              </a:defRPr>
            </a:lvl2pPr>
            <a:lvl3pPr marL="1295396" indent="-259079" algn="l" defTabSz="1036317" rtl="0" eaLnBrk="1" latinLnBrk="0" hangingPunct="1">
              <a:lnSpc>
                <a:spcPct val="90000"/>
              </a:lnSpc>
              <a:spcBef>
                <a:spcPts val="680"/>
              </a:spcBef>
              <a:spcAft>
                <a:spcPts val="0"/>
              </a:spcAft>
              <a:buFont typeface="Wingdings" panose="05000000000000000000" pitchFamily="2" charset="2"/>
              <a:buChar char="§"/>
              <a:defRPr sz="2267" kern="1200">
                <a:solidFill>
                  <a:srgbClr val="171610"/>
                </a:solidFill>
                <a:latin typeface="+mn-lt"/>
                <a:ea typeface="+mn-ea"/>
                <a:cs typeface="+mn-cs"/>
              </a:defRPr>
            </a:lvl3pPr>
            <a:lvl4pPr marL="1813555" indent="-259079" algn="l" defTabSz="1036317" rtl="0" eaLnBrk="1" latinLnBrk="0" hangingPunct="1">
              <a:lnSpc>
                <a:spcPct val="90000"/>
              </a:lnSpc>
              <a:spcBef>
                <a:spcPts val="680"/>
              </a:spcBef>
              <a:spcAft>
                <a:spcPts val="0"/>
              </a:spcAft>
              <a:buFont typeface="Arial" panose="020B0604020202020204" pitchFamily="34" charset="0"/>
              <a:buChar char="–"/>
              <a:defRPr sz="2040" kern="1200">
                <a:solidFill>
                  <a:srgbClr val="171610"/>
                </a:solidFill>
                <a:latin typeface="+mn-lt"/>
                <a:ea typeface="+mn-ea"/>
                <a:cs typeface="+mn-cs"/>
              </a:defRPr>
            </a:lvl4pPr>
            <a:lvl5pPr marL="2331713" indent="-259079" algn="l" defTabSz="1036317" rtl="0" eaLnBrk="1" latinLnBrk="0" hangingPunct="1">
              <a:lnSpc>
                <a:spcPct val="90000"/>
              </a:lnSpc>
              <a:spcBef>
                <a:spcPts val="680"/>
              </a:spcBef>
              <a:spcAft>
                <a:spcPts val="0"/>
              </a:spcAft>
              <a:buFont typeface="Arial" panose="020B0604020202020204" pitchFamily="34" charset="0"/>
              <a:buChar char="•"/>
              <a:defRPr sz="1813" kern="1200">
                <a:solidFill>
                  <a:srgbClr val="171610"/>
                </a:solidFill>
                <a:latin typeface="+mn-lt"/>
                <a:ea typeface="+mn-ea"/>
                <a:cs typeface="+mn-cs"/>
              </a:defRPr>
            </a:lvl5pPr>
            <a:lvl6pPr marL="2849872"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8030"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189"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347"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a:lstStyle>
          <a:p>
            <a:pPr marL="257175" indent="-257175" defTabSz="685800">
              <a:spcBef>
                <a:spcPct val="20000"/>
              </a:spcBef>
              <a:buFont typeface="Arial" charset="0"/>
              <a:buChar char="•"/>
              <a:defRPr/>
            </a:pPr>
            <a:r>
              <a:rPr lang="en-US" altLang="en-US" dirty="0">
                <a:solidFill>
                  <a:prstClr val="black"/>
                </a:solidFill>
                <a:cs typeface="Times New Roman" panose="02020603050405020304" pitchFamily="18" charset="0"/>
              </a:rPr>
              <a:t>Administrative Remarks</a:t>
            </a:r>
          </a:p>
          <a:p>
            <a:pPr marL="557213" lvl="1" indent="-214313" defTabSz="685800">
              <a:spcBef>
                <a:spcPct val="20000"/>
              </a:spcBef>
              <a:buFont typeface="Arial" charset="0"/>
              <a:buChar char="–"/>
              <a:defRPr/>
            </a:pPr>
            <a:r>
              <a:rPr lang="en-US" altLang="en-US" sz="2000" dirty="0">
                <a:solidFill>
                  <a:prstClr val="black"/>
                </a:solidFill>
                <a:cs typeface="Times New Roman" panose="02020603050405020304" pitchFamily="18" charset="0"/>
              </a:rPr>
              <a:t>The written information contained in the final solicitation and amendments overrules and supersedes any information presented at this conference which conflicts with the written documentation.</a:t>
            </a:r>
          </a:p>
          <a:p>
            <a:pPr marL="557213" lvl="1" indent="-214313" defTabSz="685800">
              <a:spcBef>
                <a:spcPct val="20000"/>
              </a:spcBef>
              <a:buFont typeface="Arial" charset="0"/>
              <a:buChar char="–"/>
              <a:defRPr/>
            </a:pPr>
            <a:r>
              <a:rPr lang="en-US" altLang="en-US" sz="2000" dirty="0">
                <a:cs typeface="Times New Roman"/>
              </a:rPr>
              <a:t>The attendance roster, as well as this presentation, will be posted to the </a:t>
            </a:r>
            <a:r>
              <a:rPr lang="en-US" altLang="en-US" sz="2000" dirty="0" err="1">
                <a:cs typeface="Times New Roman"/>
              </a:rPr>
              <a:t>SAM.Gov</a:t>
            </a:r>
            <a:r>
              <a:rPr lang="en-US" altLang="en-US" sz="2000" dirty="0">
                <a:cs typeface="Times New Roman"/>
              </a:rPr>
              <a:t> website.</a:t>
            </a:r>
          </a:p>
          <a:p>
            <a:pPr marL="257175" indent="-257175" defTabSz="685800">
              <a:spcBef>
                <a:spcPct val="20000"/>
              </a:spcBef>
              <a:defRPr/>
            </a:pPr>
            <a:endParaRPr lang="en-US" altLang="en-US" sz="1800" dirty="0">
              <a:solidFill>
                <a:prstClr val="black"/>
              </a:solidFill>
              <a:latin typeface="Arial" charset="0"/>
              <a:cs typeface="Arial" charset="0"/>
            </a:endParaRPr>
          </a:p>
          <a:p>
            <a:pPr marL="557213" lvl="1" indent="-214313" defTabSz="685800">
              <a:spcBef>
                <a:spcPct val="20000"/>
              </a:spcBef>
              <a:buFontTx/>
              <a:buNone/>
              <a:defRPr/>
            </a:pPr>
            <a:endParaRPr lang="en-US" altLang="en-US" sz="1500" dirty="0">
              <a:solidFill>
                <a:prstClr val="black"/>
              </a:solidFill>
              <a:latin typeface="Arial" charset="0"/>
              <a:cs typeface="Arial" charset="0"/>
            </a:endParaRPr>
          </a:p>
        </p:txBody>
      </p:sp>
      <p:pic>
        <p:nvPicPr>
          <p:cNvPr id="2" name="Picture 1">
            <a:extLst>
              <a:ext uri="{FF2B5EF4-FFF2-40B4-BE49-F238E27FC236}">
                <a16:creationId xmlns:a16="http://schemas.microsoft.com/office/drawing/2014/main" id="{BCB68D44-2578-D2B8-9548-F0A7670829D8}"/>
              </a:ext>
            </a:extLst>
          </p:cNvPr>
          <p:cNvPicPr>
            <a:picLocks noChangeAspect="1"/>
          </p:cNvPicPr>
          <p:nvPr/>
        </p:nvPicPr>
        <p:blipFill>
          <a:blip r:embed="rId2"/>
          <a:stretch>
            <a:fillRect/>
          </a:stretch>
        </p:blipFill>
        <p:spPr>
          <a:xfrm>
            <a:off x="3032784" y="3679937"/>
            <a:ext cx="4812784" cy="3392487"/>
          </a:xfrm>
          <a:prstGeom prst="rect">
            <a:avLst/>
          </a:prstGeom>
        </p:spPr>
      </p:pic>
    </p:spTree>
    <p:extLst>
      <p:ext uri="{BB962C8B-B14F-4D97-AF65-F5344CB8AC3E}">
        <p14:creationId xmlns:p14="http://schemas.microsoft.com/office/powerpoint/2010/main" val="2595902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CE418-D94B-B741-C32A-BB69B23008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F2BCF8-26C1-D5DC-3FDB-3207AAB9C8CD}"/>
              </a:ext>
            </a:extLst>
          </p:cNvPr>
          <p:cNvSpPr>
            <a:spLocks noGrp="1" noRot="1" noMove="1" noResize="1" noEditPoints="1" noAdjustHandles="1" noChangeArrowheads="1" noChangeShapeType="1"/>
          </p:cNvSpPr>
          <p:nvPr>
            <p:ph type="title"/>
          </p:nvPr>
        </p:nvSpPr>
        <p:spPr/>
        <p:txBody>
          <a:bodyPr/>
          <a:lstStyle/>
          <a:p>
            <a:r>
              <a:rPr lang="en-US" sz="2400" dirty="0">
                <a:solidFill>
                  <a:srgbClr val="C9AD62"/>
                </a:solidFill>
                <a:latin typeface="Raleway Black" pitchFamily="2" charset="0"/>
              </a:rPr>
              <a:t>Administrative and Introductions</a:t>
            </a:r>
            <a:endParaRPr lang="en-US" dirty="0">
              <a:latin typeface="Raleway Black" pitchFamily="2" charset="0"/>
            </a:endParaRPr>
          </a:p>
        </p:txBody>
      </p:sp>
      <p:sp>
        <p:nvSpPr>
          <p:cNvPr id="5" name="Text Placeholder 4">
            <a:extLst>
              <a:ext uri="{FF2B5EF4-FFF2-40B4-BE49-F238E27FC236}">
                <a16:creationId xmlns:a16="http://schemas.microsoft.com/office/drawing/2014/main" id="{D9F85226-8203-00AB-DA51-4832CD1135C7}"/>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177DF0CA-6EC7-74A5-E8D5-C0CB3DDCF89F}"/>
              </a:ext>
            </a:extLst>
          </p:cNvPr>
          <p:cNvSpPr txBox="1">
            <a:spLocks/>
          </p:cNvSpPr>
          <p:nvPr/>
        </p:nvSpPr>
        <p:spPr>
          <a:xfrm>
            <a:off x="1003300" y="1568705"/>
            <a:ext cx="8886658" cy="3392487"/>
          </a:xfrm>
          <a:prstGeom prst="rect">
            <a:avLst/>
          </a:prstGeom>
        </p:spPr>
        <p:txBody>
          <a:bodyPr/>
          <a:lstStyle>
            <a:lvl1pPr marL="259079" indent="-259079" algn="l" defTabSz="1036317" rtl="0" eaLnBrk="1" latinLnBrk="0" hangingPunct="1">
              <a:lnSpc>
                <a:spcPct val="90000"/>
              </a:lnSpc>
              <a:spcBef>
                <a:spcPts val="1360"/>
              </a:spcBef>
              <a:spcAft>
                <a:spcPts val="0"/>
              </a:spcAft>
              <a:buFont typeface="Arial" panose="020B0604020202020204" pitchFamily="34" charset="0"/>
              <a:buChar char="•"/>
              <a:defRPr sz="2720" kern="1200">
                <a:solidFill>
                  <a:srgbClr val="171610"/>
                </a:solidFill>
                <a:latin typeface="+mn-lt"/>
                <a:ea typeface="+mn-ea"/>
                <a:cs typeface="+mn-cs"/>
              </a:defRPr>
            </a:lvl1pPr>
            <a:lvl2pPr marL="777238" indent="-259079" algn="l" defTabSz="1036317" rtl="0" eaLnBrk="1" latinLnBrk="0" hangingPunct="1">
              <a:lnSpc>
                <a:spcPct val="90000"/>
              </a:lnSpc>
              <a:spcBef>
                <a:spcPts val="680"/>
              </a:spcBef>
              <a:spcAft>
                <a:spcPts val="0"/>
              </a:spcAft>
              <a:buFont typeface="Courier New" panose="02070309020205020404" pitchFamily="49" charset="0"/>
              <a:buChar char="o"/>
              <a:defRPr sz="2493" kern="1200">
                <a:solidFill>
                  <a:srgbClr val="171610"/>
                </a:solidFill>
                <a:latin typeface="+mn-lt"/>
                <a:ea typeface="+mn-ea"/>
                <a:cs typeface="+mn-cs"/>
              </a:defRPr>
            </a:lvl2pPr>
            <a:lvl3pPr marL="1295396" indent="-259079" algn="l" defTabSz="1036317" rtl="0" eaLnBrk="1" latinLnBrk="0" hangingPunct="1">
              <a:lnSpc>
                <a:spcPct val="90000"/>
              </a:lnSpc>
              <a:spcBef>
                <a:spcPts val="680"/>
              </a:spcBef>
              <a:spcAft>
                <a:spcPts val="0"/>
              </a:spcAft>
              <a:buFont typeface="Wingdings" panose="05000000000000000000" pitchFamily="2" charset="2"/>
              <a:buChar char="§"/>
              <a:defRPr sz="2267" kern="1200">
                <a:solidFill>
                  <a:srgbClr val="171610"/>
                </a:solidFill>
                <a:latin typeface="+mn-lt"/>
                <a:ea typeface="+mn-ea"/>
                <a:cs typeface="+mn-cs"/>
              </a:defRPr>
            </a:lvl3pPr>
            <a:lvl4pPr marL="1813555" indent="-259079" algn="l" defTabSz="1036317" rtl="0" eaLnBrk="1" latinLnBrk="0" hangingPunct="1">
              <a:lnSpc>
                <a:spcPct val="90000"/>
              </a:lnSpc>
              <a:spcBef>
                <a:spcPts val="680"/>
              </a:spcBef>
              <a:spcAft>
                <a:spcPts val="0"/>
              </a:spcAft>
              <a:buFont typeface="Arial" panose="020B0604020202020204" pitchFamily="34" charset="0"/>
              <a:buChar char="–"/>
              <a:defRPr sz="2040" kern="1200">
                <a:solidFill>
                  <a:srgbClr val="171610"/>
                </a:solidFill>
                <a:latin typeface="+mn-lt"/>
                <a:ea typeface="+mn-ea"/>
                <a:cs typeface="+mn-cs"/>
              </a:defRPr>
            </a:lvl4pPr>
            <a:lvl5pPr marL="2331713" indent="-259079" algn="l" defTabSz="1036317" rtl="0" eaLnBrk="1" latinLnBrk="0" hangingPunct="1">
              <a:lnSpc>
                <a:spcPct val="90000"/>
              </a:lnSpc>
              <a:spcBef>
                <a:spcPts val="680"/>
              </a:spcBef>
              <a:spcAft>
                <a:spcPts val="0"/>
              </a:spcAft>
              <a:buFont typeface="Arial" panose="020B0604020202020204" pitchFamily="34" charset="0"/>
              <a:buChar char="•"/>
              <a:defRPr sz="1813" kern="1200">
                <a:solidFill>
                  <a:srgbClr val="171610"/>
                </a:solidFill>
                <a:latin typeface="+mn-lt"/>
                <a:ea typeface="+mn-ea"/>
                <a:cs typeface="+mn-cs"/>
              </a:defRPr>
            </a:lvl5pPr>
            <a:lvl6pPr marL="2849872"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8030"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189"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347"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a:lstStyle>
          <a:p>
            <a:pPr marL="257175" indent="-257175" defTabSz="685800">
              <a:spcBef>
                <a:spcPct val="20000"/>
              </a:spcBef>
              <a:buFont typeface="Arial" charset="0"/>
              <a:buChar char="•"/>
              <a:defRPr/>
            </a:pPr>
            <a:r>
              <a:rPr lang="en-US" altLang="en-US" sz="2000" dirty="0">
                <a:solidFill>
                  <a:prstClr val="black"/>
                </a:solidFill>
                <a:cs typeface="Times New Roman" panose="02020603050405020304" pitchFamily="18" charset="0"/>
              </a:rPr>
              <a:t>A Question and Answer session will be held at the conclusion of this presentation.</a:t>
            </a:r>
          </a:p>
          <a:p>
            <a:pPr marL="775334" lvl="1" indent="-257175" defTabSz="685800">
              <a:spcBef>
                <a:spcPct val="20000"/>
              </a:spcBef>
              <a:buFont typeface="Arial" charset="0"/>
              <a:buChar char="•"/>
              <a:defRPr/>
            </a:pPr>
            <a:r>
              <a:rPr lang="en-US" altLang="en-US" sz="1573" dirty="0">
                <a:solidFill>
                  <a:prstClr val="black"/>
                </a:solidFill>
                <a:cs typeface="Times New Roman" panose="02020603050405020304" pitchFamily="18" charset="0"/>
              </a:rPr>
              <a:t>Index cards will be provided</a:t>
            </a:r>
          </a:p>
          <a:p>
            <a:pPr marL="775334" lvl="1" indent="-257175" defTabSz="685800">
              <a:spcBef>
                <a:spcPct val="20000"/>
              </a:spcBef>
              <a:buFont typeface="Arial" charset="0"/>
              <a:buChar char="•"/>
              <a:defRPr/>
            </a:pPr>
            <a:r>
              <a:rPr lang="en-US" altLang="en-US" sz="1573" dirty="0">
                <a:solidFill>
                  <a:prstClr val="black"/>
                </a:solidFill>
                <a:cs typeface="Times New Roman" panose="02020603050405020304" pitchFamily="18" charset="0"/>
              </a:rPr>
              <a:t>Not all questions will be answered at this time; however, all questions will be answered and posted in an amendment to the solicitation</a:t>
            </a:r>
          </a:p>
          <a:p>
            <a:pPr marL="257175" indent="-257175" defTabSz="685800">
              <a:spcBef>
                <a:spcPct val="20000"/>
              </a:spcBef>
              <a:buFont typeface="Arial" charset="0"/>
              <a:buChar char="•"/>
              <a:defRPr/>
            </a:pPr>
            <a:r>
              <a:rPr kumimoji="0" lang="en-US" altLang="en-US" sz="2000" b="0" i="0" u="none" strike="noStrike" kern="1200" cap="none" spc="0" normalizeH="0" baseline="0" noProof="0" dirty="0">
                <a:ln>
                  <a:noFill/>
                </a:ln>
                <a:effectLst/>
                <a:uLnTx/>
                <a:uFillTx/>
                <a:latin typeface="Arial"/>
                <a:cs typeface="Arial"/>
              </a:rPr>
              <a:t>Written questions and answers received before the 20 May 2025 12:00PM  Eastern Daylight Time deadline will be posted to </a:t>
            </a:r>
            <a:r>
              <a:rPr kumimoji="0" lang="en-US" altLang="en-US" sz="2000" b="0" i="0" u="none" strike="noStrike" kern="1200" cap="none" spc="0" normalizeH="0" baseline="0" noProof="0" dirty="0" err="1">
                <a:ln>
                  <a:noFill/>
                </a:ln>
                <a:effectLst/>
                <a:uLnTx/>
                <a:uFillTx/>
                <a:latin typeface="Arial"/>
                <a:cs typeface="Arial"/>
              </a:rPr>
              <a:t>SAM.Gov</a:t>
            </a:r>
            <a:r>
              <a:rPr kumimoji="0" lang="en-US" altLang="en-US" sz="2000" b="0" i="0" u="none" strike="noStrike" kern="1200" cap="none" spc="0" normalizeH="0" baseline="0" noProof="0" dirty="0">
                <a:ln>
                  <a:noFill/>
                </a:ln>
                <a:effectLst/>
                <a:uLnTx/>
                <a:uFillTx/>
                <a:latin typeface="Arial"/>
                <a:cs typeface="Arial"/>
              </a:rPr>
              <a:t> via an amendment to the solicitation.</a:t>
            </a:r>
            <a:r>
              <a:rPr lang="en-US" altLang="en-US" sz="2000" dirty="0">
                <a:latin typeface="Arial"/>
                <a:cs typeface="Arial"/>
              </a:rPr>
              <a:t> </a:t>
            </a:r>
          </a:p>
          <a:p>
            <a:pPr marL="775334" lvl="1" indent="-257175" defTabSz="685800">
              <a:spcBef>
                <a:spcPct val="20000"/>
              </a:spcBef>
              <a:buFont typeface="Arial" charset="0"/>
              <a:buChar char="•"/>
              <a:defRPr/>
            </a:pPr>
            <a:r>
              <a:rPr kumimoji="0" lang="en-US" altLang="en-US" sz="1800" b="0" i="0" u="none" strike="noStrike" kern="1200" cap="none" spc="0" normalizeH="0" baseline="0" noProof="0" dirty="0">
                <a:ln>
                  <a:noFill/>
                </a:ln>
                <a:solidFill>
                  <a:prstClr val="black"/>
                </a:solidFill>
                <a:effectLst/>
                <a:uLnTx/>
                <a:uFillTx/>
                <a:latin typeface="Arial" charset="0"/>
                <a:ea typeface="+mn-ea"/>
                <a:cs typeface="Arial" charset="0"/>
              </a:rPr>
              <a:t>Attendees are asked to submit their questions in the format specified in Section L-29 </a:t>
            </a:r>
            <a:r>
              <a:rPr lang="en-US" altLang="en-US" sz="1600" dirty="0">
                <a:solidFill>
                  <a:prstClr val="black"/>
                </a:solidFill>
                <a:latin typeface="Arial" charset="0"/>
                <a:cs typeface="Arial" charset="0"/>
              </a:rPr>
              <a:t>of </a:t>
            </a:r>
            <a:r>
              <a:rPr kumimoji="0" lang="en-US" altLang="en-US" sz="1800" b="0" i="0" u="none" strike="noStrike" kern="1200" cap="none" spc="0" normalizeH="0" baseline="0" noProof="0" dirty="0">
                <a:ln>
                  <a:noFill/>
                </a:ln>
                <a:solidFill>
                  <a:prstClr val="black"/>
                </a:solidFill>
                <a:effectLst/>
                <a:uLnTx/>
                <a:uFillTx/>
                <a:latin typeface="Arial" charset="0"/>
                <a:ea typeface="+mn-ea"/>
                <a:cs typeface="Arial" charset="0"/>
              </a:rPr>
              <a:t>the RFP, to the Contracting Officer and Acquisition Specialist: </a:t>
            </a:r>
          </a:p>
          <a:p>
            <a:pPr marL="957263" lvl="2" indent="-214313" defTabSz="685800" eaLnBrk="1" fontAlgn="auto" hangingPunct="1">
              <a:lnSpc>
                <a:spcPct val="90000"/>
              </a:lnSpc>
              <a:spcBef>
                <a:spcPct val="20000"/>
              </a:spcBef>
              <a:spcAft>
                <a:spcPts val="0"/>
              </a:spcAft>
              <a:buFont typeface="Arial" charset="0"/>
              <a:buChar char="–"/>
              <a:defRPr/>
            </a:pPr>
            <a:r>
              <a:rPr lang="en-US" altLang="en-US" sz="1600" dirty="0">
                <a:solidFill>
                  <a:prstClr val="black"/>
                </a:solidFill>
                <a:cs typeface="Arial" charset="0"/>
              </a:rPr>
              <a:t>David Gilson </a:t>
            </a:r>
            <a:r>
              <a:rPr kumimoji="0" lang="en-US" altLang="en-US" sz="1600" b="0" i="0" u="none" strike="noStrike" kern="1200" cap="none" spc="0" normalizeH="0" baseline="0" noProof="0" dirty="0">
                <a:ln>
                  <a:noFill/>
                </a:ln>
                <a:solidFill>
                  <a:prstClr val="black"/>
                </a:solidFill>
                <a:effectLst/>
                <a:uLnTx/>
                <a:uFillTx/>
                <a:latin typeface="Arial" charset="0"/>
                <a:ea typeface="+mn-ea"/>
                <a:cs typeface="Arial" charset="0"/>
              </a:rPr>
              <a:t>(David.Gilson@dla.mil) </a:t>
            </a:r>
          </a:p>
          <a:p>
            <a:pPr marL="957263" marR="0" lvl="2" indent="-214313" algn="l" defTabSz="685800" rtl="0" eaLnBrk="1" fontAlgn="auto" latinLnBrk="0" hangingPunct="1">
              <a:lnSpc>
                <a:spcPct val="90000"/>
              </a:lnSpc>
              <a:spcBef>
                <a:spcPct val="20000"/>
              </a:spcBef>
              <a:spcAft>
                <a:spcPts val="0"/>
              </a:spcAft>
              <a:buClrTx/>
              <a:buSzTx/>
              <a:buFont typeface="Arial" charset="0"/>
              <a:buChar char="–"/>
              <a:tabLst/>
              <a:defRPr/>
            </a:pPr>
            <a:r>
              <a:rPr kumimoji="0" lang="en-US" altLang="en-US" sz="1600" b="0" i="0" u="none" strike="noStrike" kern="1200" cap="none" spc="0" normalizeH="0" baseline="0" noProof="0" dirty="0">
                <a:ln>
                  <a:noFill/>
                </a:ln>
                <a:solidFill>
                  <a:prstClr val="black"/>
                </a:solidFill>
                <a:effectLst/>
                <a:uLnTx/>
                <a:uFillTx/>
                <a:latin typeface="Arial" charset="0"/>
                <a:ea typeface="+mn-ea"/>
                <a:cs typeface="Arial" charset="0"/>
              </a:rPr>
              <a:t>Scott Lesh (Scott.Lesh@dla.mil)</a:t>
            </a:r>
          </a:p>
          <a:p>
            <a:pPr marL="257175" indent="-257175" defTabSz="685800">
              <a:spcBef>
                <a:spcPct val="20000"/>
              </a:spcBef>
              <a:defRPr/>
            </a:pPr>
            <a:endParaRPr lang="en-US" altLang="en-US" sz="1800" dirty="0">
              <a:solidFill>
                <a:prstClr val="black"/>
              </a:solidFill>
              <a:latin typeface="Arial" charset="0"/>
              <a:cs typeface="Arial" charset="0"/>
            </a:endParaRPr>
          </a:p>
          <a:p>
            <a:pPr marL="557213" lvl="1" indent="-214313" defTabSz="685800">
              <a:spcBef>
                <a:spcPct val="20000"/>
              </a:spcBef>
              <a:buFontTx/>
              <a:buNone/>
              <a:defRPr/>
            </a:pPr>
            <a:endParaRPr lang="en-US" altLang="en-US" sz="1500" dirty="0">
              <a:solidFill>
                <a:prstClr val="black"/>
              </a:solidFill>
              <a:latin typeface="Arial" charset="0"/>
              <a:cs typeface="Arial" charset="0"/>
            </a:endParaRPr>
          </a:p>
        </p:txBody>
      </p:sp>
    </p:spTree>
    <p:extLst>
      <p:ext uri="{BB962C8B-B14F-4D97-AF65-F5344CB8AC3E}">
        <p14:creationId xmlns:p14="http://schemas.microsoft.com/office/powerpoint/2010/main" val="110090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437F0-DEDA-846B-8B50-105D44B3DBF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C9784B4-B864-23A8-AA5A-3A2E7BA469C1}"/>
              </a:ext>
            </a:extLst>
          </p:cNvPr>
          <p:cNvSpPr>
            <a:spLocks noGrp="1" noRot="1" noMove="1" noResize="1" noEditPoints="1" noAdjustHandles="1" noChangeArrowheads="1" noChangeShapeType="1"/>
          </p:cNvSpPr>
          <p:nvPr>
            <p:ph type="title"/>
          </p:nvPr>
        </p:nvSpPr>
        <p:spPr/>
        <p:txBody>
          <a:bodyPr/>
          <a:lstStyle/>
          <a:p>
            <a:r>
              <a:rPr lang="en-US" dirty="0"/>
              <a:t>Mission Brief Overview</a:t>
            </a:r>
            <a:endParaRPr lang="en-US" dirty="0">
              <a:latin typeface="Raleway Black" pitchFamily="2" charset="0"/>
            </a:endParaRPr>
          </a:p>
        </p:txBody>
      </p:sp>
      <p:sp>
        <p:nvSpPr>
          <p:cNvPr id="5" name="Text Placeholder 4">
            <a:extLst>
              <a:ext uri="{FF2B5EF4-FFF2-40B4-BE49-F238E27FC236}">
                <a16:creationId xmlns:a16="http://schemas.microsoft.com/office/drawing/2014/main" id="{5A255B86-3A5C-45FA-CF24-61FB50177E40}"/>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FDEA32B5-61A8-17DC-9F0E-1853C265D818}"/>
              </a:ext>
            </a:extLst>
          </p:cNvPr>
          <p:cNvSpPr txBox="1">
            <a:spLocks/>
          </p:cNvSpPr>
          <p:nvPr/>
        </p:nvSpPr>
        <p:spPr>
          <a:xfrm>
            <a:off x="1003300" y="1568705"/>
            <a:ext cx="8886658" cy="3392487"/>
          </a:xfrm>
          <a:prstGeom prst="rect">
            <a:avLst/>
          </a:prstGeom>
        </p:spPr>
        <p:txBody>
          <a:bodyPr/>
          <a:lstStyle>
            <a:lvl1pPr marL="259079" indent="-259079" algn="l" defTabSz="1036317" rtl="0" eaLnBrk="1" latinLnBrk="0" hangingPunct="1">
              <a:lnSpc>
                <a:spcPct val="90000"/>
              </a:lnSpc>
              <a:spcBef>
                <a:spcPts val="1360"/>
              </a:spcBef>
              <a:spcAft>
                <a:spcPts val="0"/>
              </a:spcAft>
              <a:buFont typeface="Arial" panose="020B0604020202020204" pitchFamily="34" charset="0"/>
              <a:buChar char="•"/>
              <a:defRPr sz="2720" kern="1200">
                <a:solidFill>
                  <a:srgbClr val="171610"/>
                </a:solidFill>
                <a:latin typeface="+mn-lt"/>
                <a:ea typeface="+mn-ea"/>
                <a:cs typeface="+mn-cs"/>
              </a:defRPr>
            </a:lvl1pPr>
            <a:lvl2pPr marL="777238" indent="-259079" algn="l" defTabSz="1036317" rtl="0" eaLnBrk="1" latinLnBrk="0" hangingPunct="1">
              <a:lnSpc>
                <a:spcPct val="90000"/>
              </a:lnSpc>
              <a:spcBef>
                <a:spcPts val="680"/>
              </a:spcBef>
              <a:spcAft>
                <a:spcPts val="0"/>
              </a:spcAft>
              <a:buFont typeface="Courier New" panose="02070309020205020404" pitchFamily="49" charset="0"/>
              <a:buChar char="o"/>
              <a:defRPr sz="2493" kern="1200">
                <a:solidFill>
                  <a:srgbClr val="171610"/>
                </a:solidFill>
                <a:latin typeface="+mn-lt"/>
                <a:ea typeface="+mn-ea"/>
                <a:cs typeface="+mn-cs"/>
              </a:defRPr>
            </a:lvl2pPr>
            <a:lvl3pPr marL="1295396" indent="-259079" algn="l" defTabSz="1036317" rtl="0" eaLnBrk="1" latinLnBrk="0" hangingPunct="1">
              <a:lnSpc>
                <a:spcPct val="90000"/>
              </a:lnSpc>
              <a:spcBef>
                <a:spcPts val="680"/>
              </a:spcBef>
              <a:spcAft>
                <a:spcPts val="0"/>
              </a:spcAft>
              <a:buFont typeface="Wingdings" panose="05000000000000000000" pitchFamily="2" charset="2"/>
              <a:buChar char="§"/>
              <a:defRPr sz="2267" kern="1200">
                <a:solidFill>
                  <a:srgbClr val="171610"/>
                </a:solidFill>
                <a:latin typeface="+mn-lt"/>
                <a:ea typeface="+mn-ea"/>
                <a:cs typeface="+mn-cs"/>
              </a:defRPr>
            </a:lvl3pPr>
            <a:lvl4pPr marL="1813555" indent="-259079" algn="l" defTabSz="1036317" rtl="0" eaLnBrk="1" latinLnBrk="0" hangingPunct="1">
              <a:lnSpc>
                <a:spcPct val="90000"/>
              </a:lnSpc>
              <a:spcBef>
                <a:spcPts val="680"/>
              </a:spcBef>
              <a:spcAft>
                <a:spcPts val="0"/>
              </a:spcAft>
              <a:buFont typeface="Arial" panose="020B0604020202020204" pitchFamily="34" charset="0"/>
              <a:buChar char="–"/>
              <a:defRPr sz="2040" kern="1200">
                <a:solidFill>
                  <a:srgbClr val="171610"/>
                </a:solidFill>
                <a:latin typeface="+mn-lt"/>
                <a:ea typeface="+mn-ea"/>
                <a:cs typeface="+mn-cs"/>
              </a:defRPr>
            </a:lvl4pPr>
            <a:lvl5pPr marL="2331713" indent="-259079" algn="l" defTabSz="1036317" rtl="0" eaLnBrk="1" latinLnBrk="0" hangingPunct="1">
              <a:lnSpc>
                <a:spcPct val="90000"/>
              </a:lnSpc>
              <a:spcBef>
                <a:spcPts val="680"/>
              </a:spcBef>
              <a:spcAft>
                <a:spcPts val="0"/>
              </a:spcAft>
              <a:buFont typeface="Arial" panose="020B0604020202020204" pitchFamily="34" charset="0"/>
              <a:buChar char="•"/>
              <a:defRPr sz="1813" kern="1200">
                <a:solidFill>
                  <a:srgbClr val="171610"/>
                </a:solidFill>
                <a:latin typeface="+mn-lt"/>
                <a:ea typeface="+mn-ea"/>
                <a:cs typeface="+mn-cs"/>
              </a:defRPr>
            </a:lvl5pPr>
            <a:lvl6pPr marL="2849872"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8030"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189"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347" indent="-259079" algn="l" defTabSz="1036317"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a:lstStyle>
          <a:p>
            <a:r>
              <a:rPr lang="en-US" sz="2000" dirty="0"/>
              <a:t>DLA Strategic Plan </a:t>
            </a:r>
          </a:p>
          <a:p>
            <a:r>
              <a:rPr lang="en-US" sz="2000" dirty="0"/>
              <a:t>DLA Distribution Mission, Vision, Values</a:t>
            </a:r>
          </a:p>
          <a:p>
            <a:r>
              <a:rPr lang="en-US" sz="2000" dirty="0"/>
              <a:t>DLA Disposition Mission, Vision, Values </a:t>
            </a:r>
          </a:p>
          <a:p>
            <a:r>
              <a:rPr lang="en-US" sz="2000" dirty="0"/>
              <a:t>Distribution Leadership and Organization Chart</a:t>
            </a:r>
          </a:p>
          <a:p>
            <a:r>
              <a:rPr lang="en-US" sz="2000" dirty="0"/>
              <a:t>Disposition Leadership and Organization Chart </a:t>
            </a:r>
            <a:endParaRPr lang="en-US" sz="2000" dirty="0">
              <a:solidFill>
                <a:srgbClr val="FF0000"/>
              </a:solidFill>
            </a:endParaRPr>
          </a:p>
          <a:p>
            <a:r>
              <a:rPr lang="en-US" sz="2000" dirty="0"/>
              <a:t>WMS Introduction</a:t>
            </a:r>
          </a:p>
          <a:p>
            <a:r>
              <a:rPr lang="en-US" sz="2000" dirty="0"/>
              <a:t>Contract Overview</a:t>
            </a:r>
          </a:p>
          <a:p>
            <a:r>
              <a:rPr lang="en-US" sz="2000" dirty="0"/>
              <a:t>Performance Work Statement Overview</a:t>
            </a:r>
          </a:p>
          <a:p>
            <a:r>
              <a:rPr lang="en-US" sz="2000" dirty="0"/>
              <a:t>Solicitation Overview</a:t>
            </a:r>
          </a:p>
          <a:p>
            <a:pPr marL="257175" indent="-257175" defTabSz="685800">
              <a:spcBef>
                <a:spcPct val="20000"/>
              </a:spcBef>
              <a:defRPr/>
            </a:pPr>
            <a:endParaRPr lang="en-US" altLang="en-US" sz="1800" dirty="0">
              <a:solidFill>
                <a:prstClr val="black"/>
              </a:solidFill>
              <a:latin typeface="Arial" charset="0"/>
              <a:cs typeface="Arial" charset="0"/>
            </a:endParaRPr>
          </a:p>
          <a:p>
            <a:pPr marL="557213" lvl="1" indent="-214313" defTabSz="685800">
              <a:spcBef>
                <a:spcPct val="20000"/>
              </a:spcBef>
              <a:buFontTx/>
              <a:buNone/>
              <a:defRPr/>
            </a:pPr>
            <a:endParaRPr lang="en-US" altLang="en-US" sz="1500" dirty="0">
              <a:solidFill>
                <a:prstClr val="black"/>
              </a:solidFill>
              <a:latin typeface="Arial" charset="0"/>
              <a:cs typeface="Arial" charset="0"/>
            </a:endParaRPr>
          </a:p>
        </p:txBody>
      </p:sp>
    </p:spTree>
    <p:extLst>
      <p:ext uri="{BB962C8B-B14F-4D97-AF65-F5344CB8AC3E}">
        <p14:creationId xmlns:p14="http://schemas.microsoft.com/office/powerpoint/2010/main" val="4244022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08622-4FE6-1392-E9E8-A47D443220C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04DB645-D75F-6C1E-92C2-9DF9510C7018}"/>
              </a:ext>
            </a:extLst>
          </p:cNvPr>
          <p:cNvSpPr>
            <a:spLocks noGrp="1" noRot="1" noMove="1" noResize="1" noEditPoints="1" noAdjustHandles="1" noChangeArrowheads="1" noChangeShapeType="1"/>
          </p:cNvSpPr>
          <p:nvPr>
            <p:ph type="title"/>
          </p:nvPr>
        </p:nvSpPr>
        <p:spPr/>
        <p:txBody>
          <a:bodyPr/>
          <a:lstStyle/>
          <a:p>
            <a:r>
              <a:rPr lang="en-US" dirty="0"/>
              <a:t>DLA Strategic Plan 2025-2030</a:t>
            </a:r>
            <a:endParaRPr lang="en-US" dirty="0">
              <a:latin typeface="Raleway Black" pitchFamily="2" charset="0"/>
            </a:endParaRPr>
          </a:p>
        </p:txBody>
      </p:sp>
      <p:sp>
        <p:nvSpPr>
          <p:cNvPr id="5" name="Text Placeholder 4">
            <a:extLst>
              <a:ext uri="{FF2B5EF4-FFF2-40B4-BE49-F238E27FC236}">
                <a16:creationId xmlns:a16="http://schemas.microsoft.com/office/drawing/2014/main" id="{BB11ED38-BD99-A0AE-4764-0E70FA4A122D}"/>
              </a:ext>
            </a:extLst>
          </p:cNvPr>
          <p:cNvSpPr>
            <a:spLocks noGrp="1"/>
          </p:cNvSpPr>
          <p:nvPr>
            <p:ph type="body" sz="quarter" idx="10"/>
          </p:nvPr>
        </p:nvSpPr>
        <p:spPr/>
        <p:txBody>
          <a:bodyPr/>
          <a:lstStyle/>
          <a:p>
            <a:endParaRPr lang="en-US"/>
          </a:p>
        </p:txBody>
      </p:sp>
      <p:sp>
        <p:nvSpPr>
          <p:cNvPr id="2" name="TextBox 1">
            <a:extLst>
              <a:ext uri="{FF2B5EF4-FFF2-40B4-BE49-F238E27FC236}">
                <a16:creationId xmlns:a16="http://schemas.microsoft.com/office/drawing/2014/main" id="{10FBA9AB-6663-003A-64BD-B8D44E94BB01}"/>
              </a:ext>
            </a:extLst>
          </p:cNvPr>
          <p:cNvSpPr txBox="1"/>
          <p:nvPr/>
        </p:nvSpPr>
        <p:spPr>
          <a:xfrm>
            <a:off x="414338" y="1683773"/>
            <a:ext cx="4577714" cy="1292662"/>
          </a:xfrm>
          <a:prstGeom prst="rect">
            <a:avLst/>
          </a:prstGeom>
          <a:noFill/>
        </p:spPr>
        <p:txBody>
          <a:bodyPr wrap="square">
            <a:spAutoFit/>
          </a:bodyPr>
          <a:lstStyle/>
          <a:p>
            <a:pPr algn="ctr" defTabSz="914400"/>
            <a:r>
              <a:rPr lang="en-US" sz="2400" b="1" dirty="0">
                <a:cs typeface="Times New Roman" panose="02020603050405020304" pitchFamily="18" charset="0"/>
              </a:rPr>
              <a:t>MISSION</a:t>
            </a:r>
          </a:p>
          <a:p>
            <a:pPr algn="ctr" defTabSz="914400"/>
            <a:r>
              <a:rPr lang="en-US" dirty="0">
                <a:cs typeface="Times New Roman" panose="02020603050405020304" pitchFamily="18" charset="0"/>
              </a:rPr>
              <a:t>Drive and sustain Warfighter readiness by delivering unmatched global support as the Nation’s Logistics Combat Support Agency</a:t>
            </a:r>
          </a:p>
        </p:txBody>
      </p:sp>
      <p:sp>
        <p:nvSpPr>
          <p:cNvPr id="3" name="TextBox 2">
            <a:extLst>
              <a:ext uri="{FF2B5EF4-FFF2-40B4-BE49-F238E27FC236}">
                <a16:creationId xmlns:a16="http://schemas.microsoft.com/office/drawing/2014/main" id="{356D84F0-31F0-29A9-607F-A931BC6E7A98}"/>
              </a:ext>
            </a:extLst>
          </p:cNvPr>
          <p:cNvSpPr txBox="1"/>
          <p:nvPr/>
        </p:nvSpPr>
        <p:spPr>
          <a:xfrm>
            <a:off x="414338" y="3033596"/>
            <a:ext cx="4577714" cy="1138773"/>
          </a:xfrm>
          <a:prstGeom prst="rect">
            <a:avLst/>
          </a:prstGeom>
          <a:noFill/>
        </p:spPr>
        <p:txBody>
          <a:bodyPr wrap="square">
            <a:spAutoFit/>
          </a:bodyPr>
          <a:lstStyle/>
          <a:p>
            <a:pPr algn="ctr" defTabSz="914400"/>
            <a:r>
              <a:rPr lang="en-US" sz="2000" b="1" dirty="0">
                <a:cs typeface="Times New Roman" panose="02020603050405020304" pitchFamily="18" charset="0"/>
              </a:rPr>
              <a:t>VISION </a:t>
            </a:r>
          </a:p>
          <a:p>
            <a:pPr marL="0" lvl="1" indent="0" algn="ctr" defTabSz="914400">
              <a:buNone/>
            </a:pPr>
            <a:r>
              <a:rPr lang="en-US" sz="1600" dirty="0">
                <a:cs typeface="Times New Roman" panose="02020603050405020304" pitchFamily="18" charset="0"/>
              </a:rPr>
              <a:t>DLA delivers agile, adaptive, and resilient logistics support across the continuum of conflict.</a:t>
            </a:r>
          </a:p>
        </p:txBody>
      </p:sp>
      <p:sp>
        <p:nvSpPr>
          <p:cNvPr id="7" name="TextBox 6">
            <a:extLst>
              <a:ext uri="{FF2B5EF4-FFF2-40B4-BE49-F238E27FC236}">
                <a16:creationId xmlns:a16="http://schemas.microsoft.com/office/drawing/2014/main" id="{D18AA002-9235-56BD-2C5E-FEBBFF155D44}"/>
              </a:ext>
            </a:extLst>
          </p:cNvPr>
          <p:cNvSpPr txBox="1"/>
          <p:nvPr/>
        </p:nvSpPr>
        <p:spPr>
          <a:xfrm>
            <a:off x="414338" y="5311143"/>
            <a:ext cx="4577714" cy="892552"/>
          </a:xfrm>
          <a:prstGeom prst="rect">
            <a:avLst/>
          </a:prstGeom>
          <a:noFill/>
        </p:spPr>
        <p:txBody>
          <a:bodyPr wrap="square">
            <a:spAutoFit/>
          </a:bodyPr>
          <a:lstStyle/>
          <a:p>
            <a:pPr algn="ctr" defTabSz="914400"/>
            <a:r>
              <a:rPr lang="en-US" sz="2000" b="1" dirty="0">
                <a:cs typeface="Times New Roman" panose="02020603050405020304" pitchFamily="18" charset="0"/>
              </a:rPr>
              <a:t>OPERATING PRINCIPLES</a:t>
            </a:r>
          </a:p>
          <a:p>
            <a:pPr algn="ctr" defTabSz="914400"/>
            <a:r>
              <a:rPr lang="en-US" sz="1600" dirty="0">
                <a:cs typeface="Times New Roman" panose="02020603050405020304" pitchFamily="18" charset="0"/>
              </a:rPr>
              <a:t>Agility, Readiness, Collaboration, Transparency, Empowerment, Data Driven</a:t>
            </a:r>
          </a:p>
        </p:txBody>
      </p:sp>
      <p:sp>
        <p:nvSpPr>
          <p:cNvPr id="8" name="TextBox 7">
            <a:extLst>
              <a:ext uri="{FF2B5EF4-FFF2-40B4-BE49-F238E27FC236}">
                <a16:creationId xmlns:a16="http://schemas.microsoft.com/office/drawing/2014/main" id="{DB0784EC-2AA1-F15D-24FB-2646FFC5D8A5}"/>
              </a:ext>
            </a:extLst>
          </p:cNvPr>
          <p:cNvSpPr txBox="1"/>
          <p:nvPr/>
        </p:nvSpPr>
        <p:spPr>
          <a:xfrm>
            <a:off x="414338" y="4286692"/>
            <a:ext cx="4577714" cy="646331"/>
          </a:xfrm>
          <a:prstGeom prst="rect">
            <a:avLst/>
          </a:prstGeom>
          <a:noFill/>
        </p:spPr>
        <p:txBody>
          <a:bodyPr wrap="square">
            <a:spAutoFit/>
          </a:bodyPr>
          <a:lstStyle/>
          <a:p>
            <a:pPr algn="ctr" defTabSz="914400"/>
            <a:r>
              <a:rPr lang="en-US" sz="2000" b="1" dirty="0">
                <a:cs typeface="Times New Roman" panose="02020603050405020304" pitchFamily="18" charset="0"/>
              </a:rPr>
              <a:t>VALUES </a:t>
            </a:r>
          </a:p>
          <a:p>
            <a:pPr marL="0" lvl="1" indent="0" algn="ctr" defTabSz="914400">
              <a:buNone/>
            </a:pPr>
            <a:r>
              <a:rPr lang="en-US" sz="1600" dirty="0">
                <a:cs typeface="Times New Roman" panose="02020603050405020304" pitchFamily="18" charset="0"/>
              </a:rPr>
              <a:t>Respect, Trust, Service, Excellence, Innovation</a:t>
            </a:r>
            <a:endParaRPr lang="en-US" dirty="0"/>
          </a:p>
        </p:txBody>
      </p:sp>
      <p:pic>
        <p:nvPicPr>
          <p:cNvPr id="9" name="Picture 8">
            <a:extLst>
              <a:ext uri="{FF2B5EF4-FFF2-40B4-BE49-F238E27FC236}">
                <a16:creationId xmlns:a16="http://schemas.microsoft.com/office/drawing/2014/main" id="{F1E93070-537D-F1C1-0A33-B7F6C3A3B91C}"/>
              </a:ext>
            </a:extLst>
          </p:cNvPr>
          <p:cNvPicPr>
            <a:picLocks noChangeAspect="1"/>
          </p:cNvPicPr>
          <p:nvPr/>
        </p:nvPicPr>
        <p:blipFill>
          <a:blip r:embed="rId2"/>
          <a:stretch>
            <a:fillRect/>
          </a:stretch>
        </p:blipFill>
        <p:spPr>
          <a:xfrm>
            <a:off x="5919537" y="2231726"/>
            <a:ext cx="3609955" cy="4869850"/>
          </a:xfrm>
          <a:prstGeom prst="rect">
            <a:avLst/>
          </a:prstGeom>
        </p:spPr>
      </p:pic>
      <p:pic>
        <p:nvPicPr>
          <p:cNvPr id="10" name="Picture 9">
            <a:extLst>
              <a:ext uri="{FF2B5EF4-FFF2-40B4-BE49-F238E27FC236}">
                <a16:creationId xmlns:a16="http://schemas.microsoft.com/office/drawing/2014/main" id="{632D2779-1F90-BD73-135B-93212C5D29F8}"/>
              </a:ext>
            </a:extLst>
          </p:cNvPr>
          <p:cNvPicPr>
            <a:picLocks noChangeAspect="1"/>
          </p:cNvPicPr>
          <p:nvPr/>
        </p:nvPicPr>
        <p:blipFill>
          <a:blip r:embed="rId3"/>
          <a:stretch>
            <a:fillRect/>
          </a:stretch>
        </p:blipFill>
        <p:spPr>
          <a:xfrm>
            <a:off x="5919537" y="1820128"/>
            <a:ext cx="3609955" cy="478872"/>
          </a:xfrm>
          <a:prstGeom prst="rect">
            <a:avLst/>
          </a:prstGeom>
        </p:spPr>
      </p:pic>
    </p:spTree>
    <p:extLst>
      <p:ext uri="{BB962C8B-B14F-4D97-AF65-F5344CB8AC3E}">
        <p14:creationId xmlns:p14="http://schemas.microsoft.com/office/powerpoint/2010/main" val="2097186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06191-0907-26AF-C22E-04A145D146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BB1BD7-99C2-6491-53CE-C78CF7245D8F}"/>
              </a:ext>
            </a:extLst>
          </p:cNvPr>
          <p:cNvSpPr>
            <a:spLocks noGrp="1" noRot="1" noMove="1" noResize="1" noEditPoints="1" noAdjustHandles="1" noChangeArrowheads="1" noChangeShapeType="1"/>
          </p:cNvSpPr>
          <p:nvPr>
            <p:ph type="title"/>
          </p:nvPr>
        </p:nvSpPr>
        <p:spPr/>
        <p:txBody>
          <a:bodyPr/>
          <a:lstStyle/>
          <a:p>
            <a:r>
              <a:rPr lang="en-US" dirty="0"/>
              <a:t>DLA Distribution</a:t>
            </a:r>
            <a:endParaRPr lang="en-US" dirty="0">
              <a:latin typeface="Raleway Black" pitchFamily="2" charset="0"/>
            </a:endParaRPr>
          </a:p>
        </p:txBody>
      </p:sp>
      <p:sp>
        <p:nvSpPr>
          <p:cNvPr id="5" name="Text Placeholder 4">
            <a:extLst>
              <a:ext uri="{FF2B5EF4-FFF2-40B4-BE49-F238E27FC236}">
                <a16:creationId xmlns:a16="http://schemas.microsoft.com/office/drawing/2014/main" id="{C629BD16-A9E1-D142-35E9-AE7D7FC1E463}"/>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687C971E-1C64-4240-6C7E-72DA52FACEAE}"/>
              </a:ext>
            </a:extLst>
          </p:cNvPr>
          <p:cNvSpPr txBox="1"/>
          <p:nvPr/>
        </p:nvSpPr>
        <p:spPr>
          <a:xfrm>
            <a:off x="5396017" y="1732254"/>
            <a:ext cx="4577714" cy="1631216"/>
          </a:xfrm>
          <a:prstGeom prst="rect">
            <a:avLst/>
          </a:prstGeom>
          <a:noFill/>
        </p:spPr>
        <p:txBody>
          <a:bodyPr wrap="square">
            <a:spAutoFit/>
          </a:bodyPr>
          <a:lstStyle/>
          <a:p>
            <a:pPr defTabSz="914400" fontAlgn="base">
              <a:spcBef>
                <a:spcPts val="600"/>
              </a:spcBef>
              <a:spcAft>
                <a:spcPts val="600"/>
              </a:spcAft>
              <a:defRPr/>
            </a:pPr>
            <a:r>
              <a:rPr lang="en-US" b="1" dirty="0">
                <a:cs typeface="Times New Roman" panose="02020603050405020304" pitchFamily="18" charset="0"/>
              </a:rPr>
              <a:t>DLA Distribution Mission</a:t>
            </a:r>
          </a:p>
          <a:p>
            <a:pPr defTabSz="914400" fontAlgn="base">
              <a:spcBef>
                <a:spcPts val="600"/>
              </a:spcBef>
              <a:spcAft>
                <a:spcPts val="600"/>
              </a:spcAft>
              <a:defRPr/>
            </a:pPr>
            <a:r>
              <a:rPr lang="en-US" dirty="0">
                <a:ln/>
                <a:cs typeface="Times New Roman" panose="02020603050405020304" pitchFamily="18" charset="0"/>
              </a:rPr>
              <a:t>Provide agile, global storage and distribution services to enable readiness and lethality to the Warfighter and support Whole of Government.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6972FF9-FEF5-522A-F777-2B34DD1EF3EE}"/>
              </a:ext>
            </a:extLst>
          </p:cNvPr>
          <p:cNvSpPr txBox="1"/>
          <p:nvPr/>
        </p:nvSpPr>
        <p:spPr>
          <a:xfrm>
            <a:off x="5405161" y="3393560"/>
            <a:ext cx="4663440" cy="1800493"/>
          </a:xfrm>
          <a:prstGeom prst="rect">
            <a:avLst/>
          </a:prstGeom>
          <a:noFill/>
        </p:spPr>
        <p:txBody>
          <a:bodyPr wrap="square">
            <a:spAutoFit/>
          </a:bodyPr>
          <a:lstStyle/>
          <a:p>
            <a:pPr defTabSz="914400" fontAlgn="base">
              <a:spcBef>
                <a:spcPts val="600"/>
              </a:spcBef>
              <a:spcAft>
                <a:spcPts val="600"/>
              </a:spcAft>
              <a:defRPr/>
            </a:pPr>
            <a:r>
              <a:rPr lang="en-US" b="1" dirty="0">
                <a:cs typeface="Times New Roman" panose="02020603050405020304" pitchFamily="18" charset="0"/>
              </a:rPr>
              <a:t>DLA Distribution's Vision</a:t>
            </a:r>
          </a:p>
          <a:p>
            <a:pPr defTabSz="914400" fontAlgn="base">
              <a:lnSpc>
                <a:spcPct val="95000"/>
              </a:lnSpc>
              <a:spcBef>
                <a:spcPts val="300"/>
              </a:spcBef>
              <a:spcAft>
                <a:spcPts val="300"/>
              </a:spcAft>
              <a:defRPr/>
            </a:pPr>
            <a:r>
              <a:rPr lang="en-US" dirty="0">
                <a:ln/>
                <a:cs typeface="Times New Roman" panose="02020603050405020304" pitchFamily="18" charset="0"/>
              </a:rPr>
              <a:t>To lead DoD global distribution into the future through modernized capability, agile organization, a highly skilled workforce, and compelling innovation in support of the Warfighter.</a:t>
            </a:r>
            <a:endParaRPr lang="en-US" b="1" u="sng" dirty="0">
              <a:solidFill>
                <a:srgbClr val="FF0000"/>
              </a:solidFill>
              <a:cs typeface="Times New Roman" panose="02020603050405020304" pitchFamily="18" charset="0"/>
            </a:endParaRPr>
          </a:p>
        </p:txBody>
      </p:sp>
      <p:sp>
        <p:nvSpPr>
          <p:cNvPr id="12" name="TextBox 11">
            <a:extLst>
              <a:ext uri="{FF2B5EF4-FFF2-40B4-BE49-F238E27FC236}">
                <a16:creationId xmlns:a16="http://schemas.microsoft.com/office/drawing/2014/main" id="{F4786791-01C4-FD7F-18F1-E6A9DDC169FC}"/>
              </a:ext>
            </a:extLst>
          </p:cNvPr>
          <p:cNvSpPr txBox="1"/>
          <p:nvPr/>
        </p:nvSpPr>
        <p:spPr>
          <a:xfrm>
            <a:off x="5353154" y="5309559"/>
            <a:ext cx="4663440" cy="1477328"/>
          </a:xfrm>
          <a:prstGeom prst="rect">
            <a:avLst/>
          </a:prstGeom>
          <a:noFill/>
        </p:spPr>
        <p:txBody>
          <a:bodyPr wrap="square">
            <a:spAutoFit/>
          </a:bodyPr>
          <a:lstStyle/>
          <a:p>
            <a:r>
              <a:rPr lang="en-US" b="1" dirty="0"/>
              <a:t>Core Values</a:t>
            </a:r>
          </a:p>
          <a:p>
            <a:r>
              <a:rPr lang="en-US" dirty="0"/>
              <a:t>Leadership, Professionalism and Technical Knowledge through Dedication to Duty, Integrity, Ethics, Honor, Courage and Loyalty</a:t>
            </a:r>
          </a:p>
        </p:txBody>
      </p:sp>
      <p:sp>
        <p:nvSpPr>
          <p:cNvPr id="13" name="Rectangle 12">
            <a:extLst>
              <a:ext uri="{FF2B5EF4-FFF2-40B4-BE49-F238E27FC236}">
                <a16:creationId xmlns:a16="http://schemas.microsoft.com/office/drawing/2014/main" id="{7295C911-0044-4C1C-93E9-2846734B3A5E}"/>
              </a:ext>
            </a:extLst>
          </p:cNvPr>
          <p:cNvSpPr/>
          <p:nvPr/>
        </p:nvSpPr>
        <p:spPr>
          <a:xfrm>
            <a:off x="940393" y="5780399"/>
            <a:ext cx="4380810" cy="954107"/>
          </a:xfrm>
          <a:prstGeom prst="rect">
            <a:avLst/>
          </a:prstGeom>
        </p:spPr>
        <p:txBody>
          <a:bodyPr wrap="square">
            <a:spAutoFit/>
          </a:bodyPr>
          <a:lstStyle/>
          <a:p>
            <a:pPr defTabSz="914400"/>
            <a:r>
              <a:rPr lang="en-US" sz="2800" i="1" dirty="0">
                <a:solidFill>
                  <a:schemeClr val="tx2">
                    <a:lumMod val="75000"/>
                  </a:schemeClr>
                </a:solidFill>
                <a:latin typeface="Times New Roman" panose="02020603050405020304" pitchFamily="18" charset="0"/>
                <a:cs typeface="Times New Roman" panose="02020603050405020304" pitchFamily="18" charset="0"/>
              </a:rPr>
              <a:t>DoD’s Joint Storage &amp; </a:t>
            </a:r>
          </a:p>
          <a:p>
            <a:pPr defTabSz="914400"/>
            <a:r>
              <a:rPr lang="en-US" sz="2800" i="1" dirty="0">
                <a:solidFill>
                  <a:schemeClr val="tx2">
                    <a:lumMod val="75000"/>
                  </a:schemeClr>
                </a:solidFill>
                <a:latin typeface="Times New Roman" panose="02020603050405020304" pitchFamily="18" charset="0"/>
                <a:cs typeface="Times New Roman" panose="02020603050405020304" pitchFamily="18" charset="0"/>
              </a:rPr>
              <a:t>Distribution Provider!</a:t>
            </a:r>
          </a:p>
        </p:txBody>
      </p:sp>
      <p:pic>
        <p:nvPicPr>
          <p:cNvPr id="14" name="Content Placeholder 5">
            <a:extLst>
              <a:ext uri="{FF2B5EF4-FFF2-40B4-BE49-F238E27FC236}">
                <a16:creationId xmlns:a16="http://schemas.microsoft.com/office/drawing/2014/main" id="{FAFC6A41-28F1-C68A-DDE6-21067B133873}"/>
              </a:ext>
            </a:extLst>
          </p:cNvPr>
          <p:cNvPicPr>
            <a:picLocks noChangeAspect="1"/>
          </p:cNvPicPr>
          <p:nvPr/>
        </p:nvPicPr>
        <p:blipFill>
          <a:blip r:embed="rId2"/>
          <a:stretch>
            <a:fillRect/>
          </a:stretch>
        </p:blipFill>
        <p:spPr>
          <a:xfrm>
            <a:off x="294599" y="1502171"/>
            <a:ext cx="4621876" cy="4157832"/>
          </a:xfrm>
          <a:prstGeom prst="rect">
            <a:avLst/>
          </a:prstGeom>
        </p:spPr>
      </p:pic>
    </p:spTree>
    <p:extLst>
      <p:ext uri="{BB962C8B-B14F-4D97-AF65-F5344CB8AC3E}">
        <p14:creationId xmlns:p14="http://schemas.microsoft.com/office/powerpoint/2010/main" val="976849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BB22A-9EFB-A1BD-9809-00354023C8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0F47CF7-777C-3901-6DDB-B4D4A0B1B5D8}"/>
              </a:ext>
            </a:extLst>
          </p:cNvPr>
          <p:cNvSpPr>
            <a:spLocks noGrp="1" noRot="1" noMove="1" noResize="1" noEditPoints="1" noAdjustHandles="1" noChangeArrowheads="1" noChangeShapeType="1"/>
          </p:cNvSpPr>
          <p:nvPr>
            <p:ph type="title"/>
          </p:nvPr>
        </p:nvSpPr>
        <p:spPr/>
        <p:txBody>
          <a:bodyPr/>
          <a:lstStyle/>
          <a:p>
            <a:r>
              <a:rPr lang="en-US"/>
              <a:t>DLA Disposition</a:t>
            </a:r>
            <a:endParaRPr lang="en-US" dirty="0">
              <a:latin typeface="Raleway Black" pitchFamily="2" charset="0"/>
            </a:endParaRPr>
          </a:p>
        </p:txBody>
      </p:sp>
      <p:sp>
        <p:nvSpPr>
          <p:cNvPr id="5" name="Text Placeholder 4">
            <a:extLst>
              <a:ext uri="{FF2B5EF4-FFF2-40B4-BE49-F238E27FC236}">
                <a16:creationId xmlns:a16="http://schemas.microsoft.com/office/drawing/2014/main" id="{3D755945-FA36-E9D1-B265-217A4026F300}"/>
              </a:ext>
            </a:extLst>
          </p:cNvPr>
          <p:cNvSpPr>
            <a:spLocks noGrp="1"/>
          </p:cNvSpPr>
          <p:nvPr>
            <p:ph type="body" sz="quarter" idx="10"/>
          </p:nvPr>
        </p:nvSpPr>
        <p:spPr/>
        <p:txBody>
          <a:bodyPr/>
          <a:lstStyle/>
          <a:p>
            <a:endParaRPr lang="en-US"/>
          </a:p>
        </p:txBody>
      </p:sp>
      <p:sp>
        <p:nvSpPr>
          <p:cNvPr id="13" name="Rectangle 12">
            <a:extLst>
              <a:ext uri="{FF2B5EF4-FFF2-40B4-BE49-F238E27FC236}">
                <a16:creationId xmlns:a16="http://schemas.microsoft.com/office/drawing/2014/main" id="{E9B49F44-78E7-D3ED-68E6-FBFF8357CF48}"/>
              </a:ext>
            </a:extLst>
          </p:cNvPr>
          <p:cNvSpPr/>
          <p:nvPr/>
        </p:nvSpPr>
        <p:spPr>
          <a:xfrm>
            <a:off x="445162" y="5915008"/>
            <a:ext cx="4380810" cy="954107"/>
          </a:xfrm>
          <a:prstGeom prst="rect">
            <a:avLst/>
          </a:prstGeom>
        </p:spPr>
        <p:txBody>
          <a:bodyPr wrap="square">
            <a:spAutoFit/>
          </a:bodyPr>
          <a:lstStyle/>
          <a:p>
            <a:pPr algn="ctr" defTabSz="914400"/>
            <a:r>
              <a:rPr lang="en-US" sz="2800" i="1" dirty="0">
                <a:solidFill>
                  <a:schemeClr val="tx2">
                    <a:lumMod val="75000"/>
                  </a:schemeClr>
                </a:solidFill>
                <a:latin typeface="Times New Roman" panose="02020603050405020304" pitchFamily="18" charset="0"/>
                <a:cs typeface="Times New Roman" panose="02020603050405020304" pitchFamily="18" charset="0"/>
              </a:rPr>
              <a:t>DoD’s                               Reverse Logistics Expert!</a:t>
            </a:r>
          </a:p>
        </p:txBody>
      </p:sp>
      <p:pic>
        <p:nvPicPr>
          <p:cNvPr id="2" name="Picture 1">
            <a:extLst>
              <a:ext uri="{FF2B5EF4-FFF2-40B4-BE49-F238E27FC236}">
                <a16:creationId xmlns:a16="http://schemas.microsoft.com/office/drawing/2014/main" id="{2AAEF839-CA5B-5FCC-FE7B-25F44E59F84A}"/>
              </a:ext>
            </a:extLst>
          </p:cNvPr>
          <p:cNvPicPr>
            <a:picLocks noChangeAspect="1"/>
          </p:cNvPicPr>
          <p:nvPr/>
        </p:nvPicPr>
        <p:blipFill>
          <a:blip r:embed="rId2" cstate="print">
            <a:extLst>
              <a:ext uri="{28A0092B-C50C-407E-A947-70E740481C1C}">
                <a14:useLocalDpi xmlns:a14="http://schemas.microsoft.com/office/drawing/2010/main" val="0"/>
              </a:ext>
            </a:extLst>
          </a:blip>
          <a:srcRect b="13364"/>
          <a:stretch/>
        </p:blipFill>
        <p:spPr>
          <a:xfrm>
            <a:off x="392605" y="1484917"/>
            <a:ext cx="2097887" cy="1389032"/>
          </a:xfrm>
          <a:prstGeom prst="rect">
            <a:avLst/>
          </a:prstGeom>
        </p:spPr>
      </p:pic>
      <p:pic>
        <p:nvPicPr>
          <p:cNvPr id="3" name="Picture 2">
            <a:extLst>
              <a:ext uri="{FF2B5EF4-FFF2-40B4-BE49-F238E27FC236}">
                <a16:creationId xmlns:a16="http://schemas.microsoft.com/office/drawing/2014/main" id="{FDE6E9B8-28CE-0C5D-2330-3B76C73325A4}"/>
              </a:ext>
            </a:extLst>
          </p:cNvPr>
          <p:cNvPicPr>
            <a:picLocks noChangeAspect="1"/>
          </p:cNvPicPr>
          <p:nvPr/>
        </p:nvPicPr>
        <p:blipFill>
          <a:blip r:embed="rId3"/>
          <a:srcRect b="11572"/>
          <a:stretch/>
        </p:blipFill>
        <p:spPr>
          <a:xfrm>
            <a:off x="412903" y="4399057"/>
            <a:ext cx="2097887" cy="1417770"/>
          </a:xfrm>
          <a:prstGeom prst="rect">
            <a:avLst/>
          </a:prstGeom>
        </p:spPr>
      </p:pic>
      <p:pic>
        <p:nvPicPr>
          <p:cNvPr id="7" name="Picture 15" descr="A picture containing truck, outdoor, sky, military vehicle&#10;&#10;Description automatically generated">
            <a:extLst>
              <a:ext uri="{FF2B5EF4-FFF2-40B4-BE49-F238E27FC236}">
                <a16:creationId xmlns:a16="http://schemas.microsoft.com/office/drawing/2014/main" id="{F4EAD346-E951-CA72-17CC-892CD8BA00F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3364"/>
          <a:stretch/>
        </p:blipFill>
        <p:spPr bwMode="auto">
          <a:xfrm>
            <a:off x="2639773" y="1484917"/>
            <a:ext cx="1940850" cy="138903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F29A21E6-0B6D-C850-1A0F-2A8E119F00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35567" y="4399057"/>
            <a:ext cx="1940850" cy="1405648"/>
          </a:xfrm>
          <a:prstGeom prst="rect">
            <a:avLst/>
          </a:prstGeom>
        </p:spPr>
      </p:pic>
      <p:pic>
        <p:nvPicPr>
          <p:cNvPr id="9" name="Picture 8">
            <a:extLst>
              <a:ext uri="{FF2B5EF4-FFF2-40B4-BE49-F238E27FC236}">
                <a16:creationId xmlns:a16="http://schemas.microsoft.com/office/drawing/2014/main" id="{02EECD5D-3750-BC79-09D4-B3B61D6C3B21}"/>
              </a:ext>
            </a:extLst>
          </p:cNvPr>
          <p:cNvPicPr>
            <a:picLocks noChangeAspect="1"/>
          </p:cNvPicPr>
          <p:nvPr/>
        </p:nvPicPr>
        <p:blipFill>
          <a:blip r:embed="rId6"/>
          <a:stretch>
            <a:fillRect/>
          </a:stretch>
        </p:blipFill>
        <p:spPr>
          <a:xfrm>
            <a:off x="389469" y="2945976"/>
            <a:ext cx="2097888" cy="1389032"/>
          </a:xfrm>
          <a:prstGeom prst="rect">
            <a:avLst/>
          </a:prstGeom>
        </p:spPr>
      </p:pic>
      <p:pic>
        <p:nvPicPr>
          <p:cNvPr id="10" name="03AD0727-F188-4E34-88E6-1C2CF4FD7C0A" descr="image2.jpeg">
            <a:extLst>
              <a:ext uri="{FF2B5EF4-FFF2-40B4-BE49-F238E27FC236}">
                <a16:creationId xmlns:a16="http://schemas.microsoft.com/office/drawing/2014/main" id="{489DFE10-1B6D-55CD-B9CA-E21F86DD404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88" t="10290" r="-888" b="35669"/>
          <a:stretch/>
        </p:blipFill>
        <p:spPr bwMode="auto">
          <a:xfrm>
            <a:off x="2639773" y="2929360"/>
            <a:ext cx="1934577" cy="1389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9E3BB2A6-7ACA-26C3-468F-A024E1395B12}"/>
              </a:ext>
            </a:extLst>
          </p:cNvPr>
          <p:cNvSpPr txBox="1"/>
          <p:nvPr/>
        </p:nvSpPr>
        <p:spPr>
          <a:xfrm>
            <a:off x="5295645" y="1484917"/>
            <a:ext cx="4577714" cy="2739211"/>
          </a:xfrm>
          <a:prstGeom prst="rect">
            <a:avLst/>
          </a:prstGeom>
          <a:noFill/>
        </p:spPr>
        <p:txBody>
          <a:bodyPr wrap="square">
            <a:spAutoFit/>
          </a:bodyPr>
          <a:lstStyle/>
          <a:p>
            <a:pPr defTabSz="914400" fontAlgn="base">
              <a:spcBef>
                <a:spcPts val="600"/>
              </a:spcBef>
              <a:spcAft>
                <a:spcPts val="600"/>
              </a:spcAft>
              <a:defRPr/>
            </a:pPr>
            <a:r>
              <a:rPr lang="en-US" sz="1600" b="1" dirty="0">
                <a:cs typeface="Times New Roman" panose="02020603050405020304" pitchFamily="18" charset="0"/>
              </a:rPr>
              <a:t>Our Mission</a:t>
            </a:r>
          </a:p>
          <a:p>
            <a:pPr defTabSz="914400" fontAlgn="base">
              <a:spcBef>
                <a:spcPts val="600"/>
              </a:spcBef>
              <a:spcAft>
                <a:spcPts val="600"/>
              </a:spcAft>
              <a:defRPr/>
            </a:pPr>
            <a:r>
              <a:rPr lang="en-US" sz="1600" b="0" i="0" u="none" strike="noStrike" dirty="0">
                <a:solidFill>
                  <a:srgbClr val="000000"/>
                </a:solidFill>
                <a:effectLst/>
                <a:latin typeface="Arial" panose="020B0604020202020204" pitchFamily="34" charset="0"/>
              </a:rPr>
              <a:t>Executes the worldwide Defense Materiel Disposition Program for excess and surplus property, supports hazardous waste disposal through contracted services on a reimbursable basis at enduring and contingency locations; and provides DLA customers with disposition solutions and best value support for the efficient and timely disposition of personal property.</a:t>
            </a:r>
            <a:r>
              <a:rPr lang="en-US" sz="1600" b="0" i="0" dirty="0">
                <a:solidFill>
                  <a:srgbClr val="000000"/>
                </a:solidFill>
                <a:effectLst/>
                <a:latin typeface="Arial" panose="020B0604020202020204" pitchFamily="34" charset="0"/>
              </a:rPr>
              <a:t>​</a:t>
            </a:r>
            <a:endParaRPr lang="en-US" sz="1600" b="1" dirty="0">
              <a:cs typeface="Times New Roman" panose="02020603050405020304" pitchFamily="18" charset="0"/>
            </a:endParaRPr>
          </a:p>
        </p:txBody>
      </p:sp>
      <p:sp>
        <p:nvSpPr>
          <p:cNvPr id="16" name="TextBox 15">
            <a:extLst>
              <a:ext uri="{FF2B5EF4-FFF2-40B4-BE49-F238E27FC236}">
                <a16:creationId xmlns:a16="http://schemas.microsoft.com/office/drawing/2014/main" id="{544DD2A0-267C-42B7-1EBD-3F4210A144C5}"/>
              </a:ext>
            </a:extLst>
          </p:cNvPr>
          <p:cNvSpPr txBox="1"/>
          <p:nvPr/>
        </p:nvSpPr>
        <p:spPr>
          <a:xfrm>
            <a:off x="5272794" y="4162528"/>
            <a:ext cx="4663440" cy="1654299"/>
          </a:xfrm>
          <a:prstGeom prst="rect">
            <a:avLst/>
          </a:prstGeom>
          <a:noFill/>
        </p:spPr>
        <p:txBody>
          <a:bodyPr wrap="square">
            <a:spAutoFit/>
          </a:bodyPr>
          <a:lstStyle/>
          <a:p>
            <a:pPr defTabSz="914400" fontAlgn="base">
              <a:spcBef>
                <a:spcPts val="600"/>
              </a:spcBef>
              <a:spcAft>
                <a:spcPts val="600"/>
              </a:spcAft>
              <a:defRPr/>
            </a:pPr>
            <a:r>
              <a:rPr lang="en-US" sz="1600" b="1" dirty="0">
                <a:cs typeface="Times New Roman" panose="02020603050405020304" pitchFamily="18" charset="0"/>
              </a:rPr>
              <a:t>Our Vision</a:t>
            </a:r>
          </a:p>
          <a:p>
            <a:pPr defTabSz="914400" fontAlgn="base">
              <a:lnSpc>
                <a:spcPct val="95000"/>
              </a:lnSpc>
              <a:spcBef>
                <a:spcPts val="300"/>
              </a:spcBef>
              <a:spcAft>
                <a:spcPts val="300"/>
              </a:spcAft>
              <a:defRPr/>
            </a:pPr>
            <a:r>
              <a:rPr lang="en-US" sz="1600" dirty="0">
                <a:ln/>
                <a:cs typeface="Times New Roman" panose="02020603050405020304" pitchFamily="18" charset="0"/>
              </a:rPr>
              <a:t>An innovative, learning, and adaptable organization which delivers optimum reverse logistics solutions that improves warfighter readiness and sustains value added materiel disposition support within a band of excellence.  </a:t>
            </a:r>
            <a:endParaRPr lang="en-US" sz="1600" b="1" u="sng" dirty="0">
              <a:solidFill>
                <a:srgbClr val="FF0000"/>
              </a:solidFill>
              <a:cs typeface="Times New Roman" panose="02020603050405020304" pitchFamily="18" charset="0"/>
            </a:endParaRPr>
          </a:p>
        </p:txBody>
      </p:sp>
      <p:sp>
        <p:nvSpPr>
          <p:cNvPr id="17" name="TextBox 16">
            <a:extLst>
              <a:ext uri="{FF2B5EF4-FFF2-40B4-BE49-F238E27FC236}">
                <a16:creationId xmlns:a16="http://schemas.microsoft.com/office/drawing/2014/main" id="{28CF5CFA-2937-626B-F03D-D55D175ADDB5}"/>
              </a:ext>
            </a:extLst>
          </p:cNvPr>
          <p:cNvSpPr txBox="1"/>
          <p:nvPr/>
        </p:nvSpPr>
        <p:spPr>
          <a:xfrm>
            <a:off x="5296857" y="5804705"/>
            <a:ext cx="4663440" cy="830997"/>
          </a:xfrm>
          <a:prstGeom prst="rect">
            <a:avLst/>
          </a:prstGeom>
          <a:noFill/>
        </p:spPr>
        <p:txBody>
          <a:bodyPr wrap="square">
            <a:spAutoFit/>
          </a:bodyPr>
          <a:lstStyle/>
          <a:p>
            <a:r>
              <a:rPr lang="en-US" sz="1600" b="1" dirty="0"/>
              <a:t>Our Values</a:t>
            </a:r>
          </a:p>
          <a:p>
            <a:r>
              <a:rPr lang="en-US" sz="1600" dirty="0"/>
              <a:t>Respect, Service, Trust, Excellence, and Innovation</a:t>
            </a:r>
          </a:p>
        </p:txBody>
      </p:sp>
    </p:spTree>
    <p:extLst>
      <p:ext uri="{BB962C8B-B14F-4D97-AF65-F5344CB8AC3E}">
        <p14:creationId xmlns:p14="http://schemas.microsoft.com/office/powerpoint/2010/main" val="1781655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2634A-06F1-3A26-4C7B-6D380CADE2F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4E0DCA-94E6-D286-C5D5-ED00B6F70ED9}"/>
              </a:ext>
            </a:extLst>
          </p:cNvPr>
          <p:cNvSpPr>
            <a:spLocks noGrp="1" noRot="1" noMove="1" noResize="1" noEditPoints="1" noAdjustHandles="1" noChangeArrowheads="1" noChangeShapeType="1"/>
          </p:cNvSpPr>
          <p:nvPr>
            <p:ph type="title"/>
          </p:nvPr>
        </p:nvSpPr>
        <p:spPr/>
        <p:txBody>
          <a:bodyPr/>
          <a:lstStyle/>
          <a:p>
            <a:r>
              <a:rPr lang="en-US" dirty="0"/>
              <a:t>DLA Distribution</a:t>
            </a:r>
            <a:endParaRPr lang="en-US" dirty="0">
              <a:latin typeface="Raleway Black" pitchFamily="2" charset="0"/>
            </a:endParaRPr>
          </a:p>
        </p:txBody>
      </p:sp>
      <p:sp>
        <p:nvSpPr>
          <p:cNvPr id="5" name="Text Placeholder 4">
            <a:extLst>
              <a:ext uri="{FF2B5EF4-FFF2-40B4-BE49-F238E27FC236}">
                <a16:creationId xmlns:a16="http://schemas.microsoft.com/office/drawing/2014/main" id="{D6D5AD64-B307-791D-1BD1-1AAC40D32506}"/>
              </a:ext>
            </a:extLst>
          </p:cNvPr>
          <p:cNvSpPr>
            <a:spLocks noGrp="1"/>
          </p:cNvSpPr>
          <p:nvPr>
            <p:ph type="body" sz="quarter" idx="10"/>
          </p:nvPr>
        </p:nvSpPr>
        <p:spPr/>
        <p:txBody>
          <a:bodyPr/>
          <a:lstStyle/>
          <a:p>
            <a:endParaRPr lang="en-US"/>
          </a:p>
        </p:txBody>
      </p:sp>
      <p:pic>
        <p:nvPicPr>
          <p:cNvPr id="11" name="Picture 10">
            <a:extLst>
              <a:ext uri="{FF2B5EF4-FFF2-40B4-BE49-F238E27FC236}">
                <a16:creationId xmlns:a16="http://schemas.microsoft.com/office/drawing/2014/main" id="{8FA41935-6EF3-6FF6-FB86-319D91E6305A}"/>
              </a:ext>
            </a:extLst>
          </p:cNvPr>
          <p:cNvPicPr>
            <a:picLocks noChangeAspect="1"/>
          </p:cNvPicPr>
          <p:nvPr/>
        </p:nvPicPr>
        <p:blipFill>
          <a:blip r:embed="rId2"/>
          <a:stretch>
            <a:fillRect/>
          </a:stretch>
        </p:blipFill>
        <p:spPr>
          <a:xfrm>
            <a:off x="191630" y="1311619"/>
            <a:ext cx="9731542" cy="5648233"/>
          </a:xfrm>
          <a:prstGeom prst="rect">
            <a:avLst/>
          </a:prstGeom>
        </p:spPr>
      </p:pic>
    </p:spTree>
    <p:extLst>
      <p:ext uri="{BB962C8B-B14F-4D97-AF65-F5344CB8AC3E}">
        <p14:creationId xmlns:p14="http://schemas.microsoft.com/office/powerpoint/2010/main" val="1122695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EBE7-3116-48EF-A29D-3A3CA981D2E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42D5B44-7C32-7E0D-F24D-E4F5C41BCA6A}"/>
              </a:ext>
            </a:extLst>
          </p:cNvPr>
          <p:cNvSpPr>
            <a:spLocks noGrp="1" noRot="1" noMove="1" noResize="1" noEditPoints="1" noAdjustHandles="1" noChangeArrowheads="1" noChangeShapeType="1"/>
          </p:cNvSpPr>
          <p:nvPr>
            <p:ph type="title"/>
          </p:nvPr>
        </p:nvSpPr>
        <p:spPr/>
        <p:txBody>
          <a:bodyPr/>
          <a:lstStyle/>
          <a:p>
            <a:r>
              <a:rPr lang="en-US" dirty="0"/>
              <a:t>DLA Disposition Services</a:t>
            </a:r>
            <a:endParaRPr lang="en-US" dirty="0">
              <a:latin typeface="Raleway Black" pitchFamily="2" charset="0"/>
            </a:endParaRPr>
          </a:p>
        </p:txBody>
      </p:sp>
      <p:sp>
        <p:nvSpPr>
          <p:cNvPr id="5" name="Text Placeholder 4">
            <a:extLst>
              <a:ext uri="{FF2B5EF4-FFF2-40B4-BE49-F238E27FC236}">
                <a16:creationId xmlns:a16="http://schemas.microsoft.com/office/drawing/2014/main" id="{3ED84507-446D-8CA7-C888-82B69232B491}"/>
              </a:ext>
            </a:extLst>
          </p:cNvPr>
          <p:cNvSpPr>
            <a:spLocks noGrp="1"/>
          </p:cNvSpPr>
          <p:nvPr>
            <p:ph type="body" sz="quarter" idx="10"/>
          </p:nvPr>
        </p:nvSpPr>
        <p:spPr/>
        <p:txBody>
          <a:bodyPr/>
          <a:lstStyle/>
          <a:p>
            <a:endParaRPr lang="en-US"/>
          </a:p>
        </p:txBody>
      </p:sp>
      <p:pic>
        <p:nvPicPr>
          <p:cNvPr id="3" name="Picture 2">
            <a:extLst>
              <a:ext uri="{FF2B5EF4-FFF2-40B4-BE49-F238E27FC236}">
                <a16:creationId xmlns:a16="http://schemas.microsoft.com/office/drawing/2014/main" id="{EBCE678B-6201-C871-2070-C7FEE8FB7691}"/>
              </a:ext>
            </a:extLst>
          </p:cNvPr>
          <p:cNvPicPr>
            <a:picLocks noChangeAspect="1"/>
          </p:cNvPicPr>
          <p:nvPr/>
        </p:nvPicPr>
        <p:blipFill>
          <a:blip r:embed="rId3"/>
          <a:stretch>
            <a:fillRect/>
          </a:stretch>
        </p:blipFill>
        <p:spPr>
          <a:xfrm>
            <a:off x="-100443" y="1528927"/>
            <a:ext cx="10267529" cy="5629861"/>
          </a:xfrm>
          <a:prstGeom prst="rect">
            <a:avLst/>
          </a:prstGeom>
        </p:spPr>
      </p:pic>
    </p:spTree>
    <p:extLst>
      <p:ext uri="{BB962C8B-B14F-4D97-AF65-F5344CB8AC3E}">
        <p14:creationId xmlns:p14="http://schemas.microsoft.com/office/powerpoint/2010/main" val="3362355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CE8A4-8D41-7E5D-22DB-88F4345F280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8980F7-5527-3FDC-BA29-A8F05FBCF6A3}"/>
              </a:ext>
            </a:extLst>
          </p:cNvPr>
          <p:cNvSpPr>
            <a:spLocks noGrp="1" noRot="1" noMove="1" noResize="1" noEditPoints="1" noAdjustHandles="1" noChangeArrowheads="1" noChangeShapeType="1"/>
          </p:cNvSpPr>
          <p:nvPr>
            <p:ph type="title"/>
          </p:nvPr>
        </p:nvSpPr>
        <p:spPr/>
        <p:txBody>
          <a:bodyPr/>
          <a:lstStyle/>
          <a:p>
            <a:r>
              <a:rPr lang="en-US" dirty="0"/>
              <a:t>DLA Disposition Services</a:t>
            </a:r>
            <a:endParaRPr lang="en-US" dirty="0">
              <a:latin typeface="Raleway Black" pitchFamily="2" charset="0"/>
            </a:endParaRPr>
          </a:p>
        </p:txBody>
      </p:sp>
      <p:sp>
        <p:nvSpPr>
          <p:cNvPr id="5" name="Text Placeholder 4">
            <a:extLst>
              <a:ext uri="{FF2B5EF4-FFF2-40B4-BE49-F238E27FC236}">
                <a16:creationId xmlns:a16="http://schemas.microsoft.com/office/drawing/2014/main" id="{71C83363-BA04-1EE4-2F0B-5560EC4BF7C2}"/>
              </a:ext>
            </a:extLst>
          </p:cNvPr>
          <p:cNvSpPr>
            <a:spLocks noGrp="1"/>
          </p:cNvSpPr>
          <p:nvPr>
            <p:ph type="body" sz="quarter" idx="10"/>
          </p:nvPr>
        </p:nvSpPr>
        <p:spPr/>
        <p:txBody>
          <a:bodyPr/>
          <a:lstStyle/>
          <a:p>
            <a:r>
              <a:rPr lang="en-US" dirty="0"/>
              <a:t>Enduring Locations</a:t>
            </a:r>
          </a:p>
        </p:txBody>
      </p:sp>
      <p:pic>
        <p:nvPicPr>
          <p:cNvPr id="6" name="Picture 5">
            <a:extLst>
              <a:ext uri="{FF2B5EF4-FFF2-40B4-BE49-F238E27FC236}">
                <a16:creationId xmlns:a16="http://schemas.microsoft.com/office/drawing/2014/main" id="{AA967C39-0347-2A08-7315-60CF80392CBE}"/>
              </a:ext>
            </a:extLst>
          </p:cNvPr>
          <p:cNvPicPr>
            <a:picLocks noChangeAspect="1"/>
          </p:cNvPicPr>
          <p:nvPr/>
        </p:nvPicPr>
        <p:blipFill>
          <a:blip r:embed="rId3"/>
          <a:stretch>
            <a:fillRect/>
          </a:stretch>
        </p:blipFill>
        <p:spPr>
          <a:xfrm>
            <a:off x="-103180" y="1419903"/>
            <a:ext cx="9981106" cy="5823108"/>
          </a:xfrm>
          <a:prstGeom prst="rect">
            <a:avLst/>
          </a:prstGeom>
        </p:spPr>
      </p:pic>
    </p:spTree>
    <p:extLst>
      <p:ext uri="{BB962C8B-B14F-4D97-AF65-F5344CB8AC3E}">
        <p14:creationId xmlns:p14="http://schemas.microsoft.com/office/powerpoint/2010/main" val="3543896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F5720-E976-9E7A-C708-9BD8A91C576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B582470-3767-66D0-2350-87AF06C45C8E}"/>
              </a:ext>
            </a:extLst>
          </p:cNvPr>
          <p:cNvSpPr>
            <a:spLocks noGrp="1" noRot="1" noMove="1" noResize="1" noEditPoints="1" noAdjustHandles="1" noChangeArrowheads="1" noChangeShapeType="1"/>
          </p:cNvSpPr>
          <p:nvPr>
            <p:ph type="title"/>
          </p:nvPr>
        </p:nvSpPr>
        <p:spPr/>
        <p:txBody>
          <a:bodyPr/>
          <a:lstStyle/>
          <a:p>
            <a:r>
              <a:rPr lang="en-US" dirty="0"/>
              <a:t>WMS Introduction</a:t>
            </a:r>
            <a:endParaRPr lang="en-US" dirty="0">
              <a:latin typeface="Raleway Black" pitchFamily="2" charset="0"/>
            </a:endParaRPr>
          </a:p>
        </p:txBody>
      </p:sp>
      <p:sp>
        <p:nvSpPr>
          <p:cNvPr id="5" name="Text Placeholder 4">
            <a:extLst>
              <a:ext uri="{FF2B5EF4-FFF2-40B4-BE49-F238E27FC236}">
                <a16:creationId xmlns:a16="http://schemas.microsoft.com/office/drawing/2014/main" id="{28B2B39E-5B35-4F32-CBE8-421EC42FACBD}"/>
              </a:ext>
            </a:extLst>
          </p:cNvPr>
          <p:cNvSpPr>
            <a:spLocks noGrp="1"/>
          </p:cNvSpPr>
          <p:nvPr>
            <p:ph type="body" sz="quarter" idx="10"/>
          </p:nvPr>
        </p:nvSpPr>
        <p:spPr/>
        <p:txBody>
          <a:bodyPr/>
          <a:lstStyle/>
          <a:p>
            <a:r>
              <a:rPr lang="en-US" dirty="0"/>
              <a:t>We are Modernizing</a:t>
            </a:r>
          </a:p>
        </p:txBody>
      </p:sp>
      <p:pic>
        <p:nvPicPr>
          <p:cNvPr id="3" name="Picture 2">
            <a:extLst>
              <a:ext uri="{FF2B5EF4-FFF2-40B4-BE49-F238E27FC236}">
                <a16:creationId xmlns:a16="http://schemas.microsoft.com/office/drawing/2014/main" id="{6EF93A08-18C1-95C3-10CB-0171721C48B8}"/>
              </a:ext>
            </a:extLst>
          </p:cNvPr>
          <p:cNvPicPr>
            <a:picLocks noChangeAspect="1"/>
          </p:cNvPicPr>
          <p:nvPr/>
        </p:nvPicPr>
        <p:blipFill>
          <a:blip r:embed="rId3"/>
          <a:stretch>
            <a:fillRect/>
          </a:stretch>
        </p:blipFill>
        <p:spPr>
          <a:xfrm>
            <a:off x="0" y="1463726"/>
            <a:ext cx="10363200" cy="5839441"/>
          </a:xfrm>
          <a:prstGeom prst="rect">
            <a:avLst/>
          </a:prstGeom>
        </p:spPr>
      </p:pic>
    </p:spTree>
    <p:extLst>
      <p:ext uri="{BB962C8B-B14F-4D97-AF65-F5344CB8AC3E}">
        <p14:creationId xmlns:p14="http://schemas.microsoft.com/office/powerpoint/2010/main" val="1533949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3B4C2-C6F3-5B25-E6FE-6D6FD7AC105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D165C4-EC42-9438-756B-86E9BA7EEEB3}"/>
              </a:ext>
            </a:extLst>
          </p:cNvPr>
          <p:cNvSpPr>
            <a:spLocks noGrp="1" noRot="1" noMove="1" noResize="1" noEditPoints="1" noAdjustHandles="1" noChangeArrowheads="1" noChangeShapeType="1"/>
          </p:cNvSpPr>
          <p:nvPr>
            <p:ph type="title"/>
          </p:nvPr>
        </p:nvSpPr>
        <p:spPr/>
        <p:txBody>
          <a:bodyPr/>
          <a:lstStyle/>
          <a:p>
            <a:r>
              <a:rPr lang="en-US" dirty="0"/>
              <a:t>WMS Introduction</a:t>
            </a:r>
            <a:endParaRPr lang="en-US" dirty="0">
              <a:latin typeface="Raleway Black" pitchFamily="2" charset="0"/>
            </a:endParaRPr>
          </a:p>
        </p:txBody>
      </p:sp>
      <p:sp>
        <p:nvSpPr>
          <p:cNvPr id="5" name="Text Placeholder 4">
            <a:extLst>
              <a:ext uri="{FF2B5EF4-FFF2-40B4-BE49-F238E27FC236}">
                <a16:creationId xmlns:a16="http://schemas.microsoft.com/office/drawing/2014/main" id="{3BF8FFAB-D7C7-7580-61E9-38832F98E437}"/>
              </a:ext>
            </a:extLst>
          </p:cNvPr>
          <p:cNvSpPr>
            <a:spLocks noGrp="1"/>
          </p:cNvSpPr>
          <p:nvPr>
            <p:ph type="body" sz="quarter" idx="10"/>
          </p:nvPr>
        </p:nvSpPr>
        <p:spPr/>
        <p:txBody>
          <a:bodyPr/>
          <a:lstStyle/>
          <a:p>
            <a:r>
              <a:rPr lang="en-US" sz="1200" dirty="0"/>
              <a:t>Why a New WMS?</a:t>
            </a:r>
          </a:p>
        </p:txBody>
      </p:sp>
      <p:sp>
        <p:nvSpPr>
          <p:cNvPr id="2" name="Content Placeholder 2">
            <a:extLst>
              <a:ext uri="{FF2B5EF4-FFF2-40B4-BE49-F238E27FC236}">
                <a16:creationId xmlns:a16="http://schemas.microsoft.com/office/drawing/2014/main" id="{02CE514F-2B3E-D9E4-E571-D34ADCC0FAD9}"/>
              </a:ext>
            </a:extLst>
          </p:cNvPr>
          <p:cNvSpPr txBox="1">
            <a:spLocks/>
          </p:cNvSpPr>
          <p:nvPr/>
        </p:nvSpPr>
        <p:spPr>
          <a:xfrm>
            <a:off x="268798" y="1708075"/>
            <a:ext cx="4315234" cy="5486809"/>
          </a:xfrm>
          <a:prstGeom prst="rect">
            <a:avLst/>
          </a:prstGeom>
        </p:spPr>
        <p:txBody>
          <a:bodyPr>
            <a:normAutofit fontScale="92500" lnSpcReduction="10000"/>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WMS is key to improving:</a:t>
            </a:r>
          </a:p>
          <a:p>
            <a:pPr lvl="1"/>
            <a:r>
              <a:rPr lang="en-US" dirty="0"/>
              <a:t>Productivity</a:t>
            </a:r>
          </a:p>
          <a:p>
            <a:pPr lvl="1"/>
            <a:r>
              <a:rPr lang="en-US" dirty="0"/>
              <a:t>Reputation</a:t>
            </a:r>
          </a:p>
          <a:p>
            <a:pPr lvl="1"/>
            <a:r>
              <a:rPr lang="en-US" dirty="0"/>
              <a:t>Bottom line</a:t>
            </a:r>
          </a:p>
          <a:p>
            <a:pPr lvl="1"/>
            <a:r>
              <a:rPr lang="en-US" dirty="0"/>
              <a:t>Relevancy</a:t>
            </a:r>
          </a:p>
          <a:p>
            <a:r>
              <a:rPr lang="en-US" dirty="0"/>
              <a:t>WMS strengthens:</a:t>
            </a:r>
          </a:p>
          <a:p>
            <a:pPr lvl="1"/>
            <a:r>
              <a:rPr lang="en-US" dirty="0"/>
              <a:t>Internal controls</a:t>
            </a:r>
          </a:p>
          <a:p>
            <a:pPr lvl="1"/>
            <a:r>
              <a:rPr lang="en-US" dirty="0"/>
              <a:t>Financial practices, processes, and systems </a:t>
            </a:r>
          </a:p>
          <a:p>
            <a:pPr lvl="1"/>
            <a:r>
              <a:rPr lang="en-US" dirty="0"/>
              <a:t>Audit readiness</a:t>
            </a:r>
          </a:p>
          <a:p>
            <a:pPr lvl="1"/>
            <a:r>
              <a:rPr lang="en-US" sz="2400" dirty="0"/>
              <a:t>Records physical inventory counts at bin level</a:t>
            </a:r>
          </a:p>
          <a:p>
            <a:pPr lvl="1"/>
            <a:r>
              <a:rPr lang="en-US" sz="2400" dirty="0"/>
              <a:t>Supports recording gains/losses to specific owner</a:t>
            </a:r>
          </a:p>
          <a:p>
            <a:pPr lvl="1"/>
            <a:r>
              <a:rPr lang="en-US" sz="2400" dirty="0"/>
              <a:t>Readily integrates new automation </a:t>
            </a:r>
          </a:p>
          <a:p>
            <a:pPr lvl="1"/>
            <a:endParaRPr lang="en-US" sz="2400" dirty="0"/>
          </a:p>
          <a:p>
            <a:pPr lvl="1"/>
            <a:endParaRPr lang="en-US" sz="2400" dirty="0"/>
          </a:p>
          <a:p>
            <a:pPr lvl="1"/>
            <a:endParaRPr lang="en-US" dirty="0"/>
          </a:p>
          <a:p>
            <a:pPr lvl="1"/>
            <a:endParaRPr lang="en-US" dirty="0"/>
          </a:p>
        </p:txBody>
      </p:sp>
      <p:pic>
        <p:nvPicPr>
          <p:cNvPr id="6" name="Picture 5" descr="A picture containing text, preparing&#10;&#10;Description automatically generated">
            <a:extLst>
              <a:ext uri="{FF2B5EF4-FFF2-40B4-BE49-F238E27FC236}">
                <a16:creationId xmlns:a16="http://schemas.microsoft.com/office/drawing/2014/main" id="{0748B3E8-F0E8-6C3A-17CA-944FB5A4F3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5453" y="1871562"/>
            <a:ext cx="4820503" cy="3213668"/>
          </a:xfrm>
          <a:prstGeom prst="rect">
            <a:avLst/>
          </a:prstGeom>
        </p:spPr>
      </p:pic>
    </p:spTree>
    <p:extLst>
      <p:ext uri="{BB962C8B-B14F-4D97-AF65-F5344CB8AC3E}">
        <p14:creationId xmlns:p14="http://schemas.microsoft.com/office/powerpoint/2010/main" val="3929813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75AB9-631F-AA83-744C-3FA0FABBB5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11D60E9-CE27-3EC3-D673-3394F5F6BAD7}"/>
              </a:ext>
            </a:extLst>
          </p:cNvPr>
          <p:cNvSpPr>
            <a:spLocks noGrp="1" noRot="1" noMove="1" noResize="1" noEditPoints="1" noAdjustHandles="1" noChangeArrowheads="1" noChangeShapeType="1"/>
          </p:cNvSpPr>
          <p:nvPr>
            <p:ph type="title"/>
          </p:nvPr>
        </p:nvSpPr>
        <p:spPr/>
        <p:txBody>
          <a:bodyPr/>
          <a:lstStyle/>
          <a:p>
            <a:r>
              <a:rPr lang="en-US" dirty="0"/>
              <a:t>WMS Introduction</a:t>
            </a:r>
            <a:endParaRPr lang="en-US" dirty="0">
              <a:latin typeface="Raleway Black" pitchFamily="2" charset="0"/>
            </a:endParaRPr>
          </a:p>
        </p:txBody>
      </p:sp>
      <p:sp>
        <p:nvSpPr>
          <p:cNvPr id="5" name="Text Placeholder 4">
            <a:extLst>
              <a:ext uri="{FF2B5EF4-FFF2-40B4-BE49-F238E27FC236}">
                <a16:creationId xmlns:a16="http://schemas.microsoft.com/office/drawing/2014/main" id="{305BCD50-CA06-1ECA-A542-78E242BD4059}"/>
              </a:ext>
            </a:extLst>
          </p:cNvPr>
          <p:cNvSpPr>
            <a:spLocks noGrp="1"/>
          </p:cNvSpPr>
          <p:nvPr>
            <p:ph type="body" sz="quarter" idx="10"/>
          </p:nvPr>
        </p:nvSpPr>
        <p:spPr/>
        <p:txBody>
          <a:bodyPr/>
          <a:lstStyle/>
          <a:p>
            <a:r>
              <a:rPr lang="en-US" sz="1200" dirty="0"/>
              <a:t>Why this WMS?</a:t>
            </a:r>
          </a:p>
        </p:txBody>
      </p:sp>
      <p:pic>
        <p:nvPicPr>
          <p:cNvPr id="7" name="Picture 6">
            <a:extLst>
              <a:ext uri="{FF2B5EF4-FFF2-40B4-BE49-F238E27FC236}">
                <a16:creationId xmlns:a16="http://schemas.microsoft.com/office/drawing/2014/main" id="{3E0CF098-3BBD-43B0-7F69-9B3753548B8B}"/>
              </a:ext>
            </a:extLst>
          </p:cNvPr>
          <p:cNvPicPr>
            <a:picLocks noChangeAspect="1"/>
          </p:cNvPicPr>
          <p:nvPr/>
        </p:nvPicPr>
        <p:blipFill>
          <a:blip r:embed="rId3"/>
          <a:stretch>
            <a:fillRect/>
          </a:stretch>
        </p:blipFill>
        <p:spPr>
          <a:xfrm>
            <a:off x="-169965" y="1404590"/>
            <a:ext cx="10218513" cy="5700049"/>
          </a:xfrm>
          <a:prstGeom prst="rect">
            <a:avLst/>
          </a:prstGeom>
        </p:spPr>
      </p:pic>
    </p:spTree>
    <p:extLst>
      <p:ext uri="{BB962C8B-B14F-4D97-AF65-F5344CB8AC3E}">
        <p14:creationId xmlns:p14="http://schemas.microsoft.com/office/powerpoint/2010/main" val="2794511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C90DE-C4D6-A20C-9F22-8C76E139D51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DB2082A-4F34-A601-FF80-5EA08121ABA1}"/>
              </a:ext>
            </a:extLst>
          </p:cNvPr>
          <p:cNvSpPr>
            <a:spLocks noGrp="1" noRot="1" noMove="1" noResize="1" noEditPoints="1" noAdjustHandles="1" noChangeArrowheads="1" noChangeShapeType="1"/>
          </p:cNvSpPr>
          <p:nvPr>
            <p:ph type="title"/>
          </p:nvPr>
        </p:nvSpPr>
        <p:spPr/>
        <p:txBody>
          <a:bodyPr/>
          <a:lstStyle/>
          <a:p>
            <a:r>
              <a:rPr lang="en-US" dirty="0"/>
              <a:t>WMS Introduction</a:t>
            </a:r>
            <a:endParaRPr lang="en-US" dirty="0">
              <a:latin typeface="Raleway Black" pitchFamily="2" charset="0"/>
            </a:endParaRPr>
          </a:p>
        </p:txBody>
      </p:sp>
      <p:sp>
        <p:nvSpPr>
          <p:cNvPr id="5" name="Text Placeholder 4">
            <a:extLst>
              <a:ext uri="{FF2B5EF4-FFF2-40B4-BE49-F238E27FC236}">
                <a16:creationId xmlns:a16="http://schemas.microsoft.com/office/drawing/2014/main" id="{BBD06185-3785-4BC1-9A3A-9ACA8148626D}"/>
              </a:ext>
            </a:extLst>
          </p:cNvPr>
          <p:cNvSpPr>
            <a:spLocks noGrp="1"/>
          </p:cNvSpPr>
          <p:nvPr>
            <p:ph type="body" sz="quarter" idx="10"/>
          </p:nvPr>
        </p:nvSpPr>
        <p:spPr/>
        <p:txBody>
          <a:bodyPr/>
          <a:lstStyle/>
          <a:p>
            <a:r>
              <a:rPr lang="en-US" sz="1200" dirty="0"/>
              <a:t>WMS</a:t>
            </a:r>
            <a:r>
              <a:rPr lang="en-US" dirty="0"/>
              <a:t> Feedback</a:t>
            </a:r>
            <a:endParaRPr lang="en-US" sz="1200" dirty="0"/>
          </a:p>
        </p:txBody>
      </p:sp>
      <p:pic>
        <p:nvPicPr>
          <p:cNvPr id="3" name="Picture 2">
            <a:extLst>
              <a:ext uri="{FF2B5EF4-FFF2-40B4-BE49-F238E27FC236}">
                <a16:creationId xmlns:a16="http://schemas.microsoft.com/office/drawing/2014/main" id="{C046640A-34EF-B58D-E8CD-0066A37560E2}"/>
              </a:ext>
            </a:extLst>
          </p:cNvPr>
          <p:cNvPicPr>
            <a:picLocks noChangeAspect="1"/>
          </p:cNvPicPr>
          <p:nvPr/>
        </p:nvPicPr>
        <p:blipFill>
          <a:blip r:embed="rId3"/>
          <a:stretch>
            <a:fillRect/>
          </a:stretch>
        </p:blipFill>
        <p:spPr>
          <a:xfrm>
            <a:off x="8511" y="1552249"/>
            <a:ext cx="9893478" cy="5101214"/>
          </a:xfrm>
          <a:prstGeom prst="rect">
            <a:avLst/>
          </a:prstGeom>
        </p:spPr>
      </p:pic>
    </p:spTree>
    <p:extLst>
      <p:ext uri="{BB962C8B-B14F-4D97-AF65-F5344CB8AC3E}">
        <p14:creationId xmlns:p14="http://schemas.microsoft.com/office/powerpoint/2010/main" val="3037900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50512-D52B-B96D-2B64-9A0AD09470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E2686AC-2EFB-B9E0-E5B6-015ED66B635A}"/>
              </a:ext>
            </a:extLst>
          </p:cNvPr>
          <p:cNvSpPr>
            <a:spLocks noGrp="1" noRot="1" noMove="1" noResize="1" noEditPoints="1" noAdjustHandles="1" noChangeArrowheads="1" noChangeShapeType="1"/>
          </p:cNvSpPr>
          <p:nvPr>
            <p:ph type="title"/>
          </p:nvPr>
        </p:nvSpPr>
        <p:spPr/>
        <p:txBody>
          <a:bodyPr/>
          <a:lstStyle/>
          <a:p>
            <a:r>
              <a:rPr lang="en-US" dirty="0"/>
              <a:t>Warehouse Management System</a:t>
            </a:r>
            <a:endParaRPr lang="en-US" dirty="0">
              <a:latin typeface="Raleway Black" pitchFamily="2" charset="0"/>
            </a:endParaRPr>
          </a:p>
        </p:txBody>
      </p:sp>
      <p:sp>
        <p:nvSpPr>
          <p:cNvPr id="5" name="Text Placeholder 4">
            <a:extLst>
              <a:ext uri="{FF2B5EF4-FFF2-40B4-BE49-F238E27FC236}">
                <a16:creationId xmlns:a16="http://schemas.microsoft.com/office/drawing/2014/main" id="{0A4D02B6-182E-5B2A-AED3-5E5664B0C72B}"/>
              </a:ext>
            </a:extLst>
          </p:cNvPr>
          <p:cNvSpPr>
            <a:spLocks noGrp="1"/>
          </p:cNvSpPr>
          <p:nvPr>
            <p:ph type="body" sz="quarter" idx="10"/>
          </p:nvPr>
        </p:nvSpPr>
        <p:spPr/>
        <p:txBody>
          <a:bodyPr/>
          <a:lstStyle/>
          <a:p>
            <a:r>
              <a:rPr lang="en-US" sz="1200" dirty="0"/>
              <a:t>WMS</a:t>
            </a:r>
          </a:p>
        </p:txBody>
      </p:sp>
      <p:pic>
        <p:nvPicPr>
          <p:cNvPr id="6" name="Picture 5">
            <a:extLst>
              <a:ext uri="{FF2B5EF4-FFF2-40B4-BE49-F238E27FC236}">
                <a16:creationId xmlns:a16="http://schemas.microsoft.com/office/drawing/2014/main" id="{6872F2B3-ED4B-DFE8-4143-256CC6AE5378}"/>
              </a:ext>
            </a:extLst>
          </p:cNvPr>
          <p:cNvPicPr>
            <a:picLocks noChangeAspect="1"/>
          </p:cNvPicPr>
          <p:nvPr/>
        </p:nvPicPr>
        <p:blipFill>
          <a:blip r:embed="rId3"/>
          <a:stretch>
            <a:fillRect/>
          </a:stretch>
        </p:blipFill>
        <p:spPr>
          <a:xfrm>
            <a:off x="350556" y="1551721"/>
            <a:ext cx="9662087" cy="5763478"/>
          </a:xfrm>
          <a:prstGeom prst="rect">
            <a:avLst/>
          </a:prstGeom>
        </p:spPr>
      </p:pic>
    </p:spTree>
    <p:extLst>
      <p:ext uri="{BB962C8B-B14F-4D97-AF65-F5344CB8AC3E}">
        <p14:creationId xmlns:p14="http://schemas.microsoft.com/office/powerpoint/2010/main" val="2734017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F1896-33E7-92F1-E31F-DA1FB790A3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6913FB-CC73-F3C6-D56E-E0380C94D844}"/>
              </a:ext>
            </a:extLst>
          </p:cNvPr>
          <p:cNvSpPr>
            <a:spLocks noGrp="1" noRot="1" noMove="1" noResize="1" noEditPoints="1" noAdjustHandles="1" noChangeArrowheads="1" noChangeShapeType="1"/>
          </p:cNvSpPr>
          <p:nvPr>
            <p:ph type="title"/>
          </p:nvPr>
        </p:nvSpPr>
        <p:spPr/>
        <p:txBody>
          <a:bodyPr/>
          <a:lstStyle/>
          <a:p>
            <a:r>
              <a:rPr lang="en-US" dirty="0"/>
              <a:t>WMS Impacts</a:t>
            </a:r>
            <a:endParaRPr lang="en-US" dirty="0">
              <a:latin typeface="Raleway Black" pitchFamily="2" charset="0"/>
            </a:endParaRPr>
          </a:p>
        </p:txBody>
      </p:sp>
      <p:sp>
        <p:nvSpPr>
          <p:cNvPr id="5" name="Text Placeholder 4">
            <a:extLst>
              <a:ext uri="{FF2B5EF4-FFF2-40B4-BE49-F238E27FC236}">
                <a16:creationId xmlns:a16="http://schemas.microsoft.com/office/drawing/2014/main" id="{AE16128A-745D-8904-7719-6C508D2FC81E}"/>
              </a:ext>
            </a:extLst>
          </p:cNvPr>
          <p:cNvSpPr>
            <a:spLocks noGrp="1"/>
          </p:cNvSpPr>
          <p:nvPr>
            <p:ph type="body" sz="quarter" idx="10"/>
          </p:nvPr>
        </p:nvSpPr>
        <p:spPr/>
        <p:txBody>
          <a:bodyPr/>
          <a:lstStyle/>
          <a:p>
            <a:r>
              <a:rPr lang="en-US" sz="1200" dirty="0"/>
              <a:t>Pick-Pack-Ship DSS vs WMS</a:t>
            </a:r>
          </a:p>
        </p:txBody>
      </p:sp>
      <p:pic>
        <p:nvPicPr>
          <p:cNvPr id="3" name="Picture 2">
            <a:extLst>
              <a:ext uri="{FF2B5EF4-FFF2-40B4-BE49-F238E27FC236}">
                <a16:creationId xmlns:a16="http://schemas.microsoft.com/office/drawing/2014/main" id="{CD653CD9-0A6C-214C-19A8-F689AD7C9EB0}"/>
              </a:ext>
            </a:extLst>
          </p:cNvPr>
          <p:cNvPicPr>
            <a:picLocks noChangeAspect="1"/>
          </p:cNvPicPr>
          <p:nvPr/>
        </p:nvPicPr>
        <p:blipFill>
          <a:blip r:embed="rId3"/>
          <a:stretch>
            <a:fillRect/>
          </a:stretch>
        </p:blipFill>
        <p:spPr>
          <a:xfrm>
            <a:off x="18243" y="1447458"/>
            <a:ext cx="10066576" cy="5512393"/>
          </a:xfrm>
          <a:prstGeom prst="rect">
            <a:avLst/>
          </a:prstGeom>
        </p:spPr>
      </p:pic>
    </p:spTree>
    <p:extLst>
      <p:ext uri="{BB962C8B-B14F-4D97-AF65-F5344CB8AC3E}">
        <p14:creationId xmlns:p14="http://schemas.microsoft.com/office/powerpoint/2010/main" val="1263946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8BB1B-0553-14F1-366A-627A66FAA60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46036F-8548-AD44-01E3-E812FA2FE5B1}"/>
              </a:ext>
            </a:extLst>
          </p:cNvPr>
          <p:cNvSpPr>
            <a:spLocks noGrp="1" noRot="1" noMove="1" noResize="1" noEditPoints="1" noAdjustHandles="1" noChangeArrowheads="1" noChangeShapeType="1"/>
          </p:cNvSpPr>
          <p:nvPr>
            <p:ph type="title"/>
          </p:nvPr>
        </p:nvSpPr>
        <p:spPr/>
        <p:txBody>
          <a:bodyPr/>
          <a:lstStyle/>
          <a:p>
            <a:r>
              <a:rPr lang="en-US" dirty="0"/>
              <a:t>WMS Impacts</a:t>
            </a:r>
            <a:endParaRPr lang="en-US" dirty="0">
              <a:latin typeface="Raleway Black" pitchFamily="2" charset="0"/>
            </a:endParaRPr>
          </a:p>
        </p:txBody>
      </p:sp>
      <p:sp>
        <p:nvSpPr>
          <p:cNvPr id="5" name="Text Placeholder 4">
            <a:extLst>
              <a:ext uri="{FF2B5EF4-FFF2-40B4-BE49-F238E27FC236}">
                <a16:creationId xmlns:a16="http://schemas.microsoft.com/office/drawing/2014/main" id="{C77B5445-E328-CB1B-D434-088550C8C231}"/>
              </a:ext>
            </a:extLst>
          </p:cNvPr>
          <p:cNvSpPr>
            <a:spLocks noGrp="1"/>
          </p:cNvSpPr>
          <p:nvPr>
            <p:ph type="body" sz="quarter" idx="10"/>
          </p:nvPr>
        </p:nvSpPr>
        <p:spPr/>
        <p:txBody>
          <a:bodyPr/>
          <a:lstStyle/>
          <a:p>
            <a:r>
              <a:rPr lang="en-US" sz="1200" dirty="0"/>
              <a:t>Metrics</a:t>
            </a:r>
          </a:p>
        </p:txBody>
      </p:sp>
      <p:sp>
        <p:nvSpPr>
          <p:cNvPr id="2" name="TextBox 1">
            <a:extLst>
              <a:ext uri="{FF2B5EF4-FFF2-40B4-BE49-F238E27FC236}">
                <a16:creationId xmlns:a16="http://schemas.microsoft.com/office/drawing/2014/main" id="{E8A3B46C-248A-8852-3CF0-5045029F8E6C}"/>
              </a:ext>
            </a:extLst>
          </p:cNvPr>
          <p:cNvSpPr txBox="1"/>
          <p:nvPr/>
        </p:nvSpPr>
        <p:spPr>
          <a:xfrm>
            <a:off x="422031" y="1761360"/>
            <a:ext cx="8770095" cy="3816429"/>
          </a:xfrm>
          <a:prstGeom prst="rect">
            <a:avLst/>
          </a:prstGeom>
          <a:noFill/>
        </p:spPr>
        <p:txBody>
          <a:bodyPr wrap="square" rtlCol="0">
            <a:spAutoFit/>
          </a:bodyPr>
          <a:lstStyle/>
          <a:p>
            <a:pPr marL="0" marR="0">
              <a:spcBef>
                <a:spcPts val="0"/>
              </a:spcBef>
              <a:spcAft>
                <a:spcPts val="0"/>
              </a:spcAft>
            </a:pPr>
            <a:r>
              <a:rPr lang="en-US" sz="1600" dirty="0">
                <a:effectLst/>
                <a:latin typeface="+mj-lt"/>
                <a:ea typeface="Calibri" panose="020F0502020204030204" pitchFamily="34" charset="0"/>
              </a:rPr>
              <a:t>In DSS, the mission ship date is set based on rules specific to the mode of shipment, as follows:</a:t>
            </a:r>
          </a:p>
          <a:p>
            <a:pPr marL="0" marR="0">
              <a:spcBef>
                <a:spcPts val="0"/>
              </a:spcBef>
              <a:spcAft>
                <a:spcPts val="0"/>
              </a:spcAft>
            </a:pPr>
            <a:r>
              <a:rPr lang="en-US" sz="1600" dirty="0">
                <a:effectLst/>
                <a:latin typeface="+mj-lt"/>
                <a:ea typeface="Calibri" panose="020F0502020204030204" pitchFamily="34" charset="0"/>
              </a:rPr>
              <a:t> </a:t>
            </a:r>
          </a:p>
          <a:p>
            <a:pPr marL="342900" marR="0" lvl="0" indent="-342900">
              <a:spcBef>
                <a:spcPts val="0"/>
              </a:spcBef>
              <a:spcAft>
                <a:spcPts val="0"/>
              </a:spcAft>
              <a:buFont typeface="Symbol" panose="05050102010706020507" pitchFamily="18" charset="2"/>
              <a:buChar char=""/>
            </a:pPr>
            <a:r>
              <a:rPr lang="en-US" sz="1600" dirty="0">
                <a:effectLst/>
                <a:latin typeface="+mj-lt"/>
                <a:ea typeface="Times New Roman" panose="02020603050405020304" pitchFamily="18" charset="0"/>
                <a:cs typeface="Times New Roman" panose="02020603050405020304" pitchFamily="18" charset="0"/>
              </a:rPr>
              <a:t>At DSS sites local deliveries are set for “pick to ship” with the mission ship date and time assigned at pick. This is earlier in the process than the departure date and time in WMS. </a:t>
            </a:r>
          </a:p>
          <a:p>
            <a:pPr marL="342900" marR="0" lvl="0" indent="-342900">
              <a:spcBef>
                <a:spcPts val="0"/>
              </a:spcBef>
              <a:spcAft>
                <a:spcPts val="0"/>
              </a:spcAft>
              <a:buFont typeface="Symbol" panose="05050102010706020507" pitchFamily="18" charset="2"/>
              <a:buChar char=""/>
            </a:pPr>
            <a:r>
              <a:rPr lang="en-US" sz="1600" dirty="0">
                <a:effectLst/>
                <a:latin typeface="+mj-lt"/>
                <a:ea typeface="Times New Roman" panose="02020603050405020304" pitchFamily="18" charset="0"/>
                <a:cs typeface="Times New Roman" panose="02020603050405020304" pitchFamily="18" charset="0"/>
              </a:rPr>
              <a:t>For small parcel, the DSS mission ship date and time is assigned at manifest print. This is earlier in the process than the departure date and time in WMS, but assuming that the site starts the TU load process an hour or so before small parcel pickup, the difference between the mission ship dates/times in DSS and the departure dates/times in WMS should be minimal.</a:t>
            </a:r>
            <a:endParaRPr lang="en-US" sz="1600" dirty="0">
              <a:effectLst/>
              <a:latin typeface="+mj-lt"/>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1600" dirty="0">
                <a:effectLst/>
                <a:latin typeface="+mj-lt"/>
                <a:ea typeface="Times New Roman" panose="02020603050405020304" pitchFamily="18" charset="0"/>
                <a:cs typeface="Times New Roman" panose="02020603050405020304" pitchFamily="18" charset="0"/>
              </a:rPr>
              <a:t>For freight shipments, the mission ship date and time is set at driver pickup. As with small parcel, the site does the TU load process shortly before or when the driver arrives, so the difference between the mission ship dates/times in DSS and departure dates/times in WMS should be minimal.</a:t>
            </a:r>
            <a:endParaRPr lang="en-US" sz="1600" dirty="0">
              <a:effectLst/>
              <a:latin typeface="+mj-lt"/>
              <a:ea typeface="Calibri" panose="020F0502020204030204" pitchFamily="34" charset="0"/>
              <a:cs typeface="Times New Roman" panose="02020603050405020304" pitchFamily="18" charset="0"/>
            </a:endParaRPr>
          </a:p>
          <a:p>
            <a:endParaRPr lang="en-US" dirty="0">
              <a:latin typeface="+mj-lt"/>
            </a:endParaRPr>
          </a:p>
        </p:txBody>
      </p:sp>
      <p:sp>
        <p:nvSpPr>
          <p:cNvPr id="6" name="TextBox 5">
            <a:extLst>
              <a:ext uri="{FF2B5EF4-FFF2-40B4-BE49-F238E27FC236}">
                <a16:creationId xmlns:a16="http://schemas.microsoft.com/office/drawing/2014/main" id="{1CB10409-4442-75A6-0C00-B72152EE645C}"/>
              </a:ext>
            </a:extLst>
          </p:cNvPr>
          <p:cNvSpPr txBox="1"/>
          <p:nvPr/>
        </p:nvSpPr>
        <p:spPr>
          <a:xfrm>
            <a:off x="422031" y="5607082"/>
            <a:ext cx="9094948" cy="830997"/>
          </a:xfrm>
          <a:prstGeom prst="rect">
            <a:avLst/>
          </a:prstGeom>
          <a:noFill/>
        </p:spPr>
        <p:txBody>
          <a:bodyPr wrap="square" rtlCol="0">
            <a:spAutoFit/>
          </a:bodyPr>
          <a:lstStyle/>
          <a:p>
            <a:pPr marR="0" lvl="0">
              <a:spcBef>
                <a:spcPts val="0"/>
              </a:spcBef>
              <a:spcAft>
                <a:spcPts val="0"/>
              </a:spcAft>
            </a:pPr>
            <a:r>
              <a:rPr lang="en-US" sz="1600" dirty="0">
                <a:effectLst/>
                <a:latin typeface="+mj-lt"/>
                <a:ea typeface="Times New Roman" panose="02020603050405020304" pitchFamily="18" charset="0"/>
                <a:cs typeface="Times New Roman" panose="02020603050405020304" pitchFamily="18" charset="0"/>
              </a:rPr>
              <a:t>Of note, the WMS outbound re-design changes (scheduled for release 30 November at DDCT and at other sites TBD) will no longer require local deliveries to go through the pack process so the amount of time to complete/depart locals should be greatly reduced.</a:t>
            </a:r>
            <a:endParaRPr lang="en-US" sz="16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34075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51099-52C3-5655-2654-3721FA5087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B70B875-70E6-18DD-26C3-428FFED6C9AB}"/>
              </a:ext>
            </a:extLst>
          </p:cNvPr>
          <p:cNvSpPr>
            <a:spLocks noGrp="1" noRot="1" noMove="1" noResize="1" noEditPoints="1" noAdjustHandles="1" noChangeArrowheads="1" noChangeShapeType="1"/>
          </p:cNvSpPr>
          <p:nvPr>
            <p:ph type="title"/>
          </p:nvPr>
        </p:nvSpPr>
        <p:spPr/>
        <p:txBody>
          <a:bodyPr/>
          <a:lstStyle/>
          <a:p>
            <a:r>
              <a:rPr lang="en-US" dirty="0"/>
              <a:t>WMS Causative Research</a:t>
            </a:r>
            <a:endParaRPr lang="en-US" dirty="0">
              <a:latin typeface="Raleway Black" pitchFamily="2" charset="0"/>
            </a:endParaRPr>
          </a:p>
        </p:txBody>
      </p:sp>
      <p:sp>
        <p:nvSpPr>
          <p:cNvPr id="5" name="Text Placeholder 4">
            <a:extLst>
              <a:ext uri="{FF2B5EF4-FFF2-40B4-BE49-F238E27FC236}">
                <a16:creationId xmlns:a16="http://schemas.microsoft.com/office/drawing/2014/main" id="{66C29B5F-71C4-3A19-7CDF-234BB060114B}"/>
              </a:ext>
            </a:extLst>
          </p:cNvPr>
          <p:cNvSpPr>
            <a:spLocks noGrp="1"/>
          </p:cNvSpPr>
          <p:nvPr>
            <p:ph type="body" sz="quarter" idx="10"/>
          </p:nvPr>
        </p:nvSpPr>
        <p:spPr/>
        <p:txBody>
          <a:bodyPr/>
          <a:lstStyle/>
          <a:p>
            <a:r>
              <a:rPr lang="en-US" sz="1200" dirty="0"/>
              <a:t>PIES vs All Movements for Product - WMS</a:t>
            </a:r>
          </a:p>
        </p:txBody>
      </p:sp>
      <p:pic>
        <p:nvPicPr>
          <p:cNvPr id="7" name="Picture 6">
            <a:extLst>
              <a:ext uri="{FF2B5EF4-FFF2-40B4-BE49-F238E27FC236}">
                <a16:creationId xmlns:a16="http://schemas.microsoft.com/office/drawing/2014/main" id="{0E78F6E7-0990-A7F5-8E30-E39C09FC00F2}"/>
              </a:ext>
            </a:extLst>
          </p:cNvPr>
          <p:cNvPicPr>
            <a:picLocks noChangeAspect="1"/>
          </p:cNvPicPr>
          <p:nvPr/>
        </p:nvPicPr>
        <p:blipFill>
          <a:blip r:embed="rId3"/>
          <a:stretch>
            <a:fillRect/>
          </a:stretch>
        </p:blipFill>
        <p:spPr>
          <a:xfrm>
            <a:off x="32268" y="1455821"/>
            <a:ext cx="10330932" cy="5897409"/>
          </a:xfrm>
          <a:prstGeom prst="rect">
            <a:avLst/>
          </a:prstGeom>
        </p:spPr>
      </p:pic>
    </p:spTree>
    <p:extLst>
      <p:ext uri="{BB962C8B-B14F-4D97-AF65-F5344CB8AC3E}">
        <p14:creationId xmlns:p14="http://schemas.microsoft.com/office/powerpoint/2010/main" val="27767514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E334C-AC92-A343-7F7A-41D8E36B0F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209771-9990-5265-46B4-F0A8F703A97C}"/>
              </a:ext>
            </a:extLst>
          </p:cNvPr>
          <p:cNvSpPr>
            <a:spLocks noGrp="1" noRot="1" noMove="1" noResize="1" noEditPoints="1" noAdjustHandles="1" noChangeArrowheads="1" noChangeShapeType="1"/>
          </p:cNvSpPr>
          <p:nvPr>
            <p:ph type="title"/>
          </p:nvPr>
        </p:nvSpPr>
        <p:spPr/>
        <p:txBody>
          <a:bodyPr/>
          <a:lstStyle/>
          <a:p>
            <a:r>
              <a:rPr lang="en-US" sz="1800" dirty="0"/>
              <a:t>DLA Distribution Expeditionary Capabilities Contract (DECAP)</a:t>
            </a:r>
            <a:endParaRPr lang="en-US" sz="1800" dirty="0">
              <a:latin typeface="Raleway Black" pitchFamily="2" charset="0"/>
            </a:endParaRPr>
          </a:p>
        </p:txBody>
      </p:sp>
      <p:sp>
        <p:nvSpPr>
          <p:cNvPr id="5" name="Text Placeholder 4">
            <a:extLst>
              <a:ext uri="{FF2B5EF4-FFF2-40B4-BE49-F238E27FC236}">
                <a16:creationId xmlns:a16="http://schemas.microsoft.com/office/drawing/2014/main" id="{BFF1C986-3023-B2DB-AEC5-48D351C746C6}"/>
              </a:ext>
            </a:extLst>
          </p:cNvPr>
          <p:cNvSpPr>
            <a:spLocks noGrp="1"/>
          </p:cNvSpPr>
          <p:nvPr>
            <p:ph type="body" sz="quarter" idx="10"/>
          </p:nvPr>
        </p:nvSpPr>
        <p:spPr/>
        <p:txBody>
          <a:bodyPr/>
          <a:lstStyle/>
          <a:p>
            <a:r>
              <a:rPr lang="en-US" sz="1200"/>
              <a:t>Overview</a:t>
            </a:r>
            <a:endParaRPr lang="en-US" sz="1200" dirty="0"/>
          </a:p>
        </p:txBody>
      </p:sp>
      <p:sp>
        <p:nvSpPr>
          <p:cNvPr id="6" name="Content Placeholder 2">
            <a:extLst>
              <a:ext uri="{FF2B5EF4-FFF2-40B4-BE49-F238E27FC236}">
                <a16:creationId xmlns:a16="http://schemas.microsoft.com/office/drawing/2014/main" id="{FEC2CCE0-3661-926F-0C12-2E30860E9333}"/>
              </a:ext>
            </a:extLst>
          </p:cNvPr>
          <p:cNvSpPr txBox="1">
            <a:spLocks/>
          </p:cNvSpPr>
          <p:nvPr/>
        </p:nvSpPr>
        <p:spPr>
          <a:xfrm>
            <a:off x="457200" y="1481581"/>
            <a:ext cx="9906000" cy="5436584"/>
          </a:xfrm>
          <a:prstGeom prst="rect">
            <a:avLst/>
          </a:prstGeom>
        </p:spPr>
        <p:txBody>
          <a:bodyPr>
            <a:noAutofit/>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dirty="0"/>
              <a:t>Requirements executed under the DLA Distribution Expeditionary Capabilities Contract (DECAP) encompass support of worldwide storage and distribution, and disposition and reutilization services in both peacetime and war.  Operations may include but are not limited to:</a:t>
            </a:r>
          </a:p>
          <a:p>
            <a:pPr lvl="1"/>
            <a:r>
              <a:rPr lang="en-US" sz="1600" dirty="0">
                <a:latin typeface="Arial" panose="020B0604020202020204" pitchFamily="34" charset="0"/>
                <a:ea typeface="Times New Roman" panose="02020603050405020304" pitchFamily="18" charset="0"/>
              </a:rPr>
              <a:t>Mission-critical storage and distribution services for the United States (U.S.) military.  To include contingency and expeditionary requirements.</a:t>
            </a:r>
          </a:p>
          <a:p>
            <a:pPr lvl="1"/>
            <a:r>
              <a:rPr lang="en-US" sz="1600" dirty="0">
                <a:latin typeface="Arial" panose="020B0604020202020204" pitchFamily="34" charset="0"/>
                <a:ea typeface="Times New Roman" panose="02020603050405020304" pitchFamily="18" charset="0"/>
              </a:rPr>
              <a:t>A “warm” Distribution workforce able to deploy globally within 48 hours.*</a:t>
            </a:r>
          </a:p>
          <a:p>
            <a:pPr lvl="1"/>
            <a:r>
              <a:rPr lang="en-US" sz="1600" dirty="0">
                <a:latin typeface="Arial" panose="020B0604020202020204" pitchFamily="34" charset="0"/>
                <a:ea typeface="Times New Roman" panose="02020603050405020304" pitchFamily="18" charset="0"/>
              </a:rPr>
              <a:t>Establishing new locations – either Government Owned/Contractor Operated (GOCO) or Contractor Owned/Contractor Operated (COCO)</a:t>
            </a:r>
          </a:p>
          <a:p>
            <a:pPr lvl="1"/>
            <a:r>
              <a:rPr lang="en-US" sz="1600" dirty="0">
                <a:latin typeface="Arial" panose="020B0604020202020204" pitchFamily="34" charset="0"/>
                <a:ea typeface="Times New Roman" panose="02020603050405020304" pitchFamily="18" charset="0"/>
              </a:rPr>
              <a:t>Mission-critical disposition and reutilization services for the U.S. military. To include contingency and expeditionary requirements.</a:t>
            </a:r>
          </a:p>
          <a:p>
            <a:pPr lvl="1"/>
            <a:r>
              <a:rPr lang="en-US" sz="1600" dirty="0">
                <a:latin typeface="Arial" panose="020B0604020202020204" pitchFamily="34" charset="0"/>
                <a:ea typeface="Times New Roman" panose="02020603050405020304" pitchFamily="18" charset="0"/>
              </a:rPr>
              <a:t>Humanitarian assistance/disaster relief (HA/DR)</a:t>
            </a:r>
          </a:p>
          <a:p>
            <a:pPr lvl="1"/>
            <a:r>
              <a:rPr lang="en-US" sz="1600" dirty="0">
                <a:latin typeface="Arial" panose="020B0604020202020204" pitchFamily="34" charset="0"/>
                <a:ea typeface="Times New Roman" panose="02020603050405020304" pitchFamily="18" charset="0"/>
              </a:rPr>
              <a:t>Foreign disaster relief (FDR)</a:t>
            </a:r>
          </a:p>
          <a:p>
            <a:pPr lvl="1"/>
            <a:r>
              <a:rPr lang="en-US" sz="1600" dirty="0">
                <a:latin typeface="Arial" panose="020B0604020202020204" pitchFamily="34" charset="0"/>
                <a:ea typeface="Times New Roman" panose="02020603050405020304" pitchFamily="18" charset="0"/>
              </a:rPr>
              <a:t>Defense Support of Civil Authorities (DSCA)</a:t>
            </a:r>
          </a:p>
          <a:p>
            <a:pPr lvl="1"/>
            <a:r>
              <a:rPr lang="en-US" sz="1600" dirty="0">
                <a:latin typeface="Arial" panose="020B0604020202020204" pitchFamily="34" charset="0"/>
                <a:ea typeface="Times New Roman" panose="02020603050405020304" pitchFamily="18" charset="0"/>
              </a:rPr>
              <a:t>Interagency support operations (DOD and Whole of Government (WOG))</a:t>
            </a:r>
          </a:p>
          <a:p>
            <a:pPr lvl="1"/>
            <a:r>
              <a:rPr lang="en-US" sz="1600" dirty="0">
                <a:latin typeface="Arial" panose="020B0604020202020204" pitchFamily="34" charset="0"/>
                <a:ea typeface="Times New Roman" panose="02020603050405020304" pitchFamily="18" charset="0"/>
              </a:rPr>
              <a:t>Government Exercise Support</a:t>
            </a:r>
          </a:p>
          <a:p>
            <a:pPr lvl="1"/>
            <a:r>
              <a:rPr lang="en-US" sz="1600" dirty="0">
                <a:latin typeface="Arial" panose="020B0604020202020204" pitchFamily="34" charset="0"/>
                <a:ea typeface="Times New Roman" panose="02020603050405020304" pitchFamily="18" charset="0"/>
              </a:rPr>
              <a:t>4PL Support (Distribution as a Service)*</a:t>
            </a:r>
          </a:p>
          <a:p>
            <a:endParaRPr lang="en-US" sz="2000" dirty="0"/>
          </a:p>
        </p:txBody>
      </p:sp>
      <p:sp>
        <p:nvSpPr>
          <p:cNvPr id="7" name="TextBox 6">
            <a:extLst>
              <a:ext uri="{FF2B5EF4-FFF2-40B4-BE49-F238E27FC236}">
                <a16:creationId xmlns:a16="http://schemas.microsoft.com/office/drawing/2014/main" id="{60F152EB-2A85-93B6-EFDB-79AE0D8162B9}"/>
              </a:ext>
            </a:extLst>
          </p:cNvPr>
          <p:cNvSpPr txBox="1"/>
          <p:nvPr/>
        </p:nvSpPr>
        <p:spPr>
          <a:xfrm>
            <a:off x="653949" y="6336727"/>
            <a:ext cx="9115688" cy="923330"/>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b="1" dirty="0"/>
              <a:t>DLA Distribution and Disposition require a </a:t>
            </a:r>
            <a:r>
              <a:rPr lang="en-US" b="1" u="sng" dirty="0"/>
              <a:t>rapid response </a:t>
            </a:r>
            <a:r>
              <a:rPr lang="en-US" b="1" dirty="0"/>
              <a:t>capable Contractor work force that can be called upon to perform dynamic storage and distribution and disposition and reutilization operations support for requirements globally</a:t>
            </a:r>
          </a:p>
        </p:txBody>
      </p:sp>
    </p:spTree>
    <p:extLst>
      <p:ext uri="{BB962C8B-B14F-4D97-AF65-F5344CB8AC3E}">
        <p14:creationId xmlns:p14="http://schemas.microsoft.com/office/powerpoint/2010/main" val="2576125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41DBD-FCA0-9347-D0A9-F7EBDFF2D24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D96D8D3-A684-9FAC-EA3A-E73F37080306}"/>
              </a:ext>
            </a:extLst>
          </p:cNvPr>
          <p:cNvSpPr>
            <a:spLocks noGrp="1" noRot="1" noMove="1" noResize="1" noEditPoints="1" noAdjustHandles="1" noChangeArrowheads="1" noChangeShapeType="1"/>
          </p:cNvSpPr>
          <p:nvPr>
            <p:ph type="title"/>
          </p:nvPr>
        </p:nvSpPr>
        <p:spPr/>
        <p:txBody>
          <a:bodyPr/>
          <a:lstStyle/>
          <a:p>
            <a:r>
              <a:rPr lang="en-US" dirty="0"/>
              <a:t>DECAP Overview</a:t>
            </a:r>
            <a:endParaRPr lang="en-US" dirty="0">
              <a:latin typeface="Raleway Black" pitchFamily="2" charset="0"/>
            </a:endParaRPr>
          </a:p>
        </p:txBody>
      </p:sp>
      <p:sp>
        <p:nvSpPr>
          <p:cNvPr id="5" name="Text Placeholder 4">
            <a:extLst>
              <a:ext uri="{FF2B5EF4-FFF2-40B4-BE49-F238E27FC236}">
                <a16:creationId xmlns:a16="http://schemas.microsoft.com/office/drawing/2014/main" id="{770960A6-70F3-230B-4D54-29CA495EA59D}"/>
              </a:ext>
            </a:extLst>
          </p:cNvPr>
          <p:cNvSpPr>
            <a:spLocks noGrp="1"/>
          </p:cNvSpPr>
          <p:nvPr>
            <p:ph type="body" sz="quarter" idx="10"/>
          </p:nvPr>
        </p:nvSpPr>
        <p:spPr/>
        <p:txBody>
          <a:bodyPr/>
          <a:lstStyle/>
          <a:p>
            <a:r>
              <a:rPr lang="en-US" sz="1200" dirty="0"/>
              <a:t>Distribution PMO Task Order</a:t>
            </a:r>
          </a:p>
        </p:txBody>
      </p:sp>
      <p:pic>
        <p:nvPicPr>
          <p:cNvPr id="6" name="Picture 5">
            <a:extLst>
              <a:ext uri="{FF2B5EF4-FFF2-40B4-BE49-F238E27FC236}">
                <a16:creationId xmlns:a16="http://schemas.microsoft.com/office/drawing/2014/main" id="{7CC8D7C8-FFA0-972A-E1E2-F77ED26FEED7}"/>
              </a:ext>
            </a:extLst>
          </p:cNvPr>
          <p:cNvPicPr>
            <a:picLocks noChangeAspect="1"/>
          </p:cNvPicPr>
          <p:nvPr/>
        </p:nvPicPr>
        <p:blipFill>
          <a:blip r:embed="rId3"/>
          <a:stretch>
            <a:fillRect/>
          </a:stretch>
        </p:blipFill>
        <p:spPr>
          <a:xfrm>
            <a:off x="0" y="1457233"/>
            <a:ext cx="10181439" cy="5743090"/>
          </a:xfrm>
          <a:prstGeom prst="rect">
            <a:avLst/>
          </a:prstGeom>
        </p:spPr>
      </p:pic>
    </p:spTree>
    <p:extLst>
      <p:ext uri="{BB962C8B-B14F-4D97-AF65-F5344CB8AC3E}">
        <p14:creationId xmlns:p14="http://schemas.microsoft.com/office/powerpoint/2010/main" val="4238873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F5FFD-0A6B-8AF0-C77F-BFE5091B249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B277D1-56E6-4D36-BA15-E00C68DB647E}"/>
              </a:ext>
            </a:extLst>
          </p:cNvPr>
          <p:cNvSpPr>
            <a:spLocks noGrp="1" noRot="1" noMove="1" noResize="1" noEditPoints="1" noAdjustHandles="1" noChangeArrowheads="1" noChangeShapeType="1"/>
          </p:cNvSpPr>
          <p:nvPr>
            <p:ph type="title"/>
          </p:nvPr>
        </p:nvSpPr>
        <p:spPr/>
        <p:txBody>
          <a:bodyPr/>
          <a:lstStyle/>
          <a:p>
            <a:r>
              <a:rPr lang="en-US" dirty="0"/>
              <a:t>DECAP Overview</a:t>
            </a:r>
            <a:endParaRPr lang="en-US" dirty="0">
              <a:latin typeface="Raleway Black" pitchFamily="2" charset="0"/>
            </a:endParaRPr>
          </a:p>
        </p:txBody>
      </p:sp>
      <p:sp>
        <p:nvSpPr>
          <p:cNvPr id="5" name="Text Placeholder 4">
            <a:extLst>
              <a:ext uri="{FF2B5EF4-FFF2-40B4-BE49-F238E27FC236}">
                <a16:creationId xmlns:a16="http://schemas.microsoft.com/office/drawing/2014/main" id="{B6D9A5FA-A432-7607-0AAC-A7DDA9B58044}"/>
              </a:ext>
            </a:extLst>
          </p:cNvPr>
          <p:cNvSpPr>
            <a:spLocks noGrp="1"/>
          </p:cNvSpPr>
          <p:nvPr>
            <p:ph type="body" sz="quarter" idx="10"/>
          </p:nvPr>
        </p:nvSpPr>
        <p:spPr/>
        <p:txBody>
          <a:bodyPr/>
          <a:lstStyle/>
          <a:p>
            <a:r>
              <a:rPr lang="en-US" sz="1200" dirty="0"/>
              <a:t>Disposition PMO Task Order</a:t>
            </a:r>
          </a:p>
        </p:txBody>
      </p:sp>
      <p:sp>
        <p:nvSpPr>
          <p:cNvPr id="2" name="Content Placeholder 2">
            <a:extLst>
              <a:ext uri="{FF2B5EF4-FFF2-40B4-BE49-F238E27FC236}">
                <a16:creationId xmlns:a16="http://schemas.microsoft.com/office/drawing/2014/main" id="{AA884F52-3BAB-F4F0-83A5-BBEBF2035865}"/>
              </a:ext>
            </a:extLst>
          </p:cNvPr>
          <p:cNvSpPr txBox="1">
            <a:spLocks/>
          </p:cNvSpPr>
          <p:nvPr/>
        </p:nvSpPr>
        <p:spPr>
          <a:xfrm>
            <a:off x="402335" y="1408175"/>
            <a:ext cx="9740285" cy="5762645"/>
          </a:xfrm>
          <a:prstGeom prst="rect">
            <a:avLst/>
          </a:prstGeom>
        </p:spPr>
        <p:txBody>
          <a:bodyPr>
            <a:normAutofit/>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685800">
              <a:spcBef>
                <a:spcPct val="20000"/>
              </a:spcBef>
              <a:defRPr/>
            </a:pPr>
            <a:r>
              <a:rPr lang="en-US" altLang="en-US" sz="2000" dirty="0"/>
              <a:t>Maintain a Key Personnel team of:</a:t>
            </a:r>
          </a:p>
          <a:p>
            <a:pPr lvl="1" defTabSz="685800">
              <a:spcBef>
                <a:spcPct val="20000"/>
              </a:spcBef>
              <a:buFont typeface="Arial" panose="020B0604020202020204" pitchFamily="34" charset="0"/>
              <a:buChar char="•"/>
              <a:defRPr/>
            </a:pPr>
            <a:r>
              <a:rPr lang="en-US" altLang="en-US" sz="2000" dirty="0"/>
              <a:t>Project Manager (1)</a:t>
            </a:r>
          </a:p>
          <a:p>
            <a:pPr lvl="1" defTabSz="685800">
              <a:spcBef>
                <a:spcPct val="20000"/>
              </a:spcBef>
              <a:buFont typeface="Arial" panose="020B0604020202020204" pitchFamily="34" charset="0"/>
              <a:buChar char="•"/>
              <a:defRPr/>
            </a:pPr>
            <a:r>
              <a:rPr lang="en-US" altLang="en-US" sz="2000" dirty="0"/>
              <a:t>Alt Project Manager/Quality Control Specialist (1) </a:t>
            </a:r>
          </a:p>
          <a:p>
            <a:pPr lvl="1" defTabSz="685800">
              <a:spcBef>
                <a:spcPct val="20000"/>
              </a:spcBef>
              <a:buFont typeface="Arial" panose="020B0604020202020204" pitchFamily="34" charset="0"/>
              <a:buChar char="•"/>
              <a:defRPr/>
            </a:pPr>
            <a:r>
              <a:rPr lang="en-US" altLang="en-US" sz="2000" dirty="0"/>
              <a:t>Project Supervisor/Trainer (2) </a:t>
            </a:r>
          </a:p>
          <a:p>
            <a:pPr defTabSz="685800">
              <a:spcBef>
                <a:spcPct val="20000"/>
              </a:spcBef>
              <a:defRPr/>
            </a:pPr>
            <a:r>
              <a:rPr lang="en-US" altLang="en-US" sz="2000" b="1" i="1" dirty="0">
                <a:solidFill>
                  <a:srgbClr val="FF0000"/>
                </a:solidFill>
              </a:rPr>
              <a:t>Ability to perform task order requirements with limited and changing information </a:t>
            </a:r>
            <a:r>
              <a:rPr lang="en-US" altLang="en-US" sz="2000" b="1" i="1" u="sng" dirty="0">
                <a:solidFill>
                  <a:srgbClr val="FF0000"/>
                </a:solidFill>
              </a:rPr>
              <a:t>GLOBALLY</a:t>
            </a:r>
            <a:r>
              <a:rPr lang="en-US" altLang="en-US" sz="2000" b="1" i="1" dirty="0">
                <a:solidFill>
                  <a:srgbClr val="FF0000"/>
                </a:solidFill>
              </a:rPr>
              <a:t>.</a:t>
            </a:r>
          </a:p>
          <a:p>
            <a:pPr defTabSz="685800">
              <a:spcBef>
                <a:spcPct val="20000"/>
              </a:spcBef>
              <a:defRPr/>
            </a:pPr>
            <a:r>
              <a:rPr lang="en-US" altLang="en-US" sz="2000" b="1" i="1" dirty="0">
                <a:solidFill>
                  <a:srgbClr val="FF0000"/>
                </a:solidFill>
              </a:rPr>
              <a:t>Complete transition of task orders NLT sixty (60) days after task order award.</a:t>
            </a:r>
            <a:r>
              <a:rPr lang="en-US" altLang="en-US" sz="2000" dirty="0"/>
              <a:t> </a:t>
            </a:r>
          </a:p>
          <a:p>
            <a:pPr lvl="1" defTabSz="685800">
              <a:spcBef>
                <a:spcPct val="20000"/>
              </a:spcBef>
              <a:buFont typeface="Arial" panose="020B0604020202020204" pitchFamily="34" charset="0"/>
              <a:buChar char="•"/>
              <a:defRPr/>
            </a:pPr>
            <a:r>
              <a:rPr lang="en-US" altLang="en-US" sz="2000" dirty="0"/>
              <a:t>Transition requirements may include</a:t>
            </a:r>
          </a:p>
          <a:p>
            <a:pPr lvl="2" defTabSz="685800">
              <a:spcBef>
                <a:spcPct val="20000"/>
              </a:spcBef>
              <a:buFont typeface="Arial" panose="020B0604020202020204" pitchFamily="34" charset="0"/>
              <a:buChar char="–"/>
              <a:defRPr/>
            </a:pPr>
            <a:r>
              <a:rPr lang="en-US" altLang="en-US" sz="1600" dirty="0"/>
              <a:t>Obtaining facilities and/or modify facilities to meet task order requirements in meeting Initial Operating Capability (IOC) and Full Operating Capability (FOC), </a:t>
            </a:r>
          </a:p>
          <a:p>
            <a:pPr lvl="2" defTabSz="685800">
              <a:spcBef>
                <a:spcPct val="20000"/>
              </a:spcBef>
              <a:buFont typeface="Arial" panose="020B0604020202020204" pitchFamily="34" charset="0"/>
              <a:buChar char="–"/>
              <a:defRPr/>
            </a:pPr>
            <a:r>
              <a:rPr lang="en-US" altLang="en-US" sz="1600" dirty="0"/>
              <a:t>Deploy, hire and train personnel, </a:t>
            </a:r>
          </a:p>
          <a:p>
            <a:pPr lvl="2" defTabSz="685800">
              <a:spcBef>
                <a:spcPct val="20000"/>
              </a:spcBef>
              <a:buFont typeface="Arial" panose="020B0604020202020204" pitchFamily="34" charset="0"/>
              <a:buChar char="–"/>
              <a:defRPr/>
            </a:pPr>
            <a:r>
              <a:rPr lang="en-US" altLang="en-US" sz="1600" dirty="0"/>
              <a:t>Acquire MHE, IT support and equipment, materials, etc. </a:t>
            </a:r>
          </a:p>
          <a:p>
            <a:pPr defTabSz="685800">
              <a:spcBef>
                <a:spcPct val="20000"/>
              </a:spcBef>
              <a:defRPr/>
            </a:pPr>
            <a:r>
              <a:rPr lang="en-US" altLang="en-US" sz="2000" dirty="0"/>
              <a:t>Participate in preparedness exercises relating to security disaster preparedness and response, wartime response, emergency and environmental response, and similar preparedness exercises.</a:t>
            </a:r>
          </a:p>
          <a:p>
            <a:endParaRPr lang="en-US" dirty="0"/>
          </a:p>
        </p:txBody>
      </p:sp>
    </p:spTree>
    <p:extLst>
      <p:ext uri="{BB962C8B-B14F-4D97-AF65-F5344CB8AC3E}">
        <p14:creationId xmlns:p14="http://schemas.microsoft.com/office/powerpoint/2010/main" val="39890979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744F9-C73F-EF77-1A2E-7CCB3776CD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873976-D413-C5EE-E9CF-72C4FD484D02}"/>
              </a:ext>
            </a:extLst>
          </p:cNvPr>
          <p:cNvSpPr>
            <a:spLocks noGrp="1" noRot="1" noMove="1" noResize="1" noEditPoints="1" noAdjustHandles="1" noChangeArrowheads="1" noChangeShapeType="1"/>
          </p:cNvSpPr>
          <p:nvPr>
            <p:ph type="title"/>
          </p:nvPr>
        </p:nvSpPr>
        <p:spPr/>
        <p:txBody>
          <a:bodyPr/>
          <a:lstStyle/>
          <a:p>
            <a:r>
              <a:rPr lang="en-US" dirty="0"/>
              <a:t>DECAP Overview</a:t>
            </a:r>
            <a:endParaRPr lang="en-US" dirty="0">
              <a:latin typeface="Raleway Black" pitchFamily="2" charset="0"/>
            </a:endParaRPr>
          </a:p>
        </p:txBody>
      </p:sp>
      <p:sp>
        <p:nvSpPr>
          <p:cNvPr id="5" name="Text Placeholder 4">
            <a:extLst>
              <a:ext uri="{FF2B5EF4-FFF2-40B4-BE49-F238E27FC236}">
                <a16:creationId xmlns:a16="http://schemas.microsoft.com/office/drawing/2014/main" id="{8D889474-0AE4-1BB1-081D-751DC9341369}"/>
              </a:ext>
            </a:extLst>
          </p:cNvPr>
          <p:cNvSpPr>
            <a:spLocks noGrp="1"/>
          </p:cNvSpPr>
          <p:nvPr>
            <p:ph type="body" sz="quarter" idx="10"/>
          </p:nvPr>
        </p:nvSpPr>
        <p:spPr/>
        <p:txBody>
          <a:bodyPr/>
          <a:lstStyle/>
          <a:p>
            <a:r>
              <a:rPr lang="en-US" sz="1200" dirty="0"/>
              <a:t>Distribution Warm Capability Task Order</a:t>
            </a:r>
          </a:p>
        </p:txBody>
      </p:sp>
      <p:sp>
        <p:nvSpPr>
          <p:cNvPr id="3" name="Content Placeholder 2">
            <a:extLst>
              <a:ext uri="{FF2B5EF4-FFF2-40B4-BE49-F238E27FC236}">
                <a16:creationId xmlns:a16="http://schemas.microsoft.com/office/drawing/2014/main" id="{2EC715D4-9183-C910-A2F6-652E2CFD0FEA}"/>
              </a:ext>
            </a:extLst>
          </p:cNvPr>
          <p:cNvSpPr txBox="1">
            <a:spLocks/>
          </p:cNvSpPr>
          <p:nvPr/>
        </p:nvSpPr>
        <p:spPr>
          <a:xfrm>
            <a:off x="457200" y="1489598"/>
            <a:ext cx="9591348" cy="5597002"/>
          </a:xfrm>
          <a:prstGeom prst="rect">
            <a:avLst/>
          </a:prstGeom>
        </p:spPr>
        <p:txBody>
          <a:bodyPr>
            <a:normAutofit/>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685800">
              <a:spcBef>
                <a:spcPct val="20000"/>
              </a:spcBef>
              <a:defRPr/>
            </a:pPr>
            <a:r>
              <a:rPr lang="en-US" altLang="en-US" sz="2000" dirty="0"/>
              <a:t>Maintain a deployable team of 34 FTEs at DDSP:</a:t>
            </a:r>
          </a:p>
          <a:p>
            <a:pPr lvl="1" defTabSz="685800">
              <a:spcBef>
                <a:spcPct val="20000"/>
              </a:spcBef>
              <a:buFont typeface="Arial" panose="020B0604020202020204" pitchFamily="34" charset="0"/>
              <a:buChar char="•"/>
              <a:defRPr/>
            </a:pPr>
            <a:r>
              <a:rPr lang="en-US" altLang="en-US" sz="2000" dirty="0"/>
              <a:t>Globally deployable within 48 hours</a:t>
            </a:r>
          </a:p>
          <a:p>
            <a:pPr lvl="1" defTabSz="685800">
              <a:spcBef>
                <a:spcPct val="20000"/>
              </a:spcBef>
              <a:buFont typeface="Arial" panose="020B0604020202020204" pitchFamily="34" charset="0"/>
              <a:buChar char="•"/>
              <a:defRPr/>
            </a:pPr>
            <a:r>
              <a:rPr lang="en-US" altLang="en-US" sz="2000" dirty="0"/>
              <a:t>Fully trained on WMS and MHE</a:t>
            </a:r>
          </a:p>
          <a:p>
            <a:pPr lvl="1" defTabSz="685800">
              <a:spcBef>
                <a:spcPct val="20000"/>
              </a:spcBef>
              <a:buFont typeface="Arial" panose="020B0604020202020204" pitchFamily="34" charset="0"/>
              <a:buChar char="•"/>
              <a:defRPr/>
            </a:pPr>
            <a:r>
              <a:rPr lang="en-US" altLang="en-US" sz="2000" dirty="0"/>
              <a:t>Maintain any CRC requirements</a:t>
            </a:r>
          </a:p>
          <a:p>
            <a:pPr lvl="1" defTabSz="685800">
              <a:spcBef>
                <a:spcPct val="20000"/>
              </a:spcBef>
              <a:buFont typeface="Arial" panose="020B0604020202020204" pitchFamily="34" charset="0"/>
              <a:buChar char="•"/>
              <a:defRPr/>
            </a:pPr>
            <a:r>
              <a:rPr lang="en-US" altLang="en-US" sz="2000" dirty="0"/>
              <a:t>Will support various distribution requirements around DDSP.</a:t>
            </a:r>
          </a:p>
          <a:p>
            <a:pPr defTabSz="685800">
              <a:spcBef>
                <a:spcPct val="20000"/>
              </a:spcBef>
              <a:defRPr/>
            </a:pPr>
            <a:r>
              <a:rPr lang="en-US" altLang="en-US" sz="2000" dirty="0"/>
              <a:t>Procure and maintain MHE, Generators, and mobile shelter/tents</a:t>
            </a:r>
          </a:p>
          <a:p>
            <a:pPr lvl="1" defTabSz="685800">
              <a:spcBef>
                <a:spcPct val="20000"/>
              </a:spcBef>
              <a:buFont typeface="Arial" panose="020B0604020202020204" pitchFamily="34" charset="0"/>
              <a:buChar char="•"/>
              <a:defRPr/>
            </a:pPr>
            <a:r>
              <a:rPr lang="en-US" altLang="en-US" sz="2000" dirty="0"/>
              <a:t>5K forklift (9)</a:t>
            </a:r>
          </a:p>
          <a:p>
            <a:pPr lvl="1" defTabSz="685800">
              <a:spcBef>
                <a:spcPct val="20000"/>
              </a:spcBef>
              <a:buFont typeface="Arial" panose="020B0604020202020204" pitchFamily="34" charset="0"/>
              <a:buChar char="•"/>
              <a:defRPr/>
            </a:pPr>
            <a:r>
              <a:rPr lang="en-US" altLang="en-US" sz="2000" dirty="0"/>
              <a:t>11K forklift (1)</a:t>
            </a:r>
          </a:p>
          <a:p>
            <a:pPr lvl="1" defTabSz="685800">
              <a:spcBef>
                <a:spcPct val="20000"/>
              </a:spcBef>
              <a:buFont typeface="Arial" panose="020B0604020202020204" pitchFamily="34" charset="0"/>
              <a:buChar char="•"/>
              <a:defRPr/>
            </a:pPr>
            <a:r>
              <a:rPr lang="en-US" altLang="en-US" sz="2000" dirty="0"/>
              <a:t>33K Forklift (1)</a:t>
            </a:r>
          </a:p>
          <a:p>
            <a:pPr lvl="1" defTabSz="685800">
              <a:spcBef>
                <a:spcPct val="20000"/>
              </a:spcBef>
              <a:buFont typeface="Arial" panose="020B0604020202020204" pitchFamily="34" charset="0"/>
              <a:buChar char="•"/>
              <a:defRPr/>
            </a:pPr>
            <a:r>
              <a:rPr lang="en-US" altLang="en-US" sz="2000" dirty="0"/>
              <a:t>50K RTCH (1) </a:t>
            </a:r>
            <a:r>
              <a:rPr lang="en-US" altLang="en-US" sz="1000" dirty="0"/>
              <a:t>(Likely GFE)</a:t>
            </a:r>
          </a:p>
          <a:p>
            <a:pPr lvl="1" defTabSz="685800">
              <a:spcBef>
                <a:spcPct val="20000"/>
              </a:spcBef>
              <a:buFont typeface="Arial" panose="020B0604020202020204" pitchFamily="34" charset="0"/>
              <a:buChar char="•"/>
              <a:defRPr/>
            </a:pPr>
            <a:r>
              <a:rPr lang="en-US" altLang="en-US" sz="2000" dirty="0"/>
              <a:t>30KW Generator Set (2)</a:t>
            </a:r>
          </a:p>
          <a:p>
            <a:pPr lvl="1" defTabSz="685800">
              <a:spcBef>
                <a:spcPct val="20000"/>
              </a:spcBef>
              <a:buFont typeface="Arial" panose="020B0604020202020204" pitchFamily="34" charset="0"/>
              <a:buChar char="•"/>
              <a:defRPr/>
            </a:pPr>
            <a:r>
              <a:rPr lang="en-US" altLang="en-US" sz="2000" dirty="0"/>
              <a:t>60KW Generator Set (2)</a:t>
            </a:r>
          </a:p>
          <a:p>
            <a:pPr lvl="1" defTabSz="685800">
              <a:spcBef>
                <a:spcPct val="20000"/>
              </a:spcBef>
              <a:buFont typeface="Arial" panose="020B0604020202020204" pitchFamily="34" charset="0"/>
              <a:buChar char="•"/>
              <a:defRPr/>
            </a:pPr>
            <a:r>
              <a:rPr lang="en-US" altLang="en-US" sz="2000" dirty="0"/>
              <a:t>60KW Generator Trailer (1)</a:t>
            </a:r>
          </a:p>
          <a:p>
            <a:pPr lvl="1" defTabSz="685800">
              <a:spcBef>
                <a:spcPct val="20000"/>
              </a:spcBef>
              <a:buFont typeface="Arial" panose="020B0604020202020204" pitchFamily="34" charset="0"/>
              <a:buChar char="•"/>
              <a:defRPr/>
            </a:pPr>
            <a:r>
              <a:rPr lang="en-US" altLang="en-US" sz="2000" dirty="0"/>
              <a:t>Various tents, expandable shelters, and Inflatable </a:t>
            </a:r>
            <a:r>
              <a:rPr lang="en-US" altLang="en-US" sz="2000" dirty="0" err="1"/>
              <a:t>Airbeam</a:t>
            </a:r>
            <a:r>
              <a:rPr lang="en-US" altLang="en-US" sz="2000" dirty="0"/>
              <a:t> warehouse tent</a:t>
            </a:r>
          </a:p>
          <a:p>
            <a:pPr defTabSz="685800">
              <a:spcBef>
                <a:spcPct val="20000"/>
              </a:spcBef>
              <a:defRPr/>
            </a:pPr>
            <a:r>
              <a:rPr lang="en-US" altLang="en-US" sz="2000" dirty="0"/>
              <a:t>IT and Transportation support provided by Government.</a:t>
            </a:r>
          </a:p>
          <a:p>
            <a:endParaRPr lang="en-US" dirty="0"/>
          </a:p>
        </p:txBody>
      </p:sp>
    </p:spTree>
    <p:extLst>
      <p:ext uri="{BB962C8B-B14F-4D97-AF65-F5344CB8AC3E}">
        <p14:creationId xmlns:p14="http://schemas.microsoft.com/office/powerpoint/2010/main" val="510320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0508F-4FB6-1F5C-E9F3-9C0A2175DCB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194FCD3-9E19-8DC8-735C-EE76E5144D02}"/>
              </a:ext>
            </a:extLst>
          </p:cNvPr>
          <p:cNvSpPr>
            <a:spLocks noGrp="1" noRot="1" noMove="1" noResize="1" noEditPoints="1" noAdjustHandles="1" noChangeArrowheads="1" noChangeShapeType="1"/>
          </p:cNvSpPr>
          <p:nvPr>
            <p:ph type="title"/>
          </p:nvPr>
        </p:nvSpPr>
        <p:spPr/>
        <p:txBody>
          <a:bodyPr/>
          <a:lstStyle/>
          <a:p>
            <a:r>
              <a:rPr lang="en-US" dirty="0"/>
              <a:t>DECAP Pre-Proposal Conference</a:t>
            </a:r>
            <a:endParaRPr lang="en-US" dirty="0">
              <a:latin typeface="Raleway Black" pitchFamily="2" charset="0"/>
            </a:endParaRPr>
          </a:p>
        </p:txBody>
      </p:sp>
      <p:sp>
        <p:nvSpPr>
          <p:cNvPr id="5" name="Text Placeholder 4">
            <a:extLst>
              <a:ext uri="{FF2B5EF4-FFF2-40B4-BE49-F238E27FC236}">
                <a16:creationId xmlns:a16="http://schemas.microsoft.com/office/drawing/2014/main" id="{5E128DF4-F5AE-14E5-C565-3E38D2298211}"/>
              </a:ext>
            </a:extLst>
          </p:cNvPr>
          <p:cNvSpPr>
            <a:spLocks noGrp="1"/>
          </p:cNvSpPr>
          <p:nvPr>
            <p:ph type="body" sz="quarter" idx="10"/>
          </p:nvPr>
        </p:nvSpPr>
        <p:spPr/>
        <p:txBody>
          <a:bodyPr/>
          <a:lstStyle/>
          <a:p>
            <a:endParaRPr lang="en-US" sz="1200" dirty="0"/>
          </a:p>
        </p:txBody>
      </p:sp>
      <p:sp>
        <p:nvSpPr>
          <p:cNvPr id="2" name="TextBox 1">
            <a:extLst>
              <a:ext uri="{FF2B5EF4-FFF2-40B4-BE49-F238E27FC236}">
                <a16:creationId xmlns:a16="http://schemas.microsoft.com/office/drawing/2014/main" id="{B78BFA77-C123-8569-F8B6-C7663F0BAA3E}"/>
              </a:ext>
            </a:extLst>
          </p:cNvPr>
          <p:cNvSpPr txBox="1"/>
          <p:nvPr/>
        </p:nvSpPr>
        <p:spPr>
          <a:xfrm>
            <a:off x="2524130" y="2385490"/>
            <a:ext cx="4629752" cy="954107"/>
          </a:xfrm>
          <a:prstGeom prst="rect">
            <a:avLst/>
          </a:prstGeom>
          <a:noFill/>
        </p:spPr>
        <p:txBody>
          <a:bodyPr wrap="square">
            <a:spAutoFit/>
          </a:bodyPr>
          <a:lstStyle/>
          <a:p>
            <a:pPr algn="ctr"/>
            <a:r>
              <a:rPr lang="en-US" sz="2800" b="1" dirty="0"/>
              <a:t>SP3300-25-R-5001</a:t>
            </a:r>
            <a:br>
              <a:rPr lang="en-US" sz="2800" b="1" dirty="0"/>
            </a:br>
            <a:r>
              <a:rPr lang="en-US" sz="2800" b="1" dirty="0"/>
              <a:t>Solicitation Overview</a:t>
            </a:r>
          </a:p>
        </p:txBody>
      </p:sp>
    </p:spTree>
    <p:extLst>
      <p:ext uri="{BB962C8B-B14F-4D97-AF65-F5344CB8AC3E}">
        <p14:creationId xmlns:p14="http://schemas.microsoft.com/office/powerpoint/2010/main" val="856330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F0D1F-FD12-D9F7-1D66-643FA34F305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3C40EA-584C-C03B-C853-2C062A2F10B8}"/>
              </a:ext>
            </a:extLst>
          </p:cNvPr>
          <p:cNvSpPr>
            <a:spLocks noGrp="1" noRot="1" noMove="1" noResize="1" noEditPoints="1" noAdjustHandles="1" noChangeArrowheads="1" noChangeShapeType="1"/>
          </p:cNvSpPr>
          <p:nvPr>
            <p:ph type="title"/>
          </p:nvPr>
        </p:nvSpPr>
        <p:spPr/>
        <p:txBody>
          <a:bodyPr/>
          <a:lstStyle/>
          <a:p>
            <a:r>
              <a:rPr lang="en-US" dirty="0"/>
              <a:t>Section A</a:t>
            </a:r>
            <a:br>
              <a:rPr lang="en-US" dirty="0"/>
            </a:br>
            <a:r>
              <a:rPr lang="en-US" dirty="0"/>
              <a:t>Solicitation, Offer, and Award</a:t>
            </a:r>
            <a:endParaRPr lang="en-US" dirty="0">
              <a:latin typeface="Raleway Black" pitchFamily="2" charset="0"/>
            </a:endParaRPr>
          </a:p>
        </p:txBody>
      </p:sp>
      <p:sp>
        <p:nvSpPr>
          <p:cNvPr id="7" name="Content Placeholder 2">
            <a:extLst>
              <a:ext uri="{FF2B5EF4-FFF2-40B4-BE49-F238E27FC236}">
                <a16:creationId xmlns:a16="http://schemas.microsoft.com/office/drawing/2014/main" id="{3F800B50-0B54-2FEB-3BDD-8D4069A74C4A}"/>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Key Points</a:t>
            </a:r>
          </a:p>
          <a:p>
            <a:pPr lvl="1"/>
            <a:r>
              <a:rPr lang="en-US" altLang="en-US" sz="2000" dirty="0"/>
              <a:t>Ensure the Documents (SF33, SF30, proposal) are signed.</a:t>
            </a:r>
          </a:p>
          <a:p>
            <a:pPr lvl="1"/>
            <a:r>
              <a:rPr lang="en-US" altLang="en-US" sz="2000" dirty="0"/>
              <a:t>The Government intends to evaluate proposals and award a contract in accordance with DFARS 215.306(c)(1), which states “For acquisitions with an estimated value of $100 million or more, contracting officers should conduct discussions.” However, the Offeror's initial proposal should contain the Offeror's best terms from a cost and technical standpoint.</a:t>
            </a:r>
          </a:p>
          <a:p>
            <a:pPr lvl="1"/>
            <a:r>
              <a:rPr lang="en-US" altLang="en-US" sz="2000" dirty="0"/>
              <a:t>Provide valid POC and Alternate POC with current contact information</a:t>
            </a:r>
          </a:p>
          <a:p>
            <a:endParaRPr lang="en-US" dirty="0"/>
          </a:p>
        </p:txBody>
      </p:sp>
    </p:spTree>
    <p:extLst>
      <p:ext uri="{BB962C8B-B14F-4D97-AF65-F5344CB8AC3E}">
        <p14:creationId xmlns:p14="http://schemas.microsoft.com/office/powerpoint/2010/main" val="1010699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006B0-49CE-4C3B-486A-67C89F96C56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5159F9B-80FB-A66D-AFF9-3388CD9CEF9C}"/>
              </a:ext>
            </a:extLst>
          </p:cNvPr>
          <p:cNvSpPr>
            <a:spLocks noGrp="1" noRot="1" noMove="1" noResize="1" noEditPoints="1" noAdjustHandles="1" noChangeArrowheads="1" noChangeShapeType="1"/>
          </p:cNvSpPr>
          <p:nvPr>
            <p:ph type="title"/>
          </p:nvPr>
        </p:nvSpPr>
        <p:spPr/>
        <p:txBody>
          <a:bodyPr/>
          <a:lstStyle/>
          <a:p>
            <a:r>
              <a:rPr lang="en-US" dirty="0"/>
              <a:t>Section B</a:t>
            </a:r>
            <a:br>
              <a:rPr lang="en-US" dirty="0"/>
            </a:br>
            <a:r>
              <a:rPr lang="en-US" dirty="0"/>
              <a:t>Supplies or Services &amp; Price/Cost</a:t>
            </a:r>
            <a:endParaRPr lang="en-US" dirty="0">
              <a:latin typeface="Raleway Black" pitchFamily="2" charset="0"/>
            </a:endParaRPr>
          </a:p>
        </p:txBody>
      </p:sp>
      <p:sp>
        <p:nvSpPr>
          <p:cNvPr id="7" name="Content Placeholder 2">
            <a:extLst>
              <a:ext uri="{FF2B5EF4-FFF2-40B4-BE49-F238E27FC236}">
                <a16:creationId xmlns:a16="http://schemas.microsoft.com/office/drawing/2014/main" id="{A2FBDE76-1097-6E25-6DF0-1745C45A3E4A}"/>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b="1" dirty="0"/>
              <a:t>Contract Type - Period of Performance</a:t>
            </a:r>
          </a:p>
          <a:p>
            <a:pPr lvl="1"/>
            <a:r>
              <a:rPr lang="en-US" altLang="en-US" sz="2000" dirty="0"/>
              <a:t>The resultant contract will be an Indefinite Delivery/Indefinite Quantity (IDIQ) Hybrid with Firm-Fixed-Price (FFP), Cost Reimbursement (CR) No Fee, and Cost-Plus-Fixed-Fee (CPFF) line items.</a:t>
            </a:r>
          </a:p>
          <a:p>
            <a:pPr lvl="1"/>
            <a:r>
              <a:rPr lang="en-US" altLang="en-US" sz="2000" dirty="0"/>
              <a:t>The resultant contract will have a two-year base ordering period and four two-year optional ordering periods.</a:t>
            </a:r>
          </a:p>
          <a:p>
            <a:pPr lvl="1"/>
            <a:r>
              <a:rPr lang="en-US" altLang="en-US" sz="2000" dirty="0">
                <a:latin typeface="Arial"/>
                <a:cs typeface="Arial"/>
              </a:rPr>
              <a:t>This </a:t>
            </a:r>
            <a:r>
              <a:rPr lang="en-US" sz="2000" dirty="0">
                <a:latin typeface="Arial"/>
                <a:cs typeface="Arial"/>
              </a:rPr>
              <a:t>acquisition is solicited as an unrestricted requirement. </a:t>
            </a:r>
          </a:p>
          <a:p>
            <a:endParaRPr lang="en-US" dirty="0"/>
          </a:p>
        </p:txBody>
      </p:sp>
    </p:spTree>
    <p:extLst>
      <p:ext uri="{BB962C8B-B14F-4D97-AF65-F5344CB8AC3E}">
        <p14:creationId xmlns:p14="http://schemas.microsoft.com/office/powerpoint/2010/main" val="789236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2E705-9D03-46C0-B234-6BEBE089D81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E489D7-894D-6AAF-8374-A9B5999DD62A}"/>
              </a:ext>
            </a:extLst>
          </p:cNvPr>
          <p:cNvSpPr>
            <a:spLocks noGrp="1" noRot="1" noMove="1" noResize="1" noEditPoints="1" noAdjustHandles="1" noChangeArrowheads="1" noChangeShapeType="1"/>
          </p:cNvSpPr>
          <p:nvPr>
            <p:ph type="title"/>
          </p:nvPr>
        </p:nvSpPr>
        <p:spPr/>
        <p:txBody>
          <a:bodyPr/>
          <a:lstStyle/>
          <a:p>
            <a:r>
              <a:rPr lang="en-US" dirty="0"/>
              <a:t>Section B</a:t>
            </a:r>
            <a:br>
              <a:rPr lang="en-US" dirty="0"/>
            </a:br>
            <a:r>
              <a:rPr lang="en-US" dirty="0"/>
              <a:t>Supplies or Services &amp; Price/Cost</a:t>
            </a:r>
            <a:endParaRPr lang="en-US" dirty="0">
              <a:latin typeface="Raleway Black" pitchFamily="2" charset="0"/>
            </a:endParaRPr>
          </a:p>
        </p:txBody>
      </p:sp>
      <p:sp>
        <p:nvSpPr>
          <p:cNvPr id="7" name="Content Placeholder 2">
            <a:extLst>
              <a:ext uri="{FF2B5EF4-FFF2-40B4-BE49-F238E27FC236}">
                <a16:creationId xmlns:a16="http://schemas.microsoft.com/office/drawing/2014/main" id="{9196269C-B471-F870-9063-BB437077070A}"/>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b="1" dirty="0"/>
              <a:t>Minimum and Maximum:</a:t>
            </a:r>
          </a:p>
          <a:p>
            <a:pPr lvl="1"/>
            <a:r>
              <a:rPr lang="en-US" altLang="en-US" sz="2000" dirty="0"/>
              <a:t>Minimum and Maximum Quantities: </a:t>
            </a:r>
          </a:p>
          <a:p>
            <a:pPr lvl="2"/>
            <a:r>
              <a:rPr lang="en-US" altLang="en-US" sz="1800" dirty="0"/>
              <a:t>As specified in Section B, IDIQ MINIMUM AND MAXIMUM QUANTITIES: The minimum value of the services is $1,500,000 for the entire contract.  The maximum value of the services is $477,913,568.07.</a:t>
            </a:r>
          </a:p>
          <a:p>
            <a:r>
              <a:rPr lang="en-US" altLang="en-US" b="1" dirty="0"/>
              <a:t>Ordering</a:t>
            </a:r>
          </a:p>
          <a:p>
            <a:pPr lvl="1"/>
            <a:r>
              <a:rPr lang="en-US" altLang="en-US" sz="2000" dirty="0"/>
              <a:t>Any services to be furnished under this contract shall be ordered by issuance of task orders by the individuals or activities designated in the Schedule.</a:t>
            </a:r>
          </a:p>
          <a:p>
            <a:pPr lvl="1"/>
            <a:r>
              <a:rPr lang="en-US" altLang="en-US" sz="2000" dirty="0"/>
              <a:t>Task Orders issued under the resultant contract may be issued unilaterally or bilaterally as determined by the Contracting Officer. </a:t>
            </a:r>
          </a:p>
          <a:p>
            <a:pPr lvl="1"/>
            <a:endParaRPr lang="en-US" altLang="en-US" sz="2000" dirty="0"/>
          </a:p>
          <a:p>
            <a:endParaRPr lang="en-US" dirty="0"/>
          </a:p>
        </p:txBody>
      </p:sp>
    </p:spTree>
    <p:extLst>
      <p:ext uri="{BB962C8B-B14F-4D97-AF65-F5344CB8AC3E}">
        <p14:creationId xmlns:p14="http://schemas.microsoft.com/office/powerpoint/2010/main" val="572860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983DA-1D0D-EF85-C738-C122AF84BE9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C7C501-F9D1-DCBE-E1C5-A462E45A923E}"/>
              </a:ext>
            </a:extLst>
          </p:cNvPr>
          <p:cNvSpPr>
            <a:spLocks noGrp="1" noRot="1" noMove="1" noResize="1" noEditPoints="1" noAdjustHandles="1" noChangeArrowheads="1" noChangeShapeType="1"/>
          </p:cNvSpPr>
          <p:nvPr>
            <p:ph type="title"/>
          </p:nvPr>
        </p:nvSpPr>
        <p:spPr/>
        <p:txBody>
          <a:bodyPr/>
          <a:lstStyle/>
          <a:p>
            <a:r>
              <a:rPr lang="en-US" dirty="0"/>
              <a:t>Section B</a:t>
            </a:r>
            <a:br>
              <a:rPr lang="en-US" dirty="0"/>
            </a:br>
            <a:r>
              <a:rPr lang="en-US" dirty="0"/>
              <a:t>Supplies or Services &amp; Price/Cost</a:t>
            </a:r>
            <a:endParaRPr lang="en-US" dirty="0">
              <a:latin typeface="Raleway Black" pitchFamily="2" charset="0"/>
            </a:endParaRPr>
          </a:p>
        </p:txBody>
      </p:sp>
      <p:sp>
        <p:nvSpPr>
          <p:cNvPr id="7" name="Content Placeholder 2">
            <a:extLst>
              <a:ext uri="{FF2B5EF4-FFF2-40B4-BE49-F238E27FC236}">
                <a16:creationId xmlns:a16="http://schemas.microsoft.com/office/drawing/2014/main" id="{1F5634FB-C2CB-BAE7-D59C-3465970C7FF3}"/>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b="1" dirty="0"/>
              <a:t>CLIN X001</a:t>
            </a:r>
          </a:p>
          <a:p>
            <a:pPr lvl="1"/>
            <a:r>
              <a:rPr lang="en-US" altLang="en-US" sz="2000" dirty="0"/>
              <a:t>Cost-Plus-Fixed-Fee: Services to perform Distribution Labor Support Services as described in the Performance Work Statement (PWS) Attachment J.1.</a:t>
            </a:r>
          </a:p>
          <a:p>
            <a:pPr lvl="1"/>
            <a:r>
              <a:rPr lang="en-US" altLang="en-US" sz="2000" dirty="0"/>
              <a:t>Costs for Labor shall include all direct labor costs.  Costs shall be reimbursed at actual cost plus applicable indirect costs and fixed fee.</a:t>
            </a:r>
          </a:p>
          <a:p>
            <a:r>
              <a:rPr lang="en-US" altLang="en-US" b="1" dirty="0"/>
              <a:t>CLIN X002</a:t>
            </a:r>
          </a:p>
          <a:p>
            <a:pPr lvl="1"/>
            <a:r>
              <a:rPr lang="en-US" altLang="en-US" sz="2000" dirty="0"/>
              <a:t>Cost-Plus-Fixed-Fee: Services to perform Disposition Services Labor Support Services as described in the Performance Work Statement (PWS) Attachment J.1.</a:t>
            </a:r>
          </a:p>
          <a:p>
            <a:pPr lvl="1"/>
            <a:r>
              <a:rPr lang="en-US" altLang="en-US" sz="2000" dirty="0"/>
              <a:t>Costs for Labor shall include all direct labor costs.  Costs shall be reimbursed at actual cost plus applicable indirect costs and fixed fee.</a:t>
            </a:r>
          </a:p>
          <a:p>
            <a:r>
              <a:rPr lang="en-US" altLang="en-US" sz="2400" b="1" dirty="0"/>
              <a:t>CLIN X003</a:t>
            </a:r>
          </a:p>
          <a:p>
            <a:pPr lvl="1"/>
            <a:r>
              <a:rPr lang="en-US" altLang="en-US" sz="2000" dirty="0"/>
              <a:t>Cost Reimbursement (No Fee) – Material Support Costs (supportive of CLIN X001)</a:t>
            </a:r>
          </a:p>
          <a:p>
            <a:endParaRPr lang="en-US" altLang="en-US" sz="2200" dirty="0"/>
          </a:p>
          <a:p>
            <a:endParaRPr lang="en-US" dirty="0"/>
          </a:p>
        </p:txBody>
      </p:sp>
    </p:spTree>
    <p:extLst>
      <p:ext uri="{BB962C8B-B14F-4D97-AF65-F5344CB8AC3E}">
        <p14:creationId xmlns:p14="http://schemas.microsoft.com/office/powerpoint/2010/main" val="1068686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0DF95-E2E8-553A-EEE7-DBE03F7FD53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6DB225-F122-65EE-0ECD-CE74BDBDD7D0}"/>
              </a:ext>
            </a:extLst>
          </p:cNvPr>
          <p:cNvSpPr>
            <a:spLocks noGrp="1" noRot="1" noMove="1" noResize="1" noEditPoints="1" noAdjustHandles="1" noChangeArrowheads="1" noChangeShapeType="1"/>
          </p:cNvSpPr>
          <p:nvPr>
            <p:ph type="title"/>
          </p:nvPr>
        </p:nvSpPr>
        <p:spPr/>
        <p:txBody>
          <a:bodyPr/>
          <a:lstStyle/>
          <a:p>
            <a:r>
              <a:rPr lang="en-US" dirty="0"/>
              <a:t>Section B</a:t>
            </a:r>
            <a:br>
              <a:rPr lang="en-US" dirty="0"/>
            </a:br>
            <a:r>
              <a:rPr lang="en-US" dirty="0"/>
              <a:t>Supplies or Services &amp; Price/Cost</a:t>
            </a:r>
            <a:endParaRPr lang="en-US" dirty="0">
              <a:latin typeface="Raleway Black" pitchFamily="2" charset="0"/>
            </a:endParaRPr>
          </a:p>
        </p:txBody>
      </p:sp>
      <p:sp>
        <p:nvSpPr>
          <p:cNvPr id="7" name="Content Placeholder 2">
            <a:extLst>
              <a:ext uri="{FF2B5EF4-FFF2-40B4-BE49-F238E27FC236}">
                <a16:creationId xmlns:a16="http://schemas.microsoft.com/office/drawing/2014/main" id="{64864CB7-1C42-3E04-BBFA-52AD58839CCF}"/>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b="1" dirty="0"/>
              <a:t>CLIN X004</a:t>
            </a:r>
          </a:p>
          <a:p>
            <a:pPr lvl="1"/>
            <a:r>
              <a:rPr lang="en-US" altLang="en-US" sz="2000" dirty="0"/>
              <a:t>Cost Reimbursement (No Fee) – Material Support Costs (supportive of CLIN X002)</a:t>
            </a:r>
          </a:p>
          <a:p>
            <a:r>
              <a:rPr lang="en-US" altLang="en-US" b="1" dirty="0"/>
              <a:t>CLIN X005</a:t>
            </a:r>
          </a:p>
          <a:p>
            <a:pPr lvl="1"/>
            <a:r>
              <a:rPr lang="en-US" altLang="en-US" sz="2000" dirty="0"/>
              <a:t>Contract Data Requirements Lists (CDRLs) (Not Separately Priced)</a:t>
            </a:r>
          </a:p>
          <a:p>
            <a:r>
              <a:rPr lang="en-US" altLang="en-US" b="1" dirty="0"/>
              <a:t>CLIN 0006</a:t>
            </a:r>
          </a:p>
          <a:p>
            <a:pPr lvl="1"/>
            <a:r>
              <a:rPr lang="en-US" altLang="en-US" sz="2000" dirty="0"/>
              <a:t>Services to Perform Distribution Phase-In per C.1.8 of the PWS.</a:t>
            </a:r>
          </a:p>
          <a:p>
            <a:r>
              <a:rPr lang="en-US" altLang="en-US" b="1" dirty="0"/>
              <a:t>CLIN 0007</a:t>
            </a:r>
          </a:p>
          <a:p>
            <a:pPr lvl="1"/>
            <a:r>
              <a:rPr lang="en-US" altLang="en-US" sz="2000" dirty="0"/>
              <a:t>Services to Perform Disposition Services Phase-In per C.1.8 of the PWS</a:t>
            </a:r>
          </a:p>
          <a:p>
            <a:endParaRPr lang="en-US" dirty="0"/>
          </a:p>
        </p:txBody>
      </p:sp>
    </p:spTree>
    <p:extLst>
      <p:ext uri="{BB962C8B-B14F-4D97-AF65-F5344CB8AC3E}">
        <p14:creationId xmlns:p14="http://schemas.microsoft.com/office/powerpoint/2010/main" val="35460503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62E93-35CC-9C6E-DAB4-64EB8C176E8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FF5BBEE-C712-B609-6C15-03FE9B02ACA4}"/>
              </a:ext>
            </a:extLst>
          </p:cNvPr>
          <p:cNvSpPr>
            <a:spLocks noGrp="1" noRot="1" noMove="1" noResize="1" noEditPoints="1" noAdjustHandles="1" noChangeArrowheads="1" noChangeShapeType="1"/>
          </p:cNvSpPr>
          <p:nvPr>
            <p:ph type="title"/>
          </p:nvPr>
        </p:nvSpPr>
        <p:spPr/>
        <p:txBody>
          <a:bodyPr/>
          <a:lstStyle/>
          <a:p>
            <a:r>
              <a:rPr lang="en-US" dirty="0"/>
              <a:t>Section B</a:t>
            </a:r>
            <a:br>
              <a:rPr lang="en-US" dirty="0"/>
            </a:br>
            <a:r>
              <a:rPr lang="en-US" sz="1200" dirty="0"/>
              <a:t>Instructions</a:t>
            </a:r>
            <a:endParaRPr lang="en-US" dirty="0">
              <a:latin typeface="Raleway Black" pitchFamily="2" charset="0"/>
            </a:endParaRPr>
          </a:p>
        </p:txBody>
      </p:sp>
      <p:sp>
        <p:nvSpPr>
          <p:cNvPr id="7" name="Content Placeholder 2">
            <a:extLst>
              <a:ext uri="{FF2B5EF4-FFF2-40B4-BE49-F238E27FC236}">
                <a16:creationId xmlns:a16="http://schemas.microsoft.com/office/drawing/2014/main" id="{773C6756-B906-414F-2DFA-958B20FF893A}"/>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900" b="1" dirty="0"/>
              <a:t>COST-PLUS-FIXED-FEE (CPFF) - </a:t>
            </a:r>
            <a:r>
              <a:rPr lang="en-US" altLang="en-US" sz="1900" dirty="0"/>
              <a:t>CLINs X001 and X002: Costs for Labor shall include all direct labor costs.  Costs shall be reimbursed at actual cost plus applicable indirect costs and fixed fee.  In accordance with FAR 15.404-4(c)(4)(i)(C), the fixed fee shall not exceed 10% of the contract’s estimated cost, excluding fee. </a:t>
            </a:r>
          </a:p>
          <a:p>
            <a:pPr lvl="1">
              <a:buFont typeface="Arial" panose="020B0604020202020204" pitchFamily="34" charset="0"/>
              <a:buNone/>
            </a:pPr>
            <a:r>
              <a:rPr lang="en-US" altLang="en-US" sz="1700" dirty="0"/>
              <a:t>	Offerors shall enter their Estimated Cost. Offerors shall insert and apply their applicable Fixed Fee to their estimated cost to arrive at the Total Estimated Cost Plus Fixed Fee. For evaluation purposes, offerors shall utilize the Government estimated total productive labor hours per year and per labor position as reflected in the table in Section L, Paragraph L-30, E-File V - Cost Proposal of this RFP.</a:t>
            </a:r>
          </a:p>
          <a:p>
            <a:endParaRPr lang="en-US" dirty="0"/>
          </a:p>
        </p:txBody>
      </p:sp>
      <p:pic>
        <p:nvPicPr>
          <p:cNvPr id="6" name="Picture 5">
            <a:extLst>
              <a:ext uri="{FF2B5EF4-FFF2-40B4-BE49-F238E27FC236}">
                <a16:creationId xmlns:a16="http://schemas.microsoft.com/office/drawing/2014/main" id="{80EB3846-A198-AF5C-3AE7-D050ED5BFE31}"/>
              </a:ext>
            </a:extLst>
          </p:cNvPr>
          <p:cNvPicPr>
            <a:picLocks noChangeAspect="1"/>
          </p:cNvPicPr>
          <p:nvPr/>
        </p:nvPicPr>
        <p:blipFill>
          <a:blip r:embed="rId3"/>
          <a:stretch>
            <a:fillRect/>
          </a:stretch>
        </p:blipFill>
        <p:spPr>
          <a:xfrm>
            <a:off x="1157037" y="4259793"/>
            <a:ext cx="8049126" cy="2907799"/>
          </a:xfrm>
          <a:prstGeom prst="rect">
            <a:avLst/>
          </a:prstGeom>
        </p:spPr>
      </p:pic>
    </p:spTree>
    <p:extLst>
      <p:ext uri="{BB962C8B-B14F-4D97-AF65-F5344CB8AC3E}">
        <p14:creationId xmlns:p14="http://schemas.microsoft.com/office/powerpoint/2010/main" val="17792094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9C14F-FE6D-D5A1-FB18-0D6E360CDD8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7DCB16E-FCCB-A639-07E5-C230DFD904F9}"/>
              </a:ext>
            </a:extLst>
          </p:cNvPr>
          <p:cNvSpPr>
            <a:spLocks noGrp="1" noRot="1" noMove="1" noResize="1" noEditPoints="1" noAdjustHandles="1" noChangeArrowheads="1" noChangeShapeType="1"/>
          </p:cNvSpPr>
          <p:nvPr>
            <p:ph type="title"/>
          </p:nvPr>
        </p:nvSpPr>
        <p:spPr/>
        <p:txBody>
          <a:bodyPr/>
          <a:lstStyle/>
          <a:p>
            <a:r>
              <a:rPr lang="en-US" dirty="0"/>
              <a:t>Section B</a:t>
            </a:r>
            <a:br>
              <a:rPr lang="en-US" dirty="0"/>
            </a:br>
            <a:r>
              <a:rPr lang="en-US" sz="1200" dirty="0"/>
              <a:t>Instructions</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10F8E06E-8C24-3468-D327-E27851E08855}"/>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900" b="1" dirty="0"/>
              <a:t>COST REIMBURSEMENT (NO FEE) - CLINs X003 and X004: </a:t>
            </a:r>
            <a:endParaRPr lang="en-US" altLang="en-US" sz="1900" dirty="0"/>
          </a:p>
          <a:p>
            <a:pPr lvl="1"/>
            <a:r>
              <a:rPr lang="en-US" altLang="en-US" sz="1900" dirty="0"/>
              <a:t>Offerors shall apply their applicable indirect rate to the estimated cost to arrive at the Not-To-Exceed (NTE) amount. The Contractor shall be reimbursed for actual cost and indirect rate as proposed only.</a:t>
            </a:r>
          </a:p>
          <a:p>
            <a:pPr lvl="1"/>
            <a:r>
              <a:rPr lang="en-US" altLang="en-US" sz="1900" dirty="0"/>
              <a:t>Offerors shall enter the Government provided Estimated Cost located in Section L, Paragraph L-30, E-File V - Cost Proposal. Offerors shall insert and apply their applicable indirect rate, supported by their accounting system, to this estimated cost to arrive at the NTE. Offerors shall enter the applicable indirect rate, dollar amount, and the NTE in Section B. No fee shall be applied.</a:t>
            </a:r>
          </a:p>
          <a:p>
            <a:endParaRPr lang="en-US" dirty="0"/>
          </a:p>
        </p:txBody>
      </p:sp>
      <p:pic>
        <p:nvPicPr>
          <p:cNvPr id="3" name="Picture 2">
            <a:extLst>
              <a:ext uri="{FF2B5EF4-FFF2-40B4-BE49-F238E27FC236}">
                <a16:creationId xmlns:a16="http://schemas.microsoft.com/office/drawing/2014/main" id="{E9F1B720-A3ED-0F2F-F27E-79027CE4F820}"/>
              </a:ext>
            </a:extLst>
          </p:cNvPr>
          <p:cNvPicPr>
            <a:picLocks noChangeAspect="1"/>
          </p:cNvPicPr>
          <p:nvPr/>
        </p:nvPicPr>
        <p:blipFill>
          <a:blip r:embed="rId3"/>
          <a:stretch>
            <a:fillRect/>
          </a:stretch>
        </p:blipFill>
        <p:spPr>
          <a:xfrm>
            <a:off x="739463" y="4174830"/>
            <a:ext cx="8848978" cy="2965102"/>
          </a:xfrm>
          <a:prstGeom prst="rect">
            <a:avLst/>
          </a:prstGeom>
        </p:spPr>
      </p:pic>
    </p:spTree>
    <p:extLst>
      <p:ext uri="{BB962C8B-B14F-4D97-AF65-F5344CB8AC3E}">
        <p14:creationId xmlns:p14="http://schemas.microsoft.com/office/powerpoint/2010/main" val="15978348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0239-00F4-D626-1456-A7180D698FA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C209ED7-5DB7-1BAF-B68E-A86063FFC83D}"/>
              </a:ext>
            </a:extLst>
          </p:cNvPr>
          <p:cNvSpPr>
            <a:spLocks noGrp="1" noRot="1" noMove="1" noResize="1" noEditPoints="1" noAdjustHandles="1" noChangeArrowheads="1" noChangeShapeType="1"/>
          </p:cNvSpPr>
          <p:nvPr>
            <p:ph type="title"/>
          </p:nvPr>
        </p:nvSpPr>
        <p:spPr/>
        <p:txBody>
          <a:bodyPr/>
          <a:lstStyle/>
          <a:p>
            <a:r>
              <a:rPr lang="en-US" dirty="0"/>
              <a:t>Section B</a:t>
            </a:r>
            <a:br>
              <a:rPr lang="en-US" dirty="0"/>
            </a:br>
            <a:r>
              <a:rPr lang="en-US" sz="1200" dirty="0"/>
              <a:t>Instructions</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83656611-C122-32BC-37F7-76772498C547}"/>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b="1" dirty="0"/>
              <a:t>REPORTING REQUIREMENTS - CLIN X005 (NSP):</a:t>
            </a:r>
          </a:p>
          <a:p>
            <a:pPr lvl="1"/>
            <a:r>
              <a:rPr lang="en-US" altLang="en-US" sz="2000" dirty="0"/>
              <a:t>Reporting requirements.  Not Separately Priced (NSP)</a:t>
            </a:r>
          </a:p>
          <a:p>
            <a:pPr lvl="1"/>
            <a:r>
              <a:rPr lang="en-US" altLang="en-US" sz="2000" dirty="0"/>
              <a:t>While these CLINs are not separately priced, it is anticipated and it is acceptable that the Contractor will be reimbursed for the execution of this CLIN. </a:t>
            </a:r>
          </a:p>
          <a:p>
            <a:pPr lvl="1"/>
            <a:r>
              <a:rPr lang="en-US" altLang="en-US" sz="2000" dirty="0"/>
              <a:t>Costs associated with this effort shall be captured under CLINs X001 or X002, only.</a:t>
            </a:r>
          </a:p>
          <a:p>
            <a:r>
              <a:rPr lang="en-US" altLang="en-US" sz="2000" b="1" dirty="0">
                <a:solidFill>
                  <a:prstClr val="black"/>
                </a:solidFill>
              </a:rPr>
              <a:t>FIRM-FIXED-PRICE (FFP) - </a:t>
            </a:r>
            <a:r>
              <a:rPr lang="en-US" altLang="en-US" sz="2000" dirty="0">
                <a:solidFill>
                  <a:prstClr val="black"/>
                </a:solidFill>
              </a:rPr>
              <a:t>CLINs 0006 and 0007</a:t>
            </a:r>
            <a:r>
              <a:rPr lang="en-US" altLang="en-US" sz="1600" dirty="0">
                <a:solidFill>
                  <a:prstClr val="black"/>
                </a:solidFill>
              </a:rPr>
              <a:t>: </a:t>
            </a:r>
          </a:p>
          <a:p>
            <a:pPr lvl="1"/>
            <a:r>
              <a:rPr lang="en-US" altLang="en-US" sz="2000" dirty="0">
                <a:solidFill>
                  <a:prstClr val="black"/>
                </a:solidFill>
              </a:rPr>
              <a:t>All labor shall be paid on firm fixed price per month basis. Offerors shall propose a Quantity * Unit Price to arrive at a Total Amount. For evaluation purposes, offerors shall utilize the Government estimated total productive labor hours per year and per labor position as reflected in the table in Section L, Paragraph L-30, E-File V - Cost Proposal of this RFP.</a:t>
            </a:r>
            <a:endParaRPr kumimoji="0" lang="en-US" altLang="en-US" sz="2000" i="0" strike="noStrike" kern="1200" cap="none" spc="0" normalizeH="0" baseline="0" noProof="0" dirty="0">
              <a:ln>
                <a:noFill/>
              </a:ln>
              <a:solidFill>
                <a:prstClr val="black"/>
              </a:solidFill>
              <a:effectLst/>
              <a:uLnTx/>
              <a:uFillTx/>
            </a:endParaRPr>
          </a:p>
          <a:p>
            <a:endParaRPr lang="en-US" altLang="en-US" sz="2200" dirty="0"/>
          </a:p>
          <a:p>
            <a:endParaRPr lang="en-US" dirty="0"/>
          </a:p>
        </p:txBody>
      </p:sp>
      <p:pic>
        <p:nvPicPr>
          <p:cNvPr id="5" name="Picture 4">
            <a:extLst>
              <a:ext uri="{FF2B5EF4-FFF2-40B4-BE49-F238E27FC236}">
                <a16:creationId xmlns:a16="http://schemas.microsoft.com/office/drawing/2014/main" id="{8381F4E6-6195-6971-B42E-21058F86EF1B}"/>
              </a:ext>
            </a:extLst>
          </p:cNvPr>
          <p:cNvPicPr>
            <a:picLocks noChangeAspect="1"/>
          </p:cNvPicPr>
          <p:nvPr/>
        </p:nvPicPr>
        <p:blipFill>
          <a:blip r:embed="rId3"/>
          <a:stretch>
            <a:fillRect/>
          </a:stretch>
        </p:blipFill>
        <p:spPr>
          <a:xfrm>
            <a:off x="820152" y="5413681"/>
            <a:ext cx="8722895" cy="1693179"/>
          </a:xfrm>
          <a:prstGeom prst="rect">
            <a:avLst/>
          </a:prstGeom>
        </p:spPr>
      </p:pic>
    </p:spTree>
    <p:extLst>
      <p:ext uri="{BB962C8B-B14F-4D97-AF65-F5344CB8AC3E}">
        <p14:creationId xmlns:p14="http://schemas.microsoft.com/office/powerpoint/2010/main" val="42112197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E1F56-93CB-E6E8-5A5A-1502A173014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191144-DBFC-5402-17A1-268423266644}"/>
              </a:ext>
            </a:extLst>
          </p:cNvPr>
          <p:cNvSpPr>
            <a:spLocks noGrp="1" noRot="1" noMove="1" noResize="1" noEditPoints="1" noAdjustHandles="1" noChangeArrowheads="1" noChangeShapeType="1"/>
          </p:cNvSpPr>
          <p:nvPr>
            <p:ph type="title"/>
          </p:nvPr>
        </p:nvSpPr>
        <p:spPr/>
        <p:txBody>
          <a:bodyPr/>
          <a:lstStyle/>
          <a:p>
            <a:r>
              <a:rPr lang="en-US" dirty="0"/>
              <a:t>Section B</a:t>
            </a:r>
            <a:br>
              <a:rPr lang="en-US" dirty="0"/>
            </a:br>
            <a:r>
              <a:rPr lang="en-US" sz="1200" dirty="0"/>
              <a:t>Narrative</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FE2C4DC9-30D7-E2C2-2D8F-C1BDC41E387E}"/>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b="1" dirty="0">
                <a:solidFill>
                  <a:prstClr val="black"/>
                </a:solidFill>
                <a:latin typeface="Arial" charset="0"/>
                <a:cs typeface="Arial" charset="0"/>
              </a:rPr>
              <a:t>Key Points</a:t>
            </a:r>
          </a:p>
          <a:p>
            <a:pPr lvl="1"/>
            <a:r>
              <a:rPr lang="en-US" altLang="en-US" sz="2400" dirty="0"/>
              <a:t>Service Contract Act </a:t>
            </a:r>
            <a:r>
              <a:rPr lang="en-US" altLang="en-US" sz="2000" dirty="0"/>
              <a:t> </a:t>
            </a:r>
          </a:p>
          <a:p>
            <a:pPr lvl="2"/>
            <a:r>
              <a:rPr lang="en-US" altLang="en-US" sz="2000" dirty="0"/>
              <a:t>Minimum direct labor rate and benefits specified in applicable Wage Determination must be paid</a:t>
            </a:r>
          </a:p>
          <a:p>
            <a:pPr lvl="2"/>
            <a:r>
              <a:rPr lang="en-US" altLang="en-US" sz="2000" dirty="0"/>
              <a:t>Offerors are encouraged to propose rates and benefits necessary to perform in accordance with the Offeror’s overall proposal</a:t>
            </a:r>
          </a:p>
          <a:p>
            <a:pPr lvl="2"/>
            <a:r>
              <a:rPr lang="en-US" altLang="en-US" sz="2000" dirty="0"/>
              <a:t>Offerors may escalate SCA rates and benefits</a:t>
            </a:r>
          </a:p>
          <a:p>
            <a:pPr lvl="1"/>
            <a:r>
              <a:rPr lang="en-US" altLang="en-US" sz="2400" dirty="0"/>
              <a:t>Invoicing and excess funds</a:t>
            </a:r>
          </a:p>
          <a:p>
            <a:pPr lvl="2"/>
            <a:r>
              <a:rPr lang="en-US" altLang="en-US" sz="2000" dirty="0"/>
              <a:t>Invoice within 90 days of performance completion</a:t>
            </a:r>
          </a:p>
          <a:p>
            <a:pPr lvl="2"/>
            <a:r>
              <a:rPr lang="en-US" altLang="en-US" sz="2000" dirty="0"/>
              <a:t>Excess funds removed unilaterally after 90 days</a:t>
            </a:r>
          </a:p>
          <a:p>
            <a:pPr lvl="1"/>
            <a:r>
              <a:rPr lang="en-US" altLang="en-US" sz="2400" dirty="0"/>
              <a:t>Limitation on Indirect Cost Rates</a:t>
            </a:r>
          </a:p>
          <a:p>
            <a:endParaRPr lang="en-US" altLang="en-US" sz="2200" dirty="0"/>
          </a:p>
          <a:p>
            <a:endParaRPr lang="en-US" dirty="0"/>
          </a:p>
        </p:txBody>
      </p:sp>
    </p:spTree>
    <p:extLst>
      <p:ext uri="{BB962C8B-B14F-4D97-AF65-F5344CB8AC3E}">
        <p14:creationId xmlns:p14="http://schemas.microsoft.com/office/powerpoint/2010/main" val="9664593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9670A-FBA2-18A1-8169-B32C71F8E88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DF1A595-1F16-2C42-7747-A43344072AB0}"/>
              </a:ext>
            </a:extLst>
          </p:cNvPr>
          <p:cNvSpPr>
            <a:spLocks noGrp="1" noRot="1" noMove="1" noResize="1" noEditPoints="1" noAdjustHandles="1" noChangeArrowheads="1" noChangeShapeType="1"/>
          </p:cNvSpPr>
          <p:nvPr>
            <p:ph type="title"/>
          </p:nvPr>
        </p:nvSpPr>
        <p:spPr/>
        <p:txBody>
          <a:bodyPr/>
          <a:lstStyle/>
          <a:p>
            <a:r>
              <a:rPr lang="en-US" dirty="0"/>
              <a:t>Section B</a:t>
            </a:r>
            <a:br>
              <a:rPr lang="en-US" dirty="0"/>
            </a:br>
            <a:r>
              <a:rPr lang="en-US" sz="1200" dirty="0"/>
              <a:t>Narrative</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408E1477-59A3-193D-51AA-16781ACC6D21}"/>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b="1" dirty="0">
                <a:solidFill>
                  <a:prstClr val="black"/>
                </a:solidFill>
                <a:latin typeface="Arial" charset="0"/>
                <a:cs typeface="Arial" charset="0"/>
              </a:rPr>
              <a:t>Key Points</a:t>
            </a:r>
          </a:p>
          <a:p>
            <a:pPr lvl="1">
              <a:spcBef>
                <a:spcPts val="400"/>
              </a:spcBef>
            </a:pPr>
            <a:r>
              <a:rPr lang="en-US" altLang="en-US" sz="2400" dirty="0"/>
              <a:t>Task Orders </a:t>
            </a:r>
            <a:r>
              <a:rPr lang="en-US" altLang="en-US" sz="2000" dirty="0"/>
              <a:t> </a:t>
            </a:r>
          </a:p>
          <a:p>
            <a:pPr lvl="2"/>
            <a:r>
              <a:rPr lang="en-US" altLang="en-US" sz="1800" dirty="0"/>
              <a:t>A request for quote will be issued and the Contractor will submit a quote based on the Government provided Performance Work Statement, which may provide applicable labor categories and hours, and the applicable Other Direct Cost categories.</a:t>
            </a:r>
          </a:p>
          <a:p>
            <a:pPr lvl="2"/>
            <a:r>
              <a:rPr lang="en-US" altLang="en-US" sz="1800" dirty="0"/>
              <a:t>The exempt labor rates and applicable indirect rates will remain as proposed for the basic contract, while non-exempt labor rates will be derived from the applicable Wage Determination based on the location of task order performance.</a:t>
            </a:r>
          </a:p>
          <a:p>
            <a:pPr lvl="2"/>
            <a:r>
              <a:rPr lang="en-US" altLang="en-US" sz="1800" dirty="0"/>
              <a:t>Incentives may be utilized in unique circumstances (e.g. short duration, short suspense, security clearance requirements) and inclusion will be negotiated on a task order basis. See Section L-30, E-File V - COST PROPOSAL, for additional information regarding incentives.</a:t>
            </a:r>
          </a:p>
          <a:p>
            <a:pPr lvl="2"/>
            <a:r>
              <a:rPr lang="en-US" altLang="en-US" sz="1800" dirty="0"/>
              <a:t>The only exception to deviate from the base labor rates for exempt employees will be for Cost of Living Allowances for OCONUS requirements.</a:t>
            </a:r>
          </a:p>
          <a:p>
            <a:endParaRPr lang="en-US" altLang="en-US" sz="2200" dirty="0"/>
          </a:p>
          <a:p>
            <a:endParaRPr lang="en-US" dirty="0"/>
          </a:p>
        </p:txBody>
      </p:sp>
    </p:spTree>
    <p:extLst>
      <p:ext uri="{BB962C8B-B14F-4D97-AF65-F5344CB8AC3E}">
        <p14:creationId xmlns:p14="http://schemas.microsoft.com/office/powerpoint/2010/main" val="32525878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68DD2-F82A-AEE6-6EAA-7EE36A52BC0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4589E0-A3E7-414D-87B2-A8654BF2123F}"/>
              </a:ext>
            </a:extLst>
          </p:cNvPr>
          <p:cNvSpPr>
            <a:spLocks noGrp="1" noRot="1" noMove="1" noResize="1" noEditPoints="1" noAdjustHandles="1" noChangeArrowheads="1" noChangeShapeType="1"/>
          </p:cNvSpPr>
          <p:nvPr>
            <p:ph type="title"/>
          </p:nvPr>
        </p:nvSpPr>
        <p:spPr/>
        <p:txBody>
          <a:bodyPr/>
          <a:lstStyle/>
          <a:p>
            <a:r>
              <a:rPr lang="en-US" dirty="0"/>
              <a:t>Section C</a:t>
            </a:r>
            <a:br>
              <a:rPr lang="en-US" dirty="0"/>
            </a:br>
            <a:r>
              <a:rPr lang="en-US" dirty="0"/>
              <a:t>Performance Work Statement Review</a:t>
            </a:r>
            <a:br>
              <a:rPr lang="en-US" dirty="0"/>
            </a:br>
            <a:br>
              <a:rPr lang="en-US" dirty="0"/>
            </a:b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43F7A338-C497-2A12-7BF6-D0938901196D}"/>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endParaRPr lang="en-US" altLang="en-US" sz="2400" b="1" dirty="0">
              <a:solidFill>
                <a:prstClr val="black"/>
              </a:solidFill>
              <a:ea typeface="+mj-ea"/>
              <a:cs typeface="Arial" charset="0"/>
            </a:endParaRPr>
          </a:p>
          <a:p>
            <a:pPr marL="0" indent="0" algn="ctr">
              <a:buNone/>
              <a:defRPr/>
            </a:pPr>
            <a:endParaRPr lang="en-US" altLang="en-US" b="1" dirty="0">
              <a:solidFill>
                <a:prstClr val="black"/>
              </a:solidFill>
              <a:ea typeface="+mj-ea"/>
              <a:cs typeface="Arial" charset="0"/>
            </a:endParaRPr>
          </a:p>
          <a:p>
            <a:pPr marL="0" indent="0" algn="ctr">
              <a:buNone/>
              <a:defRPr/>
            </a:pPr>
            <a:r>
              <a:rPr lang="en-US" altLang="en-US" sz="3200" b="1" dirty="0">
                <a:solidFill>
                  <a:prstClr val="black"/>
                </a:solidFill>
                <a:ea typeface="+mj-ea"/>
                <a:cs typeface="Arial" charset="0"/>
              </a:rPr>
              <a:t>Performance Work Statement</a:t>
            </a:r>
            <a:r>
              <a:rPr lang="en-US" sz="3200" b="1" dirty="0">
                <a:solidFill>
                  <a:prstClr val="black"/>
                </a:solidFill>
                <a:ea typeface="+mj-ea"/>
                <a:cs typeface="Arial" charset="0"/>
              </a:rPr>
              <a:t> Review</a:t>
            </a:r>
          </a:p>
          <a:p>
            <a:pPr marL="0" indent="0" algn="ctr">
              <a:buNone/>
              <a:defRPr/>
            </a:pPr>
            <a:endParaRPr lang="en-US" sz="3200" b="1" dirty="0">
              <a:solidFill>
                <a:prstClr val="black"/>
              </a:solidFill>
              <a:ea typeface="+mj-ea"/>
              <a:cs typeface="Arial" charset="0"/>
            </a:endParaRPr>
          </a:p>
          <a:p>
            <a:pPr marL="0" indent="0" algn="ctr">
              <a:buNone/>
              <a:defRPr/>
            </a:pPr>
            <a:r>
              <a:rPr lang="en-US" sz="3200" b="1" dirty="0">
                <a:solidFill>
                  <a:prstClr val="black"/>
                </a:solidFill>
                <a:ea typeface="+mj-ea"/>
                <a:cs typeface="Arial" charset="0"/>
              </a:rPr>
              <a:t>Key Points</a:t>
            </a:r>
          </a:p>
          <a:p>
            <a:endParaRPr lang="en-US" altLang="en-US" sz="2200" dirty="0"/>
          </a:p>
          <a:p>
            <a:endParaRPr lang="en-US" dirty="0"/>
          </a:p>
        </p:txBody>
      </p:sp>
    </p:spTree>
    <p:extLst>
      <p:ext uri="{BB962C8B-B14F-4D97-AF65-F5344CB8AC3E}">
        <p14:creationId xmlns:p14="http://schemas.microsoft.com/office/powerpoint/2010/main" val="3809384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30112-9013-A502-30F0-63EDD00228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4D797F-4CB0-F154-B7C2-716DFDD0A0D8}"/>
              </a:ext>
            </a:extLst>
          </p:cNvPr>
          <p:cNvSpPr>
            <a:spLocks noGrp="1" noRot="1" noMove="1" noResize="1" noEditPoints="1" noAdjustHandles="1" noChangeArrowheads="1" noChangeShapeType="1"/>
          </p:cNvSpPr>
          <p:nvPr>
            <p:ph type="title"/>
          </p:nvPr>
        </p:nvSpPr>
        <p:spPr/>
        <p:txBody>
          <a:bodyPr/>
          <a:lstStyle/>
          <a:p>
            <a:r>
              <a:rPr lang="en-US" dirty="0"/>
              <a:t>Section C</a:t>
            </a:r>
            <a:br>
              <a:rPr lang="en-US" dirty="0"/>
            </a:br>
            <a:r>
              <a:rPr lang="en-US" sz="1200" dirty="0"/>
              <a:t>Key Points</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39981842-8388-6716-9D2A-76D4BAB902CC}"/>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2200" dirty="0"/>
          </a:p>
          <a:p>
            <a:endParaRPr lang="en-US" dirty="0"/>
          </a:p>
        </p:txBody>
      </p:sp>
      <p:sp>
        <p:nvSpPr>
          <p:cNvPr id="2" name="Content Placeholder 2">
            <a:extLst>
              <a:ext uri="{FF2B5EF4-FFF2-40B4-BE49-F238E27FC236}">
                <a16:creationId xmlns:a16="http://schemas.microsoft.com/office/drawing/2014/main" id="{62AFF4F5-BB93-22E5-9461-659161CDF5F8}"/>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2200" dirty="0"/>
          </a:p>
          <a:p>
            <a:endParaRPr lang="en-US" dirty="0"/>
          </a:p>
        </p:txBody>
      </p:sp>
      <p:pic>
        <p:nvPicPr>
          <p:cNvPr id="3" name="Picture 2" descr="http://www.tiftschools.com/docs/_full_Important%20Notice%20Clip%20art-1.jpg">
            <a:extLst>
              <a:ext uri="{FF2B5EF4-FFF2-40B4-BE49-F238E27FC236}">
                <a16:creationId xmlns:a16="http://schemas.microsoft.com/office/drawing/2014/main" id="{2FC914DE-0002-C6B1-CA75-4E135EAF88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2511" y="1530747"/>
            <a:ext cx="2575698" cy="1510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3">
            <a:extLst>
              <a:ext uri="{FF2B5EF4-FFF2-40B4-BE49-F238E27FC236}">
                <a16:creationId xmlns:a16="http://schemas.microsoft.com/office/drawing/2014/main" id="{203A45A3-2A6F-F20D-114B-56D81B25039C}"/>
              </a:ext>
            </a:extLst>
          </p:cNvPr>
          <p:cNvSpPr txBox="1">
            <a:spLocks noChangeArrowheads="1"/>
          </p:cNvSpPr>
          <p:nvPr/>
        </p:nvSpPr>
        <p:spPr bwMode="auto">
          <a:xfrm>
            <a:off x="1837265" y="6372583"/>
            <a:ext cx="7306735" cy="646331"/>
          </a:xfrm>
          <a:prstGeom prst="rect">
            <a:avLst/>
          </a:prstGeom>
          <a:noFill/>
          <a:ln w="571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600" b="1" dirty="0"/>
              <a:t>LOOK OUT FOR CHANGES</a:t>
            </a:r>
          </a:p>
        </p:txBody>
      </p:sp>
      <p:pic>
        <p:nvPicPr>
          <p:cNvPr id="8" name="Picture 14" descr="searching">
            <a:extLst>
              <a:ext uri="{FF2B5EF4-FFF2-40B4-BE49-F238E27FC236}">
                <a16:creationId xmlns:a16="http://schemas.microsoft.com/office/drawing/2014/main" id="{C19A22F1-199A-AED9-FBB4-CAD3EC21FD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283200"/>
            <a:ext cx="1704236" cy="176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a:extLst>
              <a:ext uri="{FF2B5EF4-FFF2-40B4-BE49-F238E27FC236}">
                <a16:creationId xmlns:a16="http://schemas.microsoft.com/office/drawing/2014/main" id="{3F3E3C4B-B04F-35F2-D2FE-21EC5FA09217}"/>
              </a:ext>
            </a:extLst>
          </p:cNvPr>
          <p:cNvSpPr txBox="1">
            <a:spLocks/>
          </p:cNvSpPr>
          <p:nvPr/>
        </p:nvSpPr>
        <p:spPr>
          <a:xfrm>
            <a:off x="310447" y="1280157"/>
            <a:ext cx="9838264" cy="4754880"/>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Key points – please read</a:t>
            </a:r>
            <a:r>
              <a:rPr lang="en-US" altLang="en-US" sz="2800" dirty="0"/>
              <a:t>:</a:t>
            </a:r>
          </a:p>
          <a:p>
            <a:pPr lvl="1"/>
            <a:r>
              <a:rPr lang="en-US" altLang="en-US" sz="2000" dirty="0"/>
              <a:t>The entire PWS in Attachment J.1</a:t>
            </a:r>
          </a:p>
          <a:p>
            <a:pPr lvl="1"/>
            <a:r>
              <a:rPr lang="en-US" altLang="en-US" sz="2000" dirty="0"/>
              <a:t>Proposed WMS Training Attachment J.2</a:t>
            </a:r>
          </a:p>
          <a:p>
            <a:pPr lvl="1"/>
            <a:r>
              <a:rPr lang="en-US" altLang="en-US" sz="2000" dirty="0"/>
              <a:t>Contract Data Requirement Lists (CDRL) – J.5</a:t>
            </a:r>
          </a:p>
          <a:p>
            <a:pPr lvl="1"/>
            <a:r>
              <a:rPr lang="en-US" altLang="en-US" sz="2000" dirty="0"/>
              <a:t>Technical Exhibits (TEs) – J.6 – J.17</a:t>
            </a:r>
          </a:p>
          <a:p>
            <a:pPr lvl="1"/>
            <a:r>
              <a:rPr lang="en-US" altLang="en-US" sz="2000" dirty="0">
                <a:latin typeface="Arial"/>
                <a:cs typeface="Arial"/>
              </a:rPr>
              <a:t>Task Order 01 – Distribution PMO TO Attachment – J.18</a:t>
            </a:r>
          </a:p>
          <a:p>
            <a:pPr lvl="1"/>
            <a:r>
              <a:rPr lang="en-US" altLang="en-US" sz="2000" dirty="0">
                <a:latin typeface="Arial"/>
                <a:cs typeface="Arial"/>
              </a:rPr>
              <a:t>Task Order 02 – Disposition PMO TO Attachment – J.19</a:t>
            </a:r>
          </a:p>
          <a:p>
            <a:pPr lvl="1"/>
            <a:r>
              <a:rPr lang="en-US" altLang="en-US" sz="2000" dirty="0">
                <a:latin typeface="Arial"/>
                <a:cs typeface="Arial"/>
              </a:rPr>
              <a:t>The TEs, CDRLs, and other Attachments were posted to </a:t>
            </a:r>
            <a:r>
              <a:rPr lang="en-US" altLang="en-US" sz="2000" dirty="0" err="1">
                <a:latin typeface="Arial"/>
                <a:cs typeface="Arial"/>
              </a:rPr>
              <a:t>SAM.Gov</a:t>
            </a:r>
            <a:r>
              <a:rPr lang="en-US" altLang="en-US" sz="2000" dirty="0">
                <a:latin typeface="Arial"/>
                <a:cs typeface="Arial"/>
              </a:rPr>
              <a:t>.  If you are unable to open any document in </a:t>
            </a:r>
            <a:r>
              <a:rPr lang="en-US" altLang="en-US" sz="2000" dirty="0" err="1">
                <a:latin typeface="Arial"/>
                <a:cs typeface="Arial"/>
              </a:rPr>
              <a:t>SAM.Gov</a:t>
            </a:r>
            <a:r>
              <a:rPr lang="en-US" altLang="en-US" sz="2000" dirty="0">
                <a:latin typeface="Arial"/>
                <a:cs typeface="Arial"/>
              </a:rPr>
              <a:t>, please contact the Acquisition Specialist immediately</a:t>
            </a:r>
          </a:p>
          <a:p>
            <a:pPr lvl="1"/>
            <a:r>
              <a:rPr lang="en-US" altLang="en-US" sz="2000" dirty="0">
                <a:latin typeface="Arial"/>
                <a:cs typeface="Arial"/>
              </a:rPr>
              <a:t>Technical Library (TL) Documents and site photos will be sent via  DoD SAFE site, upon request</a:t>
            </a:r>
          </a:p>
          <a:p>
            <a:endParaRPr lang="en-US" sz="2800" dirty="0"/>
          </a:p>
        </p:txBody>
      </p:sp>
    </p:spTree>
    <p:extLst>
      <p:ext uri="{BB962C8B-B14F-4D97-AF65-F5344CB8AC3E}">
        <p14:creationId xmlns:p14="http://schemas.microsoft.com/office/powerpoint/2010/main" val="2557922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0F769-805F-EAC8-963D-7DA91EC0F1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A67165E-F291-B7D7-7230-4D351B34FF08}"/>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0B5BD3F9-CF1E-BCD1-46EF-742BD8F4799E}"/>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800" dirty="0"/>
              <a:t>Scope (C-1.1)</a:t>
            </a:r>
          </a:p>
          <a:p>
            <a:pPr lvl="1"/>
            <a:r>
              <a:rPr lang="en-US" altLang="en-US" sz="1800" dirty="0"/>
              <a:t>Perform </a:t>
            </a:r>
            <a:r>
              <a:rPr lang="en-US" sz="1800" dirty="0">
                <a:ea typeface="Times New Roman" panose="02020603050405020304" pitchFamily="18" charset="0"/>
              </a:rPr>
              <a:t>worldwide storage and distribution, and disposition and reutilization services in support of DLA Distribution, DLA Disposition and their customers </a:t>
            </a:r>
            <a:r>
              <a:rPr lang="en-US" altLang="en-US" sz="1800" dirty="0"/>
              <a:t>IAW the requirements in the PWS, Attachments in Section J, and SOPs.</a:t>
            </a:r>
          </a:p>
          <a:p>
            <a:pPr lvl="1"/>
            <a:r>
              <a:rPr lang="en-US" altLang="en-US" sz="1800" dirty="0"/>
              <a:t>Maintain a fully trained and ready warm capability ready to deploy within 48 hours. </a:t>
            </a:r>
          </a:p>
          <a:p>
            <a:pPr lvl="1"/>
            <a:r>
              <a:rPr lang="en-US" sz="1800" dirty="0">
                <a:latin typeface="Arial" panose="020B0604020202020204" pitchFamily="34" charset="0"/>
                <a:ea typeface="Times New Roman" panose="02020603050405020304" pitchFamily="18" charset="0"/>
                <a:cs typeface="Times New Roman" panose="02020603050405020304" pitchFamily="18" charset="0"/>
              </a:rPr>
              <a:t>The Contractor shall perform storage and distribution and disposition and reutilization functions IAW the specific requirements identified in individual Task Orders. Task Order requirements will primarily consist of expeditionary, contingency, emerging, surge and/or other distribution/disposition services.</a:t>
            </a:r>
          </a:p>
          <a:p>
            <a:pPr lvl="1"/>
            <a:r>
              <a:rPr lang="en-US" sz="1800" dirty="0">
                <a:latin typeface="Arial" panose="020B0604020202020204" pitchFamily="34" charset="0"/>
                <a:ea typeface="Times New Roman" panose="02020603050405020304" pitchFamily="18" charset="0"/>
                <a:cs typeface="Times New Roman" panose="02020603050405020304" pitchFamily="18" charset="0"/>
              </a:rPr>
              <a:t>Requires the use of various military service or commercial warehouse management systems (WMS) to include but not limited to:</a:t>
            </a:r>
          </a:p>
          <a:p>
            <a:pPr lvl="2"/>
            <a:r>
              <a:rPr lang="en-US" sz="1400" dirty="0">
                <a:latin typeface="Arial" panose="020B0604020202020204" pitchFamily="34" charset="0"/>
                <a:ea typeface="Times New Roman" panose="02020603050405020304" pitchFamily="18" charset="0"/>
                <a:cs typeface="Times New Roman" panose="02020603050405020304" pitchFamily="18" charset="0"/>
              </a:rPr>
              <a:t>Logistics Modernization Program (LMP)</a:t>
            </a:r>
          </a:p>
          <a:p>
            <a:pPr lvl="2"/>
            <a:r>
              <a:rPr lang="en-US" sz="1400" dirty="0">
                <a:latin typeface="Arial" panose="020B0604020202020204" pitchFamily="34" charset="0"/>
                <a:ea typeface="Times New Roman" panose="02020603050405020304" pitchFamily="18" charset="0"/>
                <a:cs typeface="Times New Roman" panose="02020603050405020304" pitchFamily="18" charset="0"/>
              </a:rPr>
              <a:t>Industrial Logistics Support Management System (ILSMIS)</a:t>
            </a:r>
          </a:p>
          <a:p>
            <a:pPr lvl="2"/>
            <a:r>
              <a:rPr lang="en-US" sz="1400" dirty="0">
                <a:latin typeface="Arial" panose="020B0604020202020204" pitchFamily="34" charset="0"/>
                <a:ea typeface="Times New Roman" panose="02020603050405020304" pitchFamily="18" charset="0"/>
                <a:cs typeface="Times New Roman" panose="02020603050405020304" pitchFamily="18" charset="0"/>
              </a:rPr>
              <a:t>Material Access Technology (MAT)</a:t>
            </a:r>
          </a:p>
          <a:p>
            <a:pPr lvl="2"/>
            <a:r>
              <a:rPr lang="en-US" sz="1400" dirty="0">
                <a:latin typeface="Arial" panose="020B0604020202020204" pitchFamily="34" charset="0"/>
                <a:ea typeface="Times New Roman" panose="02020603050405020304" pitchFamily="18" charset="0"/>
                <a:cs typeface="Times New Roman" panose="02020603050405020304" pitchFamily="18" charset="0"/>
              </a:rPr>
              <a:t>Commercial off the Shelf (COTS) WMS</a:t>
            </a:r>
          </a:p>
          <a:p>
            <a:pPr lvl="2"/>
            <a:r>
              <a:rPr lang="en-US" sz="1400" dirty="0">
                <a:latin typeface="Arial" panose="020B0604020202020204" pitchFamily="34" charset="0"/>
                <a:ea typeface="Times New Roman" panose="02020603050405020304" pitchFamily="18" charset="0"/>
                <a:cs typeface="Times New Roman" panose="02020603050405020304" pitchFamily="18" charset="0"/>
              </a:rPr>
              <a:t>WMS system owned and operated by the Contractor.  </a:t>
            </a:r>
            <a:endParaRPr lang="en-US" altLang="en-US" dirty="0"/>
          </a:p>
          <a:p>
            <a:endParaRPr lang="en-US" altLang="en-US" sz="2200" dirty="0"/>
          </a:p>
          <a:p>
            <a:endParaRPr lang="en-US" dirty="0"/>
          </a:p>
        </p:txBody>
      </p:sp>
    </p:spTree>
    <p:extLst>
      <p:ext uri="{BB962C8B-B14F-4D97-AF65-F5344CB8AC3E}">
        <p14:creationId xmlns:p14="http://schemas.microsoft.com/office/powerpoint/2010/main" val="23155647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78AE5-DEA4-B9A8-87F2-189162D3D7E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4A1B3C1-DEFE-88A4-E673-6F270ED2C77C}"/>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287D6E9C-059F-B645-5A5F-34A38060E0E5}"/>
              </a:ext>
            </a:extLst>
          </p:cNvPr>
          <p:cNvSpPr txBox="1">
            <a:spLocks/>
          </p:cNvSpPr>
          <p:nvPr/>
        </p:nvSpPr>
        <p:spPr>
          <a:xfrm>
            <a:off x="166837" y="1631790"/>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900" dirty="0"/>
              <a:t>Key Personnel (C-1.3.1 &amp; 1.3.5) – The resumes of the proposed Distribution and Disposition Key Personnel will be evaluated on how well qualifications and experience align with the position descriptions in this section. </a:t>
            </a:r>
          </a:p>
          <a:p>
            <a:pPr lvl="1"/>
            <a:r>
              <a:rPr lang="en-US" altLang="en-US" sz="1450" dirty="0"/>
              <a:t>Distribution Project Manager, Distribution Alternate Project Manager, Distribution Project Supervisor/Trainer, Disposition Project Manager, Disposition Alt Project Manager/QC Manager, and Disposition Project Supervisor/Trainer resumes to be submitted with proposal</a:t>
            </a:r>
          </a:p>
          <a:p>
            <a:pPr lvl="1"/>
            <a:r>
              <a:rPr lang="en-US" altLang="en-US" sz="1450" dirty="0"/>
              <a:t>Distribution QC Manager and Procurement Analyst resumes are to be submitted NLT 10 calendar days after the start of transition to the KO or designee.</a:t>
            </a:r>
          </a:p>
          <a:p>
            <a:r>
              <a:rPr lang="en-US" altLang="en-US" sz="1900" dirty="0"/>
              <a:t>Standing Trained and Deployable Distribution Workforce (C-1.3.2)</a:t>
            </a:r>
          </a:p>
          <a:p>
            <a:pPr lvl="1"/>
            <a:r>
              <a:rPr lang="en-US" altLang="en-US" sz="1450" dirty="0"/>
              <a:t>34 Warm FTEs </a:t>
            </a:r>
          </a:p>
          <a:p>
            <a:pPr lvl="2"/>
            <a:r>
              <a:rPr lang="en-US" altLang="en-US" sz="1300" dirty="0"/>
              <a:t>Fully trained and capable of deploying globally withing 48 hours</a:t>
            </a:r>
          </a:p>
          <a:p>
            <a:pPr lvl="1"/>
            <a:r>
              <a:rPr lang="en-US" altLang="en-US" sz="1450" dirty="0"/>
              <a:t>Provides MHE, Generators, and Shelters/Tents</a:t>
            </a:r>
          </a:p>
          <a:p>
            <a:pPr lvl="1"/>
            <a:r>
              <a:rPr lang="en-US" altLang="en-US" sz="1450" dirty="0"/>
              <a:t>Stationed at DDSP</a:t>
            </a:r>
          </a:p>
          <a:p>
            <a:r>
              <a:rPr lang="en-US" altLang="en-US" sz="1900" dirty="0"/>
              <a:t>Non-Key Personnel (C-1.3.3 – 1.3.6) </a:t>
            </a:r>
          </a:p>
          <a:p>
            <a:pPr lvl="1"/>
            <a:r>
              <a:rPr lang="en-US" sz="1450" dirty="0">
                <a:ea typeface="Times New Roman" panose="02020603050405020304" pitchFamily="18" charset="0"/>
              </a:rPr>
              <a:t>The Government developed their approach for performing the requirements of this contract using labor categories as listed in Section C.1.3.3 – 1.3.6 in developing the Government’s approach for performing the requirements of this contract. </a:t>
            </a:r>
            <a:r>
              <a:rPr lang="en-US" sz="1450" dirty="0">
                <a:ea typeface="Times New Roman" panose="02020603050405020304" pitchFamily="18" charset="0"/>
                <a:cs typeface="Times New Roman" panose="02020603050405020304" pitchFamily="18" charset="0"/>
              </a:rPr>
              <a:t>This approach does not prohibit the Contractor from using different labor categories.</a:t>
            </a:r>
            <a:r>
              <a:rPr lang="en-US" sz="1450" dirty="0">
                <a:ea typeface="Times New Roman" panose="02020603050405020304" pitchFamily="18" charset="0"/>
              </a:rPr>
              <a:t> </a:t>
            </a:r>
            <a:endParaRPr lang="en-US" altLang="en-US" sz="1450" dirty="0"/>
          </a:p>
          <a:p>
            <a:endParaRPr lang="en-US" altLang="en-US" sz="2200" dirty="0"/>
          </a:p>
          <a:p>
            <a:endParaRPr lang="en-US" dirty="0"/>
          </a:p>
        </p:txBody>
      </p:sp>
    </p:spTree>
    <p:extLst>
      <p:ext uri="{BB962C8B-B14F-4D97-AF65-F5344CB8AC3E}">
        <p14:creationId xmlns:p14="http://schemas.microsoft.com/office/powerpoint/2010/main" val="25125152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C7A95-0F86-3FFC-66CF-9B009079B9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D4AEF6A-AF93-DA88-DE4D-80E989FCDDB5}"/>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2" name="Content Placeholder 2">
            <a:extLst>
              <a:ext uri="{FF2B5EF4-FFF2-40B4-BE49-F238E27FC236}">
                <a16:creationId xmlns:a16="http://schemas.microsoft.com/office/drawing/2014/main" id="{1FFD9A11-F69A-BB48-1C80-5247C80EBB82}"/>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900" dirty="0"/>
              <a:t>Deploying OCONUS Personnel(C-1.3.7) </a:t>
            </a:r>
          </a:p>
          <a:p>
            <a:pPr marL="285750" indent="-285750" defTabSz="685800">
              <a:spcBef>
                <a:spcPct val="20000"/>
              </a:spcBef>
              <a:defRPr/>
            </a:pPr>
            <a:r>
              <a:rPr lang="en-US" altLang="en-US" sz="1500" dirty="0"/>
              <a:t>Deployable Key Personnel – </a:t>
            </a:r>
            <a:r>
              <a:rPr lang="en-US" altLang="en-US" sz="1500" b="1" i="1" dirty="0">
                <a:solidFill>
                  <a:srgbClr val="FF0000"/>
                </a:solidFill>
              </a:rPr>
              <a:t>48-hour notice deployment capability – Advanced Team </a:t>
            </a:r>
          </a:p>
          <a:p>
            <a:pPr marL="685800" lvl="1" defTabSz="685800">
              <a:spcBef>
                <a:spcPct val="20000"/>
              </a:spcBef>
              <a:buFont typeface="Arial" panose="020B0604020202020204" pitchFamily="34" charset="0"/>
              <a:buChar char="‒"/>
              <a:defRPr/>
            </a:pPr>
            <a:r>
              <a:rPr lang="en-US" altLang="en-US" sz="1400" dirty="0"/>
              <a:t>Identify/obtain warehouse facilities if not Government furnished, </a:t>
            </a:r>
          </a:p>
          <a:p>
            <a:pPr marL="685800" lvl="1" defTabSz="685800">
              <a:spcBef>
                <a:spcPct val="20000"/>
              </a:spcBef>
              <a:buFont typeface="Arial" panose="020B0604020202020204" pitchFamily="34" charset="0"/>
              <a:buChar char="‒"/>
              <a:defRPr/>
            </a:pPr>
            <a:r>
              <a:rPr lang="en-US" altLang="en-US" sz="1400" dirty="0"/>
              <a:t>Establish supply vendor agreements </a:t>
            </a:r>
          </a:p>
          <a:p>
            <a:pPr marL="685800" lvl="1" defTabSz="685800">
              <a:spcBef>
                <a:spcPct val="20000"/>
              </a:spcBef>
              <a:buFont typeface="Arial" panose="020B0604020202020204" pitchFamily="34" charset="0"/>
              <a:buChar char="‒"/>
              <a:defRPr/>
            </a:pPr>
            <a:r>
              <a:rPr lang="en-US" altLang="en-US" sz="1400" dirty="0"/>
              <a:t>Establish initial contact with customer(s) in the AOR . </a:t>
            </a:r>
          </a:p>
          <a:p>
            <a:pPr marL="285750" indent="-285750" defTabSz="685800">
              <a:spcBef>
                <a:spcPct val="20000"/>
              </a:spcBef>
              <a:defRPr/>
            </a:pPr>
            <a:r>
              <a:rPr lang="en-US" altLang="en-US" sz="1500" b="1" dirty="0">
                <a:solidFill>
                  <a:srgbClr val="FF0000"/>
                </a:solidFill>
              </a:rPr>
              <a:t>Standing Trained and Deployable Distribution Workforce ready to deploy in 48 hours.</a:t>
            </a:r>
            <a:endParaRPr lang="en-US" altLang="en-US" sz="1500" b="1" dirty="0">
              <a:solidFill>
                <a:srgbClr val="FF0000"/>
              </a:solidFill>
              <a:cs typeface="Arial" charset="0"/>
            </a:endParaRPr>
          </a:p>
          <a:p>
            <a:pPr marL="285750" indent="-285750" defTabSz="685800">
              <a:spcBef>
                <a:spcPct val="20000"/>
              </a:spcBef>
              <a:defRPr/>
            </a:pPr>
            <a:r>
              <a:rPr lang="en-US" altLang="en-US" sz="1500" dirty="0">
                <a:solidFill>
                  <a:prstClr val="black"/>
                </a:solidFill>
                <a:cs typeface="Arial" charset="0"/>
              </a:rPr>
              <a:t>Identify no less than </a:t>
            </a:r>
            <a:r>
              <a:rPr lang="en-US" altLang="en-US" sz="1500" b="1" dirty="0">
                <a:solidFill>
                  <a:srgbClr val="FF0000"/>
                </a:solidFill>
                <a:cs typeface="Arial" charset="0"/>
              </a:rPr>
              <a:t>26 non-key personnel fully prepared to deploy and perform the specific task order requirements NLT 22 days after task order award. </a:t>
            </a:r>
            <a:r>
              <a:rPr lang="en-US" altLang="en-US" sz="1200" b="1" i="1" dirty="0">
                <a:solidFill>
                  <a:srgbClr val="FF0000"/>
                </a:solidFill>
                <a:cs typeface="Arial" charset="0"/>
              </a:rPr>
              <a:t>(</a:t>
            </a:r>
            <a:r>
              <a:rPr lang="en-US" altLang="en-US" sz="1200" b="1" i="1" u="sng" dirty="0">
                <a:solidFill>
                  <a:srgbClr val="FF0000"/>
                </a:solidFill>
                <a:cs typeface="Arial" charset="0"/>
              </a:rPr>
              <a:t>Separate from Trained and Deployable Distribution Workforce personnel.</a:t>
            </a:r>
          </a:p>
          <a:p>
            <a:pPr marL="285750" indent="-285750" defTabSz="685800">
              <a:spcBef>
                <a:spcPct val="20000"/>
              </a:spcBef>
              <a:defRPr/>
            </a:pPr>
            <a:r>
              <a:rPr lang="en-US" altLang="en-US" sz="1500" dirty="0">
                <a:solidFill>
                  <a:prstClr val="black"/>
                </a:solidFill>
                <a:cs typeface="Arial" charset="0"/>
              </a:rPr>
              <a:t>Deployed personnel support surge and non-recurring services that may range from a specific distribution function, such as establishing and operating a Material Processing Center to establishing and operating a fully functional distribution capability.</a:t>
            </a:r>
          </a:p>
          <a:p>
            <a:pPr marL="285750" indent="-285750" defTabSz="685800">
              <a:spcBef>
                <a:spcPct val="20000"/>
              </a:spcBef>
              <a:defRPr/>
            </a:pPr>
            <a:r>
              <a:rPr lang="en-US" altLang="en-US" sz="1500" dirty="0">
                <a:solidFill>
                  <a:prstClr val="black"/>
                </a:solidFill>
                <a:cs typeface="Arial" charset="0"/>
              </a:rPr>
              <a:t>Comply with all United States Command Area of Responsibility rules and regulations. </a:t>
            </a:r>
          </a:p>
          <a:p>
            <a:pPr marL="285750" indent="-285750" defTabSz="685800">
              <a:spcBef>
                <a:spcPct val="20000"/>
              </a:spcBef>
              <a:defRPr/>
            </a:pPr>
            <a:r>
              <a:rPr lang="en-US" altLang="en-US" sz="1500" dirty="0">
                <a:solidFill>
                  <a:prstClr val="black"/>
                </a:solidFill>
                <a:cs typeface="Arial" charset="0"/>
              </a:rPr>
              <a:t>Contractor personnel deploying OCONUS shall meet all deployment requirements IAW Combatant Commanders requirements and policies.</a:t>
            </a:r>
          </a:p>
          <a:p>
            <a:pPr marL="285750" indent="-285750" defTabSz="685800">
              <a:spcBef>
                <a:spcPct val="20000"/>
              </a:spcBef>
              <a:defRPr/>
            </a:pPr>
            <a:r>
              <a:rPr lang="en-US" altLang="en-US" sz="1500" dirty="0">
                <a:solidFill>
                  <a:prstClr val="black"/>
                </a:solidFill>
                <a:cs typeface="Arial" charset="0"/>
              </a:rPr>
              <a:t>Requires a Synchronized Pre-deployment and Operational Tracker (SPOT)-generated Letter of Authorization (LOA). </a:t>
            </a:r>
          </a:p>
          <a:p>
            <a:pPr marL="285750" indent="-285750" defTabSz="685800">
              <a:spcBef>
                <a:spcPct val="20000"/>
              </a:spcBef>
              <a:defRPr/>
            </a:pPr>
            <a:r>
              <a:rPr lang="en-US" altLang="en-US" sz="1500" dirty="0">
                <a:solidFill>
                  <a:prstClr val="black"/>
                </a:solidFill>
                <a:cs typeface="Arial" charset="0"/>
              </a:rPr>
              <a:t>Expatriates process through an approved deployment center prior to travel to and from task order's location.  </a:t>
            </a:r>
          </a:p>
          <a:p>
            <a:pPr marL="285750" indent="-285750" defTabSz="685800">
              <a:spcBef>
                <a:spcPct val="20000"/>
              </a:spcBef>
              <a:defRPr/>
            </a:pPr>
            <a:r>
              <a:rPr lang="en-US" altLang="en-US" sz="1500" dirty="0">
                <a:solidFill>
                  <a:prstClr val="black"/>
                </a:solidFill>
                <a:cs typeface="Arial" charset="0"/>
              </a:rPr>
              <a:t>Deployable contractor personnel required to have all necessary passports, visas, and other documentation required to enter and exit location of the task order.</a:t>
            </a:r>
          </a:p>
          <a:p>
            <a:pPr marL="285750" indent="-285750" defTabSz="685800">
              <a:spcBef>
                <a:spcPct val="20000"/>
              </a:spcBef>
              <a:defRPr/>
            </a:pPr>
            <a:endParaRPr lang="en-US" altLang="en-US" sz="1500" b="1" dirty="0">
              <a:solidFill>
                <a:srgbClr val="FF0000"/>
              </a:solidFill>
              <a:cs typeface="Arial" charset="0"/>
            </a:endParaRPr>
          </a:p>
          <a:p>
            <a:pPr marL="0" indent="0" algn="ctr" defTabSz="685800">
              <a:spcBef>
                <a:spcPct val="20000"/>
              </a:spcBef>
              <a:buNone/>
              <a:defRPr/>
            </a:pPr>
            <a:r>
              <a:rPr lang="en-US" altLang="en-US" sz="1800" b="1" u="sng" dirty="0">
                <a:solidFill>
                  <a:srgbClr val="FF0000"/>
                </a:solidFill>
                <a:cs typeface="Arial" charset="0"/>
              </a:rPr>
              <a:t>When deployed Contract personnel shall be considered emergency essential</a:t>
            </a:r>
            <a:r>
              <a:rPr lang="en-US" altLang="en-US" sz="1800" u="sng" dirty="0">
                <a:solidFill>
                  <a:srgbClr val="FF0000"/>
                </a:solidFill>
                <a:cs typeface="Arial" charset="0"/>
              </a:rPr>
              <a:t>.</a:t>
            </a:r>
            <a:r>
              <a:rPr lang="en-US" altLang="en-US" sz="1800" u="sng" dirty="0">
                <a:solidFill>
                  <a:prstClr val="black"/>
                </a:solidFill>
                <a:cs typeface="Arial" charset="0"/>
              </a:rPr>
              <a:t> </a:t>
            </a:r>
          </a:p>
          <a:p>
            <a:pPr marL="0" indent="0" algn="ctr" defTabSz="685800">
              <a:spcBef>
                <a:spcPct val="20000"/>
              </a:spcBef>
              <a:buNone/>
              <a:defRPr/>
            </a:pPr>
            <a:r>
              <a:rPr lang="en-US" altLang="en-US" sz="1800" b="1" u="sng" dirty="0">
                <a:solidFill>
                  <a:srgbClr val="FF0000"/>
                </a:solidFill>
                <a:cs typeface="Arial" charset="0"/>
              </a:rPr>
              <a:t>Personnel may be deployed to semi-permissive environment</a:t>
            </a:r>
          </a:p>
          <a:p>
            <a:endParaRPr lang="en-US" altLang="en-US" sz="2200" dirty="0"/>
          </a:p>
          <a:p>
            <a:endParaRPr lang="en-US" dirty="0"/>
          </a:p>
        </p:txBody>
      </p:sp>
      <p:sp>
        <p:nvSpPr>
          <p:cNvPr id="3" name="Star: 5 Points 2">
            <a:extLst>
              <a:ext uri="{FF2B5EF4-FFF2-40B4-BE49-F238E27FC236}">
                <a16:creationId xmlns:a16="http://schemas.microsoft.com/office/drawing/2014/main" id="{40F341F3-427A-E5CF-38AF-9947B81BD136}"/>
              </a:ext>
            </a:extLst>
          </p:cNvPr>
          <p:cNvSpPr/>
          <p:nvPr/>
        </p:nvSpPr>
        <p:spPr>
          <a:xfrm>
            <a:off x="135466" y="6457244"/>
            <a:ext cx="778934" cy="654755"/>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tar: 5 Points 4">
            <a:extLst>
              <a:ext uri="{FF2B5EF4-FFF2-40B4-BE49-F238E27FC236}">
                <a16:creationId xmlns:a16="http://schemas.microsoft.com/office/drawing/2014/main" id="{0253B2AE-4D27-F628-80B0-85E6E0CD27D0}"/>
              </a:ext>
            </a:extLst>
          </p:cNvPr>
          <p:cNvSpPr/>
          <p:nvPr/>
        </p:nvSpPr>
        <p:spPr>
          <a:xfrm>
            <a:off x="9386715" y="6462887"/>
            <a:ext cx="778934" cy="654755"/>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89889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B24DC-A81F-475D-C488-73AB949C5F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153B6E-18AA-B928-57DF-D1BDCF95E520}"/>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CBAABF1E-1839-5BB6-D5F6-C01147FD4563}"/>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800" dirty="0"/>
              <a:t>Personnel Clearances (C-1.4.1) </a:t>
            </a:r>
            <a:endParaRPr lang="en-US" altLang="en-US" sz="1600" dirty="0"/>
          </a:p>
          <a:p>
            <a:pPr lvl="1">
              <a:defRPr/>
            </a:pPr>
            <a:r>
              <a:rPr lang="en-US" altLang="en-US" sz="1800" dirty="0">
                <a:solidFill>
                  <a:srgbClr val="000000"/>
                </a:solidFill>
              </a:rPr>
              <a:t>A favorable Personnel Security Investigations (PSI) required to obtain a Common Access Card (CAC) and for access to the DLA Network and Government Data Systems. </a:t>
            </a:r>
          </a:p>
          <a:p>
            <a:pPr lvl="1">
              <a:defRPr/>
            </a:pPr>
            <a:r>
              <a:rPr lang="en-US" sz="1800" dirty="0">
                <a:ea typeface="Times New Roman" panose="02020603050405020304" pitchFamily="18" charset="0"/>
              </a:rPr>
              <a:t>When determined by task order Contractor employee shall obtain and possess a DoD Common Access Card (CAC) and/or an Access ID Badge, as required by HSPD-12 dated 27 September 2012.  </a:t>
            </a:r>
            <a:endParaRPr lang="en-US" altLang="en-US" sz="1800" dirty="0">
              <a:solidFill>
                <a:srgbClr val="000000"/>
              </a:solidFill>
            </a:endParaRPr>
          </a:p>
          <a:p>
            <a:pPr lvl="1">
              <a:defRPr/>
            </a:pPr>
            <a:r>
              <a:rPr lang="en-US" sz="1800" dirty="0">
                <a:ea typeface="Times New Roman" panose="02020603050405020304" pitchFamily="18" charset="0"/>
                <a:cs typeface="Times New Roman" panose="02020603050405020304" pitchFamily="18" charset="0"/>
              </a:rPr>
              <a:t>The Government requires T3 Personnel Security Investigations (PSI) to establish that applicants or incumbents either employed by the Government or working for the Government under contract are suitable for the job and are eligible for a public trust or sensitive position. </a:t>
            </a:r>
            <a:endParaRPr lang="en-US" altLang="en-US" sz="1800" dirty="0">
              <a:solidFill>
                <a:srgbClr val="000000"/>
              </a:solidFill>
            </a:endParaRPr>
          </a:p>
          <a:p>
            <a:pPr lvl="1">
              <a:defRPr/>
            </a:pPr>
            <a:r>
              <a:rPr lang="en-US" sz="1800" dirty="0">
                <a:solidFill>
                  <a:srgbClr val="000000"/>
                </a:solidFill>
              </a:rPr>
              <a:t>Contractor employee(s) shall possess the required Facility Clearance necessary for accessing classified information or material, and initiate PSI for its employees requiring classified access.</a:t>
            </a:r>
          </a:p>
          <a:p>
            <a:pPr lvl="1">
              <a:defRPr/>
            </a:pPr>
            <a:r>
              <a:rPr lang="en-US" sz="1800" dirty="0">
                <a:solidFill>
                  <a:srgbClr val="000000"/>
                </a:solidFill>
              </a:rPr>
              <a:t>Distribution PMO, Disposition PMO and Distribution Trained and Deployable workforce shall possess SECRET Clearances.</a:t>
            </a:r>
          </a:p>
          <a:p>
            <a:pPr lvl="1">
              <a:defRPr/>
            </a:pPr>
            <a:r>
              <a:rPr lang="en-US" sz="1800" dirty="0">
                <a:solidFill>
                  <a:srgbClr val="000000"/>
                </a:solidFill>
              </a:rPr>
              <a:t>Task Order Project and Alt Project Supervisor’s and any Contractor employee(s) the Offeror proposes who will have access to or handle classified information or material to perform requirements identified in Section C and DLA Distribution SOPs </a:t>
            </a:r>
            <a:r>
              <a:rPr lang="en-US" altLang="en-US" sz="1200" dirty="0">
                <a:solidFill>
                  <a:srgbClr val="000000"/>
                </a:solidFill>
              </a:rPr>
              <a:t>	</a:t>
            </a:r>
          </a:p>
          <a:p>
            <a:pPr lvl="1">
              <a:defRPr/>
            </a:pPr>
            <a:r>
              <a:rPr lang="en-US" sz="1800" dirty="0">
                <a:solidFill>
                  <a:srgbClr val="000000"/>
                </a:solidFill>
              </a:rPr>
              <a:t>The Contractor will need to possess a Defense Security Service (DSS) approved facility clearance or a statement confirming at time of Final Proposal Revisions.</a:t>
            </a:r>
          </a:p>
          <a:p>
            <a:endParaRPr lang="en-US" altLang="en-US" sz="2200" dirty="0"/>
          </a:p>
          <a:p>
            <a:endParaRPr lang="en-US" dirty="0"/>
          </a:p>
        </p:txBody>
      </p:sp>
    </p:spTree>
    <p:extLst>
      <p:ext uri="{BB962C8B-B14F-4D97-AF65-F5344CB8AC3E}">
        <p14:creationId xmlns:p14="http://schemas.microsoft.com/office/powerpoint/2010/main" val="36408035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1DECB-2780-BCEC-2CF7-134728FD95E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631F2D-541A-3B55-6656-F8E7250988BE}"/>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3803A543-F1D1-4F0F-9462-E83383DDEEED}"/>
              </a:ext>
            </a:extLst>
          </p:cNvPr>
          <p:cNvSpPr txBox="1">
            <a:spLocks/>
          </p:cNvSpPr>
          <p:nvPr/>
        </p:nvSpPr>
        <p:spPr>
          <a:xfrm>
            <a:off x="149190" y="1512129"/>
            <a:ext cx="10029525"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Information System Security(C-1.4.3) </a:t>
            </a:r>
            <a:endParaRPr lang="en-US" altLang="en-US" sz="2000" dirty="0"/>
          </a:p>
          <a:p>
            <a:pPr lvl="1">
              <a:defRPr/>
            </a:pPr>
            <a:r>
              <a:rPr lang="en-US" altLang="en-US" dirty="0">
                <a:solidFill>
                  <a:srgbClr val="000000"/>
                </a:solidFill>
              </a:rPr>
              <a:t>Upon favorable review and initiation of the PSI to establish the suitability of an employee for the job and the approval for temporary Information Technology (IT) access pending final adjudication, but not less than fourteen (14) working days prior to the employee’s start date, the Contractor shall request IT eligibility for an employee requiring access and passwords to the Government-Furnished data systems. </a:t>
            </a:r>
          </a:p>
          <a:p>
            <a:pPr lvl="1">
              <a:defRPr/>
            </a:pPr>
            <a:r>
              <a:rPr lang="en-US" dirty="0">
                <a:ea typeface="Times New Roman" panose="02020603050405020304" pitchFamily="18" charset="0"/>
              </a:rPr>
              <a:t>All positions involving computer activities require a minimum IT III category eligibility.  (IT eligibility categories are defined in Section C-2.1, General Definitions.)  The Contractor shall submit a CIR and a DD Form 2875 (See CIR and System Authorization Access Requests (SAAR) document in Technical Library) for temporary IT III eligibility, with final IT III eligibility contingent upon receiving a favorably adjudicated T1 (see paragraph C-1.4.1, Personnel Clearance).</a:t>
            </a:r>
            <a:endParaRPr lang="en-US" dirty="0">
              <a:solidFill>
                <a:srgbClr val="000000"/>
              </a:solidFill>
              <a:highlight>
                <a:srgbClr val="FFFF00"/>
              </a:highlight>
            </a:endParaRPr>
          </a:p>
          <a:p>
            <a:endParaRPr lang="en-US" altLang="en-US" sz="2200" dirty="0"/>
          </a:p>
          <a:p>
            <a:endParaRPr lang="en-US" dirty="0"/>
          </a:p>
        </p:txBody>
      </p:sp>
    </p:spTree>
    <p:extLst>
      <p:ext uri="{BB962C8B-B14F-4D97-AF65-F5344CB8AC3E}">
        <p14:creationId xmlns:p14="http://schemas.microsoft.com/office/powerpoint/2010/main" val="2521690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38BA0-C400-541E-8276-55290BC63D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F38BBB-8D2A-0D3D-0D0F-A50B959D1181}"/>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827FC6B1-EA5A-8390-A867-215C05BC0E4E}"/>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dirty="0"/>
              <a:t>Transition Plan (C-1.8)</a:t>
            </a:r>
          </a:p>
          <a:p>
            <a:pPr lvl="1"/>
            <a:r>
              <a:rPr lang="en-US" altLang="en-US" sz="1400" dirty="0"/>
              <a:t>Smooth and orderly transition</a:t>
            </a:r>
          </a:p>
          <a:p>
            <a:pPr lvl="2"/>
            <a:r>
              <a:rPr lang="en-US" altLang="en-US" sz="1200" dirty="0"/>
              <a:t>90 calendar days (1 Jan 2026 thru 31 Mar 2026)</a:t>
            </a:r>
          </a:p>
          <a:p>
            <a:pPr lvl="2"/>
            <a:r>
              <a:rPr lang="en-US" altLang="en-US" sz="1200" dirty="0"/>
              <a:t>Govt reserves right to extend if and as needed</a:t>
            </a:r>
            <a:endParaRPr lang="en-US" altLang="en-US" sz="1200" dirty="0">
              <a:solidFill>
                <a:srgbClr val="000000"/>
              </a:solidFill>
            </a:endParaRPr>
          </a:p>
          <a:p>
            <a:pPr lvl="1">
              <a:defRPr/>
            </a:pPr>
            <a:r>
              <a:rPr lang="en-US" altLang="en-US" sz="1400" dirty="0">
                <a:solidFill>
                  <a:srgbClr val="000000"/>
                </a:solidFill>
              </a:rPr>
              <a:t>Personnel Hiring Actions and Training (C-1.8.1)</a:t>
            </a:r>
          </a:p>
          <a:p>
            <a:pPr lvl="2">
              <a:defRPr/>
            </a:pPr>
            <a:r>
              <a:rPr lang="en-US" altLang="en-US" sz="1200" dirty="0">
                <a:solidFill>
                  <a:srgbClr val="000000"/>
                </a:solidFill>
              </a:rPr>
              <a:t>Identify when Key Personnel on-boarded during transition.</a:t>
            </a:r>
          </a:p>
          <a:p>
            <a:pPr lvl="2">
              <a:defRPr/>
            </a:pPr>
            <a:r>
              <a:rPr lang="en-US" altLang="en-US" sz="1200" dirty="0">
                <a:solidFill>
                  <a:srgbClr val="000000"/>
                </a:solidFill>
              </a:rPr>
              <a:t>Completing job offers to attend Distribution &amp; Disposition Operations Training during Transition</a:t>
            </a:r>
          </a:p>
          <a:p>
            <a:pPr lvl="3">
              <a:defRPr/>
            </a:pPr>
            <a:r>
              <a:rPr lang="en-US" altLang="en-US" sz="1200" dirty="0">
                <a:solidFill>
                  <a:srgbClr val="000000"/>
                </a:solidFill>
              </a:rPr>
              <a:t>Distribution at DDSP</a:t>
            </a:r>
          </a:p>
          <a:p>
            <a:pPr lvl="3">
              <a:defRPr/>
            </a:pPr>
            <a:r>
              <a:rPr lang="en-US" altLang="en-US" sz="1200" dirty="0">
                <a:solidFill>
                  <a:srgbClr val="000000"/>
                </a:solidFill>
              </a:rPr>
              <a:t>Disposition in Battle Creek, Michigan</a:t>
            </a:r>
          </a:p>
          <a:p>
            <a:pPr lvl="2">
              <a:defRPr/>
            </a:pPr>
            <a:r>
              <a:rPr lang="en-US" altLang="en-US" sz="1200" dirty="0">
                <a:solidFill>
                  <a:srgbClr val="000000"/>
                </a:solidFill>
              </a:rPr>
              <a:t>Initiate all necessary personnel clearance actions and SAARs using AMPs</a:t>
            </a:r>
          </a:p>
          <a:p>
            <a:pPr lvl="2">
              <a:defRPr/>
            </a:pPr>
            <a:r>
              <a:rPr lang="en-US" altLang="en-US" sz="1200" dirty="0">
                <a:solidFill>
                  <a:srgbClr val="000000"/>
                </a:solidFill>
              </a:rPr>
              <a:t>Provide plan for executing TO03 Trained and Deployable Workforce</a:t>
            </a:r>
          </a:p>
          <a:p>
            <a:pPr lvl="1">
              <a:defRPr/>
            </a:pPr>
            <a:r>
              <a:rPr lang="en-US" altLang="en-US" sz="1400" dirty="0">
                <a:solidFill>
                  <a:srgbClr val="000000"/>
                </a:solidFill>
              </a:rPr>
              <a:t>Government Property (GP) (C-1.8.2) – Inventory during Transition if required</a:t>
            </a:r>
          </a:p>
          <a:p>
            <a:pPr lvl="2">
              <a:buFont typeface="Arial" panose="020B0604020202020204" pitchFamily="34" charset="0"/>
              <a:buChar char="•"/>
              <a:defRPr/>
            </a:pPr>
            <a:r>
              <a:rPr lang="en-US" altLang="en-US" sz="1200" dirty="0">
                <a:solidFill>
                  <a:srgbClr val="000000"/>
                </a:solidFill>
              </a:rPr>
              <a:t>PMO Task orders will not have GP</a:t>
            </a:r>
          </a:p>
          <a:p>
            <a:pPr lvl="2">
              <a:buFont typeface="Arial" panose="020B0604020202020204" pitchFamily="34" charset="0"/>
              <a:buChar char="•"/>
              <a:defRPr/>
            </a:pPr>
            <a:r>
              <a:rPr lang="en-US" altLang="en-US" sz="1200" dirty="0">
                <a:solidFill>
                  <a:srgbClr val="000000"/>
                </a:solidFill>
              </a:rPr>
              <a:t>GP may be provided for other task orders </a:t>
            </a:r>
          </a:p>
          <a:p>
            <a:pPr lvl="3">
              <a:buFont typeface="Arial" panose="020B0604020202020204" pitchFamily="34" charset="0"/>
              <a:buChar char="•"/>
              <a:defRPr/>
            </a:pPr>
            <a:r>
              <a:rPr lang="en-US" altLang="en-US" sz="1200" dirty="0">
                <a:solidFill>
                  <a:srgbClr val="000000"/>
                </a:solidFill>
              </a:rPr>
              <a:t>Cell phones, laptops and/or tablets provided by the Government will be handled as Government Property (GP) IAW applicable clauses.  </a:t>
            </a:r>
          </a:p>
          <a:p>
            <a:pPr lvl="1">
              <a:defRPr/>
            </a:pPr>
            <a:r>
              <a:rPr lang="en-US" altLang="en-US" sz="1400" dirty="0">
                <a:solidFill>
                  <a:srgbClr val="000000"/>
                </a:solidFill>
              </a:rPr>
              <a:t>Transition Reports (C-1.8.3) IAW CDRL A001 Transition Plan and Weekly Reports</a:t>
            </a:r>
          </a:p>
          <a:p>
            <a:pPr lvl="1">
              <a:defRPr/>
            </a:pPr>
            <a:r>
              <a:rPr lang="en-US" altLang="en-US" sz="1400" dirty="0">
                <a:solidFill>
                  <a:srgbClr val="000000"/>
                </a:solidFill>
              </a:rPr>
              <a:t>Required Plans, Programs and Procedures (C-1.8.4)</a:t>
            </a:r>
          </a:p>
          <a:p>
            <a:pPr>
              <a:defRPr/>
            </a:pPr>
            <a:r>
              <a:rPr lang="en-US" altLang="en-US" sz="2000" dirty="0">
                <a:solidFill>
                  <a:srgbClr val="000000"/>
                </a:solidFill>
              </a:rPr>
              <a:t>Continuation of Essential Contractor Services (C-1.9)</a:t>
            </a:r>
          </a:p>
          <a:p>
            <a:pPr lvl="1"/>
            <a:r>
              <a:rPr lang="en-US" altLang="en-US" sz="1400" dirty="0">
                <a:solidFill>
                  <a:srgbClr val="000000"/>
                </a:solidFill>
              </a:rPr>
              <a:t>The Contractor shall perform Distribution Center operations during adverse situations or disruptions of normal workload assuring continuity of operations until the event causing the disruption is over</a:t>
            </a:r>
          </a:p>
          <a:p>
            <a:pPr lvl="1"/>
            <a:r>
              <a:rPr lang="en-US" altLang="en-US" sz="1400" dirty="0">
                <a:solidFill>
                  <a:srgbClr val="000000"/>
                </a:solidFill>
              </a:rPr>
              <a:t>Contractor shall provide a Mission Essential Contractor Services Plan (MESCP) with their technical proposal and update as necessary (CDRL A004)</a:t>
            </a:r>
          </a:p>
          <a:p>
            <a:endParaRPr lang="en-US" altLang="en-US" sz="2000" dirty="0"/>
          </a:p>
          <a:p>
            <a:endParaRPr lang="en-US" dirty="0"/>
          </a:p>
        </p:txBody>
      </p:sp>
    </p:spTree>
    <p:extLst>
      <p:ext uri="{BB962C8B-B14F-4D97-AF65-F5344CB8AC3E}">
        <p14:creationId xmlns:p14="http://schemas.microsoft.com/office/powerpoint/2010/main" val="22253175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4F52E-0F23-408A-B79C-0C0BD3ED83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E73EB1-ECB7-B9E9-F8AD-FC3E3D6D000E}"/>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9157EF81-BF44-F240-EF13-78440A2F3B28}"/>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900" dirty="0"/>
              <a:t>Contractor Furnished Facilities</a:t>
            </a:r>
          </a:p>
          <a:p>
            <a:pPr lvl="1"/>
            <a:r>
              <a:rPr lang="en-US" altLang="en-US" sz="1600" dirty="0"/>
              <a:t>The Contractor shall provide all facilities with IT infrastructure, outdoor storage with improved surface, facility and grounds maintenance, storage racks and storage aids, material handling equipment (MHE) to include, but not limited to, forklifts, stock selectors, pallet jacks and container handlers, flatbed and stake trucks for local delivery, pick-up trucks and vans; operating materials and supplies, training, and support necessary to perform the requirements in this contract.  Contractor shall acquire CONUS facilities NLT thirty days after task order award and OCONUS facilities NLT forty-five days after task order award.  Facilities may be required in expedited timeframes NLT twenty-two (22) days after task order award.  Facility transition requirements may include, but is not limited to, obtaining facilities, modifying facilities to meet task order requirements in meeting Initial Operating Capability (ICO) and Full Operating Capability (FOC).</a:t>
            </a:r>
          </a:p>
          <a:p>
            <a:r>
              <a:rPr lang="en-US" altLang="en-US" sz="1900" dirty="0"/>
              <a:t>Contractor Training (C-4.7) </a:t>
            </a:r>
          </a:p>
          <a:p>
            <a:pPr lvl="1"/>
            <a:r>
              <a:rPr lang="en-US" altLang="en-US" sz="1600" dirty="0"/>
              <a:t>Enterprise-Wide Training identified in TE 3.2 and TE 3.2DS will be tracked in the Learning Management System (LMS).  </a:t>
            </a:r>
          </a:p>
          <a:p>
            <a:pPr lvl="2"/>
            <a:r>
              <a:rPr lang="en-US" altLang="en-US" sz="1400" dirty="0"/>
              <a:t>List of contract employees include Name, SSN, EDIPI, Job Title – CDRL A021 Attachment 1, 60 working days after start of full performance and within 15 calendar days for changes, additions or deletions.	</a:t>
            </a:r>
          </a:p>
          <a:p>
            <a:pPr lvl="1"/>
            <a:r>
              <a:rPr lang="en-US" altLang="en-US" sz="1600" dirty="0"/>
              <a:t>Contractor responsible for determining which courses in TE 3.2 and TE 3.2DS Government Training and the Distribution/Disposition Operations Course Catalog, contractor employees shall attend to ensure the right employees are receiving training commensurate to their positions at the right time for Audit Sustainment and passing Independent Public Accountants (IPAs) audits. </a:t>
            </a:r>
          </a:p>
          <a:p>
            <a:endParaRPr lang="en-US" altLang="en-US" sz="2000" dirty="0"/>
          </a:p>
          <a:p>
            <a:endParaRPr lang="en-US" dirty="0"/>
          </a:p>
        </p:txBody>
      </p:sp>
    </p:spTree>
    <p:extLst>
      <p:ext uri="{BB962C8B-B14F-4D97-AF65-F5344CB8AC3E}">
        <p14:creationId xmlns:p14="http://schemas.microsoft.com/office/powerpoint/2010/main" val="41214013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B123E-E430-973E-ED91-6314D43EE6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0BB5A5-6530-8848-4135-CD4BF0006207}"/>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F1853D83-20B4-65F7-6466-68CE060778AB}"/>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t>Distribution Operations Training (C-4.7.1)</a:t>
            </a:r>
          </a:p>
          <a:p>
            <a:pPr lvl="1"/>
            <a:r>
              <a:rPr lang="en-US" altLang="en-US" sz="2000" dirty="0"/>
              <a:t>For new Contractor employees or employees reassigned to another functional area, provide training (OJT or formal) within 30 calendar days after obtaining system access or date of reassignment </a:t>
            </a:r>
          </a:p>
          <a:p>
            <a:pPr lvl="2"/>
            <a:r>
              <a:rPr lang="en-US" altLang="en-US" sz="1800" dirty="0"/>
              <a:t>Validated in a “P” status NLT 30 working days</a:t>
            </a:r>
          </a:p>
          <a:p>
            <a:pPr lvl="2"/>
            <a:r>
              <a:rPr lang="en-US" altLang="en-US" sz="1800" dirty="0"/>
              <a:t>Obtain a “Trained” status after 180 days and sustain throughout all performance period</a:t>
            </a:r>
            <a:r>
              <a:rPr lang="en-US" altLang="en-US" sz="1600" dirty="0"/>
              <a:t>.</a:t>
            </a:r>
          </a:p>
          <a:p>
            <a:pPr lvl="1"/>
            <a:r>
              <a:rPr lang="en-US" altLang="en-US" sz="2000" dirty="0"/>
              <a:t>Obtain and maintain “Trained” Status for Distribution Operations Functional Areas for employees using WMS for job functions: </a:t>
            </a:r>
          </a:p>
          <a:p>
            <a:pPr lvl="2"/>
            <a:r>
              <a:rPr lang="en-US" altLang="en-US" sz="1800" dirty="0"/>
              <a:t>65% of within 30 days after the start of full performance, based on the Contractor taking full advantage of the Distribution Operations WMS Training provided during the Transition Period.</a:t>
            </a:r>
          </a:p>
          <a:p>
            <a:pPr lvl="2"/>
            <a:r>
              <a:rPr lang="en-US" altLang="en-US" sz="1800" dirty="0"/>
              <a:t>90% within 60 days after the start of full performance and maintained throughout all performance periods.</a:t>
            </a:r>
          </a:p>
          <a:p>
            <a:endParaRPr lang="en-US" altLang="en-US" sz="2000" dirty="0"/>
          </a:p>
          <a:p>
            <a:endParaRPr lang="en-US" dirty="0"/>
          </a:p>
        </p:txBody>
      </p:sp>
    </p:spTree>
    <p:extLst>
      <p:ext uri="{BB962C8B-B14F-4D97-AF65-F5344CB8AC3E}">
        <p14:creationId xmlns:p14="http://schemas.microsoft.com/office/powerpoint/2010/main" val="30524286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EBA61-52FF-A8FB-C6E2-FA667BB4E25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376239-F2CC-13AA-7FE8-08366BF94D95}"/>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6AB6E77B-0E4A-501E-F341-0CFBCF5C2A1E}"/>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dirty="0"/>
              <a:t>Disposition Operations Training (C-4.7.2)</a:t>
            </a:r>
          </a:p>
          <a:p>
            <a:pPr lvl="1"/>
            <a:r>
              <a:rPr lang="en-US" sz="1800" dirty="0">
                <a:effectLst/>
                <a:latin typeface="Arial" panose="020B0604020202020204" pitchFamily="34" charset="0"/>
                <a:ea typeface="Times New Roman" panose="02020603050405020304" pitchFamily="18" charset="0"/>
                <a:cs typeface="Times New Roman" panose="02020603050405020304" pitchFamily="18" charset="0"/>
              </a:rPr>
              <a:t>For the Disposition Operations Training, the Contractor shall provide training as identified by requiring task order.  This training includes, but is not limited to, Equipment Demilitarization (DEMIL), Property Accounting, DLA DS Basic Operations, and MHE Operations.  </a:t>
            </a:r>
            <a:endParaRPr lang="en-US" sz="1800" dirty="0">
              <a:latin typeface="Times New Roman" panose="02020603050405020304" pitchFamily="18" charset="0"/>
              <a:ea typeface="Times New Roman" panose="02020603050405020304" pitchFamily="18" charset="0"/>
              <a:cs typeface="Times New Roman" panose="02020603050405020304" pitchFamily="18" charset="0"/>
            </a:endParaRPr>
          </a:p>
          <a:p>
            <a:pPr lvl="1"/>
            <a:r>
              <a:rPr lang="en-US" sz="1800" dirty="0">
                <a:effectLst/>
                <a:latin typeface="Arial" panose="020B0604020202020204" pitchFamily="34" charset="0"/>
                <a:ea typeface="Times New Roman" panose="02020603050405020304" pitchFamily="18" charset="0"/>
                <a:cs typeface="Times New Roman" panose="02020603050405020304" pitchFamily="18" charset="0"/>
              </a:rPr>
              <a:t>DLA Disposition Government Personnel may provide additional training as required.  This training may require travel to DLA Disposition HQ Battle Creek, MI.  </a:t>
            </a:r>
          </a:p>
          <a:p>
            <a:r>
              <a:rPr lang="en-US" sz="2000" dirty="0">
                <a:effectLst/>
                <a:ea typeface="Times New Roman" panose="02020603050405020304" pitchFamily="18" charset="0"/>
                <a:cs typeface="Times New Roman" panose="02020603050405020304" pitchFamily="18" charset="0"/>
              </a:rPr>
              <a:t>Hazardous Material and Hazardous Waste Training (C-4.7.3)</a:t>
            </a:r>
          </a:p>
          <a:p>
            <a:pPr lvl="1"/>
            <a:r>
              <a:rPr lang="en-US" sz="1800" dirty="0">
                <a:effectLst/>
                <a:ea typeface="Times New Roman" panose="02020603050405020304" pitchFamily="18" charset="0"/>
                <a:cs typeface="Times New Roman" panose="02020603050405020304" pitchFamily="18" charset="0"/>
              </a:rPr>
              <a:t>IAW 49 CFR Transportation, Volume II, Part 172.704, Training Requirements, a new HAZMAT employee, or a HAZMAT employee who changes job functions, may perform those functions prior to the completion of Contractor or Government provided training and receipt of certification provided that:</a:t>
            </a:r>
          </a:p>
          <a:p>
            <a:pPr lvl="2"/>
            <a:r>
              <a:rPr lang="en-US" sz="1400" dirty="0">
                <a:effectLst/>
                <a:ea typeface="Times New Roman" panose="02020603050405020304" pitchFamily="18" charset="0"/>
                <a:cs typeface="Times New Roman" panose="02020603050405020304" pitchFamily="18" charset="0"/>
              </a:rPr>
              <a:t>The employee shall perform those functions under the direct supervision of a properly trained and certified HAZMAT employee; and</a:t>
            </a:r>
          </a:p>
          <a:p>
            <a:pPr lvl="2"/>
            <a:r>
              <a:rPr lang="en-US" sz="1400" dirty="0">
                <a:effectLst/>
                <a:ea typeface="Times New Roman" panose="02020603050405020304" pitchFamily="18" charset="0"/>
                <a:cs typeface="Times New Roman" panose="02020603050405020304" pitchFamily="18" charset="0"/>
              </a:rPr>
              <a:t>The employee shall complete the training within 90 calendar days after employment or a change in job function.</a:t>
            </a:r>
          </a:p>
          <a:p>
            <a:pPr lvl="1"/>
            <a:r>
              <a:rPr lang="en-US" sz="1800" dirty="0">
                <a:effectLst/>
                <a:ea typeface="Times New Roman" panose="02020603050405020304" pitchFamily="18" charset="0"/>
                <a:cs typeface="Times New Roman" panose="02020603050405020304" pitchFamily="18" charset="0"/>
              </a:rPr>
              <a:t>At a minimum, the Contractor shall provide the HAZMAT and HW training identified in TE 4.1, Contractor Training. </a:t>
            </a:r>
          </a:p>
          <a:p>
            <a:pPr lvl="2"/>
            <a:r>
              <a:rPr lang="en-US" altLang="en-US" sz="1200" dirty="0"/>
              <a:t>Upon successful completion of the HAZMAT Preparer Certification training, the Contractor shall submit a request for an appointment letter.</a:t>
            </a:r>
          </a:p>
          <a:p>
            <a:pPr lvl="2"/>
            <a:r>
              <a:rPr lang="en-US" altLang="en-US" sz="1200" dirty="0"/>
              <a:t>If trained Contractor employees leave contractor employment prior to working a minimum of 2 years after receiving and obtaining the HAZMAT Preparer Certification, the Contractor shall be responsible for additional training costs to train and maintain the number or personnel in the Contractor’s accepted proposal.</a:t>
            </a:r>
          </a:p>
          <a:p>
            <a:endParaRPr lang="en-US" altLang="en-US" sz="2000" dirty="0"/>
          </a:p>
          <a:p>
            <a:endParaRPr lang="en-US" dirty="0"/>
          </a:p>
        </p:txBody>
      </p:sp>
    </p:spTree>
    <p:extLst>
      <p:ext uri="{BB962C8B-B14F-4D97-AF65-F5344CB8AC3E}">
        <p14:creationId xmlns:p14="http://schemas.microsoft.com/office/powerpoint/2010/main" val="37643046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DB953-1F66-3203-4300-1D26FCE09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3AA3FF-8974-1DB0-A3D1-426E53B3BA9D}"/>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30E11AF7-61DE-96C9-2FC4-B485BEEE240A}"/>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2000" dirty="0"/>
          </a:p>
          <a:p>
            <a:endParaRPr lang="en-US" dirty="0"/>
          </a:p>
        </p:txBody>
      </p:sp>
      <p:pic>
        <p:nvPicPr>
          <p:cNvPr id="3" name="Picture 2">
            <a:extLst>
              <a:ext uri="{FF2B5EF4-FFF2-40B4-BE49-F238E27FC236}">
                <a16:creationId xmlns:a16="http://schemas.microsoft.com/office/drawing/2014/main" id="{3B2255BE-5880-3643-3180-85FDC18713BB}"/>
              </a:ext>
            </a:extLst>
          </p:cNvPr>
          <p:cNvPicPr>
            <a:picLocks noChangeAspect="1"/>
          </p:cNvPicPr>
          <p:nvPr/>
        </p:nvPicPr>
        <p:blipFill>
          <a:blip r:embed="rId3"/>
          <a:stretch>
            <a:fillRect/>
          </a:stretch>
        </p:blipFill>
        <p:spPr>
          <a:xfrm>
            <a:off x="96253" y="1342669"/>
            <a:ext cx="10142621" cy="5876277"/>
          </a:xfrm>
          <a:prstGeom prst="rect">
            <a:avLst/>
          </a:prstGeom>
        </p:spPr>
      </p:pic>
    </p:spTree>
    <p:extLst>
      <p:ext uri="{BB962C8B-B14F-4D97-AF65-F5344CB8AC3E}">
        <p14:creationId xmlns:p14="http://schemas.microsoft.com/office/powerpoint/2010/main" val="6781659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835AD-4E9C-E7DC-483B-849DEFAAC8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B4AFF4-42DE-0E21-C86E-ED9FEE3AC296}"/>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02FD1897-BAF9-BE05-0DA3-D81733C9B19F}"/>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200" dirty="0">
                <a:effectLst/>
                <a:ea typeface="Times New Roman" panose="02020603050405020304" pitchFamily="18" charset="0"/>
                <a:cs typeface="Times New Roman" panose="02020603050405020304" pitchFamily="18" charset="0"/>
              </a:rPr>
              <a:t>DLA Distribution and DLA Disposition Services and Performance Requirements (C-5.1)</a:t>
            </a:r>
          </a:p>
          <a:p>
            <a:pPr marL="800100" lvl="1" indent="-342900">
              <a:buFont typeface="Courier New" panose="02070309020205020404" pitchFamily="49" charset="0"/>
              <a:buChar char="o"/>
            </a:pPr>
            <a:r>
              <a:rPr lang="en-US" altLang="en-US" sz="2000" dirty="0"/>
              <a:t>The Contractor shall sustain an auditable environment by performing the daily operations of all warehousing and distribution functions IAW the current versions and all updates of the DLA Distribution SOPs and any communications (e.g., FRAGO) issued that changes the SOP requirements, and all other references as set forth in this contract using the DLA Warehousing Management System Inventory Requirements applicable to both wholesale and retail processes.</a:t>
            </a:r>
          </a:p>
          <a:p>
            <a:pPr marL="1200150" lvl="2" indent="-285750">
              <a:buFont typeface="Wingdings" panose="05000000000000000000" pitchFamily="2" charset="2"/>
              <a:buChar char="§"/>
            </a:pPr>
            <a:r>
              <a:rPr lang="en-US" altLang="en-US" sz="1600" dirty="0"/>
              <a:t>Enclosure 2 of each SOP provides the step-by-step standard process, ensuring compliance with Audit Sustainment manual controls.</a:t>
            </a:r>
          </a:p>
          <a:p>
            <a:pPr marL="1200150" lvl="2" indent="-285750">
              <a:buFont typeface="Wingdings" panose="05000000000000000000" pitchFamily="2" charset="2"/>
              <a:buChar char="§"/>
            </a:pPr>
            <a:r>
              <a:rPr lang="en-US" altLang="en-US" sz="1600" dirty="0"/>
              <a:t>Process Manuals provide additional details.  </a:t>
            </a:r>
            <a:endParaRPr lang="en-US" altLang="en-US" sz="1800" dirty="0">
              <a:solidFill>
                <a:srgbClr val="FF0000"/>
              </a:solidFill>
            </a:endParaRPr>
          </a:p>
          <a:p>
            <a:pPr marL="800100" lvl="1" indent="-342900">
              <a:buFont typeface="Courier New" panose="02070309020205020404" pitchFamily="49" charset="0"/>
              <a:buChar char="o"/>
            </a:pPr>
            <a:r>
              <a:rPr lang="en-US" altLang="en-US" sz="2000" dirty="0"/>
              <a:t>Requires use of WMS or applicable system and WMS changes in the performance of warehouse and distribution operations and shall complete all required transactions in WMS (C-5.1.3.1). </a:t>
            </a:r>
          </a:p>
          <a:p>
            <a:pPr marL="1200150" lvl="2" indent="-285750">
              <a:buFont typeface="Wingdings" panose="05000000000000000000" pitchFamily="2" charset="2"/>
              <a:buChar char="§"/>
            </a:pPr>
            <a:r>
              <a:rPr lang="en-US" altLang="en-US" sz="1600" dirty="0"/>
              <a:t>Use of RF handheld equipment in the performance of all WMS functions when and where the functionality exists.</a:t>
            </a:r>
          </a:p>
          <a:p>
            <a:endParaRPr lang="en-US" altLang="en-US" sz="2000" dirty="0"/>
          </a:p>
          <a:p>
            <a:endParaRPr lang="en-US" dirty="0"/>
          </a:p>
        </p:txBody>
      </p:sp>
    </p:spTree>
    <p:extLst>
      <p:ext uri="{BB962C8B-B14F-4D97-AF65-F5344CB8AC3E}">
        <p14:creationId xmlns:p14="http://schemas.microsoft.com/office/powerpoint/2010/main" val="13204693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E71B5-7EF3-BEA3-355F-D8B69F24D9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CFCA8C-CB26-F943-4050-086BAB33E1B8}"/>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C07739E3-851E-3BA4-9700-F7416E9BBB8F}"/>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200" dirty="0">
                <a:effectLst/>
                <a:ea typeface="Times New Roman" panose="02020603050405020304" pitchFamily="18" charset="0"/>
                <a:cs typeface="Times New Roman" panose="02020603050405020304" pitchFamily="18" charset="0"/>
              </a:rPr>
              <a:t>DLA Distribution and DLA Disposition Services and Performance Requirements (C-5.1)</a:t>
            </a:r>
          </a:p>
          <a:p>
            <a:pPr marL="800100" lvl="1" indent="-342900">
              <a:buFont typeface="Courier New" panose="02070309020205020404" pitchFamily="49" charset="0"/>
              <a:buChar char="o"/>
            </a:pPr>
            <a:r>
              <a:rPr lang="en-US" altLang="en-US" sz="1600" dirty="0"/>
              <a:t>The Government provides its best estimate for projected workload for each Task Orders period of performance.  However, workload factors change constantly.  The Contractor shall provide appropriate leadership with management tools and processes to effectively manage the distribution and disposition operations to successfully fulfill the DLA distribution and disposition requirements to our customers IAW all contract requirements.  The Contractor shall provide the skills and expertise necessary to perform detailed analysis and monitoring of all:</a:t>
            </a:r>
          </a:p>
          <a:p>
            <a:pPr lvl="1"/>
            <a:endParaRPr lang="en-US" altLang="en-US" sz="1600" dirty="0"/>
          </a:p>
          <a:p>
            <a:pPr marL="1257300" lvl="2" indent="-342900">
              <a:buFont typeface="+mj-lt"/>
              <a:buAutoNum type="arabicPeriod"/>
            </a:pPr>
            <a:r>
              <a:rPr lang="en-US" altLang="en-US" sz="1400" dirty="0"/>
              <a:t>Physical distribution and disposition processes, </a:t>
            </a:r>
          </a:p>
          <a:p>
            <a:pPr marL="1257300" lvl="2" indent="-342900">
              <a:buFont typeface="+mj-lt"/>
              <a:buAutoNum type="arabicPeriod"/>
            </a:pPr>
            <a:r>
              <a:rPr lang="en-US" altLang="en-US" sz="1400" dirty="0"/>
              <a:t>Operations workflow, </a:t>
            </a:r>
          </a:p>
          <a:p>
            <a:pPr marL="1257300" lvl="2" indent="-342900">
              <a:buFont typeface="+mj-lt"/>
              <a:buAutoNum type="arabicPeriod"/>
            </a:pPr>
            <a:r>
              <a:rPr lang="en-US" altLang="en-US" sz="1400" dirty="0"/>
              <a:t>Interrelationships between functions and;</a:t>
            </a:r>
          </a:p>
          <a:p>
            <a:pPr marL="1257300" lvl="2" indent="-342900">
              <a:buFont typeface="+mj-lt"/>
              <a:buAutoNum type="arabicPeriod"/>
            </a:pPr>
            <a:r>
              <a:rPr lang="en-US" altLang="en-US" sz="1400" dirty="0"/>
              <a:t>Using the DLA WMS, the actual incoming workload. This is to obtain valuable insight enabling the ability to schedule optimization and maximum workforce effectiveness required for processing the actual workload IAW the APLs and all other contract requirements. </a:t>
            </a:r>
          </a:p>
          <a:p>
            <a:pPr marL="801688" lvl="1" indent="-338138">
              <a:buFont typeface="Courier New" panose="02070309020205020404" pitchFamily="49" charset="0"/>
              <a:buChar char="o"/>
            </a:pPr>
            <a:endParaRPr lang="en-US" sz="1600" dirty="0">
              <a:effectLst/>
              <a:latin typeface="Arial" panose="020B0604020202020204" pitchFamily="34" charset="0"/>
              <a:ea typeface="Times New Roman" panose="02020603050405020304" pitchFamily="18" charset="0"/>
            </a:endParaRPr>
          </a:p>
          <a:p>
            <a:pPr marL="801688" lvl="1" indent="-338138">
              <a:buFont typeface="Courier New" panose="02070309020205020404" pitchFamily="49" charset="0"/>
              <a:buChar char="o"/>
            </a:pPr>
            <a:r>
              <a:rPr lang="en-US" sz="1600" dirty="0">
                <a:effectLst/>
                <a:latin typeface="Arial" panose="020B0604020202020204" pitchFamily="34" charset="0"/>
                <a:ea typeface="Times New Roman" panose="02020603050405020304" pitchFamily="18" charset="0"/>
              </a:rPr>
              <a:t>The Contractor shall assume the responsibility for meeting all contract terms and conditions as specified in awarded task orders, upon completion of the transition period.</a:t>
            </a:r>
          </a:p>
          <a:p>
            <a:endParaRPr lang="en-US" dirty="0"/>
          </a:p>
        </p:txBody>
      </p:sp>
    </p:spTree>
    <p:extLst>
      <p:ext uri="{BB962C8B-B14F-4D97-AF65-F5344CB8AC3E}">
        <p14:creationId xmlns:p14="http://schemas.microsoft.com/office/powerpoint/2010/main" val="32909876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73138-9F31-BE5C-8CF8-EE4CCE97198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1C0F49E-82D3-8B6F-5715-DEE6DB1D3957}"/>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2DE9C2BA-BFA9-7CB0-D21C-5CCF2F292C37}"/>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200" dirty="0">
                <a:effectLst/>
                <a:ea typeface="Times New Roman" panose="02020603050405020304" pitchFamily="18" charset="0"/>
                <a:cs typeface="Times New Roman" panose="02020603050405020304" pitchFamily="18" charset="0"/>
              </a:rPr>
              <a:t>DLA Distribution and DLA Disposition Services and Performance Requirements (C-5.1)</a:t>
            </a:r>
            <a:endParaRPr lang="en-US" sz="1600" dirty="0">
              <a:effectLst/>
              <a:latin typeface="Arial" panose="020B0604020202020204" pitchFamily="34" charset="0"/>
              <a:ea typeface="Times New Roman" panose="02020603050405020304" pitchFamily="18" charset="0"/>
            </a:endParaRPr>
          </a:p>
          <a:p>
            <a:pPr marL="801688" lvl="1" indent="-338138">
              <a:buFont typeface="Courier New" panose="02070309020205020404" pitchFamily="49" charset="0"/>
              <a:buChar char="o"/>
            </a:pPr>
            <a:r>
              <a:rPr lang="en-US" sz="1600" dirty="0">
                <a:effectLst/>
                <a:latin typeface="Arial" panose="020B0604020202020204" pitchFamily="34" charset="0"/>
                <a:ea typeface="Times New Roman" panose="02020603050405020304" pitchFamily="18" charset="0"/>
              </a:rPr>
              <a:t>The Contractor does not need to propose the specific labor categories included in any of the DLA Standard Operating Procedures (SOP).  The labor categories in paragraph C-1.3, Personnel and task orders take precedence.</a:t>
            </a:r>
          </a:p>
          <a:p>
            <a:pPr marL="463550" lvl="1"/>
            <a:endParaRPr lang="en-US" sz="1600" dirty="0">
              <a:latin typeface="Arial" panose="020B0604020202020204" pitchFamily="34" charset="0"/>
              <a:ea typeface="Times New Roman" panose="02020603050405020304" pitchFamily="18" charset="0"/>
            </a:endParaRPr>
          </a:p>
          <a:p>
            <a:pPr marL="801688" lvl="1" indent="-338138">
              <a:buFont typeface="Courier New" panose="02070309020205020404" pitchFamily="49" charset="0"/>
              <a:buChar char="o"/>
            </a:pPr>
            <a:r>
              <a:rPr lang="en-US" sz="1800" dirty="0">
                <a:effectLst/>
                <a:latin typeface="Arial" panose="020B0604020202020204" pitchFamily="34" charset="0"/>
                <a:ea typeface="Times New Roman" panose="02020603050405020304" pitchFamily="18" charset="0"/>
                <a:cs typeface="Times New Roman" panose="02020603050405020304" pitchFamily="18" charset="0"/>
              </a:rPr>
              <a:t>The Contractor shall obtain and retain access to the QLIK Sense application to manage the Distribution Centers/Disposition Sites performance. Service Providers can be granted section access which will provide view only access to the data for the distribution center/Disposition Site at which you are performing services. </a:t>
            </a:r>
          </a:p>
          <a:p>
            <a:pPr marL="463550" lvl="1"/>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801688" lvl="1" indent="-338138">
              <a:buFont typeface="Courier New" panose="02070309020205020404" pitchFamily="49" charset="0"/>
              <a:buChar char="o"/>
            </a:pPr>
            <a:r>
              <a:rPr lang="en-US" sz="1800" dirty="0">
                <a:effectLst/>
                <a:latin typeface="Arial" panose="020B0604020202020204" pitchFamily="34" charset="0"/>
                <a:ea typeface="Times New Roman" panose="02020603050405020304" pitchFamily="18" charset="0"/>
                <a:cs typeface="Times New Roman" panose="02020603050405020304" pitchFamily="18" charset="0"/>
              </a:rPr>
              <a:t>DLA Distribution QLIK Sense section access will provide the user with the DIST_SAAD file for their site. DLA Disposition QLIK access and requirements will be identified by requiring task order.</a:t>
            </a:r>
          </a:p>
          <a:p>
            <a:endParaRPr lang="en-US" dirty="0"/>
          </a:p>
        </p:txBody>
      </p:sp>
    </p:spTree>
    <p:extLst>
      <p:ext uri="{BB962C8B-B14F-4D97-AF65-F5344CB8AC3E}">
        <p14:creationId xmlns:p14="http://schemas.microsoft.com/office/powerpoint/2010/main" val="3710393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F3B53-3E6B-B828-41DC-029DFF71059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9AF9AE-03BF-47A6-C012-38BB377EF463}"/>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A71602B5-23FB-6FAB-5BA8-BC6D09C476FE}"/>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200" dirty="0">
                <a:effectLst/>
                <a:ea typeface="Times New Roman" panose="02020603050405020304" pitchFamily="18" charset="0"/>
                <a:cs typeface="Times New Roman" panose="02020603050405020304" pitchFamily="18" charset="0"/>
              </a:rPr>
              <a:t>DLA Distribution and DLA Disposition Services and Performance Requirements (C-5.1)</a:t>
            </a:r>
            <a:endParaRPr lang="en-US" sz="1600" dirty="0">
              <a:effectLst/>
              <a:latin typeface="Arial" panose="020B0604020202020204" pitchFamily="34" charset="0"/>
              <a:ea typeface="Times New Roman" panose="02020603050405020304" pitchFamily="18" charset="0"/>
            </a:endParaRPr>
          </a:p>
          <a:p>
            <a:pPr marL="801688" lvl="1" indent="-338138">
              <a:buFont typeface="Courier New" panose="02070309020205020404" pitchFamily="49" charset="0"/>
              <a:buChar char="o"/>
            </a:pPr>
            <a:r>
              <a:rPr lang="en-US" sz="1800" dirty="0">
                <a:effectLst/>
                <a:ea typeface="Times New Roman" panose="02020603050405020304" pitchFamily="18" charset="0"/>
                <a:cs typeface="Times New Roman" panose="02020603050405020304" pitchFamily="18" charset="0"/>
              </a:rPr>
              <a:t>DLA is in Audit Sustainment IAW DoD’s Financial Improvement and Audit Readiness (FIAR) Plan.  Key to maintaining auditability is focusing efforts on the continuous standardized end-to-end processes.</a:t>
            </a:r>
          </a:p>
          <a:p>
            <a:pPr marL="1258888" lvl="2" indent="-338138">
              <a:buFont typeface="Courier New" panose="02070309020205020404" pitchFamily="49" charset="0"/>
              <a:buChar char="o"/>
            </a:pPr>
            <a:r>
              <a:rPr lang="en-US" sz="1800" dirty="0">
                <a:effectLst/>
                <a:ea typeface="Times New Roman" panose="02020603050405020304" pitchFamily="18" charset="0"/>
                <a:cs typeface="Times New Roman" panose="02020603050405020304" pitchFamily="18" charset="0"/>
              </a:rPr>
              <a:t>Each time performance of the contract requirements deviate from documented and standardized processes there is an inherent risk to sustained audit readiness.</a:t>
            </a:r>
          </a:p>
          <a:p>
            <a:pPr marL="1258888" lvl="2" indent="-338138">
              <a:buFont typeface="Courier New" panose="02070309020205020404" pitchFamily="49" charset="0"/>
              <a:buChar char="o"/>
            </a:pPr>
            <a:r>
              <a:rPr lang="en-US" sz="1800" dirty="0">
                <a:effectLst/>
                <a:ea typeface="Times New Roman" panose="02020603050405020304" pitchFamily="18" charset="0"/>
                <a:cs typeface="Times New Roman" panose="02020603050405020304" pitchFamily="18" charset="0"/>
              </a:rPr>
              <a:t>As a Contractor entity performing DLA Distribution requirements, the Contractor’s activities impact the integrity of DLA’s and each Military Service’s financial record/general ledger transactions.</a:t>
            </a:r>
          </a:p>
          <a:p>
            <a:pPr marL="1258888" lvl="2" indent="-338138">
              <a:buFont typeface="Courier New" panose="02070309020205020404" pitchFamily="49" charset="0"/>
              <a:buChar char="o"/>
            </a:pPr>
            <a:r>
              <a:rPr lang="en-US" sz="1800" dirty="0">
                <a:effectLst/>
                <a:ea typeface="Times New Roman" panose="02020603050405020304" pitchFamily="18" charset="0"/>
                <a:cs typeface="Times New Roman" panose="02020603050405020304" pitchFamily="18" charset="0"/>
              </a:rPr>
              <a:t>Monthly Audit Assertion Program with the intent of shifting the focus from training to holding employees accountable for adhering to standard procedures</a:t>
            </a:r>
          </a:p>
          <a:p>
            <a:pPr marL="1258888" lvl="2" indent="-338138">
              <a:buFont typeface="Courier New" panose="02070309020205020404" pitchFamily="49" charset="0"/>
              <a:buChar char="o"/>
            </a:pPr>
            <a:r>
              <a:rPr lang="en-US" sz="1800" dirty="0">
                <a:effectLst/>
                <a:ea typeface="Times New Roman" panose="02020603050405020304" pitchFamily="18" charset="0"/>
                <a:cs typeface="Times New Roman" panose="02020603050405020304" pitchFamily="18" charset="0"/>
              </a:rPr>
              <a:t>CDRL A009 Assertion Memo – based on future ability to pass audit in upcoming month</a:t>
            </a:r>
          </a:p>
          <a:p>
            <a:pPr marL="1716088" lvl="3" indent="-338138">
              <a:buFont typeface="Wingdings" panose="05000000000000000000" pitchFamily="2" charset="2"/>
              <a:buChar char="§"/>
            </a:pPr>
            <a:r>
              <a:rPr lang="en-US" dirty="0">
                <a:effectLst/>
                <a:ea typeface="Times New Roman" panose="02020603050405020304" pitchFamily="18" charset="0"/>
                <a:cs typeface="Times New Roman" panose="02020603050405020304" pitchFamily="18" charset="0"/>
              </a:rPr>
              <a:t>To be completed, based on the honest and accurate ability of the Contractor operated distribution areas to pass an audit </a:t>
            </a:r>
          </a:p>
          <a:p>
            <a:pPr marL="1716088" lvl="3" indent="-338138">
              <a:buFont typeface="Wingdings" panose="05000000000000000000" pitchFamily="2" charset="2"/>
              <a:buChar char="§"/>
            </a:pPr>
            <a:r>
              <a:rPr lang="en-US" dirty="0">
                <a:effectLst/>
                <a:ea typeface="Times New Roman" panose="02020603050405020304" pitchFamily="18" charset="0"/>
                <a:cs typeface="Times New Roman" panose="02020603050405020304" pitchFamily="18" charset="0"/>
              </a:rPr>
              <a:t>Corrective Action Plan Quality CAP required for areas where Contractor cannot assert or can only somewhat assert</a:t>
            </a:r>
          </a:p>
          <a:p>
            <a:endParaRPr lang="en-US" dirty="0"/>
          </a:p>
        </p:txBody>
      </p:sp>
      <p:sp>
        <p:nvSpPr>
          <p:cNvPr id="2" name="Explosion 1 4">
            <a:extLst>
              <a:ext uri="{FF2B5EF4-FFF2-40B4-BE49-F238E27FC236}">
                <a16:creationId xmlns:a16="http://schemas.microsoft.com/office/drawing/2014/main" id="{484CFCEB-BAAE-40F5-0AF7-B2EEA3CE8C70}"/>
              </a:ext>
            </a:extLst>
          </p:cNvPr>
          <p:cNvSpPr/>
          <p:nvPr/>
        </p:nvSpPr>
        <p:spPr>
          <a:xfrm rot="20692927">
            <a:off x="162781" y="5421441"/>
            <a:ext cx="1211837" cy="1409115"/>
          </a:xfrm>
          <a:prstGeom prst="irregularSeal1">
            <a:avLst/>
          </a:prstGeom>
        </p:spPr>
        <p:style>
          <a:lnRef idx="1">
            <a:schemeClr val="accent6"/>
          </a:lnRef>
          <a:fillRef idx="2">
            <a:schemeClr val="accent6"/>
          </a:fillRef>
          <a:effectRef idx="1">
            <a:schemeClr val="accent6"/>
          </a:effectRef>
          <a:fontRef idx="minor">
            <a:schemeClr val="dk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Always Under Audit</a:t>
            </a:r>
          </a:p>
        </p:txBody>
      </p:sp>
    </p:spTree>
    <p:extLst>
      <p:ext uri="{BB962C8B-B14F-4D97-AF65-F5344CB8AC3E}">
        <p14:creationId xmlns:p14="http://schemas.microsoft.com/office/powerpoint/2010/main" val="11521530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1FC20-AF6D-7F7D-EF9F-3B27AD904F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C81382-A735-C7EF-D49F-DACACFE372DF}"/>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64893210-6CB4-3391-E337-C7734512A816}"/>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800" dirty="0">
                <a:effectLst/>
                <a:ea typeface="Times New Roman" panose="02020603050405020304" pitchFamily="18" charset="0"/>
                <a:cs typeface="Times New Roman" panose="02020603050405020304" pitchFamily="18" charset="0"/>
              </a:rPr>
              <a:t>DLA Distribution and DLA Disposition Services and Performance Requirements (C-5.1)</a:t>
            </a:r>
            <a:endParaRPr lang="en-US" sz="2000" dirty="0">
              <a:effectLst/>
              <a:latin typeface="Arial" panose="020B0604020202020204" pitchFamily="34" charset="0"/>
              <a:ea typeface="Times New Roman" panose="02020603050405020304" pitchFamily="18" charset="0"/>
            </a:endParaRPr>
          </a:p>
          <a:p>
            <a:pPr marL="801688" lvl="1" indent="-338138">
              <a:buFont typeface="Courier New" panose="02070309020205020404" pitchFamily="49" charset="0"/>
              <a:buChar char="o"/>
            </a:pPr>
            <a:r>
              <a:rPr lang="en-US" altLang="en-US" sz="2800" b="1" dirty="0"/>
              <a:t>Period End Inventory Cut-Off Procedures </a:t>
            </a:r>
          </a:p>
          <a:p>
            <a:pPr marL="1258888" lvl="2" indent="-338138">
              <a:buFont typeface="Courier New" panose="02070309020205020404" pitchFamily="49" charset="0"/>
              <a:buChar char="o"/>
            </a:pPr>
            <a:r>
              <a:rPr lang="en-US" altLang="en-US" dirty="0"/>
              <a:t>The Contractor implements cut-off procedures IAW DLA Distribution SOP/Guidance/FRAGO on a quarterly basis.</a:t>
            </a:r>
            <a:endParaRPr lang="en-US" altLang="en-US" b="1" dirty="0"/>
          </a:p>
          <a:p>
            <a:pPr marL="1258888" lvl="2" indent="-338138">
              <a:buFont typeface="Courier New" panose="02070309020205020404" pitchFamily="49" charset="0"/>
              <a:buChar char="o"/>
            </a:pPr>
            <a:r>
              <a:rPr lang="en-US" altLang="en-US" dirty="0"/>
              <a:t>During Cut-Off, the Contractor shall:</a:t>
            </a:r>
          </a:p>
          <a:p>
            <a:pPr marL="1436687" lvl="1" indent="-285750">
              <a:buFont typeface="Wingdings" panose="05000000000000000000" pitchFamily="2" charset="2"/>
              <a:buChar char="§"/>
            </a:pPr>
            <a:r>
              <a:rPr lang="en-US" altLang="en-US" sz="2000" dirty="0"/>
              <a:t>Process all work in progress (WIP) – offloaded, receipted, stowed, picked, packed, offered and physically shipped by end of day for the identified period end cut-off.</a:t>
            </a:r>
          </a:p>
          <a:p>
            <a:pPr marL="1436687" lvl="1" indent="-285750">
              <a:buFont typeface="Wingdings" panose="05000000000000000000" pitchFamily="2" charset="2"/>
              <a:buChar char="§"/>
            </a:pPr>
            <a:r>
              <a:rPr lang="en-US" altLang="en-US" sz="2000" dirty="0"/>
              <a:t>Perform a total sweep of all Contract Distribution Center workload and footprint to validate that no inventory is in any state of WIP</a:t>
            </a:r>
          </a:p>
          <a:p>
            <a:pPr marL="1436687" lvl="1" indent="-285750">
              <a:buFont typeface="Wingdings" panose="05000000000000000000" pitchFamily="2" charset="2"/>
              <a:buChar char="§"/>
            </a:pPr>
            <a:r>
              <a:rPr lang="en-US" altLang="en-US" sz="2000" dirty="0"/>
              <a:t>Ensure all material is physically and systemically stowed into location or physically shipped</a:t>
            </a:r>
          </a:p>
          <a:p>
            <a:pPr marL="344464" indent="-338138">
              <a:buFont typeface="Courier New" panose="02070309020205020404" pitchFamily="49" charset="0"/>
              <a:buChar char="o"/>
            </a:pPr>
            <a:r>
              <a:rPr lang="en-US" sz="2800" dirty="0">
                <a:effectLst/>
                <a:ea typeface="Times New Roman" panose="02020603050405020304" pitchFamily="18" charset="0"/>
                <a:cs typeface="Times New Roman" panose="02020603050405020304" pitchFamily="18" charset="0"/>
              </a:rPr>
              <a:t>Indemnification and Limitation of Liability (C-5.1.2)</a:t>
            </a:r>
          </a:p>
          <a:p>
            <a:pPr marL="344464" indent="-338138">
              <a:buFont typeface="Courier New" panose="02070309020205020404" pitchFamily="49" charset="0"/>
              <a:buChar char="o"/>
            </a:pPr>
            <a:r>
              <a:rPr lang="en-US" sz="2800" dirty="0">
                <a:effectLst/>
                <a:ea typeface="Times New Roman" panose="02020603050405020304" pitchFamily="18" charset="0"/>
                <a:cs typeface="Times New Roman" panose="02020603050405020304" pitchFamily="18" charset="0"/>
              </a:rPr>
              <a:t>Information Technology (IT) Data Systems (C-5.1.3)</a:t>
            </a:r>
          </a:p>
          <a:p>
            <a:endParaRPr lang="en-US" sz="3200" dirty="0"/>
          </a:p>
        </p:txBody>
      </p:sp>
    </p:spTree>
    <p:extLst>
      <p:ext uri="{BB962C8B-B14F-4D97-AF65-F5344CB8AC3E}">
        <p14:creationId xmlns:p14="http://schemas.microsoft.com/office/powerpoint/2010/main" val="14512866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047FF-E844-DE8F-6D3B-6598E49EB4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B79453B-796E-FA3D-65A0-1AE5B9A5750A}"/>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F93F0E4B-808D-A53A-1F0C-8F94331201C2}"/>
              </a:ext>
            </a:extLst>
          </p:cNvPr>
          <p:cNvSpPr txBox="1">
            <a:spLocks/>
          </p:cNvSpPr>
          <p:nvPr/>
        </p:nvSpPr>
        <p:spPr>
          <a:xfrm>
            <a:off x="0" y="1263316"/>
            <a:ext cx="10363200" cy="6075947"/>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000" dirty="0">
                <a:effectLst/>
                <a:ea typeface="Times New Roman" panose="02020603050405020304" pitchFamily="18" charset="0"/>
                <a:cs typeface="Times New Roman" panose="02020603050405020304" pitchFamily="18" charset="0"/>
              </a:rPr>
              <a:t>Quality Control Plan(C-5.1.4)</a:t>
            </a:r>
            <a:endParaRPr lang="en-US" sz="2000" dirty="0">
              <a:effectLst/>
              <a:ea typeface="Times New Roman" panose="02020603050405020304" pitchFamily="18" charset="0"/>
            </a:endParaRPr>
          </a:p>
          <a:p>
            <a:pPr marL="800100" lvl="1" indent="-342900">
              <a:buFont typeface="Courier New" panose="02070309020205020404" pitchFamily="49" charset="0"/>
              <a:buChar char="o"/>
            </a:pPr>
            <a:r>
              <a:rPr lang="en-US" altLang="en-US" sz="1800" dirty="0"/>
              <a:t>Requirements to support DLA’s Quality Management System (QMS) which includes</a:t>
            </a:r>
          </a:p>
          <a:p>
            <a:pPr marL="1200150" lvl="2" indent="-285750">
              <a:buFont typeface="Wingdings" panose="05000000000000000000" pitchFamily="2" charset="2"/>
              <a:buChar char="§"/>
            </a:pPr>
            <a:r>
              <a:rPr lang="en-US" altLang="en-US" sz="1600" dirty="0"/>
              <a:t>Service Provider Quality Control (QC)</a:t>
            </a:r>
          </a:p>
          <a:p>
            <a:pPr marL="1200150" lvl="2" indent="-285750">
              <a:buFont typeface="Wingdings" panose="05000000000000000000" pitchFamily="2" charset="2"/>
              <a:buChar char="§"/>
            </a:pPr>
            <a:r>
              <a:rPr lang="en-US" altLang="en-US" sz="1600" dirty="0"/>
              <a:t>Government Quality Assurance (QA)</a:t>
            </a:r>
          </a:p>
          <a:p>
            <a:pPr marL="1200150" lvl="2" indent="-285750">
              <a:buFont typeface="Wingdings" panose="05000000000000000000" pitchFamily="2" charset="2"/>
              <a:buChar char="§"/>
            </a:pPr>
            <a:r>
              <a:rPr lang="en-US" altLang="en-US" sz="1600" dirty="0"/>
              <a:t>Independent DLA Distribution Review of Performance Data and QC/QA outcomes</a:t>
            </a:r>
          </a:p>
          <a:p>
            <a:pPr marL="1200150" lvl="2" indent="-285750">
              <a:buFont typeface="Wingdings" panose="05000000000000000000" pitchFamily="2" charset="2"/>
              <a:buChar char="§"/>
            </a:pPr>
            <a:r>
              <a:rPr lang="en-US" altLang="en-US" sz="1600" dirty="0"/>
              <a:t>Independent Public Auditor (IPA) to support Audit Sustainment IAW the Financial Improvement and Audit Readiness (FIAR)</a:t>
            </a:r>
          </a:p>
          <a:p>
            <a:pPr marL="1200150" lvl="2" indent="-285750">
              <a:buFont typeface="Wingdings" panose="05000000000000000000" pitchFamily="2" charset="2"/>
              <a:buChar char="§"/>
            </a:pPr>
            <a:r>
              <a:rPr lang="en-US" altLang="en-US" sz="1600" dirty="0"/>
              <a:t>Managers Internal Control Program (MICP)/Annual Statement of Assurance (SOA)</a:t>
            </a:r>
          </a:p>
          <a:p>
            <a:pPr marL="800100" lvl="1" indent="-342900">
              <a:buFont typeface="Courier New" panose="02070309020205020404" pitchFamily="49" charset="0"/>
              <a:buChar char="o"/>
            </a:pPr>
            <a:r>
              <a:rPr lang="en-US" altLang="en-US" sz="1800" dirty="0"/>
              <a:t>The above outcomes support Distribution’s Audit Sustainment resulting in an audit compliant environment and documented in the Assertion Memo CDRL A009 requirement.</a:t>
            </a:r>
          </a:p>
          <a:p>
            <a:pPr marL="800100" lvl="1" indent="-342900">
              <a:buFont typeface="Courier New" panose="02070309020205020404" pitchFamily="49" charset="0"/>
              <a:buChar char="o"/>
            </a:pPr>
            <a:r>
              <a:rPr lang="en-US" altLang="en-US" sz="1800" dirty="0"/>
              <a:t>Be compliant with FAR 52.246-4(b) and IAW CDRL A006</a:t>
            </a:r>
          </a:p>
          <a:p>
            <a:pPr marL="800124" lvl="1" indent="-342900"/>
            <a:r>
              <a:rPr lang="en-US" altLang="en-US" sz="1800" dirty="0"/>
              <a:t>Quality Assurance Surveillance Plan (QASP) - The QASP documents QCP effectiveness and provides a systematic method to evaluate the Contractor’s services. The Government’s QA team will use a variety of tools and surveillance methods to evaluate Contractor performance ranging from reviews of documents and reports to actually observing processes as they occur.</a:t>
            </a:r>
          </a:p>
          <a:p>
            <a:pPr marL="342900" indent="-342900"/>
            <a:r>
              <a:rPr lang="en-US" altLang="en-US" sz="2000" dirty="0"/>
              <a:t>Customer Service Plan and Support (C-5.1.5)</a:t>
            </a:r>
          </a:p>
          <a:p>
            <a:pPr marL="342900" indent="-342900"/>
            <a:r>
              <a:rPr lang="en-US" altLang="en-US" sz="2000" dirty="0"/>
              <a:t>NAVSUP Weapons Systems Support (NAVSUP WSS) In-Transit Accountability (NITA) /Electronic Retrograde Management System (</a:t>
            </a:r>
            <a:r>
              <a:rPr lang="en-US" altLang="en-US" sz="2000" dirty="0" err="1"/>
              <a:t>eRMS</a:t>
            </a:r>
            <a:r>
              <a:rPr lang="en-US" altLang="en-US" sz="2000" dirty="0"/>
              <a:t>) – Distribution Only (C-5.1.6)</a:t>
            </a:r>
          </a:p>
          <a:p>
            <a:pPr marL="801688" lvl="1" indent="-338138">
              <a:buFont typeface="Courier New" panose="02070309020205020404" pitchFamily="49" charset="0"/>
              <a:buChar char="o"/>
            </a:pPr>
            <a:endParaRPr lang="en-US" sz="1400" dirty="0">
              <a:effectLst/>
              <a:ea typeface="Times New Roman" panose="02020603050405020304" pitchFamily="18"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18141600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ACCD1-07E3-9188-C030-9AD0C217D5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CA8BCED-907B-EE1C-556A-D50E0E0C39E0}"/>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D4C7EE31-D248-5543-005E-D8C96F9A24AE}"/>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400" dirty="0">
                <a:effectLst/>
                <a:ea typeface="Times New Roman" panose="02020603050405020304" pitchFamily="18" charset="0"/>
                <a:cs typeface="Times New Roman" panose="02020603050405020304" pitchFamily="18" charset="0"/>
              </a:rPr>
              <a:t>Receiving(C-5.2)</a:t>
            </a:r>
            <a:endParaRPr lang="en-US" sz="2400" dirty="0">
              <a:effectLst/>
              <a:ea typeface="Times New Roman" panose="02020603050405020304" pitchFamily="18" charset="0"/>
            </a:endParaRPr>
          </a:p>
          <a:p>
            <a:pPr marL="800100" lvl="1" indent="-342900">
              <a:buFont typeface="Courier New" panose="02070309020205020404" pitchFamily="49" charset="0"/>
              <a:buChar char="o"/>
            </a:pPr>
            <a:r>
              <a:rPr lang="en-US" altLang="en-US" dirty="0"/>
              <a:t>Distribution Centers receive material for storage and distribution that is transported by a variety of commercial and Government carriers.  Characteristics of material received are included in TE 2.1 Definitions and Acronyms.  Dependent upon system functionality and availability. The contractor shall receipt material IAW knowledge, skills, and documents acquired in WMS training and the applicable references e.g. SOPs, Guidance, Instructions, and Regulations:</a:t>
            </a:r>
          </a:p>
          <a:p>
            <a:pPr marL="800100" lvl="1" indent="-342900">
              <a:buFont typeface="Courier New" panose="02070309020205020404" pitchFamily="49" charset="0"/>
              <a:buChar char="o"/>
            </a:pPr>
            <a:endParaRPr lang="en-US" altLang="en-US" dirty="0"/>
          </a:p>
          <a:p>
            <a:pPr marL="800100" lvl="1" indent="-342900">
              <a:buFont typeface="Courier New" panose="02070309020205020404" pitchFamily="49" charset="0"/>
              <a:buChar char="o"/>
            </a:pPr>
            <a:r>
              <a:rPr lang="en-US" altLang="en-US" sz="2000" dirty="0"/>
              <a:t>In-Bound Traffic Management (C-5.2.1)</a:t>
            </a:r>
          </a:p>
          <a:p>
            <a:pPr marL="800100" lvl="1" indent="-342900">
              <a:buFont typeface="Courier New" panose="02070309020205020404" pitchFamily="49" charset="0"/>
              <a:buChar char="o"/>
            </a:pPr>
            <a:r>
              <a:rPr lang="en-US" altLang="en-US" sz="2000" dirty="0"/>
              <a:t>Off-Load and Tally (C-5.2.2)</a:t>
            </a:r>
          </a:p>
          <a:p>
            <a:pPr marL="800100" lvl="1" indent="-342900">
              <a:buFont typeface="Courier New" panose="02070309020205020404" pitchFamily="49" charset="0"/>
              <a:buChar char="o"/>
            </a:pPr>
            <a:r>
              <a:rPr lang="en-US" altLang="en-US" sz="2000" dirty="0"/>
              <a:t>Receipt Process Documentation (C-5.2.3)</a:t>
            </a:r>
          </a:p>
          <a:p>
            <a:pPr marL="800100" lvl="1" indent="-342900">
              <a:buFont typeface="Courier New" panose="02070309020205020404" pitchFamily="49" charset="0"/>
              <a:buChar char="o"/>
            </a:pPr>
            <a:r>
              <a:rPr lang="en-US" altLang="en-US" sz="2000" dirty="0"/>
              <a:t>Product Receipt Evaluation (C-5.2.4)</a:t>
            </a:r>
          </a:p>
          <a:p>
            <a:pPr marL="800100" lvl="1" indent="-342900">
              <a:buFont typeface="Courier New" panose="02070309020205020404" pitchFamily="49" charset="0"/>
              <a:buChar char="o"/>
            </a:pPr>
            <a:r>
              <a:rPr lang="en-US" altLang="en-US" sz="2000" dirty="0"/>
              <a:t>Additional Receiving Requirements (C-5.2.5)</a:t>
            </a:r>
          </a:p>
          <a:p>
            <a:pPr marL="801688" lvl="1" indent="-338138">
              <a:buFont typeface="Courier New" panose="02070309020205020404" pitchFamily="49" charset="0"/>
              <a:buChar char="o"/>
            </a:pPr>
            <a:endParaRPr lang="en-US" sz="1600" dirty="0">
              <a:effectLst/>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2479392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6B949-6946-D9B3-6A28-694E2E70F7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63DEE6-CC63-425E-3314-B8C345744F7E}"/>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3855EE5D-6536-844E-7D4D-7276DD678691}"/>
              </a:ext>
            </a:extLst>
          </p:cNvPr>
          <p:cNvSpPr txBox="1">
            <a:spLocks/>
          </p:cNvSpPr>
          <p:nvPr/>
        </p:nvSpPr>
        <p:spPr>
          <a:xfrm>
            <a:off x="0" y="1415873"/>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400" dirty="0">
                <a:effectLst/>
                <a:ea typeface="Times New Roman" panose="02020603050405020304" pitchFamily="18" charset="0"/>
                <a:cs typeface="Times New Roman" panose="02020603050405020304" pitchFamily="18" charset="0"/>
              </a:rPr>
              <a:t>Warehousing(C-5.3)</a:t>
            </a:r>
            <a:endParaRPr lang="en-US" sz="2400" dirty="0">
              <a:effectLst/>
              <a:ea typeface="Times New Roman" panose="02020603050405020304" pitchFamily="18" charset="0"/>
            </a:endParaRPr>
          </a:p>
          <a:p>
            <a:pPr lvl="1"/>
            <a:r>
              <a:rPr lang="en-US" altLang="en-US" sz="1800" dirty="0"/>
              <a:t>Stow of Receipts (C-5.3.1)</a:t>
            </a:r>
          </a:p>
          <a:p>
            <a:pPr lvl="1"/>
            <a:r>
              <a:rPr lang="en-US" altLang="en-US" sz="1800" dirty="0"/>
              <a:t>General Warehousing/Storage Requirements (C-5.3.2)</a:t>
            </a:r>
          </a:p>
          <a:p>
            <a:pPr lvl="1"/>
            <a:r>
              <a:rPr lang="en-US" altLang="en-US" sz="1800" dirty="0"/>
              <a:t>Care of Supplies In Storage (COSIS) (C-5.3.3)</a:t>
            </a:r>
          </a:p>
          <a:p>
            <a:pPr lvl="2"/>
            <a:r>
              <a:rPr lang="en-US" altLang="en-US" sz="1800" dirty="0"/>
              <a:t>Maintain all material in storage in a Ready for Issue (RFI) condition</a:t>
            </a:r>
            <a:endParaRPr lang="en-US" altLang="en-US" sz="2200" dirty="0"/>
          </a:p>
          <a:p>
            <a:pPr lvl="1"/>
            <a:r>
              <a:rPr lang="en-US" altLang="en-US" sz="1800" dirty="0"/>
              <a:t>Additional Storage Requirements (C-5.3.4)</a:t>
            </a:r>
          </a:p>
          <a:p>
            <a:pPr lvl="2"/>
            <a:r>
              <a:rPr lang="en-US" altLang="en-US" sz="1400" dirty="0"/>
              <a:t>Material Potentially Possessing Explosive Hazard (MPPEH)</a:t>
            </a:r>
          </a:p>
          <a:p>
            <a:pPr lvl="2"/>
            <a:r>
              <a:rPr lang="en-US" altLang="en-US" sz="1400" dirty="0"/>
              <a:t>Controlled Material</a:t>
            </a:r>
          </a:p>
          <a:p>
            <a:pPr lvl="2"/>
            <a:r>
              <a:rPr lang="en-US" altLang="en-US" sz="1400" dirty="0"/>
              <a:t>Hazardous Material (HAZMAT)</a:t>
            </a:r>
          </a:p>
          <a:p>
            <a:pPr lvl="2"/>
            <a:r>
              <a:rPr lang="en-US" altLang="en-US" sz="1400" dirty="0"/>
              <a:t>Radioactive Material (RAM)</a:t>
            </a:r>
          </a:p>
          <a:p>
            <a:pPr lvl="2"/>
            <a:r>
              <a:rPr lang="en-US" altLang="en-US" sz="1400" dirty="0"/>
              <a:t>Shelf-Life Material</a:t>
            </a:r>
            <a:endParaRPr lang="en-US" altLang="en-US" sz="2200" dirty="0"/>
          </a:p>
          <a:p>
            <a:pPr lvl="1"/>
            <a:r>
              <a:rPr lang="en-US" altLang="en-US" sz="1800" dirty="0"/>
              <a:t>Reserved (C-5.3.5)</a:t>
            </a:r>
          </a:p>
          <a:p>
            <a:pPr lvl="1"/>
            <a:r>
              <a:rPr lang="en-US" altLang="en-US" sz="1800" dirty="0"/>
              <a:t>Weight and Cube National Stock Numbers (C-5.3.6</a:t>
            </a:r>
          </a:p>
          <a:p>
            <a:pPr lvl="1"/>
            <a:r>
              <a:rPr lang="en-US" altLang="en-US" sz="1800" dirty="0"/>
              <a:t>Rewarehousing of material (bin to Bin) (C-5.3.7</a:t>
            </a:r>
          </a:p>
          <a:p>
            <a:pPr lvl="1"/>
            <a:r>
              <a:rPr lang="en-US" altLang="en-US" sz="1800" dirty="0"/>
              <a:t>Issue of Material (C-5.3.8)</a:t>
            </a:r>
          </a:p>
          <a:p>
            <a:pPr lvl="1"/>
            <a:r>
              <a:rPr lang="en-US" altLang="en-US" sz="1800" dirty="0"/>
              <a:t>Transshipments (C-5.3.9)</a:t>
            </a:r>
          </a:p>
          <a:p>
            <a:pPr lvl="1"/>
            <a:r>
              <a:rPr lang="en-US" altLang="en-US" sz="1800" dirty="0"/>
              <a:t>Local Delivery (C-5.3.10)</a:t>
            </a:r>
          </a:p>
          <a:p>
            <a:pPr lvl="1"/>
            <a:r>
              <a:rPr lang="en-US" altLang="en-US" sz="1800" dirty="0"/>
              <a:t>Issues to DLA Disposition Services (C-5.3.11)</a:t>
            </a:r>
          </a:p>
          <a:p>
            <a:pPr lvl="1"/>
            <a:r>
              <a:rPr lang="en-US" altLang="en-US" sz="1800" dirty="0"/>
              <a:t>Shipment Preparation/</a:t>
            </a:r>
            <a:r>
              <a:rPr lang="en-US" altLang="en-US" sz="1800" dirty="0" err="1"/>
              <a:t>Outloading</a:t>
            </a:r>
            <a:r>
              <a:rPr lang="en-US" altLang="en-US" sz="1800" dirty="0"/>
              <a:t> (C-5.3.12)</a:t>
            </a:r>
            <a:endParaRPr lang="en-US" altLang="en-US" sz="2400" dirty="0"/>
          </a:p>
          <a:p>
            <a:pPr marL="801688" lvl="1" indent="-338138">
              <a:buFont typeface="Courier New" panose="02070309020205020404" pitchFamily="49" charset="0"/>
              <a:buChar char="o"/>
            </a:pPr>
            <a:endParaRPr lang="en-US" sz="1600" dirty="0">
              <a:effectLst/>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073613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43AAB-F5A5-7EC6-163A-2F8D97AC6E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6122FC4-3E40-963F-0377-0172FE76536A}"/>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CFFBF02C-45E6-E8FD-1A80-B2D6D9276774}"/>
              </a:ext>
            </a:extLst>
          </p:cNvPr>
          <p:cNvSpPr txBox="1">
            <a:spLocks/>
          </p:cNvSpPr>
          <p:nvPr/>
        </p:nvSpPr>
        <p:spPr>
          <a:xfrm>
            <a:off x="0" y="1415873"/>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effectLst/>
                <a:ea typeface="Times New Roman" panose="02020603050405020304" pitchFamily="18" charset="0"/>
                <a:cs typeface="Times New Roman" panose="02020603050405020304" pitchFamily="18" charset="0"/>
              </a:rPr>
              <a:t>Physical Inventory(C-5.4)</a:t>
            </a:r>
            <a:endParaRPr lang="en-US" dirty="0">
              <a:effectLst/>
              <a:ea typeface="Times New Roman" panose="02020603050405020304" pitchFamily="18" charset="0"/>
            </a:endParaRPr>
          </a:p>
          <a:p>
            <a:pPr lvl="1"/>
            <a:r>
              <a:rPr lang="en-US" altLang="en-US" sz="1800" dirty="0"/>
              <a:t>Physical Inventory Control Programs (PICP) goal is to provide a reasonable assurance of the existence and completeness of DLA and service owned material.</a:t>
            </a:r>
          </a:p>
          <a:p>
            <a:pPr lvl="1"/>
            <a:r>
              <a:rPr lang="en-US" altLang="en-US" sz="1800" dirty="0"/>
              <a:t>The Physical Inventory process consists of the following sub-processes:</a:t>
            </a:r>
          </a:p>
          <a:p>
            <a:pPr lvl="2"/>
            <a:r>
              <a:rPr lang="en-US" altLang="en-US" sz="1600" dirty="0"/>
              <a:t>Inventory count planning and scheduling</a:t>
            </a:r>
          </a:p>
          <a:p>
            <a:pPr lvl="2"/>
            <a:r>
              <a:rPr lang="en-US" altLang="en-US" sz="1600" dirty="0"/>
              <a:t>Execute inventory count procedures</a:t>
            </a:r>
          </a:p>
          <a:p>
            <a:pPr lvl="2"/>
            <a:r>
              <a:rPr lang="en-US" altLang="en-US" sz="1600" dirty="0"/>
              <a:t>Inventory adjustments review and recordation</a:t>
            </a:r>
          </a:p>
          <a:p>
            <a:pPr lvl="2"/>
            <a:r>
              <a:rPr lang="en-US" altLang="en-US" sz="1600" dirty="0"/>
              <a:t>Pre-adjustment research, denial research, </a:t>
            </a:r>
            <a:r>
              <a:rPr lang="en-US" altLang="en-US" sz="1600" dirty="0" err="1"/>
              <a:t>iSDR</a:t>
            </a:r>
            <a:r>
              <a:rPr lang="en-US" altLang="en-US" sz="1600" dirty="0"/>
              <a:t> research</a:t>
            </a:r>
          </a:p>
          <a:p>
            <a:pPr lvl="2"/>
            <a:r>
              <a:rPr lang="en-US" altLang="en-US" sz="1600" dirty="0"/>
              <a:t>Resolution and logistical reassignment</a:t>
            </a:r>
          </a:p>
          <a:p>
            <a:pPr lvl="1"/>
            <a:r>
              <a:rPr lang="en-US" altLang="en-US" sz="1800" dirty="0"/>
              <a:t>Contractor performs PICP services that maintain integrity in mission stock asset balances IAW all applicable SOPs, instructions, guidance, and regulations .</a:t>
            </a:r>
          </a:p>
          <a:p>
            <a:pPr lvl="1"/>
            <a:r>
              <a:rPr lang="en-US" altLang="en-US" sz="1800" dirty="0"/>
              <a:t>In addition to the physical inventories, the contractor shall perform denial research, adjustment research, and retain appropriate documentation to support correcting the accountable record imbalances.  </a:t>
            </a:r>
          </a:p>
          <a:p>
            <a:pPr lvl="1"/>
            <a:r>
              <a:rPr lang="en-US" altLang="en-US" sz="1800" dirty="0"/>
              <a:t>The contractor is responsible for:</a:t>
            </a:r>
          </a:p>
          <a:p>
            <a:pPr lvl="2"/>
            <a:r>
              <a:rPr lang="en-US" altLang="en-US" sz="1600" dirty="0"/>
              <a:t>identifying repetitive processing errors; </a:t>
            </a:r>
          </a:p>
          <a:p>
            <a:pPr lvl="2"/>
            <a:r>
              <a:rPr lang="en-US" altLang="en-US" sz="1600" dirty="0"/>
              <a:t>analyzing current inventory accuracy results; </a:t>
            </a:r>
          </a:p>
          <a:p>
            <a:pPr lvl="2"/>
            <a:r>
              <a:rPr lang="en-US" altLang="en-US" sz="1600" dirty="0"/>
              <a:t>developing corrective action plans to include in the QCP to resolve problems and mitigate future inaccuracies in supply system work processes.</a:t>
            </a:r>
          </a:p>
          <a:p>
            <a:pPr lvl="1"/>
            <a:r>
              <a:rPr lang="en-US" altLang="en-US" sz="1800" dirty="0"/>
              <a:t>The contractor shall maintain inventory accuracy for warehoused stock IAW TE 5.0, APLs.</a:t>
            </a:r>
          </a:p>
          <a:p>
            <a:pPr marL="801688" lvl="1" indent="-338138">
              <a:buFont typeface="Courier New" panose="02070309020205020404" pitchFamily="49" charset="0"/>
              <a:buChar char="o"/>
            </a:pPr>
            <a:endParaRPr lang="en-US" sz="1800" dirty="0">
              <a:effectLst/>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35330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B6944-A611-C8BC-DD48-3A01183772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DC4513-9BAD-30A0-6BC7-D39DF2A86D05}"/>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AF55BD11-9E60-93FF-DA71-A1400E832C11}"/>
              </a:ext>
            </a:extLst>
          </p:cNvPr>
          <p:cNvSpPr txBox="1">
            <a:spLocks/>
          </p:cNvSpPr>
          <p:nvPr/>
        </p:nvSpPr>
        <p:spPr>
          <a:xfrm>
            <a:off x="0" y="1367745"/>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200" dirty="0">
                <a:effectLst/>
                <a:ea typeface="Times New Roman" panose="02020603050405020304" pitchFamily="18" charset="0"/>
                <a:cs typeface="Times New Roman" panose="02020603050405020304" pitchFamily="18" charset="0"/>
              </a:rPr>
              <a:t>Traffic Management / Transportation(C-5.5)</a:t>
            </a:r>
            <a:endParaRPr lang="en-US" sz="2200" dirty="0">
              <a:effectLst/>
              <a:ea typeface="Times New Roman" panose="02020603050405020304" pitchFamily="18" charset="0"/>
            </a:endParaRPr>
          </a:p>
          <a:p>
            <a:pPr lvl="1"/>
            <a:r>
              <a:rPr lang="en-US" altLang="en-US" sz="1900" dirty="0"/>
              <a:t>The contractor shall accomplish traffic management/transportation functions to support shipment processing and Government handling IAW the applicable references, e.g. SOPs, Guidance, Instructions, and Regulations</a:t>
            </a:r>
          </a:p>
          <a:p>
            <a:pPr lvl="1"/>
            <a:r>
              <a:rPr lang="en-US" sz="1900" dirty="0">
                <a:effectLst/>
                <a:ea typeface="Times New Roman" panose="02020603050405020304" pitchFamily="18" charset="0"/>
                <a:cs typeface="Times New Roman" panose="02020603050405020304" pitchFamily="18" charset="0"/>
              </a:rPr>
              <a:t>The Contractor shall provide traffic management for all issue transactions and traffic management support for other federal activities on request, to include deployment support, in a manner that provides for the efficient, economical, on-time delivery of material to customers. </a:t>
            </a:r>
          </a:p>
          <a:p>
            <a:pPr marL="800100" lvl="1" indent="-342900">
              <a:buFont typeface="Courier New" panose="02070309020205020404" pitchFamily="49" charset="0"/>
              <a:buChar char="o"/>
            </a:pPr>
            <a:endParaRPr lang="en-US" altLang="en-US" sz="2400" dirty="0"/>
          </a:p>
          <a:p>
            <a:pPr marL="800100" lvl="1" indent="-342900">
              <a:buFont typeface="Courier New" panose="02070309020205020404" pitchFamily="49" charset="0"/>
              <a:buChar char="o"/>
            </a:pPr>
            <a:r>
              <a:rPr lang="en-US" altLang="en-US" dirty="0"/>
              <a:t>Defense Freight Transportation Services (C-5.5.1)</a:t>
            </a:r>
          </a:p>
          <a:p>
            <a:pPr marL="800100" lvl="1" indent="-342900">
              <a:buFont typeface="Courier New" panose="02070309020205020404" pitchFamily="49" charset="0"/>
              <a:buChar char="o"/>
            </a:pPr>
            <a:r>
              <a:rPr lang="en-US" altLang="en-US" dirty="0"/>
              <a:t>Traffic Management (C-5.5.2)</a:t>
            </a:r>
          </a:p>
          <a:p>
            <a:pPr marL="800100" lvl="1" indent="-342900">
              <a:buFont typeface="Courier New" panose="02070309020205020404" pitchFamily="49" charset="0"/>
              <a:buChar char="o"/>
            </a:pPr>
            <a:r>
              <a:rPr lang="en-US" altLang="en-US" dirty="0"/>
              <a:t>Shipping (C-5.5.3)</a:t>
            </a:r>
          </a:p>
          <a:p>
            <a:pPr marL="800100" lvl="1" indent="-342900">
              <a:buFont typeface="Courier New" panose="02070309020205020404" pitchFamily="49" charset="0"/>
              <a:buChar char="o"/>
            </a:pPr>
            <a:r>
              <a:rPr lang="en-US" altLang="en-US" dirty="0"/>
              <a:t>Astray Freight (Government Cargo Recovery Effort (GOCARE)) Program(C-5.5.4)</a:t>
            </a:r>
          </a:p>
          <a:p>
            <a:pPr marL="800100" lvl="1" indent="-342900">
              <a:buFont typeface="Courier New" panose="02070309020205020404" pitchFamily="49" charset="0"/>
              <a:buChar char="o"/>
            </a:pPr>
            <a:r>
              <a:rPr lang="en-US" altLang="en-US" dirty="0"/>
              <a:t>Security Assistance Program (SAP) Shipments:  Foreign Military Sales (FMS) and Grant Aid(C-5.5.5)</a:t>
            </a:r>
          </a:p>
          <a:p>
            <a:pPr marL="800100" lvl="1" indent="-342900">
              <a:buFont typeface="Courier New" panose="02070309020205020404" pitchFamily="49" charset="0"/>
              <a:buChar char="o"/>
            </a:pPr>
            <a:r>
              <a:rPr lang="en-US" altLang="en-US" dirty="0"/>
              <a:t>Additional Traffic Management / Transportation Requirements (C-5.56)</a:t>
            </a:r>
          </a:p>
          <a:p>
            <a:pPr marL="800100" lvl="1" indent="-342900">
              <a:buFont typeface="Courier New" panose="02070309020205020404" pitchFamily="49" charset="0"/>
              <a:buChar char="o"/>
            </a:pPr>
            <a:r>
              <a:rPr lang="en-US" altLang="en-US" dirty="0"/>
              <a:t>Deployment Support (C-5.5.7)</a:t>
            </a:r>
            <a:endParaRPr lang="en-US" dirty="0"/>
          </a:p>
        </p:txBody>
      </p:sp>
    </p:spTree>
    <p:extLst>
      <p:ext uri="{BB962C8B-B14F-4D97-AF65-F5344CB8AC3E}">
        <p14:creationId xmlns:p14="http://schemas.microsoft.com/office/powerpoint/2010/main" val="27151187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30C06-9A84-7DE4-500E-25B3235446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8231D9-60BF-9BC0-8AEB-990EC8E63741}"/>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9EE805BB-695A-B9F1-EE56-76A0051DFF1B}"/>
              </a:ext>
            </a:extLst>
          </p:cNvPr>
          <p:cNvSpPr txBox="1">
            <a:spLocks/>
          </p:cNvSpPr>
          <p:nvPr/>
        </p:nvSpPr>
        <p:spPr>
          <a:xfrm>
            <a:off x="0" y="1367745"/>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600" dirty="0">
                <a:effectLst/>
                <a:ea typeface="Times New Roman" panose="02020603050405020304" pitchFamily="18" charset="0"/>
                <a:cs typeface="Times New Roman" panose="02020603050405020304" pitchFamily="18" charset="0"/>
              </a:rPr>
              <a:t>Packaging – (C-5.6)</a:t>
            </a:r>
          </a:p>
          <a:p>
            <a:pPr lvl="1"/>
            <a:r>
              <a:rPr lang="en-US" sz="2400" dirty="0">
                <a:effectLst/>
                <a:ea typeface="Times New Roman" panose="02020603050405020304" pitchFamily="18" charset="0"/>
                <a:cs typeface="Times New Roman" panose="02020603050405020304" pitchFamily="18" charset="0"/>
              </a:rPr>
              <a:t>The Contractor shall perform preservation, packaging, packing and marking material received, stored and issued to a minimum military packaging IAW applicable guidance. Contractor shall package to level A or B when exception data on the MRO or a disposition instruction from the item manager is received. PPP&amp;M will be performed IAW the referenced SOPs and Regulations within the PWS.</a:t>
            </a:r>
          </a:p>
          <a:p>
            <a:pPr lvl="1"/>
            <a:endParaRPr lang="en-US" sz="2400" dirty="0">
              <a:effectLst/>
              <a:ea typeface="Times New Roman" panose="02020603050405020304" pitchFamily="18" charset="0"/>
              <a:cs typeface="Times New Roman" panose="02020603050405020304" pitchFamily="18" charset="0"/>
            </a:endParaRPr>
          </a:p>
          <a:p>
            <a:pPr lvl="1"/>
            <a:r>
              <a:rPr lang="en-US" sz="2400" dirty="0">
                <a:effectLst/>
                <a:ea typeface="Times New Roman" panose="02020603050405020304" pitchFamily="18" charset="0"/>
                <a:cs typeface="Times New Roman" panose="02020603050405020304" pitchFamily="18" charset="0"/>
              </a:rPr>
              <a:t>Preservation, Packaging, Packing and Marking (PPP&amp;M) (C-5.6.1)</a:t>
            </a:r>
          </a:p>
          <a:p>
            <a:pPr lvl="1"/>
            <a:r>
              <a:rPr lang="en-US" sz="2400" dirty="0">
                <a:effectLst/>
                <a:ea typeface="Times New Roman" panose="02020603050405020304" pitchFamily="18" charset="0"/>
                <a:cs typeface="Times New Roman" panose="02020603050405020304" pitchFamily="18" charset="0"/>
              </a:rPr>
              <a:t>Container Reclamation (C-5.6.2)</a:t>
            </a:r>
          </a:p>
          <a:p>
            <a:pPr lvl="1"/>
            <a:r>
              <a:rPr lang="en-US" sz="2400" dirty="0">
                <a:effectLst/>
                <a:ea typeface="Times New Roman" panose="02020603050405020304" pitchFamily="18" charset="0"/>
                <a:cs typeface="Times New Roman" panose="02020603050405020304" pitchFamily="18" charset="0"/>
              </a:rPr>
              <a:t>Container Fabrication Support (C-5.6.3)</a:t>
            </a:r>
          </a:p>
          <a:p>
            <a:pPr lvl="1"/>
            <a:r>
              <a:rPr lang="en-US" sz="2400" dirty="0">
                <a:effectLst/>
                <a:ea typeface="Times New Roman" panose="02020603050405020304" pitchFamily="18" charset="0"/>
                <a:cs typeface="Times New Roman" panose="02020603050405020304" pitchFamily="18" charset="0"/>
              </a:rPr>
              <a:t>Specialized Container Fabrication Support (C-5.6.4)</a:t>
            </a:r>
          </a:p>
          <a:p>
            <a:pPr lvl="1"/>
            <a:r>
              <a:rPr lang="en-US" sz="2400" dirty="0">
                <a:effectLst/>
                <a:ea typeface="Times New Roman" panose="02020603050405020304" pitchFamily="18" charset="0"/>
                <a:cs typeface="Times New Roman" panose="02020603050405020304" pitchFamily="18" charset="0"/>
              </a:rPr>
              <a:t>Wood Packaging Material (WPM) (C-5.6.5)</a:t>
            </a:r>
          </a:p>
          <a:p>
            <a:pPr marL="800100" lvl="1" indent="-342900">
              <a:buFont typeface="Courier New" panose="02070309020205020404" pitchFamily="49" charset="0"/>
              <a:buChar char="o"/>
            </a:pPr>
            <a:endParaRPr lang="en-US" sz="2400" dirty="0"/>
          </a:p>
        </p:txBody>
      </p:sp>
    </p:spTree>
    <p:extLst>
      <p:ext uri="{BB962C8B-B14F-4D97-AF65-F5344CB8AC3E}">
        <p14:creationId xmlns:p14="http://schemas.microsoft.com/office/powerpoint/2010/main" val="1378890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6728F-34BE-767D-B200-E6F40120DC1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D6C2EC6-D1D4-B6E1-6F5B-D2F505CBE8A4}"/>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D457A35C-D0CA-1BE1-2A31-1D0937781063}"/>
              </a:ext>
            </a:extLst>
          </p:cNvPr>
          <p:cNvSpPr txBox="1">
            <a:spLocks/>
          </p:cNvSpPr>
          <p:nvPr/>
        </p:nvSpPr>
        <p:spPr>
          <a:xfrm>
            <a:off x="0" y="1367745"/>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3200" dirty="0">
                <a:ea typeface="Times New Roman" panose="02020603050405020304" pitchFamily="18" charset="0"/>
                <a:cs typeface="Times New Roman" panose="02020603050405020304" pitchFamily="18" charset="0"/>
              </a:rPr>
              <a:t>RESERVED</a:t>
            </a:r>
            <a:r>
              <a:rPr lang="en-US" sz="3200" dirty="0">
                <a:effectLst/>
                <a:ea typeface="Times New Roman" panose="02020603050405020304" pitchFamily="18" charset="0"/>
                <a:cs typeface="Times New Roman" panose="02020603050405020304" pitchFamily="18" charset="0"/>
              </a:rPr>
              <a:t> – (C-5.7)</a:t>
            </a:r>
          </a:p>
          <a:p>
            <a:pPr marL="285750" indent="-285750">
              <a:buFont typeface="Arial" panose="020B0604020202020204" pitchFamily="34" charset="0"/>
              <a:buChar char="•"/>
            </a:pPr>
            <a:r>
              <a:rPr lang="en-US" sz="3200" dirty="0">
                <a:ea typeface="Times New Roman" panose="02020603050405020304" pitchFamily="18" charset="0"/>
                <a:cs typeface="Times New Roman" panose="02020603050405020304" pitchFamily="18" charset="0"/>
              </a:rPr>
              <a:t>Ocean Terminal Operations – (C-5.8)</a:t>
            </a:r>
          </a:p>
          <a:p>
            <a:pPr marL="285750" indent="-285750">
              <a:buFont typeface="Arial" panose="020B0604020202020204" pitchFamily="34" charset="0"/>
              <a:buChar char="•"/>
            </a:pPr>
            <a:r>
              <a:rPr lang="en-US" sz="3200" dirty="0">
                <a:effectLst/>
                <a:ea typeface="Times New Roman" panose="02020603050405020304" pitchFamily="18" charset="0"/>
                <a:cs typeface="Times New Roman" panose="02020603050405020304" pitchFamily="18" charset="0"/>
              </a:rPr>
              <a:t>Consolidation and Containerization Point – (C-5.9)</a:t>
            </a:r>
          </a:p>
          <a:p>
            <a:pPr marL="285750" indent="-285750">
              <a:buFont typeface="Arial" panose="020B0604020202020204" pitchFamily="34" charset="0"/>
              <a:buChar char="•"/>
            </a:pPr>
            <a:r>
              <a:rPr lang="en-US" sz="3200" dirty="0">
                <a:ea typeface="Times New Roman" panose="02020603050405020304" pitchFamily="18" charset="0"/>
                <a:cs typeface="Times New Roman" panose="02020603050405020304" pitchFamily="18" charset="0"/>
              </a:rPr>
              <a:t>Material Processing Center (C-5.10)</a:t>
            </a:r>
          </a:p>
          <a:p>
            <a:pPr marL="285750" indent="-285750">
              <a:buFont typeface="Arial" panose="020B0604020202020204" pitchFamily="34" charset="0"/>
              <a:buChar char="•"/>
            </a:pPr>
            <a:r>
              <a:rPr lang="en-US" sz="3200" dirty="0">
                <a:effectLst/>
                <a:ea typeface="Times New Roman" panose="02020603050405020304" pitchFamily="18" charset="0"/>
                <a:cs typeface="Times New Roman" panose="02020603050405020304" pitchFamily="18" charset="0"/>
              </a:rPr>
              <a:t>Kitting – (C-5.11)</a:t>
            </a:r>
          </a:p>
          <a:p>
            <a:pPr marL="285750" indent="-285750">
              <a:buFont typeface="Arial" panose="020B0604020202020204" pitchFamily="34" charset="0"/>
              <a:buChar char="•"/>
            </a:pPr>
            <a:r>
              <a:rPr lang="en-US" sz="3200" dirty="0">
                <a:effectLst/>
                <a:ea typeface="Times New Roman" panose="02020603050405020304" pitchFamily="18" charset="0"/>
                <a:cs typeface="Times New Roman" panose="02020603050405020304" pitchFamily="18" charset="0"/>
              </a:rPr>
              <a:t>Material Consolidation (C-5.12)</a:t>
            </a:r>
          </a:p>
          <a:p>
            <a:pPr marL="285750" indent="-285750">
              <a:buFont typeface="Arial" panose="020B0604020202020204" pitchFamily="34" charset="0"/>
              <a:buChar char="•"/>
            </a:pPr>
            <a:r>
              <a:rPr lang="en-US" sz="3200" dirty="0">
                <a:ea typeface="Times New Roman" panose="02020603050405020304" pitchFamily="18" charset="0"/>
                <a:cs typeface="Times New Roman" panose="02020603050405020304" pitchFamily="18" charset="0"/>
              </a:rPr>
              <a:t>Conferences (C-5.13)</a:t>
            </a:r>
          </a:p>
          <a:p>
            <a:pPr marL="285750" indent="-285750">
              <a:buFont typeface="Arial" panose="020B0604020202020204" pitchFamily="34" charset="0"/>
              <a:buChar char="•"/>
            </a:pPr>
            <a:r>
              <a:rPr lang="en-US" sz="3200" dirty="0">
                <a:effectLst/>
                <a:ea typeface="Times New Roman" panose="02020603050405020304" pitchFamily="18" charset="0"/>
                <a:cs typeface="Times New Roman" panose="02020603050405020304" pitchFamily="18" charset="0"/>
              </a:rPr>
              <a:t>Meetings and Associated Deliverables (C-5.14)</a:t>
            </a:r>
          </a:p>
          <a:p>
            <a:pPr marL="285750" indent="-285750">
              <a:buFont typeface="Arial" panose="020B0604020202020204" pitchFamily="34" charset="0"/>
              <a:buChar char="•"/>
            </a:pPr>
            <a:endParaRPr lang="en-US" sz="3200"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89202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BFEE9-D4E2-C746-1963-A98D075BA30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5D9487-247D-C5B2-EEA4-65356E44EBF7}"/>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52B2B041-C1B2-3EFD-4132-626244ADE2CA}"/>
              </a:ext>
            </a:extLst>
          </p:cNvPr>
          <p:cNvSpPr txBox="1">
            <a:spLocks/>
          </p:cNvSpPr>
          <p:nvPr/>
        </p:nvSpPr>
        <p:spPr>
          <a:xfrm>
            <a:off x="0" y="1367745"/>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700" dirty="0">
                <a:effectLst/>
                <a:ea typeface="Times New Roman" panose="02020603050405020304" pitchFamily="18" charset="0"/>
                <a:cs typeface="Times New Roman" panose="02020603050405020304" pitchFamily="18" charset="0"/>
              </a:rPr>
              <a:t>Receiving Surplus and Excess Property – (C-5.15)</a:t>
            </a:r>
          </a:p>
          <a:p>
            <a:pPr lvl="1"/>
            <a:r>
              <a:rPr lang="en-US" sz="1700" dirty="0">
                <a:ea typeface="Times New Roman" panose="02020603050405020304" pitchFamily="18" charset="0"/>
                <a:cs typeface="Times New Roman" panose="02020603050405020304" pitchFamily="18" charset="0"/>
              </a:rPr>
              <a:t>T</a:t>
            </a:r>
            <a:r>
              <a:rPr lang="en-US" sz="1700" dirty="0">
                <a:effectLst/>
                <a:ea typeface="Times New Roman" panose="02020603050405020304" pitchFamily="18" charset="0"/>
                <a:cs typeface="Times New Roman" panose="02020603050405020304" pitchFamily="18" charset="0"/>
              </a:rPr>
              <a:t>he contractor shall perform tasks related to the execution of three interdependent and sequential processes to receive surplus and excess property correctly, safely.</a:t>
            </a:r>
          </a:p>
          <a:p>
            <a:pPr lvl="2"/>
            <a:r>
              <a:rPr lang="en-US" sz="1700" dirty="0">
                <a:effectLst/>
                <a:ea typeface="Times New Roman" panose="02020603050405020304" pitchFamily="18" charset="0"/>
                <a:cs typeface="Times New Roman" panose="02020603050405020304" pitchFamily="18" charset="0"/>
              </a:rPr>
              <a:t>Accepting Property Turn-Ins.   The Contractor shall verify all arriving property turn-ins have required documentation, and ensure it matches the property being turned in for disposition.  The Contractor shall notify the customer of any discrepancies, and the customer will correct discrepancies before the turn-in can be accepted.  If the turn-in arrives on commercial transport, a Transportation Discrepancy Report (TDR) is created for any discrepancies before accepting the turn-in IAW DLA SOP 4500.01-002-WMS, Transportation Discrepancy Report.  At this point, turn-ins are known as unprocessed receipts, which are staged in the unprocessed receipt area in a sequential manner (first-in, first-out).  Unprocessed receipts are moved to the property receiving area as soon as there is capacity to process unprocessed receipts.  </a:t>
            </a:r>
          </a:p>
          <a:p>
            <a:pPr lvl="2"/>
            <a:r>
              <a:rPr lang="en-US" sz="1700" dirty="0">
                <a:effectLst/>
                <a:ea typeface="Times New Roman" panose="02020603050405020304" pitchFamily="18" charset="0"/>
                <a:cs typeface="Times New Roman" panose="02020603050405020304" pitchFamily="18" charset="0"/>
              </a:rPr>
              <a:t>Processing Property Turn-Ins.  The Contractor shall verify the Kind, Condition, and Count (KCC) for all items listed on the Disposal Turn-in Document (DTID) and resolve any discrepancy found IAW DLA SOP 4160.01-033, Receipt of Property.</a:t>
            </a:r>
          </a:p>
          <a:p>
            <a:pPr lvl="2"/>
            <a:r>
              <a:rPr lang="en-US" sz="1700" dirty="0">
                <a:effectLst/>
                <a:ea typeface="Times New Roman" panose="02020603050405020304" pitchFamily="18" charset="0"/>
                <a:cs typeface="Times New Roman" panose="02020603050405020304" pitchFamily="18" charset="0"/>
              </a:rPr>
              <a:t>The Contractor shall record processed property in WMS.  Processed property will generally be segregated into four categories: usable property, scrap, hazardous property, and DEMIL property.  </a:t>
            </a:r>
          </a:p>
          <a:p>
            <a:pPr lvl="2"/>
            <a:r>
              <a:rPr lang="en-US" sz="1700" dirty="0">
                <a:effectLst/>
                <a:ea typeface="Times New Roman" panose="02020603050405020304" pitchFamily="18" charset="0"/>
                <a:cs typeface="Times New Roman" panose="02020603050405020304" pitchFamily="18" charset="0"/>
              </a:rPr>
              <a:t>Stowing Processed Property.  After property is processed, it is moved from the property receiving area to a designated “put away” location in a storage area.  Storage areas consist of permanent structures, (warehouse building), temporary structures (soft wall shelter or container), and outdoor yards.</a:t>
            </a:r>
          </a:p>
          <a:p>
            <a:pPr marL="800100" lvl="1" indent="-342900">
              <a:buFont typeface="Courier New" panose="02070309020205020404" pitchFamily="49" charset="0"/>
              <a:buChar char="o"/>
            </a:pPr>
            <a:endParaRPr lang="en-US" sz="1700" dirty="0"/>
          </a:p>
        </p:txBody>
      </p:sp>
    </p:spTree>
    <p:extLst>
      <p:ext uri="{BB962C8B-B14F-4D97-AF65-F5344CB8AC3E}">
        <p14:creationId xmlns:p14="http://schemas.microsoft.com/office/powerpoint/2010/main" val="4163387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6FB5C-B83B-4F56-2E95-E07EA1CA449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07490B0-7CB2-AE9C-45A2-A3A529C4D275}"/>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A6AF7CE9-1198-54F0-A69F-8B7D03637D0D}"/>
              </a:ext>
            </a:extLst>
          </p:cNvPr>
          <p:cNvSpPr txBox="1">
            <a:spLocks/>
          </p:cNvSpPr>
          <p:nvPr/>
        </p:nvSpPr>
        <p:spPr>
          <a:xfrm>
            <a:off x="0" y="1464001"/>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600" dirty="0">
                <a:effectLst/>
                <a:ea typeface="Times New Roman" panose="02020603050405020304" pitchFamily="18" charset="0"/>
                <a:cs typeface="Times New Roman" panose="02020603050405020304" pitchFamily="18" charset="0"/>
              </a:rPr>
              <a:t>Manage Surplus and Excess Property Inventory – (C-5.16)</a:t>
            </a:r>
          </a:p>
          <a:p>
            <a:pPr lvl="1"/>
            <a:r>
              <a:rPr lang="en-US" dirty="0">
                <a:ea typeface="Times New Roman" panose="02020603050405020304" pitchFamily="18" charset="0"/>
                <a:cs typeface="Times New Roman" panose="02020603050405020304" pitchFamily="18" charset="0"/>
              </a:rPr>
              <a:t>The contractor shall perform tasks related to three independent and concurrent processes to manage and account for property from when it is stowed in a warehouse location until it is pulled from inventory.   </a:t>
            </a:r>
          </a:p>
          <a:p>
            <a:pPr lvl="2"/>
            <a:r>
              <a:rPr lang="en-US" dirty="0">
                <a:ea typeface="Times New Roman" panose="02020603050405020304" pitchFamily="18" charset="0"/>
                <a:cs typeface="Times New Roman" panose="02020603050405020304" pitchFamily="18" charset="0"/>
              </a:rPr>
              <a:t>Rewarehousing. This process involves tasks related to the changes affecting storage areas and locations, and relocation property within the storage areas.     </a:t>
            </a:r>
          </a:p>
          <a:p>
            <a:pPr lvl="2"/>
            <a:r>
              <a:rPr lang="en-US" dirty="0">
                <a:ea typeface="Times New Roman" panose="02020603050405020304" pitchFamily="18" charset="0"/>
                <a:cs typeface="Times New Roman" panose="02020603050405020304" pitchFamily="18" charset="0"/>
              </a:rPr>
              <a:t>Inventorying.  This is process ensures 100% accountability of surplus property, scrap materials, and hazardous waste physically on site and on record in WMS.  The accountable officer will be a government employee.  Personnel will assist in conducting six types of inventories. </a:t>
            </a:r>
          </a:p>
          <a:p>
            <a:pPr lvl="2"/>
            <a:r>
              <a:rPr lang="en-US" dirty="0">
                <a:ea typeface="Times New Roman" panose="02020603050405020304" pitchFamily="18" charset="0"/>
                <a:cs typeface="Times New Roman" panose="02020603050405020304" pitchFamily="18" charset="0"/>
              </a:rPr>
              <a:t>Picking (aka Pulling) Property.  There are several similar processes to pull property from inventory.  The processes fall within four categories: Materiel Release Orders (MROs); Delivery Orders (DOs), Transfer Orders (TOs), and Workload List (WLL) / Pull List.  The property being pulled must match the order or pull list, and then be placed in the respective designated pick-up, shipping, or work location. </a:t>
            </a:r>
          </a:p>
          <a:p>
            <a:pPr marL="800100" lvl="1" indent="-342900">
              <a:buFont typeface="Courier New" panose="02070309020205020404" pitchFamily="49" charset="0"/>
              <a:buChar char="o"/>
            </a:pPr>
            <a:endParaRPr lang="en-US" sz="2400" dirty="0"/>
          </a:p>
        </p:txBody>
      </p:sp>
    </p:spTree>
    <p:extLst>
      <p:ext uri="{BB962C8B-B14F-4D97-AF65-F5344CB8AC3E}">
        <p14:creationId xmlns:p14="http://schemas.microsoft.com/office/powerpoint/2010/main" val="7668817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E3FBD-8843-D006-E510-3F487A28E7F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4711C4A-9ABB-6CD7-658F-9A60CDDBBA62}"/>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D23D7B2C-319B-B10E-3D30-AE047CCCFB78}"/>
              </a:ext>
            </a:extLst>
          </p:cNvPr>
          <p:cNvSpPr txBox="1">
            <a:spLocks/>
          </p:cNvSpPr>
          <p:nvPr/>
        </p:nvSpPr>
        <p:spPr>
          <a:xfrm>
            <a:off x="0" y="1464001"/>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600" dirty="0">
                <a:effectLst/>
                <a:ea typeface="Times New Roman" panose="02020603050405020304" pitchFamily="18" charset="0"/>
                <a:cs typeface="Times New Roman" panose="02020603050405020304" pitchFamily="18" charset="0"/>
              </a:rPr>
              <a:t>Issue Surplus and Excess Property Inventory – (C-5.17)</a:t>
            </a:r>
          </a:p>
          <a:p>
            <a:pPr lvl="1"/>
            <a:r>
              <a:rPr lang="en-US" dirty="0">
                <a:ea typeface="Times New Roman" panose="02020603050405020304" pitchFamily="18" charset="0"/>
                <a:cs typeface="Times New Roman" panose="02020603050405020304" pitchFamily="18" charset="0"/>
              </a:rPr>
              <a:t>The contractor shall perform tasks related to two independent and concurrent processes to issue property, which starts upon pulling property from inventory to fill orders (MROs, DOs, and TOs) and until the customer pickups orders or consignees receive shipments with orders.   Tasks include sorting, preparing, staging, and shipping of property, along with documenting the completion of orders.  </a:t>
            </a:r>
          </a:p>
          <a:p>
            <a:pPr lvl="2"/>
            <a:r>
              <a:rPr lang="en-US" dirty="0">
                <a:ea typeface="Times New Roman" panose="02020603050405020304" pitchFamily="18" charset="0"/>
                <a:cs typeface="Times New Roman" panose="02020603050405020304" pitchFamily="18" charset="0"/>
              </a:rPr>
              <a:t>Customer Pick-Ups.  The Contractor shall stage pulled property items for pickup in a designated area by customer’s unique identifier (e.g., DODAAC) and respective orders (e.g. MRO).    Pickup procedures will be followed to ensure customer’s personnel are authorized to pick up orders and remaining steps to complete orders is done correctly IAW below SOPs.    </a:t>
            </a:r>
          </a:p>
          <a:p>
            <a:pPr lvl="2"/>
            <a:r>
              <a:rPr lang="en-US" dirty="0">
                <a:ea typeface="Times New Roman" panose="02020603050405020304" pitchFamily="18" charset="0"/>
                <a:cs typeface="Times New Roman" panose="02020603050405020304" pitchFamily="18" charset="0"/>
              </a:rPr>
              <a:t>Shipments. The Contractor shall stage pulled property items to be shipped in a designated area by the respective customer and order(s).  Orders to be shipped will include MROs, Dos, and Tos.  Tasks associated to prepare shipments may include packing, banding, crating, or boxing items.  Shipment procedures will be followed to create and submit a Transportation Movement Request (TMR); load transportation conveyance; and complete shipment documentation and postings IAW the DLA Disposition SOPs. </a:t>
            </a:r>
          </a:p>
          <a:p>
            <a:pPr marL="800100" lvl="1" indent="-342900">
              <a:buFont typeface="Courier New" panose="02070309020205020404" pitchFamily="49" charset="0"/>
              <a:buChar char="o"/>
            </a:pPr>
            <a:endParaRPr lang="en-US" sz="2400" dirty="0"/>
          </a:p>
        </p:txBody>
      </p:sp>
    </p:spTree>
    <p:extLst>
      <p:ext uri="{BB962C8B-B14F-4D97-AF65-F5344CB8AC3E}">
        <p14:creationId xmlns:p14="http://schemas.microsoft.com/office/powerpoint/2010/main" val="38669791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36C87-826F-E784-56B3-2556EAA67DD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0BDC5A-BF91-313A-B602-810C3B46C6D1}"/>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5EF4345D-F046-2BDF-57A2-D9EFAA380CD7}"/>
              </a:ext>
            </a:extLst>
          </p:cNvPr>
          <p:cNvSpPr txBox="1">
            <a:spLocks/>
          </p:cNvSpPr>
          <p:nvPr/>
        </p:nvSpPr>
        <p:spPr>
          <a:xfrm>
            <a:off x="0" y="1464001"/>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600" dirty="0">
                <a:effectLst/>
                <a:ea typeface="Times New Roman" panose="02020603050405020304" pitchFamily="18" charset="0"/>
                <a:cs typeface="Times New Roman" panose="02020603050405020304" pitchFamily="18" charset="0"/>
              </a:rPr>
              <a:t>Disposal of Surplus and Excess Property – (C-5.18)</a:t>
            </a:r>
          </a:p>
          <a:p>
            <a:pPr lvl="1"/>
            <a:r>
              <a:rPr lang="en-US" dirty="0">
                <a:ea typeface="Times New Roman" panose="02020603050405020304" pitchFamily="18" charset="0"/>
                <a:cs typeface="Times New Roman" panose="02020603050405020304" pitchFamily="18" charset="0"/>
              </a:rPr>
              <a:t>The contractor shall perform tasks related to the disposal of surplus and excess property that has no further use or value to the USG by either abandonment or destruction (A/D) of property.  Destruction is done through demilitarization and mutilation processes, which destroy the item’s original identity, utility, form, fit, and function.  The destruction of property generates recyclable scrap materials and refuse.  The best destruction method for the respective property is to be used in order to generate the largest volume of recyclable materials for the precious metals’ recovery program or public sales, while minimizing the amount of refuse requiring landfill disposal.    </a:t>
            </a:r>
          </a:p>
          <a:p>
            <a:pPr lvl="1"/>
            <a:r>
              <a:rPr lang="en-US" dirty="0">
                <a:ea typeface="Times New Roman" panose="02020603050405020304" pitchFamily="18" charset="0"/>
                <a:cs typeface="Times New Roman" panose="02020603050405020304" pitchFamily="18" charset="0"/>
              </a:rPr>
              <a:t>Destruction Methods:    </a:t>
            </a:r>
          </a:p>
          <a:p>
            <a:pPr lvl="2"/>
            <a:r>
              <a:rPr lang="en-US" dirty="0">
                <a:ea typeface="Times New Roman" panose="02020603050405020304" pitchFamily="18" charset="0"/>
                <a:cs typeface="Times New Roman" panose="02020603050405020304" pitchFamily="18" charset="0"/>
              </a:rPr>
              <a:t>Demilitarization (DEMIL)</a:t>
            </a:r>
          </a:p>
          <a:p>
            <a:pPr lvl="2"/>
            <a:r>
              <a:rPr lang="en-US" dirty="0">
                <a:ea typeface="Times New Roman" panose="02020603050405020304" pitchFamily="18" charset="0"/>
                <a:cs typeface="Times New Roman" panose="02020603050405020304" pitchFamily="18" charset="0"/>
              </a:rPr>
              <a:t>Mutilation (MUT). </a:t>
            </a:r>
          </a:p>
          <a:p>
            <a:pPr lvl="2"/>
            <a:r>
              <a:rPr lang="en-US" dirty="0">
                <a:ea typeface="Times New Roman" panose="02020603050405020304" pitchFamily="18" charset="0"/>
                <a:cs typeface="Times New Roman" panose="02020603050405020304" pitchFamily="18" charset="0"/>
              </a:rPr>
              <a:t>Abandonment. </a:t>
            </a:r>
          </a:p>
          <a:p>
            <a:pPr lvl="2"/>
            <a:r>
              <a:rPr lang="en-US" dirty="0">
                <a:ea typeface="Times New Roman" panose="02020603050405020304" pitchFamily="18" charset="0"/>
                <a:cs typeface="Times New Roman" panose="02020603050405020304" pitchFamily="18" charset="0"/>
              </a:rPr>
              <a:t>Handling Scrap</a:t>
            </a:r>
          </a:p>
          <a:p>
            <a:pPr lvl="2"/>
            <a:r>
              <a:rPr lang="en-US" dirty="0">
                <a:ea typeface="Times New Roman" panose="02020603050405020304" pitchFamily="18" charset="0"/>
                <a:cs typeface="Times New Roman" panose="02020603050405020304" pitchFamily="18" charset="0"/>
              </a:rPr>
              <a:t>Issuing Scrap.  </a:t>
            </a:r>
            <a:endParaRPr lang="en-US" sz="2400" dirty="0"/>
          </a:p>
        </p:txBody>
      </p:sp>
    </p:spTree>
    <p:extLst>
      <p:ext uri="{BB962C8B-B14F-4D97-AF65-F5344CB8AC3E}">
        <p14:creationId xmlns:p14="http://schemas.microsoft.com/office/powerpoint/2010/main" val="8598964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84101-F69D-D413-3892-3E6EED24299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DB238F-8BBB-62D3-3124-A3B5F2296B87}"/>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D0029CCF-97FA-B549-87F3-D3BCFD997C91}"/>
              </a:ext>
            </a:extLst>
          </p:cNvPr>
          <p:cNvSpPr txBox="1">
            <a:spLocks/>
          </p:cNvSpPr>
          <p:nvPr/>
        </p:nvSpPr>
        <p:spPr>
          <a:xfrm>
            <a:off x="0" y="1464001"/>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800" dirty="0">
                <a:effectLst/>
                <a:ea typeface="Times New Roman" panose="02020603050405020304" pitchFamily="18" charset="0"/>
                <a:cs typeface="Times New Roman" panose="02020603050405020304" pitchFamily="18" charset="0"/>
              </a:rPr>
              <a:t>Disposal of </a:t>
            </a:r>
            <a:r>
              <a:rPr lang="en-US" sz="2800" dirty="0">
                <a:ea typeface="Times New Roman" panose="02020603050405020304" pitchFamily="18" charset="0"/>
                <a:cs typeface="Times New Roman" panose="02020603050405020304" pitchFamily="18" charset="0"/>
              </a:rPr>
              <a:t>Hazardous Waste </a:t>
            </a:r>
            <a:r>
              <a:rPr lang="en-US" sz="2800" dirty="0">
                <a:effectLst/>
                <a:ea typeface="Times New Roman" panose="02020603050405020304" pitchFamily="18" charset="0"/>
                <a:cs typeface="Times New Roman" panose="02020603050405020304" pitchFamily="18" charset="0"/>
              </a:rPr>
              <a:t>– (C-5.19)</a:t>
            </a:r>
          </a:p>
          <a:p>
            <a:pPr lvl="1"/>
            <a:endParaRPr lang="en-US" sz="2400" dirty="0">
              <a:ea typeface="Times New Roman" panose="02020603050405020304" pitchFamily="18" charset="0"/>
              <a:cs typeface="Times New Roman" panose="02020603050405020304" pitchFamily="18" charset="0"/>
            </a:endParaRPr>
          </a:p>
          <a:p>
            <a:pPr lvl="1"/>
            <a:r>
              <a:rPr lang="en-US" sz="2400" dirty="0">
                <a:ea typeface="Times New Roman" panose="02020603050405020304" pitchFamily="18" charset="0"/>
                <a:cs typeface="Times New Roman" panose="02020603050405020304" pitchFamily="18" charset="0"/>
              </a:rPr>
              <a:t>The contractor shall perform tasks related to the disposal of hazardous waste (HW), when the DS activity or field site generates HW from operations on-site (e.g., maintenance/ repair of equipment; property not properly purged) or establishes a HW collection point to consolidate HW from customers within the same EL or CL.  The Contractor may be tasked to remove HW from customer’s collection points and transport to a commercial Treatment, Storage, and Disposal Facility (TSDF) or DS controlled collection point for consolidation and export.    </a:t>
            </a:r>
          </a:p>
        </p:txBody>
      </p:sp>
    </p:spTree>
    <p:extLst>
      <p:ext uri="{BB962C8B-B14F-4D97-AF65-F5344CB8AC3E}">
        <p14:creationId xmlns:p14="http://schemas.microsoft.com/office/powerpoint/2010/main" val="20933776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5EB2-E64C-535F-4FCA-A16F9FA636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D9F9D1-A592-05A5-4D71-8D322586F81D}"/>
              </a:ext>
            </a:extLst>
          </p:cNvPr>
          <p:cNvSpPr>
            <a:spLocks noGrp="1" noRot="1" noMove="1" noResize="1" noEditPoints="1" noAdjustHandles="1" noChangeArrowheads="1" noChangeShapeType="1"/>
          </p:cNvSpPr>
          <p:nvPr>
            <p:ph type="title"/>
          </p:nvPr>
        </p:nvSpPr>
        <p:spPr/>
        <p:txBody>
          <a:bodyPr/>
          <a:lstStyle/>
          <a:p>
            <a:r>
              <a:rPr lang="en-US" dirty="0"/>
              <a:t>Performance Work Statement Review</a:t>
            </a:r>
            <a:br>
              <a:rPr lang="en-US" dirty="0"/>
            </a:br>
            <a:r>
              <a:rPr lang="en-US" sz="1200" dirty="0"/>
              <a:t>Section C</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3FECFA53-986B-A2A7-27C9-5EAF7BF82920}"/>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a:lnSpc>
                <a:spcPct val="90000"/>
              </a:lnSpc>
              <a:buFont typeface="Arial" panose="020B0604020202020204" pitchFamily="34" charset="0"/>
              <a:buChar char="•"/>
              <a:defRPr/>
            </a:pPr>
            <a:r>
              <a:rPr lang="en-US" sz="2400" b="1" dirty="0">
                <a:solidFill>
                  <a:prstClr val="black"/>
                </a:solidFill>
                <a:latin typeface="Arial" charset="0"/>
                <a:cs typeface="Arial" charset="0"/>
              </a:rPr>
              <a:t>Technical Exhibits and J Attachments</a:t>
            </a:r>
          </a:p>
          <a:p>
            <a:pPr marL="742950" lvl="2" indent="-342900" defTabSz="914400">
              <a:lnSpc>
                <a:spcPct val="90000"/>
              </a:lnSpc>
              <a:buFont typeface="Courier New" panose="02070309020205020404" pitchFamily="49" charset="0"/>
              <a:buChar char="o"/>
              <a:defRPr/>
            </a:pPr>
            <a:r>
              <a:rPr lang="en-US" sz="2100" dirty="0">
                <a:latin typeface="Arial" charset="0"/>
                <a:cs typeface="Arial" charset="0"/>
              </a:rPr>
              <a:t>Provides pertinent information required to be addressed in the proposal.</a:t>
            </a:r>
          </a:p>
          <a:p>
            <a:pPr marL="800100" lvl="1" indent="-342900" defTabSz="914400">
              <a:lnSpc>
                <a:spcPct val="90000"/>
              </a:lnSpc>
              <a:buFont typeface="Courier New" panose="02070309020205020404" pitchFamily="49" charset="0"/>
              <a:buChar char="o"/>
              <a:defRPr/>
            </a:pPr>
            <a:r>
              <a:rPr lang="en-US" sz="2100" dirty="0">
                <a:solidFill>
                  <a:prstClr val="black"/>
                </a:solidFill>
                <a:latin typeface="Arial" charset="0"/>
                <a:cs typeface="Arial" charset="0"/>
              </a:rPr>
              <a:t>All Technical Exhibits and J Attachments are important and need to be read and addressed in proposals.</a:t>
            </a:r>
          </a:p>
          <a:p>
            <a:pPr marL="742950" lvl="2" indent="-342900" defTabSz="914400">
              <a:lnSpc>
                <a:spcPct val="90000"/>
              </a:lnSpc>
              <a:buFont typeface="Courier New" panose="02070309020205020404" pitchFamily="49" charset="0"/>
              <a:buChar char="o"/>
              <a:defRPr/>
            </a:pPr>
            <a:r>
              <a:rPr lang="en-US" sz="2100" dirty="0">
                <a:latin typeface="Arial" charset="0"/>
                <a:cs typeface="Arial" charset="0"/>
              </a:rPr>
              <a:t>Posted on </a:t>
            </a:r>
            <a:r>
              <a:rPr lang="en-US" sz="2100" dirty="0" err="1">
                <a:latin typeface="Arial" charset="0"/>
                <a:cs typeface="Arial" charset="0"/>
              </a:rPr>
              <a:t>SAM.Gov</a:t>
            </a:r>
            <a:endParaRPr lang="en-US" sz="2100" dirty="0">
              <a:latin typeface="Arial" charset="0"/>
              <a:cs typeface="Arial" charset="0"/>
            </a:endParaRPr>
          </a:p>
          <a:p>
            <a:pPr marL="342900" indent="-342900" defTabSz="914400">
              <a:lnSpc>
                <a:spcPct val="90000"/>
              </a:lnSpc>
              <a:buFont typeface="Arial" panose="020B0604020202020204" pitchFamily="34" charset="0"/>
              <a:buChar char="•"/>
              <a:defRPr/>
            </a:pPr>
            <a:r>
              <a:rPr lang="en-US" sz="2400" b="1" dirty="0">
                <a:latin typeface="Arial" charset="0"/>
                <a:cs typeface="Arial" charset="0"/>
              </a:rPr>
              <a:t>Contract Data Requirements List (CDRL)</a:t>
            </a:r>
          </a:p>
          <a:p>
            <a:pPr marL="800100" lvl="1" indent="-342900" defTabSz="914400">
              <a:lnSpc>
                <a:spcPct val="90000"/>
              </a:lnSpc>
              <a:buFont typeface="Arial" panose="020B0604020202020204" pitchFamily="34" charset="0"/>
              <a:buChar char="•"/>
              <a:defRPr/>
            </a:pPr>
            <a:r>
              <a:rPr lang="en-US" sz="2100" dirty="0">
                <a:latin typeface="Arial" charset="0"/>
                <a:cs typeface="Arial" charset="0"/>
              </a:rPr>
              <a:t>For reports, programs, plans, procedures, cost reports, Standard Operating Procedures (SOP)</a:t>
            </a:r>
          </a:p>
          <a:p>
            <a:pPr marL="800100" lvl="1" indent="-342900">
              <a:buFont typeface="Arial" panose="020B0604020202020204" pitchFamily="34" charset="0"/>
              <a:buChar char="•"/>
              <a:defRPr/>
            </a:pPr>
            <a:r>
              <a:rPr lang="en-US" sz="2100" dirty="0">
                <a:latin typeface="Arial" charset="0"/>
                <a:cs typeface="Arial" charset="0"/>
              </a:rPr>
              <a:t>Posted on </a:t>
            </a:r>
            <a:r>
              <a:rPr lang="en-US" sz="2100" dirty="0" err="1">
                <a:latin typeface="Arial" charset="0"/>
                <a:cs typeface="Arial" charset="0"/>
              </a:rPr>
              <a:t>SAM.Gov</a:t>
            </a:r>
            <a:endParaRPr lang="en-US" sz="2100" dirty="0">
              <a:latin typeface="Arial" charset="0"/>
              <a:cs typeface="Arial" charset="0"/>
            </a:endParaRPr>
          </a:p>
          <a:p>
            <a:pPr marL="801688" lvl="1" indent="-338138">
              <a:buFont typeface="Courier New" panose="02070309020205020404" pitchFamily="49" charset="0"/>
              <a:buChar char="o"/>
            </a:pPr>
            <a:endParaRPr lang="en-US" sz="1600" dirty="0">
              <a:effectLst/>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007090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216D-2ADE-A0DC-D6DE-A8D4236EA80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4095F0F-0562-AF12-151D-F9AC83981264}"/>
              </a:ext>
            </a:extLst>
          </p:cNvPr>
          <p:cNvSpPr>
            <a:spLocks noGrp="1" noRot="1" noMove="1" noResize="1" noEditPoints="1" noAdjustHandles="1" noChangeArrowheads="1" noChangeShapeType="1"/>
          </p:cNvSpPr>
          <p:nvPr>
            <p:ph type="title"/>
          </p:nvPr>
        </p:nvSpPr>
        <p:spPr/>
        <p:txBody>
          <a:bodyPr/>
          <a:lstStyle/>
          <a:p>
            <a:r>
              <a:rPr lang="en-US" dirty="0"/>
              <a:t>Inspection and Acceptance</a:t>
            </a:r>
            <a:br>
              <a:rPr lang="en-US" dirty="0"/>
            </a:br>
            <a:r>
              <a:rPr lang="en-US" sz="1200" dirty="0"/>
              <a:t>Section E</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B713FDBC-EEA7-38E2-9E1B-4CABDE18CF35}"/>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Font typeface="Arial" charset="0"/>
              <a:buChar char="•"/>
              <a:defRPr/>
            </a:pPr>
            <a:r>
              <a:rPr lang="en-US" altLang="en-US" sz="2800" b="1" dirty="0">
                <a:solidFill>
                  <a:prstClr val="black"/>
                </a:solidFill>
                <a:latin typeface="Arial" pitchFamily="34" charset="0"/>
                <a:cs typeface="Arial" pitchFamily="34" charset="0"/>
              </a:rPr>
              <a:t>Key Points</a:t>
            </a:r>
          </a:p>
          <a:p>
            <a:pPr marL="800100" lvl="1" indent="-342900" defTabSz="914400" fontAlgn="base">
              <a:lnSpc>
                <a:spcPct val="100000"/>
              </a:lnSpc>
              <a:spcBef>
                <a:spcPct val="20000"/>
              </a:spcBef>
              <a:spcAft>
                <a:spcPct val="0"/>
              </a:spcAft>
              <a:defRPr/>
            </a:pPr>
            <a:r>
              <a:rPr lang="en-US" altLang="en-US" sz="2000" dirty="0">
                <a:solidFill>
                  <a:prstClr val="black"/>
                </a:solidFill>
                <a:latin typeface="Arial" pitchFamily="34" charset="0"/>
                <a:cs typeface="Arial" pitchFamily="34" charset="0"/>
              </a:rPr>
              <a:t>FAR and DFARS clauses for Inspection of Services</a:t>
            </a:r>
          </a:p>
          <a:p>
            <a:pPr marL="800100" lvl="1" indent="-342900" defTabSz="914400" fontAlgn="base">
              <a:lnSpc>
                <a:spcPct val="100000"/>
              </a:lnSpc>
              <a:spcBef>
                <a:spcPct val="20000"/>
              </a:spcBef>
              <a:spcAft>
                <a:spcPct val="0"/>
              </a:spcAft>
              <a:defRPr/>
            </a:pPr>
            <a:r>
              <a:rPr lang="en-US" altLang="en-US" sz="2000" dirty="0">
                <a:solidFill>
                  <a:prstClr val="black"/>
                </a:solidFill>
                <a:latin typeface="Arial" pitchFamily="34" charset="0"/>
                <a:cs typeface="Arial" pitchFamily="34" charset="0"/>
              </a:rPr>
              <a:t>E-6 Quality/Performance Evaluation</a:t>
            </a:r>
          </a:p>
          <a:p>
            <a:pPr marL="1257300" lvl="2" indent="-342900" defTabSz="914400" fontAlgn="base">
              <a:lnSpc>
                <a:spcPct val="100000"/>
              </a:lnSpc>
              <a:spcBef>
                <a:spcPct val="20000"/>
              </a:spcBef>
              <a:spcAft>
                <a:spcPct val="0"/>
              </a:spcAft>
              <a:defRPr/>
            </a:pPr>
            <a:r>
              <a:rPr lang="en-US" altLang="en-US" sz="1800" dirty="0">
                <a:solidFill>
                  <a:prstClr val="black"/>
                </a:solidFill>
                <a:latin typeface="Arial" pitchFamily="34" charset="0"/>
                <a:cs typeface="Arial" pitchFamily="34" charset="0"/>
              </a:rPr>
              <a:t>Government will use a Quality Assurance Surveillance Plan (QASP) to monitor compliance with the contract terms and conditions; identify conforming and nonconforming services to determine appropriate action under terms of the contract.</a:t>
            </a:r>
          </a:p>
          <a:p>
            <a:pPr marL="1257300" lvl="2" indent="-342900" defTabSz="914400" fontAlgn="base">
              <a:lnSpc>
                <a:spcPct val="100000"/>
              </a:lnSpc>
              <a:spcBef>
                <a:spcPct val="20000"/>
              </a:spcBef>
              <a:spcAft>
                <a:spcPct val="0"/>
              </a:spcAft>
              <a:defRPr/>
            </a:pPr>
            <a:r>
              <a:rPr lang="en-US" altLang="en-US" sz="1800" dirty="0">
                <a:solidFill>
                  <a:prstClr val="black"/>
                </a:solidFill>
                <a:latin typeface="Arial" pitchFamily="34" charset="0"/>
                <a:cs typeface="Arial" pitchFamily="34" charset="0"/>
              </a:rPr>
              <a:t>QASP will be tailored from the Contractor’s QCP and sets forth the method and manner by which the Government intends to conduct surveillance of work under the contract.</a:t>
            </a:r>
          </a:p>
          <a:p>
            <a:pPr marL="1257300" lvl="2" indent="-342900" defTabSz="914400" fontAlgn="base">
              <a:lnSpc>
                <a:spcPct val="100000"/>
              </a:lnSpc>
              <a:spcBef>
                <a:spcPct val="20000"/>
              </a:spcBef>
              <a:spcAft>
                <a:spcPct val="0"/>
              </a:spcAft>
              <a:defRPr/>
            </a:pPr>
            <a:r>
              <a:rPr lang="en-US" altLang="en-US" sz="1800" dirty="0">
                <a:solidFill>
                  <a:prstClr val="black"/>
                </a:solidFill>
                <a:latin typeface="Arial" pitchFamily="34" charset="0"/>
                <a:cs typeface="Arial" pitchFamily="34" charset="0"/>
              </a:rPr>
              <a:t>Contractor shall use the Government’s Quality Management Tool (QMT) High Gear, to acknowledge results, propose corrective and preventive actions and timelines as required by the COR, and/or respond to surveillance results.</a:t>
            </a:r>
          </a:p>
          <a:p>
            <a:pPr marL="801688" lvl="1" indent="-338138">
              <a:buFont typeface="Courier New" panose="02070309020205020404" pitchFamily="49" charset="0"/>
              <a:buChar char="o"/>
            </a:pPr>
            <a:endParaRPr lang="en-US" sz="1600" dirty="0">
              <a:effectLst/>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2203918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71E53-12F9-84BB-B0FE-34F6506D22A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A6DA19B-25A6-2646-647F-42916AB9F305}"/>
              </a:ext>
            </a:extLst>
          </p:cNvPr>
          <p:cNvSpPr>
            <a:spLocks noGrp="1" noRot="1" noMove="1" noResize="1" noEditPoints="1" noAdjustHandles="1" noChangeArrowheads="1" noChangeShapeType="1"/>
          </p:cNvSpPr>
          <p:nvPr>
            <p:ph type="title"/>
          </p:nvPr>
        </p:nvSpPr>
        <p:spPr/>
        <p:txBody>
          <a:bodyPr/>
          <a:lstStyle/>
          <a:p>
            <a:r>
              <a:rPr lang="en-US" dirty="0"/>
              <a:t>Deliveries or Performance</a:t>
            </a:r>
            <a:br>
              <a:rPr lang="en-US" dirty="0"/>
            </a:br>
            <a:r>
              <a:rPr lang="en-US" sz="1200" dirty="0"/>
              <a:t>Section F</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114D0DFA-CF8E-4010-29BD-1AE6DA575D54}"/>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Font typeface="Arial" charset="0"/>
              <a:buChar char="•"/>
              <a:defRPr/>
            </a:pPr>
            <a:r>
              <a:rPr lang="en-US" altLang="en-US" b="1" dirty="0">
                <a:solidFill>
                  <a:prstClr val="black"/>
                </a:solidFill>
                <a:latin typeface="Arial" pitchFamily="34" charset="0"/>
                <a:cs typeface="Arial" pitchFamily="34" charset="0"/>
              </a:rPr>
              <a:t>Key Points</a:t>
            </a:r>
          </a:p>
          <a:p>
            <a:pPr marL="800100" lvl="1" indent="-342900" defTabSz="914400" fontAlgn="base">
              <a:lnSpc>
                <a:spcPct val="100000"/>
              </a:lnSpc>
              <a:spcBef>
                <a:spcPct val="20000"/>
              </a:spcBef>
              <a:spcAft>
                <a:spcPct val="0"/>
              </a:spcAft>
              <a:defRPr/>
            </a:pPr>
            <a:r>
              <a:rPr lang="en-US" altLang="en-US" sz="2000" dirty="0">
                <a:solidFill>
                  <a:prstClr val="black"/>
                </a:solidFill>
                <a:latin typeface="Arial" pitchFamily="34" charset="0"/>
                <a:cs typeface="Arial" pitchFamily="34" charset="0"/>
              </a:rPr>
              <a:t>F-3 Ordering Period – two year base ordering period and four two-year option ordering periods</a:t>
            </a:r>
          </a:p>
          <a:p>
            <a:pPr marL="800100" lvl="1" indent="-342900" defTabSz="914400" fontAlgn="base">
              <a:lnSpc>
                <a:spcPct val="100000"/>
              </a:lnSpc>
              <a:spcBef>
                <a:spcPct val="20000"/>
              </a:spcBef>
              <a:spcAft>
                <a:spcPct val="0"/>
              </a:spcAft>
              <a:defRPr/>
            </a:pPr>
            <a:r>
              <a:rPr lang="en-US" altLang="en-US" sz="2000" dirty="0">
                <a:solidFill>
                  <a:prstClr val="black"/>
                </a:solidFill>
              </a:rPr>
              <a:t>F-4 Acceptable Performance Levels</a:t>
            </a:r>
          </a:p>
          <a:p>
            <a:pPr lvl="2" indent="-285750">
              <a:defRPr/>
            </a:pPr>
            <a:r>
              <a:rPr lang="en-US" altLang="en-US" sz="1800" dirty="0">
                <a:solidFill>
                  <a:prstClr val="black"/>
                </a:solidFill>
                <a:latin typeface="Arial" pitchFamily="34" charset="0"/>
                <a:cs typeface="Arial" pitchFamily="34" charset="0"/>
              </a:rPr>
              <a:t>Technical Exhibit 5.0</a:t>
            </a:r>
          </a:p>
          <a:p>
            <a:pPr lvl="2" indent="-285750">
              <a:defRPr/>
            </a:pPr>
            <a:r>
              <a:rPr lang="en-US" altLang="en-US" sz="1800" dirty="0">
                <a:solidFill>
                  <a:prstClr val="black"/>
                </a:solidFill>
                <a:latin typeface="Arial" pitchFamily="34" charset="0"/>
                <a:cs typeface="Arial" pitchFamily="34" charset="0"/>
              </a:rPr>
              <a:t>Waiver Process</a:t>
            </a:r>
          </a:p>
          <a:p>
            <a:pPr lvl="3" indent="-285750">
              <a:buFont typeface="Wingdings" panose="05000000000000000000" pitchFamily="2" charset="2"/>
              <a:buChar char="q"/>
              <a:defRPr/>
            </a:pPr>
            <a:r>
              <a:rPr lang="en-US" altLang="en-US" sz="1400" dirty="0">
                <a:solidFill>
                  <a:prstClr val="black"/>
                </a:solidFill>
              </a:rPr>
              <a:t>Details surrounding waiver and request submitted by 5th working day of the following month</a:t>
            </a:r>
          </a:p>
          <a:p>
            <a:pPr lvl="3" indent="-285750">
              <a:buFont typeface="Wingdings" panose="05000000000000000000" pitchFamily="2" charset="2"/>
              <a:buChar char="q"/>
              <a:defRPr/>
            </a:pPr>
            <a:r>
              <a:rPr lang="en-US" altLang="en-US" sz="1400" dirty="0">
                <a:solidFill>
                  <a:prstClr val="black"/>
                </a:solidFill>
                <a:latin typeface="Arial" pitchFamily="34" charset="0"/>
                <a:cs typeface="Arial" pitchFamily="34" charset="0"/>
              </a:rPr>
              <a:t>Submitted to KO or designee and Contract Specialist</a:t>
            </a:r>
          </a:p>
          <a:p>
            <a:pPr lvl="3" indent="-285750">
              <a:buFont typeface="Wingdings" panose="05000000000000000000" pitchFamily="2" charset="2"/>
              <a:buChar char="q"/>
              <a:defRPr/>
            </a:pPr>
            <a:r>
              <a:rPr lang="en-US" altLang="en-US" sz="1400" dirty="0">
                <a:solidFill>
                  <a:prstClr val="black"/>
                </a:solidFill>
              </a:rPr>
              <a:t>Disposition by 15</a:t>
            </a:r>
            <a:r>
              <a:rPr lang="en-US" altLang="en-US" sz="1400" baseline="30000" dirty="0">
                <a:solidFill>
                  <a:prstClr val="black"/>
                </a:solidFill>
              </a:rPr>
              <a:t>th</a:t>
            </a:r>
            <a:r>
              <a:rPr lang="en-US" altLang="en-US" sz="1400" dirty="0">
                <a:solidFill>
                  <a:prstClr val="black"/>
                </a:solidFill>
              </a:rPr>
              <a:t> working day of the following month</a:t>
            </a:r>
          </a:p>
          <a:p>
            <a:pPr lvl="3" indent="-285750">
              <a:buFont typeface="Wingdings" panose="05000000000000000000" pitchFamily="2" charset="2"/>
              <a:buChar char="q"/>
              <a:defRPr/>
            </a:pPr>
            <a:r>
              <a:rPr lang="en-US" altLang="en-US" sz="1400" dirty="0">
                <a:solidFill>
                  <a:prstClr val="black"/>
                </a:solidFill>
                <a:latin typeface="Arial" pitchFamily="34" charset="0"/>
                <a:cs typeface="Arial" pitchFamily="34" charset="0"/>
              </a:rPr>
              <a:t>Late requests may not be considered</a:t>
            </a:r>
          </a:p>
          <a:p>
            <a:pPr lvl="1">
              <a:defRPr/>
            </a:pPr>
            <a:r>
              <a:rPr lang="en-US" altLang="en-US" sz="2000" dirty="0">
                <a:solidFill>
                  <a:prstClr val="black"/>
                </a:solidFill>
              </a:rPr>
              <a:t>F-7 Deductions</a:t>
            </a:r>
          </a:p>
          <a:p>
            <a:pPr marL="1143000" lvl="2" indent="-284163" defTabSz="914400" fontAlgn="base">
              <a:lnSpc>
                <a:spcPct val="100000"/>
              </a:lnSpc>
              <a:spcBef>
                <a:spcPct val="0"/>
              </a:spcBef>
              <a:spcAft>
                <a:spcPct val="0"/>
              </a:spcAft>
              <a:defRPr/>
            </a:pPr>
            <a:r>
              <a:rPr lang="en-US" altLang="en-US" sz="1800" dirty="0">
                <a:solidFill>
                  <a:prstClr val="black"/>
                </a:solidFill>
              </a:rPr>
              <a:t>Acceptable Performance Levels (APLs) are tiered IAW F-6</a:t>
            </a:r>
          </a:p>
          <a:p>
            <a:pPr marL="1143000" lvl="2" indent="-284163" defTabSz="914400" fontAlgn="base">
              <a:lnSpc>
                <a:spcPct val="100000"/>
              </a:lnSpc>
              <a:spcBef>
                <a:spcPct val="0"/>
              </a:spcBef>
              <a:spcAft>
                <a:spcPct val="0"/>
              </a:spcAft>
              <a:defRPr/>
            </a:pPr>
            <a:r>
              <a:rPr lang="en-US" sz="1800" dirty="0">
                <a:solidFill>
                  <a:srgbClr val="000000"/>
                </a:solidFill>
                <a:ea typeface="Times New Roman" panose="02020603050405020304" pitchFamily="18" charset="0"/>
              </a:rPr>
              <a:t>Each APL will be subject to the applicable monthly deduction</a:t>
            </a:r>
            <a:r>
              <a:rPr lang="en-US" altLang="en-US" sz="1800" dirty="0">
                <a:solidFill>
                  <a:prstClr val="black"/>
                </a:solidFill>
              </a:rPr>
              <a:t> based on tier designation</a:t>
            </a:r>
          </a:p>
          <a:p>
            <a:endParaRPr lang="en-US" dirty="0"/>
          </a:p>
        </p:txBody>
      </p:sp>
    </p:spTree>
    <p:extLst>
      <p:ext uri="{BB962C8B-B14F-4D97-AF65-F5344CB8AC3E}">
        <p14:creationId xmlns:p14="http://schemas.microsoft.com/office/powerpoint/2010/main" val="40920478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BBD10-DADA-2BBD-A8C5-8DC886904B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2BFA752-CB4A-FC35-93E6-9BF8252FDC5C}"/>
              </a:ext>
            </a:extLst>
          </p:cNvPr>
          <p:cNvSpPr>
            <a:spLocks noGrp="1" noRot="1" noMove="1" noResize="1" noEditPoints="1" noAdjustHandles="1" noChangeArrowheads="1" noChangeShapeType="1"/>
          </p:cNvSpPr>
          <p:nvPr>
            <p:ph type="title"/>
          </p:nvPr>
        </p:nvSpPr>
        <p:spPr/>
        <p:txBody>
          <a:bodyPr/>
          <a:lstStyle/>
          <a:p>
            <a:r>
              <a:rPr lang="en-US" dirty="0"/>
              <a:t>Deliveries or Performance</a:t>
            </a:r>
            <a:br>
              <a:rPr lang="en-US" dirty="0"/>
            </a:br>
            <a:r>
              <a:rPr lang="en-US" sz="1200" dirty="0"/>
              <a:t>Section F</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BD06282D-FC1F-C196-3486-645B4EED2889}"/>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lnSpc>
                <a:spcPct val="100000"/>
              </a:lnSpc>
              <a:spcBef>
                <a:spcPct val="20000"/>
              </a:spcBef>
              <a:spcAft>
                <a:spcPct val="0"/>
              </a:spcAft>
              <a:buFont typeface="Arial" charset="0"/>
              <a:buChar char="•"/>
              <a:defRPr/>
            </a:pPr>
            <a:r>
              <a:rPr lang="en-US" altLang="en-US" b="1" dirty="0">
                <a:solidFill>
                  <a:prstClr val="black"/>
                </a:solidFill>
                <a:latin typeface="Arial" pitchFamily="34" charset="0"/>
                <a:cs typeface="Arial" pitchFamily="34" charset="0"/>
              </a:rPr>
              <a:t>Key Points</a:t>
            </a:r>
          </a:p>
          <a:p>
            <a:pPr lvl="1">
              <a:defRPr/>
            </a:pPr>
            <a:r>
              <a:rPr lang="en-US" altLang="en-US" sz="2000" dirty="0">
                <a:solidFill>
                  <a:prstClr val="black"/>
                </a:solidFill>
              </a:rPr>
              <a:t>F-5 Letters of Concern</a:t>
            </a:r>
          </a:p>
          <a:p>
            <a:pPr lvl="2" indent="-285750">
              <a:defRPr/>
            </a:pPr>
            <a:r>
              <a:rPr lang="en-US" altLang="en-US" sz="1800" dirty="0">
                <a:solidFill>
                  <a:prstClr val="black"/>
                </a:solidFill>
                <a:latin typeface="Arial" pitchFamily="34" charset="0"/>
                <a:cs typeface="Arial" pitchFamily="34" charset="0"/>
              </a:rPr>
              <a:t>Relay contractual compliance issues requiring attention or formal resolution</a:t>
            </a:r>
          </a:p>
          <a:p>
            <a:pPr lvl="2" indent="-285750">
              <a:defRPr/>
            </a:pPr>
            <a:r>
              <a:rPr lang="en-US" altLang="en-US" sz="1800" dirty="0">
                <a:solidFill>
                  <a:prstClr val="black"/>
                </a:solidFill>
              </a:rPr>
              <a:t>KO will determine when a letter will be sent</a:t>
            </a:r>
          </a:p>
          <a:p>
            <a:pPr lvl="2" indent="-285750">
              <a:defRPr/>
            </a:pPr>
            <a:r>
              <a:rPr lang="en-US" altLang="en-US" sz="1800" dirty="0">
                <a:solidFill>
                  <a:prstClr val="black"/>
                </a:solidFill>
                <a:latin typeface="Arial" pitchFamily="34" charset="0"/>
                <a:cs typeface="Arial" pitchFamily="34" charset="0"/>
              </a:rPr>
              <a:t>Will contain a formal due date and time response</a:t>
            </a:r>
          </a:p>
          <a:p>
            <a:pPr lvl="3" indent="-285750">
              <a:buFont typeface="Wingdings" panose="05000000000000000000" pitchFamily="2" charset="2"/>
              <a:buChar char="§"/>
              <a:defRPr/>
            </a:pPr>
            <a:r>
              <a:rPr lang="en-US" altLang="en-US" sz="1400" dirty="0">
                <a:solidFill>
                  <a:prstClr val="black"/>
                </a:solidFill>
              </a:rPr>
              <a:t>If no response or Contractor concurs, LOC is finalized</a:t>
            </a:r>
          </a:p>
          <a:p>
            <a:pPr lvl="3" indent="-285750">
              <a:buFont typeface="Wingdings" panose="05000000000000000000" pitchFamily="2" charset="2"/>
              <a:buChar char="§"/>
              <a:defRPr/>
            </a:pPr>
            <a:r>
              <a:rPr lang="en-US" altLang="en-US" sz="1400" dirty="0">
                <a:solidFill>
                  <a:prstClr val="black"/>
                </a:solidFill>
                <a:latin typeface="Arial" pitchFamily="34" charset="0"/>
                <a:cs typeface="Arial" pitchFamily="34" charset="0"/>
              </a:rPr>
              <a:t>Contractor may non-concur within the due date</a:t>
            </a:r>
          </a:p>
          <a:p>
            <a:pPr lvl="3" indent="-285750">
              <a:buFont typeface="Wingdings" panose="05000000000000000000" pitchFamily="2" charset="2"/>
              <a:buChar char="§"/>
              <a:defRPr/>
            </a:pPr>
            <a:r>
              <a:rPr lang="en-US" altLang="en-US" sz="1400" dirty="0">
                <a:solidFill>
                  <a:prstClr val="black"/>
                </a:solidFill>
              </a:rPr>
              <a:t>KO will review and determine if Contractor response is valid and disposition the LOC.</a:t>
            </a:r>
          </a:p>
          <a:p>
            <a:pPr lvl="2" indent="-285750">
              <a:defRPr/>
            </a:pPr>
            <a:r>
              <a:rPr lang="en-US" altLang="en-US" sz="1800" dirty="0">
                <a:solidFill>
                  <a:prstClr val="black"/>
                </a:solidFill>
              </a:rPr>
              <a:t>Section does not limit the ability to pursue deductions</a:t>
            </a:r>
          </a:p>
          <a:p>
            <a:endParaRPr lang="en-US" dirty="0"/>
          </a:p>
        </p:txBody>
      </p:sp>
    </p:spTree>
    <p:extLst>
      <p:ext uri="{BB962C8B-B14F-4D97-AF65-F5344CB8AC3E}">
        <p14:creationId xmlns:p14="http://schemas.microsoft.com/office/powerpoint/2010/main" val="24030892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4FA00-BA8E-B865-49F5-CACD840353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B02833-4023-8FC7-8C9C-1DFD273ECDFC}"/>
              </a:ext>
            </a:extLst>
          </p:cNvPr>
          <p:cNvSpPr>
            <a:spLocks noGrp="1" noRot="1" noMove="1" noResize="1" noEditPoints="1" noAdjustHandles="1" noChangeArrowheads="1" noChangeShapeType="1"/>
          </p:cNvSpPr>
          <p:nvPr>
            <p:ph type="title"/>
          </p:nvPr>
        </p:nvSpPr>
        <p:spPr/>
        <p:txBody>
          <a:bodyPr/>
          <a:lstStyle/>
          <a:p>
            <a:r>
              <a:rPr lang="en-US" dirty="0"/>
              <a:t>Contract Administration Data</a:t>
            </a:r>
            <a:br>
              <a:rPr lang="en-US" dirty="0"/>
            </a:br>
            <a:r>
              <a:rPr lang="en-US" sz="1200" dirty="0"/>
              <a:t>Section G</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76F704BE-0129-9708-A6E2-FB2FF5241CF4}"/>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spcBef>
                <a:spcPct val="20000"/>
              </a:spcBef>
              <a:spcAft>
                <a:spcPct val="0"/>
              </a:spcAft>
              <a:buFont typeface="Arial" charset="0"/>
              <a:buChar char="•"/>
              <a:defRPr/>
            </a:pPr>
            <a:r>
              <a:rPr lang="en-US" altLang="en-US" b="1" dirty="0">
                <a:solidFill>
                  <a:prstClr val="black"/>
                </a:solidFill>
                <a:latin typeface="Arial" charset="0"/>
                <a:cs typeface="Arial" charset="0"/>
              </a:rPr>
              <a:t>Key Points</a:t>
            </a:r>
          </a:p>
          <a:p>
            <a:pPr marL="800100" lvl="1" indent="-342900" defTabSz="914400" fontAlgn="base">
              <a:spcBef>
                <a:spcPct val="20000"/>
              </a:spcBef>
              <a:spcAft>
                <a:spcPct val="0"/>
              </a:spcAft>
              <a:defRPr/>
            </a:pPr>
            <a:r>
              <a:rPr lang="en-US" altLang="en-US" sz="2000" dirty="0">
                <a:solidFill>
                  <a:prstClr val="black"/>
                </a:solidFill>
                <a:latin typeface="Arial" charset="0"/>
                <a:cs typeface="Arial" charset="0"/>
              </a:rPr>
              <a:t>This contract will be paid in accordance with G-2 DFARS Clause 252.232-7006 Wide Area </a:t>
            </a:r>
            <a:r>
              <a:rPr lang="en-US" altLang="en-US" sz="2000" dirty="0" err="1">
                <a:solidFill>
                  <a:prstClr val="black"/>
                </a:solidFill>
                <a:latin typeface="Arial" charset="0"/>
                <a:cs typeface="Arial" charset="0"/>
              </a:rPr>
              <a:t>WorkFlow</a:t>
            </a:r>
            <a:r>
              <a:rPr lang="en-US" altLang="en-US" sz="2000" dirty="0">
                <a:solidFill>
                  <a:prstClr val="black"/>
                </a:solidFill>
                <a:latin typeface="Arial" charset="0"/>
                <a:cs typeface="Arial" charset="0"/>
              </a:rPr>
              <a:t> Payment Instructions (JAN 2023) as provided in G-3, WAWF INVOICING PROCEDURES</a:t>
            </a:r>
          </a:p>
          <a:p>
            <a:pPr marL="800100" lvl="1" indent="-342900" defTabSz="914400" fontAlgn="base">
              <a:spcBef>
                <a:spcPct val="20000"/>
              </a:spcBef>
              <a:spcAft>
                <a:spcPct val="0"/>
              </a:spcAft>
              <a:defRPr/>
            </a:pPr>
            <a:r>
              <a:rPr lang="en-US" altLang="en-US" sz="2000" dirty="0">
                <a:solidFill>
                  <a:prstClr val="black"/>
                </a:solidFill>
                <a:latin typeface="Arial" charset="0"/>
                <a:cs typeface="Arial" charset="0"/>
              </a:rPr>
              <a:t>G-4 Invoicing Instructions </a:t>
            </a:r>
          </a:p>
          <a:p>
            <a:pPr lvl="2" indent="-285750" defTabSz="914400">
              <a:defRPr/>
            </a:pPr>
            <a:r>
              <a:rPr lang="en-US" altLang="en-US" sz="1800" dirty="0">
                <a:solidFill>
                  <a:prstClr val="black"/>
                </a:solidFill>
                <a:latin typeface="Arial" charset="0"/>
                <a:cs typeface="Arial" charset="0"/>
              </a:rPr>
              <a:t>Provides invoice preparation and submission instructions by CLIN set</a:t>
            </a:r>
          </a:p>
          <a:p>
            <a:pPr marL="800100" lvl="1" indent="-342900" defTabSz="914400" fontAlgn="base">
              <a:spcBef>
                <a:spcPct val="20000"/>
              </a:spcBef>
              <a:spcAft>
                <a:spcPct val="0"/>
              </a:spcAft>
              <a:defRPr/>
            </a:pPr>
            <a:r>
              <a:rPr lang="en-US" altLang="en-US" sz="2000" dirty="0">
                <a:solidFill>
                  <a:prstClr val="black"/>
                </a:solidFill>
                <a:latin typeface="Arial" charset="0"/>
                <a:cs typeface="Arial" charset="0"/>
              </a:rPr>
              <a:t>G-6 Payment, Selected Items of Cost Reimbursement Contracts</a:t>
            </a:r>
          </a:p>
          <a:p>
            <a:pPr lvl="2" indent="-285750">
              <a:defRPr/>
            </a:pPr>
            <a:r>
              <a:rPr lang="en-US" altLang="en-US" sz="1800" dirty="0">
                <a:solidFill>
                  <a:prstClr val="black"/>
                </a:solidFill>
                <a:latin typeface="Arial" charset="0"/>
                <a:cs typeface="Arial" charset="0"/>
              </a:rPr>
              <a:t>Materials – Contractor provided items (PPE, uniforms, boots, etc.) are to be included in indirect costs.  </a:t>
            </a:r>
          </a:p>
          <a:p>
            <a:pPr lvl="1" eaLnBrk="1" hangingPunct="1">
              <a:lnSpc>
                <a:spcPct val="90000"/>
              </a:lnSpc>
              <a:defRPr/>
            </a:pPr>
            <a:r>
              <a:rPr kumimoji="0" lang="en-US" altLang="en-US" sz="2000" b="0" i="0" u="none" strike="noStrike" kern="1200" cap="none" spc="0" normalizeH="0" baseline="0" noProof="0" dirty="0">
                <a:ln>
                  <a:noFill/>
                </a:ln>
                <a:solidFill>
                  <a:prstClr val="black"/>
                </a:solidFill>
                <a:effectLst/>
                <a:uLnTx/>
                <a:uFillTx/>
                <a:latin typeface="Arial" charset="0"/>
                <a:ea typeface="+mn-ea"/>
                <a:cs typeface="Arial" charset="0"/>
              </a:rPr>
              <a:t>G-7 Contractor Performance Assessment Reporting System (CPARS) Requirements - The Contractor, in performing this contract, will be subject to a past performance assessment in accordance with FAR 42.15 and the CPARS Guide</a:t>
            </a:r>
          </a:p>
          <a:p>
            <a:pPr lvl="1" eaLnBrk="1" hangingPunct="1">
              <a:lnSpc>
                <a:spcPct val="90000"/>
              </a:lnSpc>
              <a:defRPr/>
            </a:pPr>
            <a:r>
              <a:rPr lang="en-US" altLang="en-US" sz="2000" dirty="0">
                <a:solidFill>
                  <a:prstClr val="black"/>
                </a:solidFill>
                <a:latin typeface="Arial" charset="0"/>
                <a:cs typeface="Arial" charset="0"/>
              </a:rPr>
              <a:t>G-9 Contract Administration Plan – Provides POCs for various contract administration functions</a:t>
            </a:r>
            <a:endParaRPr kumimoji="0" lang="en-US" altLang="en-US" sz="2000" b="0" i="0" u="none" strike="noStrike" kern="1200" cap="none" spc="0" normalizeH="0" baseline="0" noProof="0" dirty="0">
              <a:ln>
                <a:noFill/>
              </a:ln>
              <a:solidFill>
                <a:prstClr val="black"/>
              </a:solidFill>
              <a:effectLst/>
              <a:uLnTx/>
              <a:uFillTx/>
              <a:latin typeface="Arial" charset="0"/>
              <a:ea typeface="+mn-ea"/>
              <a:cs typeface="Arial" charset="0"/>
            </a:endParaRPr>
          </a:p>
          <a:p>
            <a:endParaRPr lang="en-US" dirty="0"/>
          </a:p>
        </p:txBody>
      </p:sp>
    </p:spTree>
    <p:extLst>
      <p:ext uri="{BB962C8B-B14F-4D97-AF65-F5344CB8AC3E}">
        <p14:creationId xmlns:p14="http://schemas.microsoft.com/office/powerpoint/2010/main" val="31829222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AF561-38CA-0AB4-D997-1DA49A48C9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78194D6-4094-13B5-A887-2D42DD213924}"/>
              </a:ext>
            </a:extLst>
          </p:cNvPr>
          <p:cNvSpPr>
            <a:spLocks noGrp="1" noRot="1" noMove="1" noResize="1" noEditPoints="1" noAdjustHandles="1" noChangeArrowheads="1" noChangeShapeType="1"/>
          </p:cNvSpPr>
          <p:nvPr>
            <p:ph type="title"/>
          </p:nvPr>
        </p:nvSpPr>
        <p:spPr/>
        <p:txBody>
          <a:bodyPr/>
          <a:lstStyle/>
          <a:p>
            <a:r>
              <a:rPr lang="en-US" dirty="0"/>
              <a:t>Special Contract Requirements</a:t>
            </a:r>
            <a:br>
              <a:rPr lang="en-US" dirty="0"/>
            </a:br>
            <a:r>
              <a:rPr lang="en-US" sz="1200" dirty="0"/>
              <a:t>Section H</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8CC7906B-D1DC-6EEF-E9B5-9E634E129E21}"/>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spcBef>
                <a:spcPct val="20000"/>
              </a:spcBef>
              <a:spcAft>
                <a:spcPct val="0"/>
              </a:spcAft>
              <a:buFont typeface="Arial" charset="0"/>
              <a:buChar char="•"/>
              <a:defRPr/>
            </a:pPr>
            <a:r>
              <a:rPr lang="en-US" altLang="en-US" sz="1800" b="1" dirty="0">
                <a:solidFill>
                  <a:prstClr val="black"/>
                </a:solidFill>
                <a:latin typeface="Arial" pitchFamily="34" charset="0"/>
                <a:cs typeface="Arial" pitchFamily="34" charset="0"/>
              </a:rPr>
              <a:t>Key Points </a:t>
            </a:r>
          </a:p>
          <a:p>
            <a:pPr marL="800100" lvl="1" indent="-342900" defTabSz="914400" fontAlgn="base">
              <a:spcBef>
                <a:spcPct val="20000"/>
              </a:spcBef>
              <a:spcAft>
                <a:spcPct val="0"/>
              </a:spcAft>
              <a:defRPr/>
            </a:pPr>
            <a:r>
              <a:rPr lang="en-US" altLang="en-US" sz="1600" dirty="0">
                <a:solidFill>
                  <a:prstClr val="black"/>
                </a:solidFill>
                <a:latin typeface="Arial" pitchFamily="34" charset="0"/>
                <a:cs typeface="Arial" pitchFamily="34" charset="0"/>
              </a:rPr>
              <a:t>H-1 Competition in Supplies</a:t>
            </a:r>
          </a:p>
          <a:p>
            <a:pPr marL="1257300" lvl="2" indent="-342900" defTabSz="914400" fontAlgn="base">
              <a:spcBef>
                <a:spcPct val="20000"/>
              </a:spcBef>
              <a:spcAft>
                <a:spcPct val="0"/>
              </a:spcAft>
              <a:defRPr/>
            </a:pPr>
            <a:r>
              <a:rPr lang="en-US" altLang="en-US" sz="1400" dirty="0">
                <a:solidFill>
                  <a:prstClr val="black"/>
                </a:solidFill>
                <a:latin typeface="Arial" pitchFamily="34" charset="0"/>
                <a:cs typeface="Arial" pitchFamily="34" charset="0"/>
              </a:rPr>
              <a:t>Requires the Contractor to obtain competition for items purchased over $3,500 for which reimbursement will be sought under the contract</a:t>
            </a:r>
          </a:p>
          <a:p>
            <a:pPr lvl="1" fontAlgn="base">
              <a:spcBef>
                <a:spcPct val="20000"/>
              </a:spcBef>
              <a:spcAft>
                <a:spcPct val="0"/>
              </a:spcAft>
              <a:defRPr/>
            </a:pPr>
            <a:r>
              <a:rPr lang="en-US" altLang="en-US" sz="1600" dirty="0">
                <a:solidFill>
                  <a:prstClr val="black"/>
                </a:solidFill>
                <a:latin typeface="Arial" pitchFamily="34" charset="0"/>
                <a:cs typeface="Arial" pitchFamily="34" charset="0"/>
              </a:rPr>
              <a:t> </a:t>
            </a:r>
            <a:r>
              <a:rPr lang="en-US" altLang="en-US" sz="1600" dirty="0">
                <a:solidFill>
                  <a:prstClr val="black"/>
                </a:solidFill>
              </a:rPr>
              <a:t>H-2 Accounting System</a:t>
            </a:r>
          </a:p>
          <a:p>
            <a:pPr lvl="2">
              <a:defRPr/>
            </a:pPr>
            <a:r>
              <a:rPr lang="en-US" altLang="en-US" sz="1400" dirty="0">
                <a:solidFill>
                  <a:prstClr val="black"/>
                </a:solidFill>
              </a:rPr>
              <a:t>Subject to Accounting Standards</a:t>
            </a:r>
          </a:p>
          <a:p>
            <a:pPr lvl="2">
              <a:defRPr/>
            </a:pPr>
            <a:r>
              <a:rPr lang="en-US" altLang="en-US" sz="1400" dirty="0">
                <a:solidFill>
                  <a:prstClr val="black"/>
                </a:solidFill>
              </a:rPr>
              <a:t>Requires Acceptable Accounting System</a:t>
            </a:r>
          </a:p>
          <a:p>
            <a:pPr lvl="1">
              <a:defRPr/>
            </a:pPr>
            <a:r>
              <a:rPr lang="en-US" altLang="en-US" sz="1600" dirty="0">
                <a:solidFill>
                  <a:prstClr val="black"/>
                </a:solidFill>
                <a:latin typeface="Arial" pitchFamily="34" charset="0"/>
                <a:cs typeface="Arial" pitchFamily="34" charset="0"/>
              </a:rPr>
              <a:t>H-3 Hiring</a:t>
            </a:r>
          </a:p>
          <a:p>
            <a:pPr lvl="2">
              <a:defRPr/>
            </a:pPr>
            <a:r>
              <a:rPr lang="en-US" altLang="en-US" sz="1400" dirty="0">
                <a:solidFill>
                  <a:prstClr val="black"/>
                </a:solidFill>
              </a:rPr>
              <a:t>Must maintain records</a:t>
            </a:r>
          </a:p>
          <a:p>
            <a:pPr lvl="2">
              <a:defRPr/>
            </a:pPr>
            <a:r>
              <a:rPr lang="en-US" altLang="en-US" sz="1400" dirty="0">
                <a:solidFill>
                  <a:prstClr val="black"/>
                </a:solidFill>
              </a:rPr>
              <a:t>Made available to the KO or designee upon request</a:t>
            </a:r>
          </a:p>
          <a:p>
            <a:pPr lvl="1" eaLnBrk="1" hangingPunct="1">
              <a:lnSpc>
                <a:spcPct val="90000"/>
              </a:lnSpc>
              <a:defRPr/>
            </a:pPr>
            <a:r>
              <a:rPr lang="en-US" altLang="en-US" sz="1600" baseline="0" dirty="0">
                <a:solidFill>
                  <a:prstClr val="black"/>
                </a:solidFill>
              </a:rPr>
              <a:t>H-4</a:t>
            </a:r>
            <a:r>
              <a:rPr lang="en-US" altLang="en-US" sz="1600" dirty="0">
                <a:solidFill>
                  <a:prstClr val="black"/>
                </a:solidFill>
              </a:rPr>
              <a:t> Substitution or Addition of Key Personnel</a:t>
            </a:r>
            <a:endParaRPr kumimoji="0" lang="en-US" altLang="en-US" sz="1600" b="0" i="0" u="none" strike="noStrike" kern="1200" cap="none" spc="0" normalizeH="0" baseline="0" noProof="0" dirty="0">
              <a:ln>
                <a:noFill/>
              </a:ln>
              <a:solidFill>
                <a:prstClr val="black"/>
              </a:solidFill>
              <a:effectLst/>
              <a:uLnTx/>
              <a:uFillTx/>
            </a:endParaRPr>
          </a:p>
          <a:p>
            <a:pPr lvl="2" eaLnBrk="1" hangingPunct="1">
              <a:lnSpc>
                <a:spcPct val="90000"/>
              </a:lnSpc>
              <a:defRPr/>
            </a:pPr>
            <a:r>
              <a:rPr kumimoji="0" lang="en-US" altLang="en-US" sz="1400"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Requires Contractor to notify the KO prior to any Contractor personnel changes</a:t>
            </a:r>
          </a:p>
          <a:p>
            <a:pPr marL="1143000" marR="0" lvl="2" indent="-228600" algn="l" defTabSz="914400" rtl="0" eaLnBrk="1" fontAlgn="base" latinLnBrk="0" hangingPunct="1">
              <a:lnSpc>
                <a:spcPct val="90000"/>
              </a:lnSpc>
              <a:spcBef>
                <a:spcPct val="20000"/>
              </a:spcBef>
              <a:spcAft>
                <a:spcPct val="0"/>
              </a:spcAft>
              <a:buClrTx/>
              <a:buSzTx/>
              <a:buFont typeface="Arial" charset="0"/>
              <a:buChar char="•"/>
              <a:tabLst/>
              <a:defRPr/>
            </a:pPr>
            <a:r>
              <a:rPr kumimoji="0" lang="en-US" altLang="en-US" sz="1400"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Any removals/replacements for Contractor’s convenience shall be at no cost to the Government</a:t>
            </a:r>
          </a:p>
          <a:p>
            <a:pPr marL="1143000" marR="0" lvl="2" indent="-228600" algn="l" defTabSz="914400" rtl="0" eaLnBrk="1" fontAlgn="base" latinLnBrk="0" hangingPunct="1">
              <a:lnSpc>
                <a:spcPct val="90000"/>
              </a:lnSpc>
              <a:spcBef>
                <a:spcPct val="20000"/>
              </a:spcBef>
              <a:spcAft>
                <a:spcPct val="0"/>
              </a:spcAft>
              <a:buClrTx/>
              <a:buSzTx/>
              <a:buFont typeface="Arial" charset="0"/>
              <a:buChar char="•"/>
              <a:tabLst/>
              <a:defRPr/>
            </a:pPr>
            <a:r>
              <a:rPr kumimoji="0" lang="en-US" altLang="en-US" sz="1400"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Key Personnel identified in PWS</a:t>
            </a:r>
          </a:p>
          <a:p>
            <a:pPr marL="1143000" marR="0" lvl="2" indent="-228600" algn="l" defTabSz="914400" rtl="0" eaLnBrk="1" fontAlgn="base" latinLnBrk="0" hangingPunct="1">
              <a:lnSpc>
                <a:spcPct val="90000"/>
              </a:lnSpc>
              <a:spcBef>
                <a:spcPct val="20000"/>
              </a:spcBef>
              <a:spcAft>
                <a:spcPct val="0"/>
              </a:spcAft>
              <a:buClrTx/>
              <a:buSzTx/>
              <a:buFont typeface="Arial" charset="0"/>
              <a:buChar char="•"/>
              <a:tabLst/>
              <a:defRPr/>
            </a:pPr>
            <a:r>
              <a:rPr lang="en-US" altLang="en-US" sz="1400" dirty="0">
                <a:solidFill>
                  <a:prstClr val="black"/>
                </a:solidFill>
              </a:rPr>
              <a:t>No changes in first 180 days except limited circumstances</a:t>
            </a:r>
          </a:p>
          <a:p>
            <a:pPr lvl="1" eaLnBrk="1" hangingPunct="1">
              <a:lnSpc>
                <a:spcPct val="90000"/>
              </a:lnSpc>
              <a:defRPr/>
            </a:pPr>
            <a:r>
              <a:rPr lang="en-US" altLang="en-US" sz="1600" dirty="0">
                <a:solidFill>
                  <a:prstClr val="black"/>
                </a:solidFill>
              </a:rPr>
              <a:t>H-8 Insurance</a:t>
            </a:r>
          </a:p>
          <a:p>
            <a:pPr lvl="2" eaLnBrk="1" hangingPunct="1">
              <a:lnSpc>
                <a:spcPct val="90000"/>
              </a:lnSpc>
              <a:defRPr/>
            </a:pPr>
            <a:r>
              <a:rPr lang="en-US" altLang="en-US" sz="1400" dirty="0">
                <a:solidFill>
                  <a:prstClr val="black"/>
                </a:solidFill>
              </a:rPr>
              <a:t>Contractor, at its own expense, provide and maintain insurance during the entire period of performance</a:t>
            </a:r>
          </a:p>
          <a:p>
            <a:pPr lvl="2" eaLnBrk="1" hangingPunct="1">
              <a:lnSpc>
                <a:spcPct val="90000"/>
              </a:lnSpc>
              <a:defRPr/>
            </a:pPr>
            <a:r>
              <a:rPr kumimoji="0" lang="en-US" altLang="en-US" sz="1400"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Potential Contractor</a:t>
            </a:r>
            <a:r>
              <a:rPr kumimoji="0" lang="en-US" altLang="en-US" sz="1400" b="0" i="0" u="none" strike="noStrike" kern="1200" cap="none" spc="0" normalizeH="0" noProof="0" dirty="0">
                <a:ln>
                  <a:noFill/>
                </a:ln>
                <a:solidFill>
                  <a:prstClr val="black"/>
                </a:solidFill>
                <a:effectLst/>
                <a:uLnTx/>
                <a:uFillTx/>
                <a:latin typeface="Arial" pitchFamily="34" charset="0"/>
                <a:ea typeface="+mn-ea"/>
                <a:cs typeface="Arial" pitchFamily="34" charset="0"/>
              </a:rPr>
              <a:t> liability for incidents, including those in the FLIPL process</a:t>
            </a:r>
          </a:p>
          <a:p>
            <a:pPr lvl="2" eaLnBrk="1" hangingPunct="1">
              <a:lnSpc>
                <a:spcPct val="90000"/>
              </a:lnSpc>
              <a:defRPr/>
            </a:pPr>
            <a:r>
              <a:rPr lang="en-US" altLang="en-US" sz="1400" baseline="0" dirty="0">
                <a:solidFill>
                  <a:prstClr val="black"/>
                </a:solidFill>
              </a:rPr>
              <a:t>Contractor</a:t>
            </a:r>
            <a:r>
              <a:rPr lang="en-US" altLang="en-US" sz="1400" dirty="0">
                <a:solidFill>
                  <a:prstClr val="black"/>
                </a:solidFill>
              </a:rPr>
              <a:t> may maintain higher levels</a:t>
            </a:r>
            <a:endParaRPr kumimoji="0" lang="en-US" altLang="en-US" sz="14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a:p>
            <a:endParaRPr lang="en-US" dirty="0"/>
          </a:p>
        </p:txBody>
      </p:sp>
    </p:spTree>
    <p:extLst>
      <p:ext uri="{BB962C8B-B14F-4D97-AF65-F5344CB8AC3E}">
        <p14:creationId xmlns:p14="http://schemas.microsoft.com/office/powerpoint/2010/main" val="26866291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737F7-C2C4-E1D3-4608-D9808B4366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E900CB-875F-CA01-5EB5-25F4A04D9539}"/>
              </a:ext>
            </a:extLst>
          </p:cNvPr>
          <p:cNvSpPr>
            <a:spLocks noGrp="1" noRot="1" noMove="1" noResize="1" noEditPoints="1" noAdjustHandles="1" noChangeArrowheads="1" noChangeShapeType="1"/>
          </p:cNvSpPr>
          <p:nvPr>
            <p:ph type="title"/>
          </p:nvPr>
        </p:nvSpPr>
        <p:spPr/>
        <p:txBody>
          <a:bodyPr/>
          <a:lstStyle/>
          <a:p>
            <a:r>
              <a:rPr lang="en-US" dirty="0"/>
              <a:t>Contract Clauses</a:t>
            </a:r>
            <a:br>
              <a:rPr lang="en-US" dirty="0"/>
            </a:br>
            <a:r>
              <a:rPr lang="en-US" sz="1200" dirty="0"/>
              <a:t>Section I</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BCD372FE-3B61-2EC6-CE32-9DDF00873DE4}"/>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defTabSz="914400" fontAlgn="base">
              <a:spcBef>
                <a:spcPct val="20000"/>
              </a:spcBef>
              <a:spcAft>
                <a:spcPct val="0"/>
              </a:spcAft>
              <a:buFont typeface="Arial" charset="0"/>
              <a:buChar char="•"/>
              <a:defRPr/>
            </a:pPr>
            <a:r>
              <a:rPr lang="en-US" altLang="en-US" sz="2800" b="1" dirty="0">
                <a:solidFill>
                  <a:prstClr val="black"/>
                </a:solidFill>
                <a:latin typeface="Arial" pitchFamily="34" charset="0"/>
                <a:cs typeface="Arial" pitchFamily="34" charset="0"/>
              </a:rPr>
              <a:t>Key Points</a:t>
            </a:r>
          </a:p>
          <a:p>
            <a:pPr lvl="1"/>
            <a:r>
              <a:rPr lang="en-US" altLang="en-US" dirty="0">
                <a:solidFill>
                  <a:prstClr val="black"/>
                </a:solidFill>
                <a:latin typeface="Arial" pitchFamily="34" charset="0"/>
                <a:cs typeface="Arial" pitchFamily="34" charset="0"/>
              </a:rPr>
              <a:t>Contractors shall familiarize themselves with the clauses</a:t>
            </a:r>
          </a:p>
          <a:p>
            <a:pPr lvl="1"/>
            <a:r>
              <a:rPr lang="en-US" altLang="en-US" dirty="0">
                <a:solidFill>
                  <a:prstClr val="black"/>
                </a:solidFill>
                <a:latin typeface="Arial" pitchFamily="34" charset="0"/>
                <a:cs typeface="Arial" pitchFamily="34" charset="0"/>
              </a:rPr>
              <a:t>As clauses are revised or new clauses are required, modifications will be issued</a:t>
            </a:r>
          </a:p>
          <a:p>
            <a:endParaRPr lang="en-US" dirty="0"/>
          </a:p>
        </p:txBody>
      </p:sp>
    </p:spTree>
    <p:extLst>
      <p:ext uri="{BB962C8B-B14F-4D97-AF65-F5344CB8AC3E}">
        <p14:creationId xmlns:p14="http://schemas.microsoft.com/office/powerpoint/2010/main" val="28501037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FD88E-0F81-84A5-8E34-3D208C63CD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82DCC7E-1803-98E3-EAC3-938A9245ED42}"/>
              </a:ext>
            </a:extLst>
          </p:cNvPr>
          <p:cNvSpPr>
            <a:spLocks noGrp="1" noRot="1" noMove="1" noResize="1" noEditPoints="1" noAdjustHandles="1" noChangeArrowheads="1" noChangeShapeType="1"/>
          </p:cNvSpPr>
          <p:nvPr>
            <p:ph type="title"/>
          </p:nvPr>
        </p:nvSpPr>
        <p:spPr/>
        <p:txBody>
          <a:bodyPr/>
          <a:lstStyle/>
          <a:p>
            <a:r>
              <a:rPr lang="en-US" dirty="0"/>
              <a:t>List of Attachments</a:t>
            </a:r>
            <a:br>
              <a:rPr lang="en-US" dirty="0"/>
            </a:br>
            <a:r>
              <a:rPr lang="en-US" sz="1200" dirty="0"/>
              <a:t>Section J</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FB314E5C-4F0A-6A8B-0D2E-50E1D396331E}"/>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Key Points:</a:t>
            </a:r>
          </a:p>
          <a:p>
            <a:pPr lvl="1"/>
            <a:r>
              <a:rPr lang="en-US" altLang="en-US" sz="2000" dirty="0"/>
              <a:t>Outlined in Section J</a:t>
            </a:r>
          </a:p>
          <a:p>
            <a:pPr lvl="2"/>
            <a:r>
              <a:rPr lang="en-US" altLang="en-US" sz="1600" dirty="0"/>
              <a:t>J.1 PWS</a:t>
            </a:r>
          </a:p>
          <a:p>
            <a:pPr lvl="2"/>
            <a:r>
              <a:rPr lang="en-US" altLang="en-US" sz="1600" dirty="0"/>
              <a:t>J.2 WMS Transitional Training Schedule</a:t>
            </a:r>
          </a:p>
          <a:p>
            <a:pPr lvl="2"/>
            <a:r>
              <a:rPr lang="en-US" altLang="en-US" sz="1600" dirty="0"/>
              <a:t>J.3 Wage Determination</a:t>
            </a:r>
          </a:p>
          <a:p>
            <a:pPr lvl="2"/>
            <a:r>
              <a:rPr lang="en-US" altLang="en-US" sz="1600" dirty="0"/>
              <a:t>J.4 DD254</a:t>
            </a:r>
          </a:p>
          <a:p>
            <a:pPr lvl="2"/>
            <a:r>
              <a:rPr lang="en-US" altLang="en-US" sz="1600" dirty="0"/>
              <a:t>J.5 Contract Data Requirements List (CDRL)</a:t>
            </a:r>
          </a:p>
          <a:p>
            <a:pPr lvl="2"/>
            <a:r>
              <a:rPr lang="en-US" altLang="en-US" sz="1600" dirty="0"/>
              <a:t>J.6 – J.17 Technical Exhibits</a:t>
            </a:r>
          </a:p>
          <a:p>
            <a:pPr lvl="2"/>
            <a:r>
              <a:rPr lang="en-US" altLang="en-US" sz="1600" dirty="0"/>
              <a:t>J.18 DLA Distribution Program Management Office (PMO) PWS</a:t>
            </a:r>
          </a:p>
          <a:p>
            <a:pPr lvl="2"/>
            <a:r>
              <a:rPr lang="en-US" altLang="en-US" sz="1600" dirty="0"/>
              <a:t>J.19 DLA Disposition Services Program Management Office (PMO) PWS</a:t>
            </a:r>
          </a:p>
          <a:p>
            <a:pPr lvl="2"/>
            <a:r>
              <a:rPr lang="en-US" altLang="en-US" sz="1600" dirty="0"/>
              <a:t>J.20 Small Business Participation Commitment Document</a:t>
            </a:r>
          </a:p>
          <a:p>
            <a:pPr lvl="2"/>
            <a:r>
              <a:rPr lang="en-US" altLang="en-US" sz="1600" dirty="0"/>
              <a:t>J.21 Subcontracting Plan Template</a:t>
            </a:r>
          </a:p>
          <a:p>
            <a:pPr lvl="2"/>
            <a:r>
              <a:rPr lang="en-US" altLang="en-US" sz="1600" dirty="0"/>
              <a:t>J.22 Past Performance Questionnaire</a:t>
            </a:r>
            <a:endParaRPr lang="en-US" dirty="0"/>
          </a:p>
        </p:txBody>
      </p:sp>
    </p:spTree>
    <p:extLst>
      <p:ext uri="{BB962C8B-B14F-4D97-AF65-F5344CB8AC3E}">
        <p14:creationId xmlns:p14="http://schemas.microsoft.com/office/powerpoint/2010/main" val="6411658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6BA2B-197A-1EE1-D774-2A918E3217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22C4D60-E740-7727-02A9-206E151D1F13}"/>
              </a:ext>
            </a:extLst>
          </p:cNvPr>
          <p:cNvSpPr>
            <a:spLocks noGrp="1" noRot="1" noMove="1" noResize="1" noEditPoints="1" noAdjustHandles="1" noChangeArrowheads="1" noChangeShapeType="1"/>
          </p:cNvSpPr>
          <p:nvPr>
            <p:ph type="title"/>
          </p:nvPr>
        </p:nvSpPr>
        <p:spPr/>
        <p:txBody>
          <a:bodyPr/>
          <a:lstStyle/>
          <a:p>
            <a:r>
              <a:rPr lang="en-US" sz="1800" dirty="0"/>
              <a:t>Representations, Certifications </a:t>
            </a:r>
            <a:br>
              <a:rPr lang="en-US" sz="1800" dirty="0"/>
            </a:br>
            <a:r>
              <a:rPr lang="en-US" sz="1800" dirty="0"/>
              <a:t>&amp; Other Statements of Offerors or Respondents </a:t>
            </a:r>
            <a:br>
              <a:rPr lang="en-US" dirty="0"/>
            </a:br>
            <a:r>
              <a:rPr lang="en-US" sz="1200" dirty="0"/>
              <a:t>Section K</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15AD8432-BFB0-7290-7341-CEF60BFBEBA4}"/>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400" eaLnBrk="0" fontAlgn="base" hangingPunct="0">
              <a:lnSpc>
                <a:spcPct val="100000"/>
              </a:lnSpc>
              <a:spcBef>
                <a:spcPct val="20000"/>
              </a:spcBef>
              <a:spcAft>
                <a:spcPct val="0"/>
              </a:spcAft>
              <a:buFont typeface="Arial" panose="020B0604020202020204" pitchFamily="34" charset="0"/>
              <a:buNone/>
              <a:defRPr/>
            </a:pPr>
            <a:r>
              <a:rPr lang="en-US" altLang="en-US" sz="3200" b="1" dirty="0">
                <a:solidFill>
                  <a:prstClr val="black"/>
                </a:solidFill>
                <a:latin typeface="Arial" pitchFamily="34" charset="0"/>
                <a:cs typeface="Arial" pitchFamily="34" charset="0"/>
              </a:rPr>
              <a:t>Key Points:</a:t>
            </a:r>
          </a:p>
          <a:p>
            <a:pPr marL="342900" indent="-342900" defTabSz="914400" eaLnBrk="0" fontAlgn="base" hangingPunct="0">
              <a:lnSpc>
                <a:spcPct val="100000"/>
              </a:lnSpc>
              <a:spcBef>
                <a:spcPct val="20000"/>
              </a:spcBef>
              <a:spcAft>
                <a:spcPct val="0"/>
              </a:spcAft>
              <a:buFont typeface="Arial" charset="0"/>
              <a:buChar char="•"/>
              <a:defRPr/>
            </a:pPr>
            <a:r>
              <a:rPr lang="en-US" altLang="en-US" dirty="0">
                <a:solidFill>
                  <a:prstClr val="black"/>
                </a:solidFill>
                <a:latin typeface="Arial" pitchFamily="34" charset="0"/>
                <a:cs typeface="Arial" pitchFamily="34" charset="0"/>
              </a:rPr>
              <a:t>The North American Industry Classification System (NAICS) code for this acquisition is 561210 – Facilities Support Services</a:t>
            </a:r>
          </a:p>
          <a:p>
            <a:pPr marL="342900" indent="-342900" defTabSz="914400" eaLnBrk="0" fontAlgn="base" hangingPunct="0">
              <a:lnSpc>
                <a:spcPct val="100000"/>
              </a:lnSpc>
              <a:spcBef>
                <a:spcPct val="20000"/>
              </a:spcBef>
              <a:spcAft>
                <a:spcPct val="0"/>
              </a:spcAft>
              <a:buFont typeface="Arial" charset="0"/>
              <a:buChar char="•"/>
              <a:defRPr/>
            </a:pPr>
            <a:r>
              <a:rPr lang="en-US" altLang="en-US" dirty="0">
                <a:solidFill>
                  <a:prstClr val="black"/>
                </a:solidFill>
                <a:latin typeface="Arial" pitchFamily="34" charset="0"/>
                <a:cs typeface="Arial" pitchFamily="34" charset="0"/>
              </a:rPr>
              <a:t>The Small Business Size Standard is $47M</a:t>
            </a:r>
          </a:p>
          <a:p>
            <a:pPr marL="342900" indent="-342900" defTabSz="914400" eaLnBrk="0" fontAlgn="base" hangingPunct="0">
              <a:lnSpc>
                <a:spcPct val="100000"/>
              </a:lnSpc>
              <a:spcBef>
                <a:spcPct val="20000"/>
              </a:spcBef>
              <a:spcAft>
                <a:spcPct val="0"/>
              </a:spcAft>
              <a:buFont typeface="Arial" charset="0"/>
              <a:buChar char="•"/>
              <a:defRPr/>
            </a:pPr>
            <a:r>
              <a:rPr lang="en-US" altLang="en-US" dirty="0">
                <a:solidFill>
                  <a:prstClr val="black"/>
                </a:solidFill>
                <a:latin typeface="Arial" pitchFamily="34" charset="0"/>
                <a:cs typeface="Arial" pitchFamily="34" charset="0"/>
              </a:rPr>
              <a:t>Response to provisions shall be provided in E-File I, Solicitation, Offer and Award Documents (SF-33), under Tab 3</a:t>
            </a:r>
          </a:p>
          <a:p>
            <a:endParaRPr lang="en-US" dirty="0"/>
          </a:p>
        </p:txBody>
      </p:sp>
    </p:spTree>
    <p:extLst>
      <p:ext uri="{BB962C8B-B14F-4D97-AF65-F5344CB8AC3E}">
        <p14:creationId xmlns:p14="http://schemas.microsoft.com/office/powerpoint/2010/main" val="29553090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A4443-8CA0-D0C3-AEC0-76AC798957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E9FDEF-AFE0-BC97-35F7-70DC078393B7}"/>
              </a:ext>
            </a:extLst>
          </p:cNvPr>
          <p:cNvSpPr>
            <a:spLocks noGrp="1" noRot="1" noMove="1" noResize="1" noEditPoints="1" noAdjustHandles="1" noChangeArrowheads="1" noChangeShapeType="1"/>
          </p:cNvSpPr>
          <p:nvPr>
            <p:ph type="title"/>
          </p:nvPr>
        </p:nvSpPr>
        <p:spPr/>
        <p:txBody>
          <a:bodyPr/>
          <a:lstStyle/>
          <a:p>
            <a:r>
              <a:rPr lang="en-US" sz="1800" dirty="0"/>
              <a:t>Instructions, Conditions &amp; Notices to Offerors or Respondents</a:t>
            </a:r>
            <a:br>
              <a:rPr lang="en-US" dirty="0"/>
            </a:br>
            <a:r>
              <a:rPr lang="en-US" sz="1200" dirty="0"/>
              <a:t>Section L</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099B8E3B-D09D-C7F7-FE86-D467AFB3D67D}"/>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800" b="1" dirty="0"/>
              <a:t>Key Points</a:t>
            </a:r>
            <a:endParaRPr lang="en-US" altLang="en-US" dirty="0"/>
          </a:p>
          <a:p>
            <a:pPr lvl="1"/>
            <a:r>
              <a:rPr lang="en-US" altLang="en-US" sz="2000" dirty="0"/>
              <a:t>DFARS 252.204-7019 – Notice of NIST SP 800-171 DoD Assessment Requirements (NOV 2023)</a:t>
            </a:r>
          </a:p>
          <a:p>
            <a:pPr lvl="2"/>
            <a:r>
              <a:rPr lang="en-US" altLang="en-US" sz="1600" dirty="0"/>
              <a:t>To be considered for award, if the Offeror is required to implement NIST SP 800-171, the Offeror shall have a current assessment (not more than 3 years old), with scores posted in the SPRS</a:t>
            </a:r>
          </a:p>
          <a:p>
            <a:pPr lvl="1"/>
            <a:r>
              <a:rPr lang="en-US" altLang="en-US" sz="2000" dirty="0"/>
              <a:t>L-29 Communications Between the Government and Offerors</a:t>
            </a:r>
          </a:p>
          <a:p>
            <a:pPr lvl="2"/>
            <a:r>
              <a:rPr lang="en-US" altLang="en-US" sz="1800" dirty="0"/>
              <a:t>Procedure and Deadline for submitting questions</a:t>
            </a:r>
          </a:p>
          <a:p>
            <a:pPr lvl="3"/>
            <a:r>
              <a:rPr lang="en-US" altLang="en-US" sz="1600" dirty="0"/>
              <a:t>All questions shall be submitted by email</a:t>
            </a:r>
          </a:p>
          <a:p>
            <a:pPr lvl="3"/>
            <a:r>
              <a:rPr lang="en-US" altLang="en-US" sz="1600" dirty="0"/>
              <a:t>Preproposal and Solicitation question submittal due date is 12:00 P.M. Eastern Daylight Time on May 20, 2025</a:t>
            </a:r>
          </a:p>
          <a:p>
            <a:pPr lvl="1"/>
            <a:r>
              <a:rPr lang="en-US" altLang="en-US" dirty="0">
                <a:latin typeface="Arial"/>
                <a:cs typeface="Arial"/>
              </a:rPr>
              <a:t>Proposal due date is June 3, 2025, at 12:00 P.M. Eastern Daylight Time.</a:t>
            </a:r>
            <a:r>
              <a:rPr lang="en-US" altLang="en-US" dirty="0">
                <a:solidFill>
                  <a:srgbClr val="C00000"/>
                </a:solidFill>
                <a:latin typeface="Arial"/>
                <a:cs typeface="Arial"/>
              </a:rPr>
              <a:t>  </a:t>
            </a:r>
            <a:endParaRPr lang="en-US" altLang="en-US" sz="2800" b="1" dirty="0"/>
          </a:p>
          <a:p>
            <a:endParaRPr lang="en-US" dirty="0"/>
          </a:p>
        </p:txBody>
      </p:sp>
    </p:spTree>
    <p:extLst>
      <p:ext uri="{BB962C8B-B14F-4D97-AF65-F5344CB8AC3E}">
        <p14:creationId xmlns:p14="http://schemas.microsoft.com/office/powerpoint/2010/main" val="7604223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712C9-EA9A-BD79-D191-F675A551E19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13FD02F-3F8C-2C0B-9A32-5C21FA01CBA0}"/>
              </a:ext>
            </a:extLst>
          </p:cNvPr>
          <p:cNvSpPr>
            <a:spLocks noGrp="1" noRot="1" noMove="1" noResize="1" noEditPoints="1" noAdjustHandles="1" noChangeArrowheads="1" noChangeShapeType="1"/>
          </p:cNvSpPr>
          <p:nvPr>
            <p:ph type="title"/>
          </p:nvPr>
        </p:nvSpPr>
        <p:spPr/>
        <p:txBody>
          <a:bodyPr/>
          <a:lstStyle/>
          <a:p>
            <a:r>
              <a:rPr lang="en-US" sz="1800" dirty="0"/>
              <a:t>Instructions, Conditions &amp; Notices to Offerors or Respondents</a:t>
            </a:r>
            <a:br>
              <a:rPr lang="en-US" dirty="0"/>
            </a:br>
            <a:r>
              <a:rPr lang="en-US" sz="1200" dirty="0"/>
              <a:t>Section L</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B98A6968-D3B1-4995-6FE9-429E1010561E}"/>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b="1" dirty="0"/>
              <a:t>Key Points</a:t>
            </a:r>
          </a:p>
          <a:p>
            <a:pPr lvl="1"/>
            <a:r>
              <a:rPr lang="en-US" dirty="0"/>
              <a:t>Electronic submission through PIEE is required</a:t>
            </a:r>
          </a:p>
          <a:p>
            <a:pPr lvl="2"/>
            <a:r>
              <a:rPr lang="en-US" sz="1900" dirty="0"/>
              <a:t>Instructions provided in Section L-30 Proposal Preparation Requirements</a:t>
            </a:r>
          </a:p>
          <a:p>
            <a:pPr lvl="2"/>
            <a:r>
              <a:rPr lang="en-US" sz="1900" dirty="0"/>
              <a:t>Offerors must register as a Contract Administrator (CAM) within the PIEE Solicitation Module and appoint a Proposal Manager.</a:t>
            </a:r>
          </a:p>
          <a:p>
            <a:pPr lvl="2"/>
            <a:r>
              <a:rPr lang="en-US" sz="1900" dirty="0"/>
              <a:t>Please note that it can take several days for the Proposal Manager appointment to become effective in the system, thereby causing proposal submission delays if not promptly appointed.</a:t>
            </a:r>
          </a:p>
          <a:p>
            <a:pPr lvl="2"/>
            <a:r>
              <a:rPr lang="en-US" sz="1900" dirty="0"/>
              <a:t>All parts of the proposal must be uploaded to the PIEE Solicitation Module prior to the date and time of proposal closing deadline to be considered on time.</a:t>
            </a:r>
          </a:p>
          <a:p>
            <a:pPr lvl="2"/>
            <a:r>
              <a:rPr lang="en-US" sz="1900" dirty="0"/>
              <a:t>All received submissions will be acknowledged with a reply email from the PIEE Solicitation Module. </a:t>
            </a:r>
          </a:p>
          <a:p>
            <a:endParaRPr lang="en-US" dirty="0"/>
          </a:p>
        </p:txBody>
      </p:sp>
    </p:spTree>
    <p:extLst>
      <p:ext uri="{BB962C8B-B14F-4D97-AF65-F5344CB8AC3E}">
        <p14:creationId xmlns:p14="http://schemas.microsoft.com/office/powerpoint/2010/main" val="71300670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72834-71CD-4B9D-4DCC-0057C66F30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1AE16B2-8D4D-752C-157B-DF99CAE7FB24}"/>
              </a:ext>
            </a:extLst>
          </p:cNvPr>
          <p:cNvSpPr>
            <a:spLocks noGrp="1" noRot="1" noMove="1" noResize="1" noEditPoints="1" noAdjustHandles="1" noChangeArrowheads="1" noChangeShapeType="1"/>
          </p:cNvSpPr>
          <p:nvPr>
            <p:ph type="title"/>
          </p:nvPr>
        </p:nvSpPr>
        <p:spPr/>
        <p:txBody>
          <a:bodyPr/>
          <a:lstStyle/>
          <a:p>
            <a:r>
              <a:rPr lang="en-US" sz="1800" dirty="0"/>
              <a:t>Instructions, Conditions &amp; Notices to Offerors or Respondents</a:t>
            </a:r>
            <a:br>
              <a:rPr lang="en-US" dirty="0"/>
            </a:br>
            <a:r>
              <a:rPr lang="en-US" sz="1200" dirty="0"/>
              <a:t>Section L</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D322C68D-8754-EEA2-5AEC-851115543734}"/>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Key Points</a:t>
            </a:r>
          </a:p>
          <a:p>
            <a:pPr lvl="1"/>
            <a:r>
              <a:rPr lang="en-US" dirty="0"/>
              <a:t>Proposal Markings </a:t>
            </a:r>
          </a:p>
          <a:p>
            <a:pPr lvl="2"/>
            <a:r>
              <a:rPr lang="en-US" dirty="0"/>
              <a:t>Each page of the documents submitted must be clearly marked with the Offeror’s Name and solicitation number. </a:t>
            </a:r>
          </a:p>
          <a:p>
            <a:pPr lvl="2"/>
            <a:r>
              <a:rPr lang="en-US" dirty="0"/>
              <a:t>The following statement must be in the header of each page of the electronic document when determined applicable by the Offeror: </a:t>
            </a:r>
          </a:p>
          <a:p>
            <a:endParaRPr lang="en-US" dirty="0"/>
          </a:p>
        </p:txBody>
      </p:sp>
      <p:pic>
        <p:nvPicPr>
          <p:cNvPr id="3" name="Picture 2">
            <a:extLst>
              <a:ext uri="{FF2B5EF4-FFF2-40B4-BE49-F238E27FC236}">
                <a16:creationId xmlns:a16="http://schemas.microsoft.com/office/drawing/2014/main" id="{CEF8EF88-052A-DA72-E58F-C360D731BE2A}"/>
              </a:ext>
            </a:extLst>
          </p:cNvPr>
          <p:cNvPicPr>
            <a:picLocks noChangeAspect="1"/>
          </p:cNvPicPr>
          <p:nvPr/>
        </p:nvPicPr>
        <p:blipFill>
          <a:blip r:embed="rId3"/>
          <a:stretch>
            <a:fillRect/>
          </a:stretch>
        </p:blipFill>
        <p:spPr>
          <a:xfrm>
            <a:off x="789112" y="3677234"/>
            <a:ext cx="8798115" cy="2964198"/>
          </a:xfrm>
          <a:prstGeom prst="rect">
            <a:avLst/>
          </a:prstGeom>
        </p:spPr>
      </p:pic>
    </p:spTree>
    <p:extLst>
      <p:ext uri="{BB962C8B-B14F-4D97-AF65-F5344CB8AC3E}">
        <p14:creationId xmlns:p14="http://schemas.microsoft.com/office/powerpoint/2010/main" val="24139866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CB184-1C49-C2D7-572B-41957D67CC9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F976A9-37AE-7F96-3BF0-77D406FA1388}"/>
              </a:ext>
            </a:extLst>
          </p:cNvPr>
          <p:cNvSpPr>
            <a:spLocks noGrp="1" noRot="1" noMove="1" noResize="1" noEditPoints="1" noAdjustHandles="1" noChangeArrowheads="1" noChangeShapeType="1"/>
          </p:cNvSpPr>
          <p:nvPr>
            <p:ph type="title"/>
          </p:nvPr>
        </p:nvSpPr>
        <p:spPr/>
        <p:txBody>
          <a:bodyPr/>
          <a:lstStyle/>
          <a:p>
            <a:r>
              <a:rPr lang="en-US" sz="1800" dirty="0"/>
              <a:t>Instructions, Conditions &amp; Notices to Offerors or Respondents</a:t>
            </a:r>
            <a:br>
              <a:rPr lang="en-US" dirty="0"/>
            </a:br>
            <a:r>
              <a:rPr lang="en-US" sz="1200" dirty="0"/>
              <a:t>Section L</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0285AA22-F159-C681-5956-7D9434D8F2C7}"/>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400" eaLnBrk="0" fontAlgn="base" hangingPunct="0">
              <a:lnSpc>
                <a:spcPct val="80000"/>
              </a:lnSpc>
              <a:spcBef>
                <a:spcPct val="20000"/>
              </a:spcBef>
              <a:spcAft>
                <a:spcPct val="0"/>
              </a:spcAft>
              <a:buFont typeface="Arial" panose="020B0604020202020204" pitchFamily="34" charset="0"/>
              <a:buNone/>
              <a:defRPr/>
            </a:pPr>
            <a:r>
              <a:rPr lang="en-US" altLang="en-US" sz="2800" b="1" dirty="0">
                <a:solidFill>
                  <a:prstClr val="black"/>
                </a:solidFill>
                <a:latin typeface="Arial" pitchFamily="34" charset="0"/>
                <a:cs typeface="Arial" pitchFamily="34" charset="0"/>
              </a:rPr>
              <a:t>Key Points:</a:t>
            </a:r>
          </a:p>
          <a:p>
            <a:pPr marL="342900" indent="-342900" defTabSz="914400" eaLnBrk="0" fontAlgn="base" hangingPunct="0">
              <a:lnSpc>
                <a:spcPct val="80000"/>
              </a:lnSpc>
              <a:spcBef>
                <a:spcPct val="20000"/>
              </a:spcBef>
              <a:spcAft>
                <a:spcPct val="0"/>
              </a:spcAft>
              <a:buFont typeface="Arial" charset="0"/>
              <a:buChar char="•"/>
              <a:defRPr/>
            </a:pPr>
            <a:r>
              <a:rPr lang="en-US" altLang="en-US" dirty="0">
                <a:solidFill>
                  <a:prstClr val="black"/>
                </a:solidFill>
                <a:latin typeface="Arial" pitchFamily="34" charset="0"/>
                <a:cs typeface="Arial" pitchFamily="34" charset="0"/>
              </a:rPr>
              <a:t>L-30 Proposal Preparation Requirements</a:t>
            </a:r>
          </a:p>
          <a:p>
            <a:endParaRPr lang="en-US" dirty="0"/>
          </a:p>
        </p:txBody>
      </p:sp>
      <p:pic>
        <p:nvPicPr>
          <p:cNvPr id="3" name="Picture 2">
            <a:extLst>
              <a:ext uri="{FF2B5EF4-FFF2-40B4-BE49-F238E27FC236}">
                <a16:creationId xmlns:a16="http://schemas.microsoft.com/office/drawing/2014/main" id="{3C660730-0741-BBF4-B2FE-15D112B37115}"/>
              </a:ext>
            </a:extLst>
          </p:cNvPr>
          <p:cNvPicPr>
            <a:picLocks noChangeAspect="1"/>
          </p:cNvPicPr>
          <p:nvPr/>
        </p:nvPicPr>
        <p:blipFill>
          <a:blip r:embed="rId3"/>
          <a:stretch>
            <a:fillRect/>
          </a:stretch>
        </p:blipFill>
        <p:spPr>
          <a:xfrm>
            <a:off x="1680674" y="2386449"/>
            <a:ext cx="7001852" cy="4515480"/>
          </a:xfrm>
          <a:prstGeom prst="rect">
            <a:avLst/>
          </a:prstGeom>
        </p:spPr>
      </p:pic>
    </p:spTree>
    <p:extLst>
      <p:ext uri="{BB962C8B-B14F-4D97-AF65-F5344CB8AC3E}">
        <p14:creationId xmlns:p14="http://schemas.microsoft.com/office/powerpoint/2010/main" val="37384440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EAE10-0977-E7F1-E6B4-EECF446DAE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52D5A8-130E-4FF3-388F-422BC3A087AA}"/>
              </a:ext>
            </a:extLst>
          </p:cNvPr>
          <p:cNvSpPr>
            <a:spLocks noGrp="1" noRot="1" noMove="1" noResize="1" noEditPoints="1" noAdjustHandles="1" noChangeArrowheads="1" noChangeShapeType="1"/>
          </p:cNvSpPr>
          <p:nvPr>
            <p:ph type="title"/>
          </p:nvPr>
        </p:nvSpPr>
        <p:spPr/>
        <p:txBody>
          <a:bodyPr/>
          <a:lstStyle/>
          <a:p>
            <a:r>
              <a:rPr lang="en-US" sz="1800" dirty="0"/>
              <a:t>Instructions, Conditions &amp; Notices to Offerors or Respondents</a:t>
            </a:r>
            <a:br>
              <a:rPr lang="en-US" dirty="0"/>
            </a:br>
            <a:r>
              <a:rPr lang="en-US" sz="1200" dirty="0"/>
              <a:t>Section L</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DF596F1C-F676-A0A7-2575-7DF3C7640869}"/>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a:pPr>
            <a:r>
              <a:rPr lang="en-US" altLang="en-US" b="1" dirty="0">
                <a:solidFill>
                  <a:prstClr val="black"/>
                </a:solidFill>
              </a:rPr>
              <a:t>Key Points:</a:t>
            </a:r>
          </a:p>
          <a:p>
            <a:pPr marL="342900" indent="-342900" defTabSz="914400" eaLnBrk="0" fontAlgn="base" hangingPunct="0">
              <a:lnSpc>
                <a:spcPct val="100000"/>
              </a:lnSpc>
              <a:spcBef>
                <a:spcPct val="20000"/>
              </a:spcBef>
              <a:spcAft>
                <a:spcPct val="0"/>
              </a:spcAft>
              <a:buFont typeface="Arial" charset="0"/>
              <a:buChar char="•"/>
              <a:defRPr/>
            </a:pPr>
            <a:r>
              <a:rPr lang="en-US" altLang="en-US" dirty="0">
                <a:solidFill>
                  <a:prstClr val="black"/>
                </a:solidFill>
                <a:latin typeface="Arial" pitchFamily="34" charset="0"/>
                <a:cs typeface="Arial" pitchFamily="34" charset="0"/>
              </a:rPr>
              <a:t>Please stay within the page limitations</a:t>
            </a:r>
          </a:p>
          <a:p>
            <a:pPr marL="742950" lvl="1" indent="-285750" defTabSz="914400" eaLnBrk="0" fontAlgn="base" hangingPunct="0">
              <a:lnSpc>
                <a:spcPct val="100000"/>
              </a:lnSpc>
              <a:spcBef>
                <a:spcPct val="20000"/>
              </a:spcBef>
              <a:spcAft>
                <a:spcPct val="0"/>
              </a:spcAft>
              <a:buFont typeface="Arial" charset="0"/>
              <a:buChar char="–"/>
              <a:defRPr/>
            </a:pPr>
            <a:r>
              <a:rPr lang="en-US" altLang="en-US" sz="2000" dirty="0">
                <a:solidFill>
                  <a:prstClr val="black"/>
                </a:solidFill>
              </a:rPr>
              <a:t>5</a:t>
            </a:r>
            <a:r>
              <a:rPr lang="en-US" altLang="en-US" sz="2000" dirty="0">
                <a:solidFill>
                  <a:prstClr val="black"/>
                </a:solidFill>
                <a:latin typeface="Arial" pitchFamily="34" charset="0"/>
                <a:cs typeface="Arial" pitchFamily="34" charset="0"/>
              </a:rPr>
              <a:t>0 for Performance Confidence Assessment</a:t>
            </a:r>
          </a:p>
          <a:p>
            <a:pPr marL="742950" lvl="1" indent="-285750" defTabSz="914400" eaLnBrk="0" fontAlgn="base" hangingPunct="0">
              <a:lnSpc>
                <a:spcPct val="100000"/>
              </a:lnSpc>
              <a:spcBef>
                <a:spcPct val="20000"/>
              </a:spcBef>
              <a:spcAft>
                <a:spcPct val="0"/>
              </a:spcAft>
              <a:buFont typeface="Arial" charset="0"/>
              <a:buChar char="–"/>
              <a:defRPr/>
            </a:pPr>
            <a:r>
              <a:rPr lang="en-US" altLang="en-US" sz="2000" dirty="0">
                <a:solidFill>
                  <a:prstClr val="black"/>
                </a:solidFill>
                <a:latin typeface="Arial" pitchFamily="34" charset="0"/>
                <a:cs typeface="Arial" pitchFamily="34" charset="0"/>
              </a:rPr>
              <a:t>100 for Technical Proposal </a:t>
            </a:r>
          </a:p>
          <a:p>
            <a:pPr marL="342900" indent="-342900" defTabSz="914400" eaLnBrk="0" fontAlgn="base" hangingPunct="0">
              <a:lnSpc>
                <a:spcPct val="100000"/>
              </a:lnSpc>
              <a:spcBef>
                <a:spcPct val="20000"/>
              </a:spcBef>
              <a:spcAft>
                <a:spcPct val="0"/>
              </a:spcAft>
              <a:buFont typeface="Arial" charset="0"/>
              <a:buChar char="•"/>
              <a:defRPr/>
            </a:pPr>
            <a:r>
              <a:rPr lang="en-US" altLang="en-US" dirty="0">
                <a:solidFill>
                  <a:prstClr val="black"/>
                </a:solidFill>
                <a:latin typeface="Arial" pitchFamily="34" charset="0"/>
                <a:cs typeface="Arial" pitchFamily="34" charset="0"/>
              </a:rPr>
              <a:t>Please ensure the table of contents page numbers correlate to the correct pages</a:t>
            </a:r>
          </a:p>
          <a:p>
            <a:pPr marL="342900" indent="-342900" defTabSz="914400" eaLnBrk="0" fontAlgn="base" hangingPunct="0">
              <a:lnSpc>
                <a:spcPct val="100000"/>
              </a:lnSpc>
              <a:spcBef>
                <a:spcPct val="20000"/>
              </a:spcBef>
              <a:spcAft>
                <a:spcPct val="0"/>
              </a:spcAft>
              <a:buFont typeface="Arial" charset="0"/>
              <a:buChar char="•"/>
              <a:defRPr/>
            </a:pPr>
            <a:r>
              <a:rPr lang="en-US" altLang="en-US" dirty="0">
                <a:solidFill>
                  <a:prstClr val="black"/>
                </a:solidFill>
                <a:latin typeface="Arial" pitchFamily="34" charset="0"/>
                <a:cs typeface="Arial" pitchFamily="34" charset="0"/>
              </a:rPr>
              <a:t>Ensure resumes are marked </a:t>
            </a:r>
            <a:r>
              <a:rPr lang="en-US" altLang="en-US" dirty="0">
                <a:latin typeface="Arial" pitchFamily="34" charset="0"/>
                <a:cs typeface="Arial" pitchFamily="34" charset="0"/>
              </a:rPr>
              <a:t>“PERSONALLY IDENTIFIABLE INFORMATION (PII)”</a:t>
            </a:r>
          </a:p>
          <a:p>
            <a:pPr marL="342900" indent="-342900" defTabSz="914400" eaLnBrk="0" fontAlgn="base" hangingPunct="0">
              <a:lnSpc>
                <a:spcPct val="100000"/>
              </a:lnSpc>
              <a:spcBef>
                <a:spcPct val="20000"/>
              </a:spcBef>
              <a:spcAft>
                <a:spcPct val="0"/>
              </a:spcAft>
              <a:buFont typeface="Arial" charset="0"/>
              <a:buChar char="•"/>
              <a:defRPr/>
            </a:pPr>
            <a:r>
              <a:rPr lang="en-US" altLang="en-US" dirty="0">
                <a:solidFill>
                  <a:prstClr val="black"/>
                </a:solidFill>
                <a:latin typeface="Arial" pitchFamily="34" charset="0"/>
                <a:cs typeface="Arial" pitchFamily="34" charset="0"/>
              </a:rPr>
              <a:t>Ensure each section is tabbed </a:t>
            </a:r>
          </a:p>
          <a:p>
            <a:endParaRPr lang="en-US" dirty="0"/>
          </a:p>
        </p:txBody>
      </p:sp>
    </p:spTree>
    <p:extLst>
      <p:ext uri="{BB962C8B-B14F-4D97-AF65-F5344CB8AC3E}">
        <p14:creationId xmlns:p14="http://schemas.microsoft.com/office/powerpoint/2010/main" val="16097374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151D3-32CD-2695-E2A5-D09815D05F7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89E0C1-4F4D-8B06-1017-09DD8D20F568}"/>
              </a:ext>
            </a:extLst>
          </p:cNvPr>
          <p:cNvSpPr>
            <a:spLocks noGrp="1" noRot="1" noMove="1" noResize="1" noEditPoints="1" noAdjustHandles="1" noChangeArrowheads="1" noChangeShapeType="1"/>
          </p:cNvSpPr>
          <p:nvPr>
            <p:ph type="title"/>
          </p:nvPr>
        </p:nvSpPr>
        <p:spPr/>
        <p:txBody>
          <a:bodyPr/>
          <a:lstStyle/>
          <a:p>
            <a:r>
              <a:rPr lang="en-US" sz="1800" dirty="0"/>
              <a:t>E-FILE I Solicitation, Offer, and Award Documents</a:t>
            </a:r>
            <a:br>
              <a:rPr lang="en-US" dirty="0"/>
            </a:br>
            <a:r>
              <a:rPr lang="en-US" sz="1200" dirty="0"/>
              <a:t>Section L</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B8F64462-1F63-C99B-BB53-FE32F342FC42}"/>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3" name="TextBox 2">
            <a:extLst>
              <a:ext uri="{FF2B5EF4-FFF2-40B4-BE49-F238E27FC236}">
                <a16:creationId xmlns:a16="http://schemas.microsoft.com/office/drawing/2014/main" id="{CC80D325-0E88-A0AB-45AF-FBC9D2EAD704}"/>
              </a:ext>
            </a:extLst>
          </p:cNvPr>
          <p:cNvSpPr txBox="1"/>
          <p:nvPr/>
        </p:nvSpPr>
        <p:spPr>
          <a:xfrm>
            <a:off x="2559718" y="3430550"/>
            <a:ext cx="5239752" cy="1200329"/>
          </a:xfrm>
          <a:prstGeom prst="rect">
            <a:avLst/>
          </a:prstGeom>
          <a:noFill/>
        </p:spPr>
        <p:txBody>
          <a:bodyPr wrap="square">
            <a:spAutoFit/>
          </a:bodyPr>
          <a:lstStyle/>
          <a:p>
            <a:pPr algn="ctr">
              <a:defRPr/>
            </a:pPr>
            <a:r>
              <a:rPr lang="en-US" altLang="en-US" sz="2400" b="1" dirty="0">
                <a:solidFill>
                  <a:prstClr val="black"/>
                </a:solidFill>
                <a:ea typeface="+mj-ea"/>
                <a:cs typeface="Arial" charset="0"/>
              </a:rPr>
              <a:t>E-FILE I</a:t>
            </a:r>
          </a:p>
          <a:p>
            <a:pPr algn="ctr">
              <a:defRPr/>
            </a:pPr>
            <a:r>
              <a:rPr lang="en-US" altLang="en-US" sz="2400" b="1" dirty="0">
                <a:solidFill>
                  <a:prstClr val="black"/>
                </a:solidFill>
                <a:ea typeface="+mj-ea"/>
                <a:cs typeface="Arial" charset="0"/>
              </a:rPr>
              <a:t>SOLICITATION, OFFER AND AWARD DOCUMENTS</a:t>
            </a:r>
            <a:endParaRPr lang="en-US" sz="2400" dirty="0">
              <a:ea typeface="+mj-ea"/>
              <a:cs typeface="Arial" charset="0"/>
            </a:endParaRPr>
          </a:p>
        </p:txBody>
      </p:sp>
    </p:spTree>
    <p:extLst>
      <p:ext uri="{BB962C8B-B14F-4D97-AF65-F5344CB8AC3E}">
        <p14:creationId xmlns:p14="http://schemas.microsoft.com/office/powerpoint/2010/main" val="7733927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523AD-14EA-47FB-FB56-C08587B5F2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FF23E3-E60B-AD6A-50E3-DD44474F3136}"/>
              </a:ext>
            </a:extLst>
          </p:cNvPr>
          <p:cNvSpPr>
            <a:spLocks noGrp="1" noRot="1" noMove="1" noResize="1" noEditPoints="1" noAdjustHandles="1" noChangeArrowheads="1" noChangeShapeType="1"/>
          </p:cNvSpPr>
          <p:nvPr>
            <p:ph type="title"/>
          </p:nvPr>
        </p:nvSpPr>
        <p:spPr/>
        <p:txBody>
          <a:bodyPr/>
          <a:lstStyle/>
          <a:p>
            <a:r>
              <a:rPr lang="en-US" sz="1800" dirty="0"/>
              <a:t>E-FILE I Solicitation, Offer, and Award Documents</a:t>
            </a:r>
            <a:br>
              <a:rPr lang="en-US" dirty="0"/>
            </a:br>
            <a:r>
              <a:rPr lang="en-US" sz="1200" dirty="0"/>
              <a:t>Section L</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4FC34D71-758F-CDC5-CE30-5A4838EAB0F0}"/>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defTabSz="914400" eaLnBrk="0" fontAlgn="base" hangingPunct="0">
              <a:lnSpc>
                <a:spcPct val="100000"/>
              </a:lnSpc>
              <a:spcBef>
                <a:spcPct val="20000"/>
              </a:spcBef>
              <a:spcAft>
                <a:spcPct val="0"/>
              </a:spcAft>
              <a:buFont typeface="Arial" panose="020B0604020202020204" pitchFamily="34" charset="0"/>
              <a:buChar char="•"/>
              <a:defRPr/>
            </a:pPr>
            <a:r>
              <a:rPr lang="en-US" altLang="en-US" sz="2400" dirty="0">
                <a:solidFill>
                  <a:prstClr val="black"/>
                </a:solidFill>
                <a:latin typeface="Arial" pitchFamily="34" charset="0"/>
                <a:cs typeface="Arial" pitchFamily="34" charset="0"/>
              </a:rPr>
              <a:t>Tab 1: Cover Letter, Completed and Signed Standard Form 33, Signed Amendment(s)</a:t>
            </a:r>
          </a:p>
          <a:p>
            <a:pPr marL="800100" lvl="1" indent="-342900" defTabSz="914400" eaLnBrk="0" fontAlgn="base" hangingPunct="0">
              <a:lnSpc>
                <a:spcPct val="100000"/>
              </a:lnSpc>
              <a:spcBef>
                <a:spcPct val="20000"/>
              </a:spcBef>
              <a:spcAft>
                <a:spcPct val="0"/>
              </a:spcAft>
              <a:buFont typeface="Arial" panose="020B0604020202020204" pitchFamily="34" charset="0"/>
              <a:buChar char="•"/>
              <a:defRPr/>
            </a:pPr>
            <a:r>
              <a:rPr lang="en-US" altLang="en-US" sz="2400" dirty="0">
                <a:solidFill>
                  <a:prstClr val="black"/>
                </a:solidFill>
                <a:latin typeface="Arial" pitchFamily="34" charset="0"/>
                <a:cs typeface="Arial" pitchFamily="34" charset="0"/>
              </a:rPr>
              <a:t>Tab 2: Completed Section B</a:t>
            </a:r>
          </a:p>
          <a:p>
            <a:pPr marL="1257300" lvl="2" indent="-342900" eaLnBrk="0" fontAlgn="base" hangingPunct="0">
              <a:lnSpc>
                <a:spcPct val="100000"/>
              </a:lnSpc>
              <a:spcBef>
                <a:spcPct val="20000"/>
              </a:spcBef>
              <a:spcAft>
                <a:spcPct val="0"/>
              </a:spcAft>
              <a:buFont typeface="Courier New" panose="02070309020205020404" pitchFamily="49" charset="0"/>
              <a:buChar char="o"/>
              <a:defRPr/>
            </a:pPr>
            <a:r>
              <a:rPr lang="en-US" altLang="en-US" dirty="0">
                <a:solidFill>
                  <a:prstClr val="black"/>
                </a:solidFill>
                <a:latin typeface="Arial" pitchFamily="34" charset="0"/>
                <a:cs typeface="Arial" pitchFamily="34" charset="0"/>
              </a:rPr>
              <a:t>Unit prices no more than 2 decimal places</a:t>
            </a:r>
          </a:p>
          <a:p>
            <a:pPr marL="800100" lvl="1" indent="-342900" defTabSz="914400" eaLnBrk="0" fontAlgn="base" hangingPunct="0">
              <a:lnSpc>
                <a:spcPct val="100000"/>
              </a:lnSpc>
              <a:spcBef>
                <a:spcPct val="20000"/>
              </a:spcBef>
              <a:spcAft>
                <a:spcPct val="0"/>
              </a:spcAft>
              <a:buFont typeface="Arial" panose="020B0604020202020204" pitchFamily="34" charset="0"/>
              <a:buChar char="•"/>
              <a:defRPr/>
            </a:pPr>
            <a:r>
              <a:rPr lang="en-US" altLang="en-US" dirty="0">
                <a:solidFill>
                  <a:prstClr val="black"/>
                </a:solidFill>
                <a:latin typeface="Arial" pitchFamily="34" charset="0"/>
                <a:cs typeface="Arial" pitchFamily="34" charset="0"/>
              </a:rPr>
              <a:t>Tab 3: </a:t>
            </a:r>
            <a:r>
              <a:rPr lang="en-US" altLang="en-US" sz="2400" dirty="0">
                <a:solidFill>
                  <a:prstClr val="black"/>
                </a:solidFill>
                <a:latin typeface="Arial" pitchFamily="34" charset="0"/>
                <a:cs typeface="Arial" pitchFamily="34" charset="0"/>
              </a:rPr>
              <a:t>Section K - Representations and Certifications</a:t>
            </a:r>
          </a:p>
          <a:p>
            <a:pPr marL="800100" lvl="1" indent="-342900" defTabSz="914400" eaLnBrk="0" fontAlgn="base" hangingPunct="0">
              <a:lnSpc>
                <a:spcPct val="100000"/>
              </a:lnSpc>
              <a:spcBef>
                <a:spcPct val="20000"/>
              </a:spcBef>
              <a:spcAft>
                <a:spcPct val="0"/>
              </a:spcAft>
              <a:buFont typeface="Arial" panose="020B0604020202020204" pitchFamily="34" charset="0"/>
              <a:buChar char="•"/>
              <a:defRPr/>
            </a:pPr>
            <a:r>
              <a:rPr lang="en-US" altLang="en-US" sz="2400" dirty="0">
                <a:solidFill>
                  <a:prstClr val="black"/>
                </a:solidFill>
              </a:rPr>
              <a:t>Tab 4: Accounting System Verification</a:t>
            </a:r>
          </a:p>
          <a:p>
            <a:pPr marL="1200150" lvl="2" indent="-285750" eaLnBrk="0" fontAlgn="base" hangingPunct="0">
              <a:lnSpc>
                <a:spcPct val="100000"/>
              </a:lnSpc>
              <a:spcBef>
                <a:spcPct val="20000"/>
              </a:spcBef>
              <a:spcAft>
                <a:spcPct val="0"/>
              </a:spcAft>
              <a:buFont typeface="Courier New" panose="02070309020205020404" pitchFamily="49" charset="0"/>
              <a:buChar char="o"/>
              <a:defRPr/>
            </a:pPr>
            <a:r>
              <a:rPr lang="en-US" altLang="en-US" sz="1800" dirty="0">
                <a:solidFill>
                  <a:prstClr val="black"/>
                </a:solidFill>
                <a:latin typeface="Arial" pitchFamily="34" charset="0"/>
                <a:cs typeface="Arial" pitchFamily="34" charset="0"/>
              </a:rPr>
              <a:t>Include POC or letter from DCAA showing office information</a:t>
            </a:r>
          </a:p>
          <a:p>
            <a:pPr marL="742985" lvl="1" indent="-342900">
              <a:buFont typeface="Arial" panose="020B0604020202020204" pitchFamily="34" charset="0"/>
              <a:buChar char="•"/>
              <a:defRPr/>
            </a:pPr>
            <a:r>
              <a:rPr lang="en-US" altLang="en-US" dirty="0">
                <a:solidFill>
                  <a:prstClr val="black"/>
                </a:solidFill>
                <a:latin typeface="Arial" pitchFamily="34" charset="0"/>
                <a:cs typeface="Arial" pitchFamily="34" charset="0"/>
              </a:rPr>
              <a:t>Tab 5: DCSA Facility Clearance Verification</a:t>
            </a:r>
          </a:p>
          <a:p>
            <a:pPr marL="742985" lvl="1" indent="-342900">
              <a:buFont typeface="Arial" panose="020B0604020202020204" pitchFamily="34" charset="0"/>
              <a:buChar char="•"/>
              <a:defRPr/>
            </a:pPr>
            <a:r>
              <a:rPr lang="en-US" altLang="en-US" dirty="0">
                <a:solidFill>
                  <a:prstClr val="black"/>
                </a:solidFill>
                <a:latin typeface="Arial" pitchFamily="34" charset="0"/>
                <a:cs typeface="Arial" pitchFamily="34" charset="0"/>
              </a:rPr>
              <a:t>Tab 6: OCI Certification or Mitigation Plan </a:t>
            </a:r>
          </a:p>
          <a:p>
            <a:pPr marL="742985" lvl="1" indent="-342900">
              <a:buFont typeface="Arial" panose="020B0604020202020204" pitchFamily="34" charset="0"/>
              <a:buChar char="•"/>
              <a:defRPr/>
            </a:pPr>
            <a:r>
              <a:rPr lang="en-US" altLang="en-US" dirty="0">
                <a:solidFill>
                  <a:prstClr val="black"/>
                </a:solidFill>
                <a:latin typeface="Arial" pitchFamily="34" charset="0"/>
                <a:cs typeface="Arial" pitchFamily="34" charset="0"/>
              </a:rPr>
              <a:t>Tab 7: Subcontracting Plan</a:t>
            </a:r>
          </a:p>
          <a:p>
            <a:pPr marL="742985" lvl="1" indent="-342900">
              <a:buFont typeface="Arial" panose="020B0604020202020204" pitchFamily="34" charset="0"/>
              <a:buChar char="•"/>
              <a:defRPr/>
            </a:pPr>
            <a:r>
              <a:rPr lang="en-US" altLang="en-US" dirty="0">
                <a:solidFill>
                  <a:prstClr val="black"/>
                </a:solidFill>
                <a:latin typeface="Arial" pitchFamily="34" charset="0"/>
                <a:cs typeface="Arial" pitchFamily="34" charset="0"/>
              </a:rPr>
              <a:t>Tab 8: Missions Essential Contract Services Plan</a:t>
            </a:r>
          </a:p>
          <a:p>
            <a:endParaRPr lang="en-US" dirty="0"/>
          </a:p>
        </p:txBody>
      </p:sp>
    </p:spTree>
    <p:extLst>
      <p:ext uri="{BB962C8B-B14F-4D97-AF65-F5344CB8AC3E}">
        <p14:creationId xmlns:p14="http://schemas.microsoft.com/office/powerpoint/2010/main" val="26198345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0A09D-2F12-132E-9AD1-BBC1053140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5B547E-1DF9-19C9-40E7-743CE6648486}"/>
              </a:ext>
            </a:extLst>
          </p:cNvPr>
          <p:cNvSpPr>
            <a:spLocks noGrp="1" noRot="1" noMove="1" noResize="1" noEditPoints="1" noAdjustHandles="1" noChangeArrowheads="1" noChangeShapeType="1"/>
          </p:cNvSpPr>
          <p:nvPr>
            <p:ph type="title"/>
          </p:nvPr>
        </p:nvSpPr>
        <p:spPr/>
        <p:txBody>
          <a:bodyPr/>
          <a:lstStyle/>
          <a:p>
            <a:r>
              <a:rPr lang="en-US" sz="1800" dirty="0"/>
              <a:t>E-File II - Factor 1:  Performance Confidence Assessment</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1453A8F4-CAEB-23E7-F41C-B65E57B23E13}"/>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0" fontAlgn="base" latinLnBrk="0" hangingPunct="0">
              <a:lnSpc>
                <a:spcPct val="90000"/>
              </a:lnSpc>
              <a:spcBef>
                <a:spcPct val="20000"/>
              </a:spcBef>
              <a:spcAft>
                <a:spcPct val="0"/>
              </a:spcAft>
              <a:buClrTx/>
              <a:buSzTx/>
              <a:buFont typeface="Arial" panose="020B0604020202020204" pitchFamily="34" charset="0"/>
              <a:buNone/>
              <a:tabLst/>
              <a:defRPr/>
            </a:pPr>
            <a:endParaRPr kumimoji="0" lang="en-US" altLang="en-US" sz="24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a:p>
            <a:pPr marL="0" marR="0" lvl="0" indent="0" algn="ctr" defTabSz="914400" rtl="0" eaLnBrk="0" fontAlgn="base" latinLnBrk="0" hangingPunct="0">
              <a:lnSpc>
                <a:spcPct val="90000"/>
              </a:lnSpc>
              <a:spcBef>
                <a:spcPct val="20000"/>
              </a:spcBef>
              <a:spcAft>
                <a:spcPct val="0"/>
              </a:spcAft>
              <a:buClrTx/>
              <a:buSzTx/>
              <a:buFont typeface="Arial" panose="020B0604020202020204" pitchFamily="34" charset="0"/>
              <a:buNone/>
              <a:tabLst/>
              <a:defRPr/>
            </a:pPr>
            <a:endParaRPr lang="en-US" altLang="en-US" b="1" dirty="0">
              <a:solidFill>
                <a:prstClr val="black"/>
              </a:solidFill>
              <a:latin typeface="Arial" pitchFamily="34" charset="0"/>
              <a:cs typeface="Arial" pitchFamily="34" charset="0"/>
            </a:endParaRPr>
          </a:p>
          <a:p>
            <a:pPr marL="0" marR="0" lvl="0" indent="0" algn="ctr" defTabSz="914400" rtl="0" eaLnBrk="0" fontAlgn="base" latinLnBrk="0" hangingPunct="0">
              <a:lnSpc>
                <a:spcPct val="90000"/>
              </a:lnSpc>
              <a:spcBef>
                <a:spcPct val="20000"/>
              </a:spcBef>
              <a:spcAft>
                <a:spcPct val="0"/>
              </a:spcAft>
              <a:buClrTx/>
              <a:buSzTx/>
              <a:buFont typeface="Arial" panose="020B0604020202020204" pitchFamily="34" charset="0"/>
              <a:buNone/>
              <a:tabLst/>
              <a:defRPr/>
            </a:pPr>
            <a:endParaRPr kumimoji="0" lang="en-US" altLang="en-US" sz="24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a:p>
            <a:pPr marL="0" marR="0" lvl="0" indent="0" algn="ctr" defTabSz="914400" rtl="0" eaLnBrk="0" fontAlgn="base" latinLnBrk="0" hangingPunct="0">
              <a:lnSpc>
                <a:spcPct val="90000"/>
              </a:lnSpc>
              <a:spcBef>
                <a:spcPct val="20000"/>
              </a:spcBef>
              <a:spcAft>
                <a:spcPct val="0"/>
              </a:spcAft>
              <a:buClrTx/>
              <a:buSzTx/>
              <a:buFont typeface="Arial" panose="020B0604020202020204" pitchFamily="34" charset="0"/>
              <a:buNone/>
              <a:tabLst/>
              <a:defRPr/>
            </a:pPr>
            <a:endParaRPr lang="en-US" altLang="en-US" b="1" dirty="0">
              <a:solidFill>
                <a:prstClr val="black"/>
              </a:solidFill>
              <a:latin typeface="Arial" pitchFamily="34" charset="0"/>
              <a:cs typeface="Arial" pitchFamily="34" charset="0"/>
            </a:endParaRPr>
          </a:p>
          <a:p>
            <a:pPr marL="0" marR="0" lvl="0" indent="0" algn="ctr" defTabSz="914400" rtl="0" eaLnBrk="0" fontAlgn="base" latinLnBrk="0" hangingPunct="0">
              <a:lnSpc>
                <a:spcPct val="90000"/>
              </a:lnSpc>
              <a:spcBef>
                <a:spcPct val="20000"/>
              </a:spcBef>
              <a:spcAft>
                <a:spcPct val="0"/>
              </a:spcAft>
              <a:buClrTx/>
              <a:buSzTx/>
              <a:buFont typeface="Arial" panose="020B0604020202020204" pitchFamily="34" charset="0"/>
              <a:buNone/>
              <a:tabLst/>
              <a:defRPr/>
            </a:pPr>
            <a:endParaRPr kumimoji="0" lang="en-US" altLang="en-US" sz="24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a:p>
            <a:pPr marL="0" marR="0" lvl="0" indent="0" algn="ctr" defTabSz="914400" rtl="0" eaLnBrk="0" fontAlgn="base" latinLnBrk="0" hangingPunct="0">
              <a:lnSpc>
                <a:spcPct val="90000"/>
              </a:lnSpc>
              <a:spcBef>
                <a:spcPct val="20000"/>
              </a:spcBef>
              <a:spcAft>
                <a:spcPct val="0"/>
              </a:spcAft>
              <a:buClrTx/>
              <a:buSzTx/>
              <a:buFont typeface="Arial" panose="020B0604020202020204" pitchFamily="34" charset="0"/>
              <a:buNone/>
              <a:tabLst/>
              <a:defRPr/>
            </a:pPr>
            <a:r>
              <a:rPr kumimoji="0" lang="en-US" altLang="en-US" sz="2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E-FILE II</a:t>
            </a:r>
          </a:p>
          <a:p>
            <a:pPr marL="0" marR="0" lvl="0" indent="0" algn="ctr" defTabSz="914400" rtl="0" eaLnBrk="0" fontAlgn="base" latinLnBrk="0" hangingPunct="0">
              <a:lnSpc>
                <a:spcPct val="90000"/>
              </a:lnSpc>
              <a:spcBef>
                <a:spcPct val="20000"/>
              </a:spcBef>
              <a:spcAft>
                <a:spcPct val="0"/>
              </a:spcAft>
              <a:buClrTx/>
              <a:buSzTx/>
              <a:buFont typeface="Arial" panose="020B0604020202020204" pitchFamily="34" charset="0"/>
              <a:buNone/>
              <a:tabLst/>
              <a:defRPr/>
            </a:pPr>
            <a:r>
              <a:rPr kumimoji="0" lang="en-US" altLang="en-US" sz="2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PAST PERFORMANCE PROPOSAL</a:t>
            </a:r>
            <a:endParaRPr kumimoji="0" lang="en-US" altLang="en-US" sz="24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a:p>
            <a:endParaRPr lang="en-US" dirty="0"/>
          </a:p>
        </p:txBody>
      </p:sp>
    </p:spTree>
    <p:extLst>
      <p:ext uri="{BB962C8B-B14F-4D97-AF65-F5344CB8AC3E}">
        <p14:creationId xmlns:p14="http://schemas.microsoft.com/office/powerpoint/2010/main" val="32991975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BD0CA-BADD-6E72-0B1D-7AFBA61625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AA87CD-801B-F163-5018-E1B466DA0A1C}"/>
              </a:ext>
            </a:extLst>
          </p:cNvPr>
          <p:cNvSpPr>
            <a:spLocks noGrp="1" noRot="1" noMove="1" noResize="1" noEditPoints="1" noAdjustHandles="1" noChangeArrowheads="1" noChangeShapeType="1"/>
          </p:cNvSpPr>
          <p:nvPr>
            <p:ph type="title"/>
          </p:nvPr>
        </p:nvSpPr>
        <p:spPr/>
        <p:txBody>
          <a:bodyPr/>
          <a:lstStyle/>
          <a:p>
            <a:r>
              <a:rPr lang="en-US" sz="1800" dirty="0"/>
              <a:t>E-File II - Factor 1:  Performance Confidence Assessment</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6FB2F370-5A74-D7ED-041E-22A456CAA874}"/>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en-US" sz="1800" dirty="0"/>
              <a:t>Evaluation Factor 1: Performance Confidence Assessment</a:t>
            </a:r>
          </a:p>
          <a:p>
            <a:pPr lvl="1"/>
            <a:r>
              <a:rPr lang="en-US" altLang="en-US" sz="1600" dirty="0"/>
              <a:t>Limited to 50 pages.</a:t>
            </a:r>
          </a:p>
          <a:p>
            <a:pPr lvl="1"/>
            <a:r>
              <a:rPr lang="en-US" altLang="en-US" sz="1600" dirty="0"/>
              <a:t>Evaluated on recency, relevancy, and quality  </a:t>
            </a:r>
          </a:p>
          <a:p>
            <a:pPr lvl="2"/>
            <a:r>
              <a:rPr lang="en-US" altLang="en-US" sz="1400" dirty="0"/>
              <a:t>Performance within five (5) years of the solicitation issuance date </a:t>
            </a:r>
          </a:p>
          <a:p>
            <a:pPr lvl="2"/>
            <a:r>
              <a:rPr lang="en-US" altLang="en-US" sz="1400" dirty="0"/>
              <a:t>Relevance is defined as those efforts similar in terms of scope, magnitude of effort, and complexity.  </a:t>
            </a:r>
          </a:p>
          <a:p>
            <a:pPr lvl="2"/>
            <a:r>
              <a:rPr lang="en-US" altLang="en-US" sz="1400" dirty="0"/>
              <a:t>Quality of performance on the contracts</a:t>
            </a:r>
          </a:p>
          <a:p>
            <a:pPr lvl="1"/>
            <a:r>
              <a:rPr lang="en-US" altLang="en-US" sz="1600" dirty="0"/>
              <a:t>If an Offeror has no past performance, please state so</a:t>
            </a:r>
          </a:p>
          <a:p>
            <a:pPr lvl="1"/>
            <a:r>
              <a:rPr lang="en-US" altLang="en-US" sz="1600" dirty="0"/>
              <a:t>Proposals should provide examples of the offeror’s experience providing a trained and ready Contractor work force to perform storage and distribution and/or  disposition services in support of expeditionary and/or augmentation requirements globally, either in Government Owned/Contractor managed and operated or Contractor Owned/Contractor managed and operated facilities, supporting military, contingency, humanitarian assistance/disaster relief (HA/DR), foreign disaster relief (FDR), Defense Support of Civil Authorities (DSCA), and Interagency support operations using Standard Operating Procedures (SOPs). </a:t>
            </a:r>
          </a:p>
          <a:p>
            <a:pPr lvl="1"/>
            <a:r>
              <a:rPr lang="en-US" altLang="en-US" sz="1600" dirty="0"/>
              <a:t>Attachment J.22 Past Performance Questionnaire </a:t>
            </a:r>
          </a:p>
          <a:p>
            <a:pPr lvl="2"/>
            <a:r>
              <a:rPr lang="en-US" altLang="en-US" sz="1400" dirty="0"/>
              <a:t>Offeror/Major Subcontractor shall ask their customer to complete the questionnaire and return </a:t>
            </a:r>
            <a:r>
              <a:rPr lang="en-US" altLang="en-US" sz="1400" u="sng" dirty="0"/>
              <a:t>directly</a:t>
            </a:r>
            <a:r>
              <a:rPr lang="en-US" altLang="en-US" sz="1400" dirty="0"/>
              <a:t> to the Acquisition Specialist.</a:t>
            </a:r>
          </a:p>
          <a:p>
            <a:endParaRPr lang="en-US" dirty="0"/>
          </a:p>
        </p:txBody>
      </p:sp>
    </p:spTree>
    <p:extLst>
      <p:ext uri="{BB962C8B-B14F-4D97-AF65-F5344CB8AC3E}">
        <p14:creationId xmlns:p14="http://schemas.microsoft.com/office/powerpoint/2010/main" val="3074894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33E47-6CBD-2351-6266-9277E8C0D3B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4B84C80-2B90-2358-8D4E-E65E275535A4}"/>
              </a:ext>
            </a:extLst>
          </p:cNvPr>
          <p:cNvSpPr>
            <a:spLocks noGrp="1" noRot="1" noMove="1" noResize="1" noEditPoints="1" noAdjustHandles="1" noChangeArrowheads="1" noChangeShapeType="1"/>
          </p:cNvSpPr>
          <p:nvPr>
            <p:ph type="title"/>
          </p:nvPr>
        </p:nvSpPr>
        <p:spPr/>
        <p:txBody>
          <a:bodyPr/>
          <a:lstStyle/>
          <a:p>
            <a:r>
              <a:rPr lang="en-US" sz="1800" dirty="0"/>
              <a:t>E-File II - Factor 1:  Performance Confidence Assessment</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7BDB0299-ADAB-0869-5E08-48690B42C0BD}"/>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en-US" sz="1600" dirty="0"/>
              <a:t>Evaluation Factor 1: Performance Confidence Assessment</a:t>
            </a:r>
          </a:p>
          <a:p>
            <a:pPr lvl="1" eaLnBrk="1" hangingPunct="1"/>
            <a:r>
              <a:rPr lang="en-US" altLang="en-US" sz="1800" dirty="0"/>
              <a:t>Major Subcontractors</a:t>
            </a:r>
          </a:p>
          <a:p>
            <a:pPr lvl="2" eaLnBrk="1" hangingPunct="1"/>
            <a:r>
              <a:rPr lang="en-US" altLang="en-US" sz="1600" dirty="0"/>
              <a:t>If utilizing major subcontractor experience, the Past Performance Proposal MUST include:</a:t>
            </a:r>
          </a:p>
          <a:p>
            <a:pPr lvl="3" eaLnBrk="1" hangingPunct="1"/>
            <a:r>
              <a:rPr lang="en-US" altLang="en-US" sz="1400" dirty="0"/>
              <a:t>A signed commitment letter from the Offeror and the Major Subcontractor</a:t>
            </a:r>
          </a:p>
          <a:p>
            <a:pPr lvl="3" eaLnBrk="1" hangingPunct="1"/>
            <a:r>
              <a:rPr lang="en-US" altLang="en-US" sz="1400" dirty="0"/>
              <a:t>Certifies that if awarded the contract, the parties commit to joint performance as proposed</a:t>
            </a:r>
          </a:p>
          <a:p>
            <a:pPr lvl="2" eaLnBrk="1" hangingPunct="1"/>
            <a:r>
              <a:rPr lang="en-US" altLang="en-US" sz="1600" dirty="0"/>
              <a:t>Data must be provided for Offeror and any major subcontractors.  This is defined as “those providing twenty percent (20%) of total dollar threshold AND/OR twenty-five percent (25%) of total man-hour effort”.  Only prime Offeror and major subcontractors information will be evaluated</a:t>
            </a:r>
            <a:r>
              <a:rPr lang="en-US" altLang="en-US" sz="1400" dirty="0"/>
              <a:t>.</a:t>
            </a:r>
          </a:p>
          <a:p>
            <a:pPr lvl="1" eaLnBrk="1" hangingPunct="1"/>
            <a:r>
              <a:rPr lang="en-US" altLang="en-US" sz="2000" dirty="0"/>
              <a:t>Other Arrangements</a:t>
            </a:r>
          </a:p>
          <a:p>
            <a:pPr lvl="2" eaLnBrk="1" hangingPunct="1"/>
            <a:r>
              <a:rPr lang="en-US" altLang="en-US" sz="1600" dirty="0"/>
              <a:t>Affiliate companies, sister companies, teaming arrangements, joint ventures, etc. will be considered provided sufficient documentation is in the Past Performance Proposal.</a:t>
            </a:r>
          </a:p>
          <a:p>
            <a:pPr lvl="2" eaLnBrk="1" hangingPunct="1"/>
            <a:r>
              <a:rPr lang="en-US" altLang="en-US" sz="1600" dirty="0"/>
              <a:t>Documentation may include:  a copy of the documented arrangement such as documented affiliation, a copy of the teaming agreement, a copy of the joint venture agreement, etc.</a:t>
            </a:r>
            <a:endParaRPr lang="en-US" sz="1800" dirty="0"/>
          </a:p>
          <a:p>
            <a:endParaRPr lang="en-US" dirty="0"/>
          </a:p>
        </p:txBody>
      </p:sp>
    </p:spTree>
    <p:extLst>
      <p:ext uri="{BB962C8B-B14F-4D97-AF65-F5344CB8AC3E}">
        <p14:creationId xmlns:p14="http://schemas.microsoft.com/office/powerpoint/2010/main" val="1855353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6ABD4-9EC0-17C9-5332-C261470CB52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BAA539D-60D9-FEA7-15A0-78E1EF13236E}"/>
              </a:ext>
            </a:extLst>
          </p:cNvPr>
          <p:cNvSpPr>
            <a:spLocks noGrp="1" noRot="1" noMove="1" noResize="1" noEditPoints="1" noAdjustHandles="1" noChangeArrowheads="1" noChangeShapeType="1"/>
          </p:cNvSpPr>
          <p:nvPr>
            <p:ph type="title"/>
          </p:nvPr>
        </p:nvSpPr>
        <p:spPr/>
        <p:txBody>
          <a:bodyPr/>
          <a:lstStyle/>
          <a:p>
            <a:r>
              <a:rPr lang="en-US" sz="1600" dirty="0"/>
              <a:t>E-File III – Technical Proposal</a:t>
            </a:r>
            <a:br>
              <a:rPr lang="en-US" sz="1600" dirty="0"/>
            </a:b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3E940568-4B9A-40BD-58D4-0C76D028D614}"/>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algn="just">
              <a:lnSpc>
                <a:spcPct val="100000"/>
              </a:lnSpc>
              <a:spcBef>
                <a:spcPts val="0"/>
              </a:spcBef>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914400" algn="l"/>
                <a:tab pos="-457200" algn="l"/>
                <a:tab pos="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effectLst/>
              <a:highlight>
                <a:srgbClr val="FFFF00"/>
              </a:highlight>
              <a:ea typeface="Times New Roman" panose="02020603050405020304" pitchFamily="18" charset="0"/>
              <a:cs typeface="Times New Roman" panose="02020603050405020304" pitchFamily="18" charset="0"/>
            </a:endParaRPr>
          </a:p>
          <a:p>
            <a:endParaRPr lang="en-US" dirty="0"/>
          </a:p>
        </p:txBody>
      </p:sp>
      <p:sp>
        <p:nvSpPr>
          <p:cNvPr id="5" name="TextBox 4">
            <a:extLst>
              <a:ext uri="{FF2B5EF4-FFF2-40B4-BE49-F238E27FC236}">
                <a16:creationId xmlns:a16="http://schemas.microsoft.com/office/drawing/2014/main" id="{D6BB6287-A854-6C08-2759-34B92053946F}"/>
              </a:ext>
            </a:extLst>
          </p:cNvPr>
          <p:cNvSpPr txBox="1"/>
          <p:nvPr/>
        </p:nvSpPr>
        <p:spPr>
          <a:xfrm>
            <a:off x="2559718" y="3541350"/>
            <a:ext cx="5239752" cy="904863"/>
          </a:xfrm>
          <a:prstGeom prst="rect">
            <a:avLst/>
          </a:prstGeom>
          <a:noFill/>
        </p:spPr>
        <p:txBody>
          <a:bodyPr wrap="square">
            <a:spAutoFit/>
          </a:bodyPr>
          <a:lstStyle/>
          <a:p>
            <a:pPr marL="0" marR="0" lvl="2" algn="ctr"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E-FILE III</a:t>
            </a:r>
          </a:p>
          <a:p>
            <a:pPr marL="0" marR="0" lvl="2" algn="ctr"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TECHNICAL PROPOSAL</a:t>
            </a:r>
            <a:endParaRPr kumimoji="0" lang="en-US" sz="16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646677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931FA-2290-904E-719E-45447149136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CE10D2-9ADD-F257-1B30-23EFC050F75B}"/>
              </a:ext>
            </a:extLst>
          </p:cNvPr>
          <p:cNvSpPr>
            <a:spLocks noGrp="1" noRot="1" noMove="1" noResize="1" noEditPoints="1" noAdjustHandles="1" noChangeArrowheads="1" noChangeShapeType="1"/>
          </p:cNvSpPr>
          <p:nvPr>
            <p:ph type="title"/>
          </p:nvPr>
        </p:nvSpPr>
        <p:spPr/>
        <p:txBody>
          <a:bodyPr/>
          <a:lstStyle/>
          <a:p>
            <a:r>
              <a:rPr lang="en-US" sz="1600" dirty="0"/>
              <a:t>E-File III – Technical Proposal</a:t>
            </a:r>
            <a:br>
              <a:rPr lang="en-US" sz="1600" dirty="0"/>
            </a:br>
            <a:r>
              <a:rPr lang="en-US" sz="1600" dirty="0"/>
              <a:t>Factor 2:  Program Management Office Approach</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5D75F027-BB1E-B4C3-4BF9-BFB5935948BF}"/>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lnSpc>
                <a:spcPct val="100000"/>
              </a:lnSpc>
              <a:spcBef>
                <a:spcPts val="0"/>
              </a:spcBef>
              <a:buNone/>
            </a:pPr>
            <a:r>
              <a:rPr lang="en-US" sz="1600" b="1" dirty="0">
                <a:effectLst/>
                <a:ea typeface="Calibri" panose="020F0502020204030204" pitchFamily="34" charset="0"/>
                <a:cs typeface="Times New Roman" panose="02020603050405020304" pitchFamily="18" charset="0"/>
              </a:rPr>
              <a:t>Tab 1 - Evaluation Factor 2:  Program Management Office (PMO) Approach</a:t>
            </a:r>
            <a:endParaRPr lang="en-US" sz="1400" dirty="0">
              <a:effectLst/>
              <a:ea typeface="Calibri" panose="020F0502020204030204" pitchFamily="34" charset="0"/>
              <a:cs typeface="Times New Roman" panose="02020603050405020304" pitchFamily="18" charset="0"/>
            </a:endParaRPr>
          </a:p>
          <a:p>
            <a:pPr marL="0" marR="0" indent="0" algn="just">
              <a:lnSpc>
                <a:spcPct val="100000"/>
              </a:lnSpc>
              <a:spcBef>
                <a:spcPts val="0"/>
              </a:spcBef>
              <a:buNone/>
            </a:pPr>
            <a:r>
              <a:rPr lang="en-US" sz="1600" dirty="0">
                <a:effectLst/>
                <a:ea typeface="Calibri" panose="020F0502020204030204" pitchFamily="34" charset="0"/>
                <a:cs typeface="Times New Roman" panose="02020603050405020304" pitchFamily="18" charset="0"/>
              </a:rPr>
              <a:t>Task Order 0001 Distribution PMO and Task Order 0002 Disposition PMO represent actual work requirements.  The Government intends to issue these work requirements as the first two task orders under this contract.  The PMO Approach has two (2) subfactors: Distribution </a:t>
            </a:r>
            <a:r>
              <a:rPr lang="en-US" sz="1600" dirty="0">
                <a:effectLst/>
                <a:ea typeface="Times New Roman" panose="02020603050405020304" pitchFamily="18" charset="0"/>
                <a:cs typeface="Times New Roman" panose="02020603050405020304" pitchFamily="18" charset="0"/>
              </a:rPr>
              <a:t>PMO Staffing</a:t>
            </a:r>
            <a:r>
              <a:rPr lang="en-US" sz="1600" dirty="0">
                <a:effectLst/>
                <a:ea typeface="Calibri" panose="020F0502020204030204" pitchFamily="34" charset="0"/>
                <a:cs typeface="Times New Roman" panose="02020603050405020304" pitchFamily="18" charset="0"/>
              </a:rPr>
              <a:t>, and Disposition PMO Staffing.  All subfactors will be evaluated. </a:t>
            </a:r>
          </a:p>
          <a:p>
            <a:pPr marL="0" marR="0" indent="0" algn="just">
              <a:lnSpc>
                <a:spcPct val="100000"/>
              </a:lnSpc>
              <a:spcBef>
                <a:spcPts val="0"/>
              </a:spcBef>
              <a:buNone/>
            </a:pPr>
            <a:r>
              <a:rPr lang="en-US" sz="1600" b="1" dirty="0">
                <a:effectLst/>
                <a:ea typeface="Calibri" panose="020F0502020204030204" pitchFamily="34" charset="0"/>
                <a:cs typeface="Times New Roman" panose="02020603050405020304" pitchFamily="18" charset="0"/>
              </a:rPr>
              <a:t>Subfactor 2.1: Distribution PMO Staffing:  </a:t>
            </a:r>
          </a:p>
          <a:p>
            <a:pPr marL="0" marR="0" indent="0" algn="just">
              <a:lnSpc>
                <a:spcPct val="100000"/>
              </a:lnSpc>
              <a:spcBef>
                <a:spcPts val="0"/>
              </a:spcBef>
              <a:buNone/>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914400" algn="l"/>
                <a:tab pos="-457200" algn="l"/>
                <a:tab pos="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effectLst/>
                <a:ea typeface="Times New Roman" panose="02020603050405020304" pitchFamily="18" charset="0"/>
                <a:cs typeface="Times New Roman" panose="02020603050405020304" pitchFamily="18" charset="0"/>
              </a:rPr>
              <a:t>The Offeror shall provide a management and staffing plan which demonstrates an understanding of the requirements of the RFP and demonstrates how the approach will successfully accomplish the requirements of the RFP.  The Offeror shall provide Key Personnel resumes for one (1) Project Manager, one (1) Alternate Project Manager, one (1) Quality Control Specialist, four (4) Trainer/Project Supervisor, and one (1) Procurement Analyst, not to exceed three (3) pages, that provides summary information in sufficient detail to clearly demonstrate that the key personnel proposed meet the minimum requirements as required in Attachment J.1 – Section C – Performance Work Statement Section C-1.3.1, Key Personnel. </a:t>
            </a:r>
            <a:r>
              <a:rPr lang="en-US" sz="1600" b="1" u="sng" dirty="0">
                <a:effectLst/>
                <a:ea typeface="Times New Roman" panose="02020603050405020304" pitchFamily="18" charset="0"/>
                <a:cs typeface="Times New Roman" panose="02020603050405020304" pitchFamily="18" charset="0"/>
              </a:rPr>
              <a:t>All pages of the resume shall be marked “PERSONALLY IDENTIFIABLE INFORMATION (PII) SAFEGUARD IAW DOD PRIVACY PROGRAM AND PRIVACY ACT OF 1974” if PII is included in the resume. In addition, if PII is included then the following CUI markings must also be included on each page of the resume(s):</a:t>
            </a:r>
            <a:endParaRPr lang="en-US" sz="1600" dirty="0">
              <a:effectLst/>
              <a:ea typeface="Times New Roman" panose="02020603050405020304" pitchFamily="18" charset="0"/>
              <a:cs typeface="Times New Roman" panose="02020603050405020304" pitchFamily="18" charset="0"/>
            </a:endParaRPr>
          </a:p>
          <a:p>
            <a:pPr marL="0" marR="0" algn="just">
              <a:lnSpc>
                <a:spcPct val="100000"/>
              </a:lnSpc>
              <a:spcBef>
                <a:spcPts val="0"/>
              </a:spcBef>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914400" algn="l"/>
                <a:tab pos="-457200" algn="l"/>
                <a:tab pos="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effectLst/>
              <a:highlight>
                <a:srgbClr val="FFFF00"/>
              </a:highlight>
              <a:ea typeface="Times New Roman" panose="02020603050405020304" pitchFamily="18" charset="0"/>
              <a:cs typeface="Times New Roman" panose="02020603050405020304" pitchFamily="18" charset="0"/>
            </a:endParaRPr>
          </a:p>
          <a:p>
            <a:endParaRPr lang="en-US" dirty="0"/>
          </a:p>
        </p:txBody>
      </p:sp>
      <p:pic>
        <p:nvPicPr>
          <p:cNvPr id="3" name="Picture 2">
            <a:extLst>
              <a:ext uri="{FF2B5EF4-FFF2-40B4-BE49-F238E27FC236}">
                <a16:creationId xmlns:a16="http://schemas.microsoft.com/office/drawing/2014/main" id="{D238F986-F1DA-C9A0-8B94-F974A11D617E}"/>
              </a:ext>
            </a:extLst>
          </p:cNvPr>
          <p:cNvPicPr>
            <a:picLocks noChangeAspect="1"/>
          </p:cNvPicPr>
          <p:nvPr/>
        </p:nvPicPr>
        <p:blipFill>
          <a:blip r:embed="rId3"/>
          <a:stretch>
            <a:fillRect/>
          </a:stretch>
        </p:blipFill>
        <p:spPr>
          <a:xfrm>
            <a:off x="1675911" y="5550559"/>
            <a:ext cx="7011378" cy="1419423"/>
          </a:xfrm>
          <a:prstGeom prst="rect">
            <a:avLst/>
          </a:prstGeom>
        </p:spPr>
      </p:pic>
    </p:spTree>
    <p:extLst>
      <p:ext uri="{BB962C8B-B14F-4D97-AF65-F5344CB8AC3E}">
        <p14:creationId xmlns:p14="http://schemas.microsoft.com/office/powerpoint/2010/main" val="31606070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3B469-5A6B-5E85-BF13-AF6C87C5978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8A4D617-389E-D43C-8B89-236C59B72D39}"/>
              </a:ext>
            </a:extLst>
          </p:cNvPr>
          <p:cNvSpPr>
            <a:spLocks noGrp="1" noRot="1" noMove="1" noResize="1" noEditPoints="1" noAdjustHandles="1" noChangeArrowheads="1" noChangeShapeType="1"/>
          </p:cNvSpPr>
          <p:nvPr>
            <p:ph type="title"/>
          </p:nvPr>
        </p:nvSpPr>
        <p:spPr/>
        <p:txBody>
          <a:bodyPr/>
          <a:lstStyle/>
          <a:p>
            <a:r>
              <a:rPr lang="en-US" sz="1600" dirty="0"/>
              <a:t>E-File III - Factor 2:  Program Management Office Approach</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F7EA4EBB-F76B-E666-2CCD-D18806036DDE}"/>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lnSpc>
                <a:spcPct val="107000"/>
              </a:lnSpc>
              <a:spcAft>
                <a:spcPts val="800"/>
              </a:spcAft>
              <a:buNone/>
            </a:pPr>
            <a:r>
              <a:rPr lang="en-US" sz="1400" b="1" dirty="0">
                <a:effectLst/>
                <a:ea typeface="Calibri" panose="020F0502020204030204" pitchFamily="34" charset="0"/>
                <a:cs typeface="Times New Roman" panose="02020603050405020304" pitchFamily="18" charset="0"/>
              </a:rPr>
              <a:t>Subfactor 2.1: Distribution PMO Staffing:  (Continued)</a:t>
            </a:r>
          </a:p>
          <a:p>
            <a:pPr marL="0" marR="0" indent="0" algn="just">
              <a:lnSpc>
                <a:spcPct val="107000"/>
              </a:lnSpc>
              <a:spcBef>
                <a:spcPts val="600"/>
              </a:spcBef>
              <a:spcAft>
                <a:spcPts val="600"/>
              </a:spcAft>
              <a:buNone/>
            </a:pPr>
            <a:r>
              <a:rPr lang="en-US" sz="1400" dirty="0">
                <a:effectLst/>
                <a:ea typeface="Calibri" panose="020F0502020204030204" pitchFamily="34" charset="0"/>
                <a:cs typeface="Times New Roman" panose="02020603050405020304" pitchFamily="18" charset="0"/>
              </a:rPr>
              <a:t>To be considered, all personnel shall either be current employees of the Offeror or have letters of intent in the proposal and otherwise comply with the requirements for personnel. The letters of intent must include acknowledgement of the requirements in clause H-4 of the RFP. Offerors shall respond to the separate requirements for each personnel labor category for experience.  All personnel resumes submitted shall include a description of past experience and accomplishments.</a:t>
            </a:r>
          </a:p>
          <a:p>
            <a:pPr marL="0" marR="0" indent="0" algn="just">
              <a:lnSpc>
                <a:spcPct val="107000"/>
              </a:lnSpc>
              <a:spcBef>
                <a:spcPts val="600"/>
              </a:spcBef>
              <a:spcAft>
                <a:spcPts val="600"/>
              </a:spcAft>
              <a:buNone/>
            </a:pPr>
            <a:r>
              <a:rPr lang="en-US" sz="1400" dirty="0">
                <a:effectLst/>
                <a:ea typeface="Calibri" panose="020F0502020204030204" pitchFamily="34" charset="0"/>
                <a:cs typeface="Times New Roman" panose="02020603050405020304" pitchFamily="18" charset="0"/>
              </a:rPr>
              <a:t>The Offeror must propose the labor categories listed in Attachment J.1 – Section C – Performance Work Statement Section C-1.3.1 as key personnel.  If the Offeror chooses to propose additional labor categories, the Offeror shall discuss which proposed alternative labor categories differ from the Government’s suggested personnel labor categories.  The Offeror shall clearly show the link between the Offeror’s proposed alternative labor categories and which Government suggested labor categories the proposed alternative position replaces.</a:t>
            </a:r>
          </a:p>
          <a:p>
            <a:pPr marL="0" indent="0" algn="just">
              <a:lnSpc>
                <a:spcPct val="107000"/>
              </a:lnSpc>
              <a:spcBef>
                <a:spcPts val="600"/>
              </a:spcBef>
              <a:spcAft>
                <a:spcPts val="600"/>
              </a:spcAft>
              <a:buNone/>
            </a:pPr>
            <a:r>
              <a:rPr lang="en-US" sz="1400" dirty="0">
                <a:effectLst/>
                <a:ea typeface="Times New Roman" panose="02020603050405020304" pitchFamily="18" charset="0"/>
              </a:rPr>
              <a:t>The Government estimates that the following minimum level of effort will be required by the Offeror for Key Personnel in the performance of Task Order 0001.  This is the Government minimum estimate only and offerors are encouraged to propose the labor positions, hours, and skill mix they determine necessary to complete staffing of the Key Personnel requirements.  If the Offeror proposes different labor categories and labor hours from those identified below the Offeror shall describe their rationale for proposing different labor categories and/or productive hours and provide any productivity analysis used to determine their staffing and the associated measurement methodology used to arrive at proposed productive labor hours by labor category.  The Offeror shall include the skill mix and the leadership skill mix that will be used to implement the processes, methods, and tools proposed to perform the requirements in the task order, with particular attention to the DLA Distribution Process Manuals, Standard Operating Procedures (SOPs), and Flowcharts.</a:t>
            </a:r>
          </a:p>
          <a:p>
            <a:pPr marL="0" marR="0">
              <a:spcBef>
                <a:spcPts val="0"/>
              </a:spcBef>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914400" algn="l"/>
                <a:tab pos="-457200" algn="l"/>
                <a:tab pos="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400" dirty="0">
              <a:effectLst/>
              <a:highlight>
                <a:srgbClr val="FFFF00"/>
              </a:highlight>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453133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35E7A-F5C2-8251-214A-27692D3DCD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4938631-0753-E643-E48E-14EC621D46BD}"/>
              </a:ext>
            </a:extLst>
          </p:cNvPr>
          <p:cNvSpPr>
            <a:spLocks noGrp="1" noRot="1" noMove="1" noResize="1" noEditPoints="1" noAdjustHandles="1" noChangeArrowheads="1" noChangeShapeType="1"/>
          </p:cNvSpPr>
          <p:nvPr>
            <p:ph type="title"/>
          </p:nvPr>
        </p:nvSpPr>
        <p:spPr/>
        <p:txBody>
          <a:bodyPr/>
          <a:lstStyle/>
          <a:p>
            <a:r>
              <a:rPr lang="en-US" sz="2000" dirty="0"/>
              <a:t>E-File III - Factor 2:  Program Management Office Approach</a:t>
            </a:r>
            <a:endParaRPr lang="en-US" sz="1600" dirty="0">
              <a:latin typeface="Raleway Black" pitchFamily="2" charset="0"/>
            </a:endParaRPr>
          </a:p>
        </p:txBody>
      </p:sp>
      <p:sp>
        <p:nvSpPr>
          <p:cNvPr id="7" name="Content Placeholder 2">
            <a:extLst>
              <a:ext uri="{FF2B5EF4-FFF2-40B4-BE49-F238E27FC236}">
                <a16:creationId xmlns:a16="http://schemas.microsoft.com/office/drawing/2014/main" id="{0160593C-FA52-4B50-110C-A4DF34B3A91C}"/>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lnSpc>
                <a:spcPct val="107000"/>
              </a:lnSpc>
              <a:spcAft>
                <a:spcPts val="800"/>
              </a:spcAft>
              <a:buNone/>
            </a:pPr>
            <a:r>
              <a:rPr lang="en-US" sz="1400" b="1" dirty="0">
                <a:effectLst/>
                <a:ea typeface="Calibri" panose="020F0502020204030204" pitchFamily="34" charset="0"/>
                <a:cs typeface="Times New Roman" panose="02020603050405020304" pitchFamily="18" charset="0"/>
              </a:rPr>
              <a:t>Subfactor 2.1: Distribution PMO Staffing:  (Continued)</a:t>
            </a:r>
          </a:p>
          <a:p>
            <a:endParaRPr lang="en-US" dirty="0"/>
          </a:p>
        </p:txBody>
      </p:sp>
      <p:pic>
        <p:nvPicPr>
          <p:cNvPr id="3" name="Picture 2">
            <a:extLst>
              <a:ext uri="{FF2B5EF4-FFF2-40B4-BE49-F238E27FC236}">
                <a16:creationId xmlns:a16="http://schemas.microsoft.com/office/drawing/2014/main" id="{4FD2A9E3-E73C-9E64-2D47-E3A4E60ED529}"/>
              </a:ext>
            </a:extLst>
          </p:cNvPr>
          <p:cNvPicPr>
            <a:picLocks noChangeAspect="1"/>
          </p:cNvPicPr>
          <p:nvPr/>
        </p:nvPicPr>
        <p:blipFill>
          <a:blip r:embed="rId3"/>
          <a:stretch>
            <a:fillRect/>
          </a:stretch>
        </p:blipFill>
        <p:spPr>
          <a:xfrm>
            <a:off x="264387" y="2370221"/>
            <a:ext cx="9795401" cy="3019926"/>
          </a:xfrm>
          <a:prstGeom prst="rect">
            <a:avLst/>
          </a:prstGeom>
        </p:spPr>
      </p:pic>
    </p:spTree>
    <p:extLst>
      <p:ext uri="{BB962C8B-B14F-4D97-AF65-F5344CB8AC3E}">
        <p14:creationId xmlns:p14="http://schemas.microsoft.com/office/powerpoint/2010/main" val="241765294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07663-E93E-F968-98BA-8759D470CB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DF77673-AB91-1257-51DB-0EAD8E10EA5D}"/>
              </a:ext>
            </a:extLst>
          </p:cNvPr>
          <p:cNvSpPr>
            <a:spLocks noGrp="1" noRot="1" noMove="1" noResize="1" noEditPoints="1" noAdjustHandles="1" noChangeArrowheads="1" noChangeShapeType="1"/>
          </p:cNvSpPr>
          <p:nvPr>
            <p:ph type="title"/>
          </p:nvPr>
        </p:nvSpPr>
        <p:spPr/>
        <p:txBody>
          <a:bodyPr/>
          <a:lstStyle/>
          <a:p>
            <a:r>
              <a:rPr lang="en-US" sz="1600" dirty="0"/>
              <a:t>E-File III - Factor 2:  Program Management Office Approach</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AEF865E4-4504-BBFD-D7AA-89101E90B996}"/>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lnSpc>
                <a:spcPct val="107000"/>
              </a:lnSpc>
              <a:spcAft>
                <a:spcPts val="800"/>
              </a:spcAft>
              <a:buNone/>
            </a:pPr>
            <a:r>
              <a:rPr lang="en-US" sz="1800" b="1" dirty="0">
                <a:effectLst/>
                <a:ea typeface="Calibri" panose="020F0502020204030204" pitchFamily="34" charset="0"/>
                <a:cs typeface="Times New Roman" panose="02020603050405020304" pitchFamily="18" charset="0"/>
              </a:rPr>
              <a:t>Subfactor 2.2: Disposition PMO Staffing:  </a:t>
            </a:r>
          </a:p>
          <a:p>
            <a:pPr marL="0" marR="0" indent="0" algn="just">
              <a:buNone/>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914400" algn="l"/>
                <a:tab pos="-457200" algn="l"/>
                <a:tab pos="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400" dirty="0">
                <a:effectLst/>
                <a:ea typeface="Times New Roman" panose="02020603050405020304" pitchFamily="18" charset="0"/>
                <a:cs typeface="Times New Roman" panose="02020603050405020304" pitchFamily="18" charset="0"/>
              </a:rPr>
              <a:t>The Offeror shall provide a management and staffing plan which demonstrates an understanding of the requirements of the RFP and demonstrates how the approach will successfully accomplish the requirements of the RFP.  The Offeror shall provide Key Personnel resumes for the Project Manager, Alternate Project Manager, and two (2) Trainer/Project Supervisors, not to exceed three (3) pages, that provides summary information in sufficient detail to clearly demonstrate that the key personnel proposed meet the minimum requirements as required in Attachment J.1 – Section C – Performance Work Statement Section C-1.3.1, Key Personnel.  </a:t>
            </a:r>
            <a:r>
              <a:rPr lang="en-US" sz="1400" b="1" u="sng" dirty="0">
                <a:effectLst/>
                <a:ea typeface="Times New Roman" panose="02020603050405020304" pitchFamily="18" charset="0"/>
                <a:cs typeface="Times New Roman" panose="02020603050405020304" pitchFamily="18" charset="0"/>
              </a:rPr>
              <a:t>All pages of the resume shall be marked “PERSONALLY IDENTIFIABLE INFORMATION (PII) SAFEGUARD IAW DOD PRIVACY PROGRAM AND PRIVACY ACT OF 1974” if PII is included in the resume. In addition, if PII is included then the following CUI markings must also be included on each page of the resume(s):</a:t>
            </a:r>
            <a:endParaRPr lang="en-US" sz="1400" dirty="0">
              <a:effectLst/>
              <a:ea typeface="Times New Roman" panose="02020603050405020304" pitchFamily="18" charset="0"/>
              <a:cs typeface="Times New Roman" panose="02020603050405020304" pitchFamily="18" charset="0"/>
            </a:endParaRPr>
          </a:p>
          <a:p>
            <a:endParaRPr lang="en-US" dirty="0"/>
          </a:p>
        </p:txBody>
      </p:sp>
      <p:pic>
        <p:nvPicPr>
          <p:cNvPr id="2" name="Picture 1">
            <a:extLst>
              <a:ext uri="{FF2B5EF4-FFF2-40B4-BE49-F238E27FC236}">
                <a16:creationId xmlns:a16="http://schemas.microsoft.com/office/drawing/2014/main" id="{3C83937D-1198-4E2D-3129-4969C880B14E}"/>
              </a:ext>
            </a:extLst>
          </p:cNvPr>
          <p:cNvPicPr>
            <a:picLocks noChangeAspect="1"/>
          </p:cNvPicPr>
          <p:nvPr/>
        </p:nvPicPr>
        <p:blipFill>
          <a:blip r:embed="rId3"/>
          <a:stretch>
            <a:fillRect/>
          </a:stretch>
        </p:blipFill>
        <p:spPr>
          <a:xfrm>
            <a:off x="806116" y="4343400"/>
            <a:ext cx="8979097" cy="1817779"/>
          </a:xfrm>
          <a:prstGeom prst="rect">
            <a:avLst/>
          </a:prstGeom>
        </p:spPr>
      </p:pic>
    </p:spTree>
    <p:extLst>
      <p:ext uri="{BB962C8B-B14F-4D97-AF65-F5344CB8AC3E}">
        <p14:creationId xmlns:p14="http://schemas.microsoft.com/office/powerpoint/2010/main" val="28652287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EE554-3513-CC43-7D03-609140A9DE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CD7C24-F5FC-AFAF-0196-44B575A905D0}"/>
              </a:ext>
            </a:extLst>
          </p:cNvPr>
          <p:cNvSpPr>
            <a:spLocks noGrp="1" noRot="1" noMove="1" noResize="1" noEditPoints="1" noAdjustHandles="1" noChangeArrowheads="1" noChangeShapeType="1"/>
          </p:cNvSpPr>
          <p:nvPr>
            <p:ph type="title"/>
          </p:nvPr>
        </p:nvSpPr>
        <p:spPr/>
        <p:txBody>
          <a:bodyPr/>
          <a:lstStyle/>
          <a:p>
            <a:r>
              <a:rPr lang="en-US" sz="1600" dirty="0"/>
              <a:t>E-File III - Factor 2:  Program Management Office Approach</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B3E90541-BD53-0B58-7915-376B90C14377}"/>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algn="just">
              <a:lnSpc>
                <a:spcPct val="107000"/>
              </a:lnSpc>
              <a:spcAft>
                <a:spcPts val="800"/>
              </a:spcAft>
            </a:pPr>
            <a:r>
              <a:rPr lang="en-US" sz="1600" b="1" dirty="0">
                <a:effectLst/>
                <a:ea typeface="Calibri" panose="020F0502020204030204" pitchFamily="34" charset="0"/>
                <a:cs typeface="Times New Roman" panose="02020603050405020304" pitchFamily="18" charset="0"/>
              </a:rPr>
              <a:t>Subfactor 2.2: Disposition PMO Staffing:  (Continued)</a:t>
            </a:r>
          </a:p>
          <a:p>
            <a:pPr marL="0" marR="0" indent="0" algn="just">
              <a:lnSpc>
                <a:spcPct val="107000"/>
              </a:lnSpc>
              <a:spcBef>
                <a:spcPts val="600"/>
              </a:spcBef>
              <a:spcAft>
                <a:spcPts val="600"/>
              </a:spcAft>
              <a:buNone/>
            </a:pPr>
            <a:r>
              <a:rPr lang="en-US" sz="1400" dirty="0">
                <a:effectLst/>
                <a:ea typeface="Calibri" panose="020F0502020204030204" pitchFamily="34" charset="0"/>
                <a:cs typeface="Times New Roman" panose="02020603050405020304" pitchFamily="18" charset="0"/>
              </a:rPr>
              <a:t>To be considered, all personnel shall either be current employees of the Offeror or have letters of intent in the proposal and otherwise comply with the requirements for personnel. The letters of intent must include acknowledgement of the requirements in clause H-4 of the RFP. Offerors shall respond to the separate requirements for each personnel labor category for experience.  All personnel resumes submitted shall include a description of past experience and accomplishments.</a:t>
            </a:r>
          </a:p>
          <a:p>
            <a:pPr marL="0" marR="0" indent="0" algn="just">
              <a:lnSpc>
                <a:spcPct val="107000"/>
              </a:lnSpc>
              <a:spcBef>
                <a:spcPts val="600"/>
              </a:spcBef>
              <a:spcAft>
                <a:spcPts val="600"/>
              </a:spcAft>
              <a:buNone/>
            </a:pPr>
            <a:r>
              <a:rPr lang="en-US" sz="1400" dirty="0">
                <a:effectLst/>
                <a:ea typeface="Calibri" panose="020F0502020204030204" pitchFamily="34" charset="0"/>
                <a:cs typeface="Times New Roman" panose="02020603050405020304" pitchFamily="18" charset="0"/>
              </a:rPr>
              <a:t>The Offeror must propose the labor categories listed in Attachment J.1 – Section C – Performance Work Statement Section C-1.3.1 as key personnel.  If the Offeror chooses to propose additional labor categories, the Offeror shall discuss which proposed alternative labor categories differ from the Government’s suggested personnel labor categories.  The Offeror shall clearly show the link between the Offeror’s proposed alternative labor categories and which Government suggested labor categories the proposed alternative position replaces.</a:t>
            </a:r>
          </a:p>
          <a:p>
            <a:pPr marL="0" indent="0" algn="just">
              <a:lnSpc>
                <a:spcPct val="107000"/>
              </a:lnSpc>
              <a:spcBef>
                <a:spcPts val="600"/>
              </a:spcBef>
              <a:spcAft>
                <a:spcPts val="600"/>
              </a:spcAft>
              <a:buNone/>
            </a:pPr>
            <a:r>
              <a:rPr lang="en-US" sz="1400" dirty="0">
                <a:effectLst/>
                <a:ea typeface="Times New Roman" panose="02020603050405020304" pitchFamily="18" charset="0"/>
              </a:rPr>
              <a:t>The Government estimates that the following minimum level of effort will be required by the Offeror for Key Personnel in the performance of Task Order 0001.  This is the Government minimum estimate only and offerors are encouraged to propose the labor positions, hours, and skill mix they determine necessary to complete staffing of the Key Personnel requirements.  If the Offeror proposes different labor categories and labor hours from those identified below the Offeror shall describe their rationale for proposing different labor categories and/or productive hours and provide any productivity analysis used to determine their staffing and the associated measurement methodology used to arrive at proposed productive labor hours by labor category.  The Offeror shall include the skill mix and the leadership skill mix that will be used to implement the processes, methods, and tools proposed to perform the requirements in the task order, with particular attention to the DLA Distribution Process Manuals, Standard Operating Procedures (SOPs), and Flowcharts.</a:t>
            </a:r>
          </a:p>
          <a:p>
            <a:pPr marL="0" marR="0" indent="0" algn="just">
              <a:lnSpc>
                <a:spcPct val="107000"/>
              </a:lnSpc>
              <a:spcBef>
                <a:spcPts val="600"/>
              </a:spcBef>
              <a:spcAft>
                <a:spcPts val="600"/>
              </a:spcAft>
              <a:buNone/>
            </a:pPr>
            <a:endParaRPr lang="en-US" sz="1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577085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4C67A-C2E1-CF27-A804-39B5FDC82DE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F9CFCD1-B3E9-8627-5E23-F51CEDB33938}"/>
              </a:ext>
            </a:extLst>
          </p:cNvPr>
          <p:cNvSpPr>
            <a:spLocks noGrp="1" noRot="1" noMove="1" noResize="1" noEditPoints="1" noAdjustHandles="1" noChangeArrowheads="1" noChangeShapeType="1"/>
          </p:cNvSpPr>
          <p:nvPr>
            <p:ph type="title"/>
          </p:nvPr>
        </p:nvSpPr>
        <p:spPr/>
        <p:txBody>
          <a:bodyPr/>
          <a:lstStyle/>
          <a:p>
            <a:r>
              <a:rPr lang="en-US" sz="2000" dirty="0"/>
              <a:t>E-File III - Factor 2:  Program Management Office Approach</a:t>
            </a:r>
            <a:endParaRPr lang="en-US" sz="1600" dirty="0">
              <a:latin typeface="Raleway Black" pitchFamily="2" charset="0"/>
            </a:endParaRPr>
          </a:p>
        </p:txBody>
      </p:sp>
      <p:sp>
        <p:nvSpPr>
          <p:cNvPr id="7" name="Content Placeholder 2">
            <a:extLst>
              <a:ext uri="{FF2B5EF4-FFF2-40B4-BE49-F238E27FC236}">
                <a16:creationId xmlns:a16="http://schemas.microsoft.com/office/drawing/2014/main" id="{8DA3C681-7020-AADA-8BE5-A8C2471C5107}"/>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just">
              <a:lnSpc>
                <a:spcPct val="107000"/>
              </a:lnSpc>
              <a:spcAft>
                <a:spcPts val="800"/>
              </a:spcAft>
              <a:buNone/>
            </a:pPr>
            <a:r>
              <a:rPr lang="en-US" sz="1400" b="1" dirty="0">
                <a:effectLst/>
                <a:ea typeface="Calibri" panose="020F0502020204030204" pitchFamily="34" charset="0"/>
                <a:cs typeface="Times New Roman" panose="02020603050405020304" pitchFamily="18" charset="0"/>
              </a:rPr>
              <a:t>Subfactor 2.2: Disposition PMO Staffing:  (Continued)</a:t>
            </a:r>
          </a:p>
          <a:p>
            <a:endParaRPr lang="en-US" dirty="0"/>
          </a:p>
        </p:txBody>
      </p:sp>
      <p:pic>
        <p:nvPicPr>
          <p:cNvPr id="5" name="Picture 4">
            <a:extLst>
              <a:ext uri="{FF2B5EF4-FFF2-40B4-BE49-F238E27FC236}">
                <a16:creationId xmlns:a16="http://schemas.microsoft.com/office/drawing/2014/main" id="{CF285F5F-23FD-3F5B-DEB3-75B41D5DFF2B}"/>
              </a:ext>
            </a:extLst>
          </p:cNvPr>
          <p:cNvPicPr>
            <a:picLocks noChangeAspect="1"/>
          </p:cNvPicPr>
          <p:nvPr/>
        </p:nvPicPr>
        <p:blipFill>
          <a:blip r:embed="rId3"/>
          <a:stretch>
            <a:fillRect/>
          </a:stretch>
        </p:blipFill>
        <p:spPr>
          <a:xfrm>
            <a:off x="254666" y="2406316"/>
            <a:ext cx="9736556" cy="2995863"/>
          </a:xfrm>
          <a:prstGeom prst="rect">
            <a:avLst/>
          </a:prstGeom>
        </p:spPr>
      </p:pic>
    </p:spTree>
    <p:extLst>
      <p:ext uri="{BB962C8B-B14F-4D97-AF65-F5344CB8AC3E}">
        <p14:creationId xmlns:p14="http://schemas.microsoft.com/office/powerpoint/2010/main" val="16128310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6A3B-A8E4-7807-2124-4FA1ED31A5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F5EB88-18E8-DAFB-CB2E-22D4A1791FFF}"/>
              </a:ext>
            </a:extLst>
          </p:cNvPr>
          <p:cNvSpPr>
            <a:spLocks noGrp="1" noRot="1" noMove="1" noResize="1" noEditPoints="1" noAdjustHandles="1" noChangeArrowheads="1" noChangeShapeType="1"/>
          </p:cNvSpPr>
          <p:nvPr>
            <p:ph type="title"/>
          </p:nvPr>
        </p:nvSpPr>
        <p:spPr/>
        <p:txBody>
          <a:bodyPr/>
          <a:lstStyle/>
          <a:p>
            <a:r>
              <a:rPr lang="en-US" sz="1600" dirty="0"/>
              <a:t>E-File III - Factor 3: Global Readiness</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C0F72D4D-380E-0A62-731A-2682C11C0186}"/>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algn="just">
              <a:lnSpc>
                <a:spcPct val="107000"/>
              </a:lnSpc>
              <a:spcAft>
                <a:spcPts val="800"/>
              </a:spcAft>
            </a:pPr>
            <a:r>
              <a:rPr lang="en-US" sz="2000" b="1" dirty="0">
                <a:effectLst/>
                <a:ea typeface="Calibri" panose="020F0502020204030204" pitchFamily="34" charset="0"/>
                <a:cs typeface="Times New Roman" panose="02020603050405020304" pitchFamily="18" charset="0"/>
              </a:rPr>
              <a:t>Factor 3: Global Readiness</a:t>
            </a:r>
          </a:p>
          <a:p>
            <a:pPr marL="228600" marR="0" indent="0" algn="just">
              <a:lnSpc>
                <a:spcPct val="100000"/>
              </a:lnSpc>
              <a:spcBef>
                <a:spcPts val="0"/>
              </a:spcBef>
              <a:buNone/>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914400" algn="l"/>
                <a:tab pos="-4572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effectLst/>
                <a:ea typeface="Times New Roman" panose="02020603050405020304" pitchFamily="18" charset="0"/>
                <a:cs typeface="Times New Roman" panose="02020603050405020304" pitchFamily="18" charset="0"/>
              </a:rPr>
              <a:t>The offeror shall describe their ability to respond to urgent global task order requirements.   The proposal shall address how the offeror will: </a:t>
            </a:r>
          </a:p>
          <a:p>
            <a:pPr marL="0" marR="0" algn="just">
              <a:lnSpc>
                <a:spcPct val="100000"/>
              </a:lnSpc>
              <a:spcBef>
                <a:spcPts val="0"/>
              </a:spcBef>
              <a:buNone/>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914400" algn="l"/>
                <a:tab pos="-4572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effectLst/>
                <a:ea typeface="Times New Roman" panose="02020603050405020304" pitchFamily="18" charset="0"/>
                <a:cs typeface="Times New Roman" panose="02020603050405020304" pitchFamily="18" charset="0"/>
              </a:rPr>
              <a:t> </a:t>
            </a:r>
          </a:p>
          <a:p>
            <a:pPr marL="577850" marR="0" lvl="0" indent="-342900" algn="just">
              <a:lnSpc>
                <a:spcPct val="100000"/>
              </a:lnSpc>
              <a:spcBef>
                <a:spcPts val="0"/>
              </a:spcBef>
              <a:buFont typeface="+mj-lt"/>
              <a:buAutoNum type="alphaLcPeriod"/>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sz="1600" dirty="0">
                <a:effectLst/>
                <a:ea typeface="Times New Roman" panose="02020603050405020304" pitchFamily="18" charset="0"/>
                <a:cs typeface="Times New Roman" panose="02020603050405020304" pitchFamily="18" charset="0"/>
              </a:rPr>
              <a:t>Identify qualified candidates.</a:t>
            </a:r>
          </a:p>
          <a:p>
            <a:pPr marL="577850" marR="0" lvl="0" indent="-342900" algn="just">
              <a:lnSpc>
                <a:spcPct val="100000"/>
              </a:lnSpc>
              <a:spcBef>
                <a:spcPts val="0"/>
              </a:spcBef>
              <a:buFont typeface="+mj-lt"/>
              <a:buAutoNum type="alphaLcPeriod"/>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sz="1600" dirty="0">
                <a:effectLst/>
                <a:ea typeface="Times New Roman" panose="02020603050405020304" pitchFamily="18" charset="0"/>
                <a:cs typeface="Times New Roman" panose="02020603050405020304" pitchFamily="18" charset="0"/>
              </a:rPr>
              <a:t>Hire and onboard candidates.</a:t>
            </a:r>
          </a:p>
          <a:p>
            <a:pPr marL="577850" marR="0" lvl="0" indent="-342900" algn="just">
              <a:lnSpc>
                <a:spcPct val="100000"/>
              </a:lnSpc>
              <a:spcBef>
                <a:spcPts val="0"/>
              </a:spcBef>
              <a:buFont typeface="+mj-lt"/>
              <a:buAutoNum type="alphaLcPeriod"/>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sz="1600" dirty="0">
                <a:effectLst/>
                <a:ea typeface="Times New Roman" panose="02020603050405020304" pitchFamily="18" charset="0"/>
                <a:cs typeface="Times New Roman" panose="02020603050405020304" pitchFamily="18" charset="0"/>
              </a:rPr>
              <a:t>Train to standard and maintain trained to standard status for all personnel.</a:t>
            </a:r>
          </a:p>
          <a:p>
            <a:pPr marL="577850" marR="0" lvl="0" indent="-342900" algn="just">
              <a:lnSpc>
                <a:spcPct val="100000"/>
              </a:lnSpc>
              <a:spcBef>
                <a:spcPts val="0"/>
              </a:spcBef>
              <a:buFont typeface="+mj-lt"/>
              <a:buAutoNum type="alphaLcPeriod"/>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sz="1600" dirty="0">
                <a:effectLst/>
                <a:ea typeface="Times New Roman" panose="02020603050405020304" pitchFamily="18" charset="0"/>
                <a:cs typeface="Times New Roman" panose="02020603050405020304" pitchFamily="18" charset="0"/>
              </a:rPr>
              <a:t>Expedite</a:t>
            </a:r>
            <a:r>
              <a:rPr lang="en-US" sz="1600" dirty="0">
                <a:solidFill>
                  <a:srgbClr val="000000"/>
                </a:solidFill>
                <a:effectLst/>
                <a:ea typeface="Times New Roman" panose="02020603050405020304" pitchFamily="18" charset="0"/>
                <a:cs typeface="Times New Roman" panose="02020603050405020304" pitchFamily="18" charset="0"/>
              </a:rPr>
              <a:t> requirements, which may require full performance to commence in less than 30 days and may require responses to Request for Quotes within 24 hours of the request.</a:t>
            </a:r>
            <a:endParaRPr lang="en-US" sz="1600" dirty="0">
              <a:effectLst/>
              <a:ea typeface="Times New Roman" panose="02020603050405020304" pitchFamily="18" charset="0"/>
              <a:cs typeface="Times New Roman" panose="02020603050405020304" pitchFamily="18" charset="0"/>
            </a:endParaRPr>
          </a:p>
          <a:p>
            <a:pPr marL="577850" marR="0" lvl="0" indent="-342900" algn="just">
              <a:lnSpc>
                <a:spcPct val="100000"/>
              </a:lnSpc>
              <a:spcBef>
                <a:spcPts val="0"/>
              </a:spcBef>
              <a:buFont typeface="+mj-lt"/>
              <a:buAutoNum type="alphaLcPeriod"/>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sz="1600" dirty="0">
                <a:solidFill>
                  <a:srgbClr val="000000"/>
                </a:solidFill>
                <a:effectLst/>
                <a:ea typeface="Times New Roman" panose="02020603050405020304" pitchFamily="18" charset="0"/>
                <a:cs typeface="Times New Roman" panose="02020603050405020304" pitchFamily="18" charset="0"/>
              </a:rPr>
              <a:t>Deploy PMO staff, and Task Order 0003 warm contingent personnel, within 48 hours of notice.</a:t>
            </a:r>
            <a:endParaRPr lang="en-US" sz="1600" dirty="0">
              <a:effectLst/>
              <a:ea typeface="Times New Roman" panose="02020603050405020304" pitchFamily="18" charset="0"/>
              <a:cs typeface="Times New Roman" panose="02020603050405020304" pitchFamily="18" charset="0"/>
            </a:endParaRPr>
          </a:p>
          <a:p>
            <a:pPr marL="577850" marR="0" lvl="0" indent="-342900" algn="just">
              <a:lnSpc>
                <a:spcPct val="100000"/>
              </a:lnSpc>
              <a:spcBef>
                <a:spcPts val="0"/>
              </a:spcBef>
              <a:buFont typeface="+mj-lt"/>
              <a:buAutoNum type="alphaLcPeriod"/>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sz="1600" dirty="0">
                <a:solidFill>
                  <a:srgbClr val="000000"/>
                </a:solidFill>
                <a:effectLst/>
                <a:ea typeface="Times New Roman" panose="02020603050405020304" pitchFamily="18" charset="0"/>
                <a:cs typeface="Times New Roman" panose="02020603050405020304" pitchFamily="18" charset="0"/>
              </a:rPr>
              <a:t>Deploy non-key/non-TO 0003 warm contingent personnel within 22 days. </a:t>
            </a:r>
            <a:endParaRPr lang="en-US" sz="1600" dirty="0">
              <a:effectLst/>
              <a:ea typeface="Times New Roman" panose="02020603050405020304" pitchFamily="18" charset="0"/>
              <a:cs typeface="Times New Roman" panose="02020603050405020304" pitchFamily="18" charset="0"/>
            </a:endParaRPr>
          </a:p>
          <a:p>
            <a:pPr marL="577850" marR="0" lvl="0" indent="-342900" algn="just">
              <a:lnSpc>
                <a:spcPct val="100000"/>
              </a:lnSpc>
              <a:spcBef>
                <a:spcPts val="0"/>
              </a:spcBef>
              <a:buFont typeface="+mj-lt"/>
              <a:buAutoNum type="alphaLcPeriod"/>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sz="1600" dirty="0">
                <a:solidFill>
                  <a:srgbClr val="000000"/>
                </a:solidFill>
                <a:effectLst/>
                <a:ea typeface="Times New Roman" panose="02020603050405020304" pitchFamily="18" charset="0"/>
                <a:cs typeface="Times New Roman" panose="02020603050405020304" pitchFamily="18" charset="0"/>
              </a:rPr>
              <a:t>Ability to coordinate and maintain acceptable performance of distribution, disposition and warehousing support at multiple sites while establishing new locations.  </a:t>
            </a:r>
            <a:endParaRPr lang="en-US" sz="1600" dirty="0">
              <a:effectLst/>
              <a:ea typeface="Times New Roman" panose="02020603050405020304" pitchFamily="18" charset="0"/>
              <a:cs typeface="Times New Roman" panose="02020603050405020304" pitchFamily="18" charset="0"/>
            </a:endParaRPr>
          </a:p>
          <a:p>
            <a:pPr marL="577850" marR="0" lvl="0" indent="-342900" algn="just">
              <a:lnSpc>
                <a:spcPct val="100000"/>
              </a:lnSpc>
              <a:spcBef>
                <a:spcPts val="0"/>
              </a:spcBef>
              <a:buFont typeface="+mj-lt"/>
              <a:buAutoNum type="alphaLcPeriod"/>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sz="1600" dirty="0">
                <a:solidFill>
                  <a:srgbClr val="000000"/>
                </a:solidFill>
                <a:effectLst/>
                <a:ea typeface="Times New Roman" panose="02020603050405020304" pitchFamily="18" charset="0"/>
                <a:cs typeface="Times New Roman" panose="02020603050405020304" pitchFamily="18" charset="0"/>
              </a:rPr>
              <a:t>Identify what realistic reach-back capabilities the offeror’s firm maintains and what other resources are readily available to support urgent or contingent requirements. </a:t>
            </a:r>
            <a:endParaRPr lang="en-US" sz="1600" dirty="0">
              <a:effectLst/>
              <a:ea typeface="Times New Roman" panose="02020603050405020304" pitchFamily="18" charset="0"/>
              <a:cs typeface="Times New Roman" panose="02020603050405020304" pitchFamily="18" charset="0"/>
            </a:endParaRPr>
          </a:p>
          <a:p>
            <a:pPr marL="577850" marR="0" lvl="0" indent="-342900" algn="just">
              <a:lnSpc>
                <a:spcPct val="100000"/>
              </a:lnSpc>
              <a:spcBef>
                <a:spcPts val="0"/>
              </a:spcBef>
              <a:buFont typeface="+mj-lt"/>
              <a:buAutoNum type="alphaLcPeriod"/>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sz="1600" dirty="0">
                <a:solidFill>
                  <a:srgbClr val="000000"/>
                </a:solidFill>
                <a:effectLst/>
                <a:ea typeface="Times New Roman" panose="02020603050405020304" pitchFamily="18" charset="0"/>
                <a:cs typeface="Times New Roman" panose="02020603050405020304" pitchFamily="18" charset="0"/>
              </a:rPr>
              <a:t>Ability to operate within various political and diplomatic climates, policies, and requirements when working within varying CONUS and OCONUS locations.</a:t>
            </a:r>
            <a:endParaRPr lang="en-US" sz="1600" dirty="0">
              <a:effectLst/>
              <a:ea typeface="Times New Roman" panose="02020603050405020304" pitchFamily="18" charset="0"/>
              <a:cs typeface="Times New Roman" panose="02020603050405020304" pitchFamily="18" charset="0"/>
            </a:endParaRPr>
          </a:p>
          <a:p>
            <a:pPr marL="457224" lvl="1" algn="just">
              <a:lnSpc>
                <a:spcPct val="107000"/>
              </a:lnSpc>
              <a:spcAft>
                <a:spcPts val="800"/>
              </a:spcAft>
            </a:pPr>
            <a:endParaRPr lang="en-US" sz="1200" b="1" dirty="0">
              <a:effectLst/>
              <a:ea typeface="Calibri" panose="020F0502020204030204" pitchFamily="34" charset="0"/>
              <a:cs typeface="Times New Roman" panose="02020603050405020304" pitchFamily="18" charset="0"/>
            </a:endParaRPr>
          </a:p>
          <a:p>
            <a:pPr marL="0" marR="0" indent="0" algn="just">
              <a:lnSpc>
                <a:spcPct val="107000"/>
              </a:lnSpc>
              <a:spcBef>
                <a:spcPts val="600"/>
              </a:spcBef>
              <a:spcAft>
                <a:spcPts val="600"/>
              </a:spcAft>
              <a:buNone/>
            </a:pPr>
            <a:endParaRPr lang="en-US" sz="1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480084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B26E5-439E-0F4F-0B98-207CB3A1C7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878BE4-954F-A194-A797-4C92BB424000}"/>
              </a:ext>
            </a:extLst>
          </p:cNvPr>
          <p:cNvSpPr>
            <a:spLocks noGrp="1" noRot="1" noMove="1" noResize="1" noEditPoints="1" noAdjustHandles="1" noChangeArrowheads="1" noChangeShapeType="1"/>
          </p:cNvSpPr>
          <p:nvPr>
            <p:ph type="title"/>
          </p:nvPr>
        </p:nvSpPr>
        <p:spPr/>
        <p:txBody>
          <a:bodyPr/>
          <a:lstStyle/>
          <a:p>
            <a:r>
              <a:rPr lang="en-US" sz="1800" dirty="0"/>
              <a:t>E-FILE IV – Factor 4: Small Business Participation </a:t>
            </a:r>
            <a:br>
              <a:rPr lang="en-US" sz="1800" dirty="0"/>
            </a:br>
            <a:r>
              <a:rPr lang="en-US" sz="1800" dirty="0"/>
              <a:t>Commitment Document </a:t>
            </a:r>
            <a:endParaRPr lang="en-US" sz="1600" dirty="0">
              <a:latin typeface="Raleway Black" pitchFamily="2" charset="0"/>
            </a:endParaRPr>
          </a:p>
        </p:txBody>
      </p:sp>
      <p:sp>
        <p:nvSpPr>
          <p:cNvPr id="7" name="Content Placeholder 2">
            <a:extLst>
              <a:ext uri="{FF2B5EF4-FFF2-40B4-BE49-F238E27FC236}">
                <a16:creationId xmlns:a16="http://schemas.microsoft.com/office/drawing/2014/main" id="{68E97263-8F7B-A0E7-F2F5-A0473CD11BD0}"/>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3" name="TextBox 2">
            <a:extLst>
              <a:ext uri="{FF2B5EF4-FFF2-40B4-BE49-F238E27FC236}">
                <a16:creationId xmlns:a16="http://schemas.microsoft.com/office/drawing/2014/main" id="{F5305665-1CA3-83D0-050C-29EF0E5047A4}"/>
              </a:ext>
            </a:extLst>
          </p:cNvPr>
          <p:cNvSpPr txBox="1"/>
          <p:nvPr/>
        </p:nvSpPr>
        <p:spPr>
          <a:xfrm>
            <a:off x="1732547" y="3430550"/>
            <a:ext cx="6066923" cy="1200329"/>
          </a:xfrm>
          <a:prstGeom prst="rect">
            <a:avLst/>
          </a:prstGeom>
          <a:noFill/>
        </p:spPr>
        <p:txBody>
          <a:bodyPr wrap="square">
            <a:spAutoFit/>
          </a:bodyPr>
          <a:lstStyle/>
          <a:p>
            <a:pPr algn="ctr">
              <a:defRPr/>
            </a:pPr>
            <a:r>
              <a:rPr lang="en-US" altLang="en-US" sz="2400" b="1" dirty="0">
                <a:solidFill>
                  <a:prstClr val="black"/>
                </a:solidFill>
                <a:ea typeface="+mj-ea"/>
                <a:cs typeface="Arial" charset="0"/>
              </a:rPr>
              <a:t>E-FILE IV</a:t>
            </a:r>
          </a:p>
          <a:p>
            <a:pPr algn="ctr">
              <a:defRPr/>
            </a:pPr>
            <a:r>
              <a:rPr lang="en-US" altLang="en-US" sz="2400" b="1" dirty="0">
                <a:solidFill>
                  <a:prstClr val="black"/>
                </a:solidFill>
                <a:ea typeface="+mj-ea"/>
                <a:cs typeface="Arial" charset="0"/>
              </a:rPr>
              <a:t>SMALL BUSINESS PARTICIPATION COMMITMENT DOCUMENT</a:t>
            </a:r>
            <a:endParaRPr lang="en-US" altLang="en-US" dirty="0">
              <a:solidFill>
                <a:prstClr val="black"/>
              </a:solidFill>
              <a:ea typeface="+mj-ea"/>
              <a:cs typeface="Arial" charset="0"/>
            </a:endParaRPr>
          </a:p>
        </p:txBody>
      </p:sp>
    </p:spTree>
    <p:extLst>
      <p:ext uri="{BB962C8B-B14F-4D97-AF65-F5344CB8AC3E}">
        <p14:creationId xmlns:p14="http://schemas.microsoft.com/office/powerpoint/2010/main" val="10605876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0F8AA-BD6B-4778-A6CC-FD6907FF010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E7C769-BC0B-2C9B-35E4-50D6FAAB8E76}"/>
              </a:ext>
            </a:extLst>
          </p:cNvPr>
          <p:cNvSpPr>
            <a:spLocks noGrp="1" noRot="1" noMove="1" noResize="1" noEditPoints="1" noAdjustHandles="1" noChangeArrowheads="1" noChangeShapeType="1"/>
          </p:cNvSpPr>
          <p:nvPr>
            <p:ph type="title"/>
          </p:nvPr>
        </p:nvSpPr>
        <p:spPr/>
        <p:txBody>
          <a:bodyPr/>
          <a:lstStyle/>
          <a:p>
            <a:r>
              <a:rPr lang="en-US" sz="1600" dirty="0"/>
              <a:t>E-File IV - Factor 4: Small business Participation Commitment Document</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B3751A27-8DFF-D3E1-6495-A2889D524FE7}"/>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algn="just">
              <a:lnSpc>
                <a:spcPct val="107000"/>
              </a:lnSpc>
              <a:spcAft>
                <a:spcPts val="800"/>
              </a:spcAft>
            </a:pPr>
            <a:r>
              <a:rPr lang="en-US" sz="2000" b="1" dirty="0">
                <a:effectLst/>
                <a:ea typeface="Calibri" panose="020F0502020204030204" pitchFamily="34" charset="0"/>
                <a:cs typeface="Times New Roman" panose="02020603050405020304" pitchFamily="18" charset="0"/>
              </a:rPr>
              <a:t>Factor 4: Small Business Participation Document</a:t>
            </a:r>
          </a:p>
          <a:p>
            <a:pPr lvl="1"/>
            <a:r>
              <a:rPr lang="en-US" altLang="en-US" sz="1600" dirty="0"/>
              <a:t>Other than small businesses must complete and provide all the information required of this section.</a:t>
            </a:r>
          </a:p>
          <a:p>
            <a:pPr lvl="1"/>
            <a:r>
              <a:rPr lang="en-US" altLang="en-US" sz="1600" dirty="0"/>
              <a:t>This is in addition to the Subcontracting Plan.</a:t>
            </a:r>
          </a:p>
          <a:p>
            <a:pPr lvl="1"/>
            <a:r>
              <a:rPr lang="en-US" altLang="en-US" sz="1600" dirty="0"/>
              <a:t>Will be incorporated into the resultant contract.</a:t>
            </a:r>
          </a:p>
          <a:p>
            <a:pPr marL="457224" lvl="1" algn="just">
              <a:lnSpc>
                <a:spcPct val="107000"/>
              </a:lnSpc>
              <a:spcAft>
                <a:spcPts val="800"/>
              </a:spcAft>
            </a:pPr>
            <a:endParaRPr lang="en-US" sz="1000" b="1" dirty="0">
              <a:effectLst/>
              <a:ea typeface="Calibri" panose="020F0502020204030204" pitchFamily="34" charset="0"/>
              <a:cs typeface="Times New Roman" panose="02020603050405020304" pitchFamily="18" charset="0"/>
            </a:endParaRPr>
          </a:p>
          <a:p>
            <a:pPr marL="0" marR="0" indent="0" algn="just">
              <a:lnSpc>
                <a:spcPct val="107000"/>
              </a:lnSpc>
              <a:spcBef>
                <a:spcPts val="600"/>
              </a:spcBef>
              <a:spcAft>
                <a:spcPts val="600"/>
              </a:spcAft>
              <a:buNone/>
            </a:pPr>
            <a:endParaRPr lang="en-US" sz="1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7392666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8D911-C3D6-94DC-E026-23B01D24F6E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2FBC78-8095-1329-CD52-5D7B36C0E5A0}"/>
              </a:ext>
            </a:extLst>
          </p:cNvPr>
          <p:cNvSpPr>
            <a:spLocks noGrp="1" noRot="1" noMove="1" noResize="1" noEditPoints="1" noAdjustHandles="1" noChangeArrowheads="1" noChangeShapeType="1"/>
          </p:cNvSpPr>
          <p:nvPr>
            <p:ph type="title"/>
          </p:nvPr>
        </p:nvSpPr>
        <p:spPr/>
        <p:txBody>
          <a:bodyPr/>
          <a:lstStyle/>
          <a:p>
            <a:r>
              <a:rPr lang="en-US" sz="1600" dirty="0"/>
              <a:t>E-File IV - Factor 4: Small business Participation Commitment Document</a:t>
            </a:r>
            <a:endParaRPr lang="en-US" sz="1200" dirty="0">
              <a:latin typeface="Raleway Black" pitchFamily="2" charset="0"/>
            </a:endParaRPr>
          </a:p>
        </p:txBody>
      </p:sp>
      <p:sp>
        <p:nvSpPr>
          <p:cNvPr id="7" name="Content Placeholder 2">
            <a:extLst>
              <a:ext uri="{FF2B5EF4-FFF2-40B4-BE49-F238E27FC236}">
                <a16:creationId xmlns:a16="http://schemas.microsoft.com/office/drawing/2014/main" id="{7819B264-3099-3703-B35C-56577E0A669B}"/>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algn="just">
              <a:lnSpc>
                <a:spcPct val="107000"/>
              </a:lnSpc>
              <a:spcAft>
                <a:spcPts val="800"/>
              </a:spcAft>
            </a:pPr>
            <a:r>
              <a:rPr lang="en-US" sz="2000" b="1" dirty="0">
                <a:effectLst/>
                <a:ea typeface="Calibri" panose="020F0502020204030204" pitchFamily="34" charset="0"/>
                <a:cs typeface="Times New Roman" panose="02020603050405020304" pitchFamily="18" charset="0"/>
              </a:rPr>
              <a:t>Factor 4: Small Business Participation Document (continued)</a:t>
            </a:r>
          </a:p>
          <a:p>
            <a:pPr lvl="1"/>
            <a:r>
              <a:rPr lang="en-US" altLang="en-US" sz="1400" dirty="0"/>
              <a:t>Complete table and provide documentation supporting the nature of commitment.</a:t>
            </a:r>
          </a:p>
          <a:p>
            <a:pPr marL="914446" lvl="2" algn="just">
              <a:lnSpc>
                <a:spcPct val="107000"/>
              </a:lnSpc>
              <a:spcAft>
                <a:spcPts val="800"/>
              </a:spcAft>
            </a:pPr>
            <a:endParaRPr lang="en-US" sz="800" b="1" dirty="0">
              <a:effectLst/>
              <a:ea typeface="Calibri" panose="020F0502020204030204" pitchFamily="34" charset="0"/>
              <a:cs typeface="Times New Roman" panose="02020603050405020304" pitchFamily="18" charset="0"/>
            </a:endParaRPr>
          </a:p>
          <a:p>
            <a:pPr marL="0" marR="0" indent="0" algn="just">
              <a:lnSpc>
                <a:spcPct val="107000"/>
              </a:lnSpc>
              <a:spcBef>
                <a:spcPts val="600"/>
              </a:spcBef>
              <a:spcAft>
                <a:spcPts val="600"/>
              </a:spcAft>
              <a:buNone/>
            </a:pPr>
            <a:endParaRPr lang="en-US" sz="1400" dirty="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0ECB67A-DB89-D2D5-3154-75A221E47033}"/>
              </a:ext>
            </a:extLst>
          </p:cNvPr>
          <p:cNvPicPr>
            <a:picLocks noChangeAspect="1"/>
          </p:cNvPicPr>
          <p:nvPr/>
        </p:nvPicPr>
        <p:blipFill>
          <a:blip r:embed="rId3"/>
          <a:stretch>
            <a:fillRect/>
          </a:stretch>
        </p:blipFill>
        <p:spPr>
          <a:xfrm>
            <a:off x="1478920" y="2249992"/>
            <a:ext cx="6611273" cy="1728728"/>
          </a:xfrm>
          <a:prstGeom prst="rect">
            <a:avLst/>
          </a:prstGeom>
        </p:spPr>
      </p:pic>
      <p:sp>
        <p:nvSpPr>
          <p:cNvPr id="6" name="TextBox 5">
            <a:extLst>
              <a:ext uri="{FF2B5EF4-FFF2-40B4-BE49-F238E27FC236}">
                <a16:creationId xmlns:a16="http://schemas.microsoft.com/office/drawing/2014/main" id="{7A66C904-1B46-44BB-F7E8-AC58772AA78B}"/>
              </a:ext>
            </a:extLst>
          </p:cNvPr>
          <p:cNvSpPr txBox="1"/>
          <p:nvPr/>
        </p:nvSpPr>
        <p:spPr>
          <a:xfrm>
            <a:off x="451685" y="4065196"/>
            <a:ext cx="9459829" cy="1077218"/>
          </a:xfrm>
          <a:prstGeom prst="rect">
            <a:avLst/>
          </a:prstGeom>
          <a:noFill/>
        </p:spPr>
        <p:txBody>
          <a:bodyPr wrap="square">
            <a:spAutoFit/>
          </a:bodyPr>
          <a:lstStyle/>
          <a:p>
            <a:pPr marL="288925" lvl="1" indent="-228600">
              <a:buFont typeface="Courier New" panose="02070309020205020404" pitchFamily="49" charset="0"/>
              <a:buChar char="o"/>
            </a:pPr>
            <a:r>
              <a:rPr lang="en-US" altLang="en-US" sz="1600" dirty="0"/>
              <a:t>The Government’s Small Business Minimum Quantitative Requirement (MQR) for this effort is as follows: Overall Total Small Business – 20 percent (to include all socioeconomic categories). There is no MQR established at the socioeconomic category level.  Use the table/format below in proposing this required information.</a:t>
            </a:r>
          </a:p>
        </p:txBody>
      </p:sp>
      <p:pic>
        <p:nvPicPr>
          <p:cNvPr id="9" name="Picture 8">
            <a:extLst>
              <a:ext uri="{FF2B5EF4-FFF2-40B4-BE49-F238E27FC236}">
                <a16:creationId xmlns:a16="http://schemas.microsoft.com/office/drawing/2014/main" id="{F63649D1-A792-0778-95DB-154C38F0F509}"/>
              </a:ext>
            </a:extLst>
          </p:cNvPr>
          <p:cNvPicPr>
            <a:picLocks noChangeAspect="1"/>
          </p:cNvPicPr>
          <p:nvPr/>
        </p:nvPicPr>
        <p:blipFill>
          <a:blip r:embed="rId4"/>
          <a:stretch>
            <a:fillRect/>
          </a:stretch>
        </p:blipFill>
        <p:spPr>
          <a:xfrm>
            <a:off x="1250288" y="5197705"/>
            <a:ext cx="7068536" cy="2086266"/>
          </a:xfrm>
          <a:prstGeom prst="rect">
            <a:avLst/>
          </a:prstGeom>
        </p:spPr>
      </p:pic>
    </p:spTree>
    <p:extLst>
      <p:ext uri="{BB962C8B-B14F-4D97-AF65-F5344CB8AC3E}">
        <p14:creationId xmlns:p14="http://schemas.microsoft.com/office/powerpoint/2010/main" val="5424630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3F5A3-37F7-69B8-4C53-924BB0A8E3B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80CF7A-BC55-3C3B-3252-966D3A69E147}"/>
              </a:ext>
            </a:extLst>
          </p:cNvPr>
          <p:cNvSpPr>
            <a:spLocks noGrp="1" noRot="1" noMove="1" noResize="1" noEditPoints="1" noAdjustHandles="1" noChangeArrowheads="1" noChangeShapeType="1"/>
          </p:cNvSpPr>
          <p:nvPr>
            <p:ph type="title"/>
          </p:nvPr>
        </p:nvSpPr>
        <p:spPr/>
        <p:txBody>
          <a:bodyPr/>
          <a:lstStyle/>
          <a:p>
            <a:r>
              <a:rPr lang="en-US" sz="1800" dirty="0"/>
              <a:t>E-File V –Cost Proposal</a:t>
            </a:r>
            <a:endParaRPr lang="en-US" sz="1600" dirty="0">
              <a:latin typeface="Raleway Black" pitchFamily="2" charset="0"/>
            </a:endParaRPr>
          </a:p>
        </p:txBody>
      </p:sp>
      <p:sp>
        <p:nvSpPr>
          <p:cNvPr id="7" name="Content Placeholder 2">
            <a:extLst>
              <a:ext uri="{FF2B5EF4-FFF2-40B4-BE49-F238E27FC236}">
                <a16:creationId xmlns:a16="http://schemas.microsoft.com/office/drawing/2014/main" id="{DFC5AC61-BA60-64B9-F28D-0F9705A6ED68}"/>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endParaRPr lang="en-US" altLang="en-US" sz="2400" b="1" dirty="0">
              <a:solidFill>
                <a:prstClr val="black"/>
              </a:solidFill>
              <a:ea typeface="+mj-ea"/>
              <a:cs typeface="Arial" charset="0"/>
            </a:endParaRPr>
          </a:p>
          <a:p>
            <a:pPr marL="0" indent="0" algn="ctr">
              <a:buNone/>
              <a:defRPr/>
            </a:pPr>
            <a:endParaRPr lang="en-US" altLang="en-US" b="1" dirty="0">
              <a:solidFill>
                <a:prstClr val="black"/>
              </a:solidFill>
              <a:ea typeface="+mj-ea"/>
              <a:cs typeface="Arial" charset="0"/>
            </a:endParaRPr>
          </a:p>
          <a:p>
            <a:pPr marL="0" indent="0" algn="ctr">
              <a:buNone/>
              <a:defRPr/>
            </a:pPr>
            <a:endParaRPr lang="en-US" altLang="en-US" sz="2400" b="1" dirty="0">
              <a:solidFill>
                <a:prstClr val="black"/>
              </a:solidFill>
              <a:ea typeface="+mj-ea"/>
              <a:cs typeface="Arial" charset="0"/>
            </a:endParaRPr>
          </a:p>
          <a:p>
            <a:pPr marL="0" indent="0" algn="ctr">
              <a:buNone/>
              <a:defRPr/>
            </a:pPr>
            <a:endParaRPr lang="en-US" altLang="en-US" b="1" dirty="0">
              <a:solidFill>
                <a:prstClr val="black"/>
              </a:solidFill>
              <a:ea typeface="+mj-ea"/>
              <a:cs typeface="Arial" charset="0"/>
            </a:endParaRPr>
          </a:p>
          <a:p>
            <a:pPr marL="0" indent="0" algn="ctr">
              <a:buNone/>
              <a:defRPr/>
            </a:pPr>
            <a:r>
              <a:rPr lang="en-US" altLang="en-US" sz="2400" b="1" dirty="0">
                <a:solidFill>
                  <a:prstClr val="black"/>
                </a:solidFill>
                <a:ea typeface="+mj-ea"/>
                <a:cs typeface="Arial" charset="0"/>
              </a:rPr>
              <a:t>E-FILE V</a:t>
            </a:r>
          </a:p>
          <a:p>
            <a:pPr marL="0" indent="0" algn="ctr">
              <a:lnSpc>
                <a:spcPct val="90000"/>
              </a:lnSpc>
              <a:buFont typeface="Arial" panose="020B0604020202020204" pitchFamily="34" charset="0"/>
              <a:buNone/>
            </a:pPr>
            <a:r>
              <a:rPr lang="en-US" altLang="en-US" sz="2400" b="1" dirty="0"/>
              <a:t>COST PROPOSAL</a:t>
            </a:r>
          </a:p>
          <a:p>
            <a:endParaRPr lang="en-US" dirty="0"/>
          </a:p>
        </p:txBody>
      </p:sp>
    </p:spTree>
    <p:extLst>
      <p:ext uri="{BB962C8B-B14F-4D97-AF65-F5344CB8AC3E}">
        <p14:creationId xmlns:p14="http://schemas.microsoft.com/office/powerpoint/2010/main" val="172262931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7606E-6EDE-D576-C965-415804D0A17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7A5E1D-6BA0-CD2A-025A-9682BF80A175}"/>
              </a:ext>
            </a:extLst>
          </p:cNvPr>
          <p:cNvSpPr>
            <a:spLocks noGrp="1" noRot="1" noMove="1" noResize="1" noEditPoints="1" noAdjustHandles="1" noChangeArrowheads="1" noChangeShapeType="1"/>
          </p:cNvSpPr>
          <p:nvPr>
            <p:ph type="title"/>
          </p:nvPr>
        </p:nvSpPr>
        <p:spPr/>
        <p:txBody>
          <a:bodyPr/>
          <a:lstStyle/>
          <a:p>
            <a:r>
              <a:rPr lang="en-US" sz="1800" dirty="0"/>
              <a:t>E-File V – Cost Proposal</a:t>
            </a:r>
            <a:endParaRPr lang="en-US" sz="1600" dirty="0">
              <a:latin typeface="Raleway Black" pitchFamily="2" charset="0"/>
            </a:endParaRPr>
          </a:p>
        </p:txBody>
      </p:sp>
      <p:sp>
        <p:nvSpPr>
          <p:cNvPr id="7" name="Content Placeholder 2">
            <a:extLst>
              <a:ext uri="{FF2B5EF4-FFF2-40B4-BE49-F238E27FC236}">
                <a16:creationId xmlns:a16="http://schemas.microsoft.com/office/drawing/2014/main" id="{F6660A02-04FF-8337-FF0E-323627482EFA}"/>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en-US" dirty="0">
                <a:solidFill>
                  <a:prstClr val="black"/>
                </a:solidFill>
              </a:rPr>
              <a:t>Key Points:</a:t>
            </a:r>
          </a:p>
          <a:p>
            <a:pPr lvl="1">
              <a:buFont typeface="Arial" panose="020B0604020202020204" pitchFamily="34" charset="0"/>
              <a:buChar char="–"/>
            </a:pPr>
            <a:r>
              <a:rPr lang="en-US" altLang="en-US" sz="2000" dirty="0">
                <a:solidFill>
                  <a:prstClr val="black"/>
                </a:solidFill>
              </a:rPr>
              <a:t>Submit all required tables in </a:t>
            </a:r>
            <a:r>
              <a:rPr lang="en-US" altLang="en-US" sz="2000" b="1" dirty="0">
                <a:solidFill>
                  <a:srgbClr val="0000FF"/>
                </a:solidFill>
              </a:rPr>
              <a:t>MS EXCEL</a:t>
            </a:r>
            <a:r>
              <a:rPr lang="en-US" altLang="en-US" sz="2000" dirty="0">
                <a:solidFill>
                  <a:prstClr val="black"/>
                </a:solidFill>
              </a:rPr>
              <a:t>.  Do not hide formulas or cells.  Do not lock cells. The Government must be able to replicate the calculations.</a:t>
            </a:r>
          </a:p>
          <a:p>
            <a:pPr lvl="1">
              <a:buFont typeface="Arial" panose="020B0604020202020204" pitchFamily="34" charset="0"/>
              <a:buChar char="–"/>
            </a:pPr>
            <a:r>
              <a:rPr lang="en-US" altLang="en-US" sz="2000" dirty="0">
                <a:solidFill>
                  <a:prstClr val="black"/>
                </a:solidFill>
              </a:rPr>
              <a:t>Cost Proposal Summary is required.</a:t>
            </a:r>
          </a:p>
          <a:p>
            <a:pPr lvl="1">
              <a:buFont typeface="Arial" panose="020B0604020202020204" pitchFamily="34" charset="0"/>
              <a:buChar char="–"/>
            </a:pPr>
            <a:r>
              <a:rPr lang="en-US" altLang="en-US" sz="2000" dirty="0">
                <a:solidFill>
                  <a:prstClr val="black"/>
                </a:solidFill>
              </a:rPr>
              <a:t>Cost Breakdown is required for ALL CLINs.</a:t>
            </a:r>
          </a:p>
          <a:p>
            <a:pPr lvl="1">
              <a:buFont typeface="Arial" panose="020B0604020202020204" pitchFamily="34" charset="0"/>
              <a:buChar char="–"/>
            </a:pPr>
            <a:r>
              <a:rPr lang="en-US" altLang="en-US" sz="2000" dirty="0">
                <a:solidFill>
                  <a:prstClr val="black"/>
                </a:solidFill>
              </a:rPr>
              <a:t>For any major subcontractor (defined as those providing 20% of total dollar threshold AND/OR 25% of total man-hour effort)  proposal shall include subcontractor cost data in the same level of detail as provided by the prime contractor. </a:t>
            </a:r>
          </a:p>
          <a:p>
            <a:pPr lvl="1">
              <a:buFont typeface="Arial" panose="020B0604020202020204" pitchFamily="34" charset="0"/>
              <a:buChar char="–"/>
            </a:pPr>
            <a:r>
              <a:rPr lang="en-US" altLang="en-US" sz="2000" dirty="0">
                <a:solidFill>
                  <a:prstClr val="black"/>
                </a:solidFill>
              </a:rPr>
              <a:t>If a subcontractor elects to submit the detailed breakdown for their labor costs directly to the Government, the prime Offeror must still complete portions of the Subcontracting Labor Tables.  This will ensure that the Offeror’s proposal contains an accurate price.</a:t>
            </a:r>
          </a:p>
          <a:p>
            <a:endParaRPr lang="en-US" dirty="0"/>
          </a:p>
        </p:txBody>
      </p:sp>
    </p:spTree>
    <p:extLst>
      <p:ext uri="{BB962C8B-B14F-4D97-AF65-F5344CB8AC3E}">
        <p14:creationId xmlns:p14="http://schemas.microsoft.com/office/powerpoint/2010/main" val="376393800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7410A-224C-D79F-7FC1-52100F0918E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2341C9C-AFA1-84A2-9371-1F5624EBEC40}"/>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C6E45061-83F1-F790-0F20-118E198248E5}"/>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Cost/Price Proposal Summary Table</a:t>
            </a:r>
          </a:p>
          <a:p>
            <a:endParaRPr lang="en-US" dirty="0"/>
          </a:p>
        </p:txBody>
      </p:sp>
      <p:pic>
        <p:nvPicPr>
          <p:cNvPr id="6" name="Picture 5">
            <a:extLst>
              <a:ext uri="{FF2B5EF4-FFF2-40B4-BE49-F238E27FC236}">
                <a16:creationId xmlns:a16="http://schemas.microsoft.com/office/drawing/2014/main" id="{A72B34FC-AF28-A094-5AED-2F7C5DA5C99E}"/>
              </a:ext>
            </a:extLst>
          </p:cNvPr>
          <p:cNvPicPr>
            <a:picLocks noChangeAspect="1"/>
          </p:cNvPicPr>
          <p:nvPr/>
        </p:nvPicPr>
        <p:blipFill>
          <a:blip r:embed="rId3"/>
          <a:stretch>
            <a:fillRect/>
          </a:stretch>
        </p:blipFill>
        <p:spPr>
          <a:xfrm>
            <a:off x="589547" y="1950219"/>
            <a:ext cx="8879306" cy="3498299"/>
          </a:xfrm>
          <a:prstGeom prst="rect">
            <a:avLst/>
          </a:prstGeom>
        </p:spPr>
      </p:pic>
      <p:sp>
        <p:nvSpPr>
          <p:cNvPr id="9" name="TextBox 8">
            <a:extLst>
              <a:ext uri="{FF2B5EF4-FFF2-40B4-BE49-F238E27FC236}">
                <a16:creationId xmlns:a16="http://schemas.microsoft.com/office/drawing/2014/main" id="{495C7371-990A-F0D0-B91D-452D9E0847EC}"/>
              </a:ext>
            </a:extLst>
          </p:cNvPr>
          <p:cNvSpPr txBox="1"/>
          <p:nvPr/>
        </p:nvSpPr>
        <p:spPr>
          <a:xfrm>
            <a:off x="320842" y="5352330"/>
            <a:ext cx="9721515" cy="1815882"/>
          </a:xfrm>
          <a:prstGeom prst="rect">
            <a:avLst/>
          </a:prstGeom>
          <a:noFill/>
        </p:spPr>
        <p:txBody>
          <a:bodyPr wrap="square">
            <a:spAutoFit/>
          </a:bodyPr>
          <a:lstStyle/>
          <a:p>
            <a:pPr marL="0" marR="0" algn="just">
              <a:tabLst>
                <a:tab pos="-914400" algn="l"/>
                <a:tab pos="-457200" algn="l"/>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914400" algn="l"/>
                <a:tab pos="-4572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Offerors shall insert their total estimated cost inclusive of fixed fee per year for CLINs X001 and X002. Offerors shall insert and apply their G&amp;A, Material Handling Rate or applicable indirect rate supported by the offerors accounting system to the Government Provided Estimated Cost for CLINs X003 and X004.  The Offeror’s proposed Estimated Value is equal to the Government Provided Estimated Cost plus the Offeror’s G&amp;A or Material Handling cost.  The Estimated Cost is provided in the spreadsheet requirements for CLINs X003 and X004 listed below.  Fee is not allowable under CLINs X003 and X004.  Offerors shall insert their proposed Firm-Fixed-Price for CLINs 0006 and 0007. </a:t>
            </a:r>
            <a:endParaRPr lang="en-US" sz="2400" dirty="0">
              <a:effectLst/>
              <a:latin typeface="Courier"/>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752339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C4B2E-C034-DD9E-F7AC-7C56727225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B9E211-9F2C-5A78-8024-809506322B9C}"/>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F1CFD504-EF6A-2A85-8BC1-0650C7A18784}"/>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CLIN X001 – DISTRIBUTION SUPPORT SERVICE LABOR</a:t>
            </a:r>
          </a:p>
          <a:p>
            <a:pPr marL="457200" indent="-228600">
              <a:buFont typeface="Courier New" panose="02070309020205020404" pitchFamily="49" charset="0"/>
              <a:buChar char="o"/>
            </a:pPr>
            <a:r>
              <a:rPr lang="en-US" sz="1800" dirty="0">
                <a:effectLst/>
                <a:latin typeface="Times New Roman" panose="02020603050405020304" pitchFamily="18" charset="0"/>
                <a:ea typeface="Times New Roman" panose="02020603050405020304" pitchFamily="18" charset="0"/>
              </a:rPr>
              <a:t>Offerors shall complete the tables below for each performance period utilizing the labor categories and hours provided by the Government for the base IDIQ contract. </a:t>
            </a:r>
          </a:p>
          <a:p>
            <a:pPr marL="457200" indent="-228600">
              <a:buFont typeface="Courier New" panose="02070309020205020404" pitchFamily="49" charset="0"/>
              <a:buChar char="o"/>
            </a:pPr>
            <a:endParaRPr lang="en-US" dirty="0"/>
          </a:p>
        </p:txBody>
      </p:sp>
      <p:pic>
        <p:nvPicPr>
          <p:cNvPr id="3" name="Picture 2">
            <a:extLst>
              <a:ext uri="{FF2B5EF4-FFF2-40B4-BE49-F238E27FC236}">
                <a16:creationId xmlns:a16="http://schemas.microsoft.com/office/drawing/2014/main" id="{8E6C10E4-FB67-229F-6288-423177777038}"/>
              </a:ext>
            </a:extLst>
          </p:cNvPr>
          <p:cNvPicPr>
            <a:picLocks noChangeAspect="1"/>
          </p:cNvPicPr>
          <p:nvPr/>
        </p:nvPicPr>
        <p:blipFill>
          <a:blip r:embed="rId3"/>
          <a:stretch>
            <a:fillRect/>
          </a:stretch>
        </p:blipFill>
        <p:spPr>
          <a:xfrm>
            <a:off x="699353" y="2562250"/>
            <a:ext cx="8964493" cy="2277078"/>
          </a:xfrm>
          <a:prstGeom prst="rect">
            <a:avLst/>
          </a:prstGeom>
        </p:spPr>
      </p:pic>
      <p:pic>
        <p:nvPicPr>
          <p:cNvPr id="8" name="Picture 7">
            <a:extLst>
              <a:ext uri="{FF2B5EF4-FFF2-40B4-BE49-F238E27FC236}">
                <a16:creationId xmlns:a16="http://schemas.microsoft.com/office/drawing/2014/main" id="{6EEA810A-29A7-F72D-911B-649AD7962C63}"/>
              </a:ext>
            </a:extLst>
          </p:cNvPr>
          <p:cNvPicPr>
            <a:picLocks noChangeAspect="1"/>
          </p:cNvPicPr>
          <p:nvPr/>
        </p:nvPicPr>
        <p:blipFill>
          <a:blip r:embed="rId4"/>
          <a:stretch>
            <a:fillRect/>
          </a:stretch>
        </p:blipFill>
        <p:spPr>
          <a:xfrm>
            <a:off x="699353" y="5248804"/>
            <a:ext cx="8964493" cy="1906312"/>
          </a:xfrm>
          <a:prstGeom prst="rect">
            <a:avLst/>
          </a:prstGeom>
        </p:spPr>
      </p:pic>
    </p:spTree>
    <p:extLst>
      <p:ext uri="{BB962C8B-B14F-4D97-AF65-F5344CB8AC3E}">
        <p14:creationId xmlns:p14="http://schemas.microsoft.com/office/powerpoint/2010/main" val="111406885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9F7FF-EB18-35B1-B8C8-B2A56585F3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4107C0-82F6-80A3-64F3-A8669EBFABC3}"/>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4C57AA3B-BB3E-C559-EA3A-0E6E8B3E07AC}"/>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CLIN X001 – DISTRIBUTION SUPPORT SERVICE LABOR</a:t>
            </a:r>
          </a:p>
          <a:p>
            <a:pPr marL="457200" indent="-228600">
              <a:buFont typeface="Courier New" panose="02070309020205020404" pitchFamily="49" charset="0"/>
              <a:buChar char="o"/>
            </a:pPr>
            <a:r>
              <a:rPr lang="en-US" sz="1800" dirty="0">
                <a:effectLst/>
                <a:latin typeface="Times New Roman" panose="02020603050405020304" pitchFamily="18" charset="0"/>
                <a:ea typeface="Times New Roman" panose="02020603050405020304" pitchFamily="18" charset="0"/>
              </a:rPr>
              <a:t>Summary Table:</a:t>
            </a:r>
          </a:p>
          <a:p>
            <a:pPr marL="457200" indent="-228600">
              <a:buFont typeface="Courier New" panose="02070309020205020404" pitchFamily="49" charset="0"/>
              <a:buChar char="o"/>
            </a:pPr>
            <a:endParaRPr lang="en-US" dirty="0"/>
          </a:p>
        </p:txBody>
      </p:sp>
      <p:pic>
        <p:nvPicPr>
          <p:cNvPr id="5" name="Picture 4">
            <a:extLst>
              <a:ext uri="{FF2B5EF4-FFF2-40B4-BE49-F238E27FC236}">
                <a16:creationId xmlns:a16="http://schemas.microsoft.com/office/drawing/2014/main" id="{E75C655F-9AF4-809D-3D69-1F8CBAEEC93B}"/>
              </a:ext>
            </a:extLst>
          </p:cNvPr>
          <p:cNvPicPr>
            <a:picLocks noChangeAspect="1"/>
          </p:cNvPicPr>
          <p:nvPr/>
        </p:nvPicPr>
        <p:blipFill>
          <a:blip r:embed="rId3"/>
          <a:stretch>
            <a:fillRect/>
          </a:stretch>
        </p:blipFill>
        <p:spPr>
          <a:xfrm>
            <a:off x="543327" y="2562727"/>
            <a:ext cx="9020398" cy="2176080"/>
          </a:xfrm>
          <a:prstGeom prst="rect">
            <a:avLst/>
          </a:prstGeom>
        </p:spPr>
      </p:pic>
    </p:spTree>
    <p:extLst>
      <p:ext uri="{BB962C8B-B14F-4D97-AF65-F5344CB8AC3E}">
        <p14:creationId xmlns:p14="http://schemas.microsoft.com/office/powerpoint/2010/main" val="23663100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D18BA-591E-8052-D3F8-E490956A99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D2E64C0-5CE3-BDA5-20AE-6E549361BF31}"/>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0E2BD2AA-835B-CB90-6511-FA760378A69D}"/>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CLIN X002 – DISPOSITION SERVICES SUPPORT SERVICE LABOR</a:t>
            </a:r>
          </a:p>
          <a:p>
            <a:pPr marL="457200" indent="-228600">
              <a:buFont typeface="Courier New" panose="02070309020205020404" pitchFamily="49" charset="0"/>
              <a:buChar char="o"/>
            </a:pPr>
            <a:r>
              <a:rPr lang="en-US" sz="1800" dirty="0">
                <a:effectLst/>
                <a:latin typeface="Times New Roman" panose="02020603050405020304" pitchFamily="18" charset="0"/>
                <a:ea typeface="Times New Roman" panose="02020603050405020304" pitchFamily="18" charset="0"/>
              </a:rPr>
              <a:t>Offerors shall complete the tables below for each performance period utilizing the labor categories and hours provided by the Government for the base IDIQ contract. </a:t>
            </a:r>
          </a:p>
          <a:p>
            <a:pPr marL="457200" indent="-228600">
              <a:buFont typeface="Courier New" panose="02070309020205020404" pitchFamily="49" charset="0"/>
              <a:buChar char="o"/>
            </a:pPr>
            <a:endParaRPr lang="en-US" dirty="0"/>
          </a:p>
        </p:txBody>
      </p:sp>
      <p:pic>
        <p:nvPicPr>
          <p:cNvPr id="5" name="Picture 4">
            <a:extLst>
              <a:ext uri="{FF2B5EF4-FFF2-40B4-BE49-F238E27FC236}">
                <a16:creationId xmlns:a16="http://schemas.microsoft.com/office/drawing/2014/main" id="{F05641BB-C6B6-F31F-FE64-C01F7E694908}"/>
              </a:ext>
            </a:extLst>
          </p:cNvPr>
          <p:cNvPicPr>
            <a:picLocks noChangeAspect="1"/>
          </p:cNvPicPr>
          <p:nvPr/>
        </p:nvPicPr>
        <p:blipFill>
          <a:blip r:embed="rId3"/>
          <a:stretch>
            <a:fillRect/>
          </a:stretch>
        </p:blipFill>
        <p:spPr>
          <a:xfrm>
            <a:off x="745958" y="2627830"/>
            <a:ext cx="8578516" cy="2444398"/>
          </a:xfrm>
          <a:prstGeom prst="rect">
            <a:avLst/>
          </a:prstGeom>
        </p:spPr>
      </p:pic>
      <p:pic>
        <p:nvPicPr>
          <p:cNvPr id="9" name="Picture 8">
            <a:extLst>
              <a:ext uri="{FF2B5EF4-FFF2-40B4-BE49-F238E27FC236}">
                <a16:creationId xmlns:a16="http://schemas.microsoft.com/office/drawing/2014/main" id="{286E0E77-FA48-545C-7ECC-3ACE66DC1B0F}"/>
              </a:ext>
            </a:extLst>
          </p:cNvPr>
          <p:cNvPicPr>
            <a:picLocks noChangeAspect="1"/>
          </p:cNvPicPr>
          <p:nvPr/>
        </p:nvPicPr>
        <p:blipFill>
          <a:blip r:embed="rId4"/>
          <a:stretch>
            <a:fillRect/>
          </a:stretch>
        </p:blipFill>
        <p:spPr>
          <a:xfrm>
            <a:off x="745958" y="5284927"/>
            <a:ext cx="8578516" cy="1646055"/>
          </a:xfrm>
          <a:prstGeom prst="rect">
            <a:avLst/>
          </a:prstGeom>
        </p:spPr>
      </p:pic>
    </p:spTree>
    <p:extLst>
      <p:ext uri="{BB962C8B-B14F-4D97-AF65-F5344CB8AC3E}">
        <p14:creationId xmlns:p14="http://schemas.microsoft.com/office/powerpoint/2010/main" val="65307275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22613-6E08-FC72-A016-BC19EFD112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7084E7-F24B-A105-DE07-B004CD97C7E2}"/>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F9859757-A389-A42B-5FE7-E5EAA248A37F}"/>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CLIN X002 – DISPOSITION SERVICES SUPPORT SERVICE LABOR</a:t>
            </a:r>
          </a:p>
          <a:p>
            <a:pPr marL="457200" indent="-228600">
              <a:buFont typeface="Courier New" panose="02070309020205020404" pitchFamily="49" charset="0"/>
              <a:buChar char="o"/>
            </a:pPr>
            <a:r>
              <a:rPr lang="en-US" sz="1800" dirty="0">
                <a:effectLst/>
                <a:latin typeface="Times New Roman" panose="02020603050405020304" pitchFamily="18" charset="0"/>
                <a:ea typeface="Times New Roman" panose="02020603050405020304" pitchFamily="18" charset="0"/>
              </a:rPr>
              <a:t>Summary Table:</a:t>
            </a:r>
          </a:p>
          <a:p>
            <a:pPr marL="457200" indent="-228600">
              <a:buFont typeface="Courier New" panose="02070309020205020404" pitchFamily="49" charset="0"/>
              <a:buChar char="o"/>
            </a:pPr>
            <a:endParaRPr lang="en-US" dirty="0"/>
          </a:p>
        </p:txBody>
      </p:sp>
      <p:pic>
        <p:nvPicPr>
          <p:cNvPr id="3" name="Picture 2">
            <a:extLst>
              <a:ext uri="{FF2B5EF4-FFF2-40B4-BE49-F238E27FC236}">
                <a16:creationId xmlns:a16="http://schemas.microsoft.com/office/drawing/2014/main" id="{BCBA5499-3E15-01FA-4C57-E8DF92F15089}"/>
              </a:ext>
            </a:extLst>
          </p:cNvPr>
          <p:cNvPicPr>
            <a:picLocks noChangeAspect="1"/>
          </p:cNvPicPr>
          <p:nvPr/>
        </p:nvPicPr>
        <p:blipFill>
          <a:blip r:embed="rId3"/>
          <a:stretch>
            <a:fillRect/>
          </a:stretch>
        </p:blipFill>
        <p:spPr>
          <a:xfrm>
            <a:off x="292019" y="2449607"/>
            <a:ext cx="9453560" cy="2279673"/>
          </a:xfrm>
          <a:prstGeom prst="rect">
            <a:avLst/>
          </a:prstGeom>
        </p:spPr>
      </p:pic>
    </p:spTree>
    <p:extLst>
      <p:ext uri="{BB962C8B-B14F-4D97-AF65-F5344CB8AC3E}">
        <p14:creationId xmlns:p14="http://schemas.microsoft.com/office/powerpoint/2010/main" val="33151648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EB9E1-A14E-D21C-9677-90DC342E133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F78C23-4050-7670-DE09-9713566CB5B2}"/>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658967F7-3BB2-3CC2-0937-2D76D5F1FCA9}"/>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CLIN X003 – MATERIAL SUPPORT, TRAVEL &amp; TRAINING COSTS FOR CLIN X001</a:t>
            </a:r>
          </a:p>
          <a:p>
            <a:pPr marL="457200" indent="-228600">
              <a:buFont typeface="Courier New" panose="02070309020205020404" pitchFamily="49" charset="0"/>
              <a:buChar char="o"/>
            </a:pPr>
            <a:r>
              <a:rPr lang="en-US" sz="1800" dirty="0">
                <a:effectLst/>
                <a:latin typeface="Times New Roman" panose="02020603050405020304" pitchFamily="18" charset="0"/>
                <a:ea typeface="Times New Roman" panose="02020603050405020304" pitchFamily="18" charset="0"/>
              </a:rPr>
              <a:t>Offerors shall complete the dollar amount of the information requested by the header row in the table located below.  Offerors shall identify the specific rate applied to the Government Provided Estimated Cost (G&amp;A rate, Material Handling Rate, or other Indirect Rate supported by the Offeror’s accounting system) in the header row. Offerors shall sum the Government provided Estimated Cost and their G&amp;A, Material Handling Rate or other Indirect Rate to arrive at the proposed Not-to-Exceed (NTE) amount in the last column.  No fee is allowed under this CLIN.</a:t>
            </a:r>
            <a:endParaRPr lang="en-US" dirty="0"/>
          </a:p>
        </p:txBody>
      </p:sp>
      <p:pic>
        <p:nvPicPr>
          <p:cNvPr id="5" name="Picture 4">
            <a:extLst>
              <a:ext uri="{FF2B5EF4-FFF2-40B4-BE49-F238E27FC236}">
                <a16:creationId xmlns:a16="http://schemas.microsoft.com/office/drawing/2014/main" id="{69B61B6C-D6A6-048B-2456-7396321DE4F3}"/>
              </a:ext>
            </a:extLst>
          </p:cNvPr>
          <p:cNvPicPr>
            <a:picLocks noChangeAspect="1"/>
          </p:cNvPicPr>
          <p:nvPr/>
        </p:nvPicPr>
        <p:blipFill>
          <a:blip r:embed="rId3"/>
          <a:stretch>
            <a:fillRect/>
          </a:stretch>
        </p:blipFill>
        <p:spPr>
          <a:xfrm>
            <a:off x="414242" y="3776862"/>
            <a:ext cx="9317633" cy="987643"/>
          </a:xfrm>
          <a:prstGeom prst="rect">
            <a:avLst/>
          </a:prstGeom>
        </p:spPr>
      </p:pic>
    </p:spTree>
    <p:extLst>
      <p:ext uri="{BB962C8B-B14F-4D97-AF65-F5344CB8AC3E}">
        <p14:creationId xmlns:p14="http://schemas.microsoft.com/office/powerpoint/2010/main" val="141716970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D0663-2799-9121-EC26-EFCB1D7BD6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7098BE-1823-FCB9-DD71-80EBE74DE3AE}"/>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F86BC9CF-A535-126C-39B6-73BD2A1E21D0}"/>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CLIN X004 – MATERIAL SUPPORT, TRAVEL &amp; TRAINING COSTS FOR CLIN X002</a:t>
            </a:r>
          </a:p>
          <a:p>
            <a:pPr marL="457200" indent="-228600">
              <a:buFont typeface="Courier New" panose="02070309020205020404" pitchFamily="49" charset="0"/>
              <a:buChar char="o"/>
            </a:pPr>
            <a:r>
              <a:rPr lang="en-US" sz="1800" dirty="0">
                <a:effectLst/>
                <a:latin typeface="Times New Roman" panose="02020603050405020304" pitchFamily="18" charset="0"/>
                <a:ea typeface="Times New Roman" panose="02020603050405020304" pitchFamily="18" charset="0"/>
              </a:rPr>
              <a:t>Offerors shall complete the dollar amount of the information requested by the header row in the table located below.  Offerors shall identify the specific rate applied to the Government Provided Estimated Cost (G&amp;A rate, Material Handling Rate, or other Indirect Rate supported by the Offeror’s accounting system) in the header row. Offerors shall sum the Government provided Estimated Cost and their G&amp;A, Material Handling Rate or other Indirect Rate to arrive at the proposed Not-to-Exceed (NTE) amount in the last column.  No fee is allowed under this CLIN.</a:t>
            </a:r>
            <a:endParaRPr lang="en-US" dirty="0"/>
          </a:p>
        </p:txBody>
      </p:sp>
      <p:pic>
        <p:nvPicPr>
          <p:cNvPr id="3" name="Picture 2">
            <a:extLst>
              <a:ext uri="{FF2B5EF4-FFF2-40B4-BE49-F238E27FC236}">
                <a16:creationId xmlns:a16="http://schemas.microsoft.com/office/drawing/2014/main" id="{34D034F2-5BAE-69F0-2EAE-2E1A2C279528}"/>
              </a:ext>
            </a:extLst>
          </p:cNvPr>
          <p:cNvPicPr>
            <a:picLocks noChangeAspect="1"/>
          </p:cNvPicPr>
          <p:nvPr/>
        </p:nvPicPr>
        <p:blipFill>
          <a:blip r:embed="rId3"/>
          <a:stretch>
            <a:fillRect/>
          </a:stretch>
        </p:blipFill>
        <p:spPr>
          <a:xfrm>
            <a:off x="421105" y="3801980"/>
            <a:ext cx="9732421" cy="996126"/>
          </a:xfrm>
          <a:prstGeom prst="rect">
            <a:avLst/>
          </a:prstGeom>
        </p:spPr>
      </p:pic>
    </p:spTree>
    <p:extLst>
      <p:ext uri="{BB962C8B-B14F-4D97-AF65-F5344CB8AC3E}">
        <p14:creationId xmlns:p14="http://schemas.microsoft.com/office/powerpoint/2010/main" val="220353241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2505B-6BCD-4F14-D3E2-216050253D9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91810A9-5150-A86D-8992-CAF3673746EE}"/>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D11CAA59-191E-C5ED-2705-9EC9B9F6B29F}"/>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CLIN X004 – MATERIAL SUPPORT, TRAVEL &amp; TRAINING COSTS FOR CLIN X002</a:t>
            </a:r>
          </a:p>
          <a:p>
            <a:pPr marL="457200" indent="-228600">
              <a:buFont typeface="Courier New" panose="02070309020205020404" pitchFamily="49" charset="0"/>
              <a:buChar char="o"/>
            </a:pPr>
            <a:r>
              <a:rPr lang="en-US" sz="1800" dirty="0">
                <a:effectLst/>
                <a:latin typeface="Times New Roman" panose="02020603050405020304" pitchFamily="18" charset="0"/>
                <a:ea typeface="Times New Roman" panose="02020603050405020304" pitchFamily="18" charset="0"/>
              </a:rPr>
              <a:t>Offerors shall complete the dollar amount of the information requested by the header row in the table located below.  Offerors shall identify the specific rate applied to the Government Provided Estimated Cost (G&amp;A rate, Material Handling Rate, or other Indirect Rate supported by the Offeror’s accounting system) in the header row. Offerors shall sum the Government provided Estimated Cost and their G&amp;A, Material Handling Rate or other Indirect Rate to arrive at the proposed Not-to-Exceed (NTE) amount in the last column.  No fee is allowed under this CLIN.</a:t>
            </a:r>
            <a:endParaRPr lang="en-US" dirty="0"/>
          </a:p>
        </p:txBody>
      </p:sp>
      <p:pic>
        <p:nvPicPr>
          <p:cNvPr id="3" name="Picture 2">
            <a:extLst>
              <a:ext uri="{FF2B5EF4-FFF2-40B4-BE49-F238E27FC236}">
                <a16:creationId xmlns:a16="http://schemas.microsoft.com/office/drawing/2014/main" id="{BE924CE5-9995-AA99-0CA7-6840CCFC3720}"/>
              </a:ext>
            </a:extLst>
          </p:cNvPr>
          <p:cNvPicPr>
            <a:picLocks noChangeAspect="1"/>
          </p:cNvPicPr>
          <p:nvPr/>
        </p:nvPicPr>
        <p:blipFill>
          <a:blip r:embed="rId3"/>
          <a:stretch>
            <a:fillRect/>
          </a:stretch>
        </p:blipFill>
        <p:spPr>
          <a:xfrm>
            <a:off x="421105" y="3801980"/>
            <a:ext cx="9732421" cy="996126"/>
          </a:xfrm>
          <a:prstGeom prst="rect">
            <a:avLst/>
          </a:prstGeom>
        </p:spPr>
      </p:pic>
    </p:spTree>
    <p:extLst>
      <p:ext uri="{BB962C8B-B14F-4D97-AF65-F5344CB8AC3E}">
        <p14:creationId xmlns:p14="http://schemas.microsoft.com/office/powerpoint/2010/main" val="387634966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0D4EF-7079-D844-483C-C827115357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B4D7D7-54A3-D7C8-5C9B-3F34C49AAC60}"/>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0A7FDCB5-BE69-F6EB-77E4-EE68026EFAB4}"/>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dirty="0"/>
          </a:p>
          <a:p>
            <a:pPr marL="0" indent="0">
              <a:buFont typeface="Arial" panose="020B0604020202020204" pitchFamily="34" charset="0"/>
              <a:buNone/>
            </a:pPr>
            <a:endParaRPr lang="en-US" sz="2000" dirty="0"/>
          </a:p>
          <a:p>
            <a:pPr marL="457200" indent="0">
              <a:buFont typeface="Arial" panose="020B0604020202020204" pitchFamily="34" charset="0"/>
              <a:buNone/>
            </a:pPr>
            <a:r>
              <a:rPr lang="en-US" sz="2000" dirty="0"/>
              <a:t>CLIN X005 – Contract Data Requirements List (CDRL) in accordance with DD Form 1423. </a:t>
            </a:r>
          </a:p>
          <a:p>
            <a:pPr marL="457200" indent="0">
              <a:buFont typeface="Arial" panose="020B0604020202020204" pitchFamily="34" charset="0"/>
              <a:buNone/>
            </a:pPr>
            <a:r>
              <a:rPr lang="en-US" sz="2000" dirty="0"/>
              <a:t>(NOTE: CONTRACTOR SHALL NOT PRICE THESE ITEMS SEPERATELY)</a:t>
            </a:r>
            <a:endParaRPr lang="en-US" dirty="0"/>
          </a:p>
        </p:txBody>
      </p:sp>
    </p:spTree>
    <p:extLst>
      <p:ext uri="{BB962C8B-B14F-4D97-AF65-F5344CB8AC3E}">
        <p14:creationId xmlns:p14="http://schemas.microsoft.com/office/powerpoint/2010/main" val="193031518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22C70-D34E-A8B2-7DC7-E49935AD64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0106DE-5146-00F9-9314-F71769546D88}"/>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B1C6214F-A0DA-1D91-2591-618F027795ED}"/>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CLIN 0006 - SERVICES TO PERFORM DISTRIBUTION PHASE IN </a:t>
            </a:r>
          </a:p>
          <a:p>
            <a:pPr marL="0" indent="0">
              <a:buFont typeface="Arial" panose="020B0604020202020204" pitchFamily="34" charset="0"/>
              <a:buNone/>
            </a:pPr>
            <a:r>
              <a:rPr lang="en-US" sz="1800" dirty="0">
                <a:effectLst/>
                <a:latin typeface="Times New Roman" panose="02020603050405020304" pitchFamily="18" charset="0"/>
                <a:ea typeface="Times New Roman" panose="02020603050405020304" pitchFamily="18" charset="0"/>
              </a:rPr>
              <a:t>Offerors shall complete the tables below. </a:t>
            </a:r>
          </a:p>
          <a:p>
            <a:pPr marL="0" indent="0">
              <a:buFont typeface="Arial" panose="020B0604020202020204" pitchFamily="34" charset="0"/>
              <a:buNone/>
            </a:pPr>
            <a:endParaRPr lang="en-US" dirty="0"/>
          </a:p>
        </p:txBody>
      </p:sp>
      <p:pic>
        <p:nvPicPr>
          <p:cNvPr id="5" name="Picture 4">
            <a:extLst>
              <a:ext uri="{FF2B5EF4-FFF2-40B4-BE49-F238E27FC236}">
                <a16:creationId xmlns:a16="http://schemas.microsoft.com/office/drawing/2014/main" id="{1D52ABAC-189B-F49B-150E-91D165B6A418}"/>
              </a:ext>
            </a:extLst>
          </p:cNvPr>
          <p:cNvPicPr>
            <a:picLocks noChangeAspect="1"/>
          </p:cNvPicPr>
          <p:nvPr/>
        </p:nvPicPr>
        <p:blipFill>
          <a:blip r:embed="rId3"/>
          <a:stretch>
            <a:fillRect/>
          </a:stretch>
        </p:blipFill>
        <p:spPr>
          <a:xfrm>
            <a:off x="1046747" y="2401501"/>
            <a:ext cx="7988969" cy="3066037"/>
          </a:xfrm>
          <a:prstGeom prst="rect">
            <a:avLst/>
          </a:prstGeom>
        </p:spPr>
      </p:pic>
    </p:spTree>
    <p:extLst>
      <p:ext uri="{BB962C8B-B14F-4D97-AF65-F5344CB8AC3E}">
        <p14:creationId xmlns:p14="http://schemas.microsoft.com/office/powerpoint/2010/main" val="188589187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B13CC-83F9-E2F0-372E-539E32C733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BEE4DC9-EB0A-2A27-C961-F63DCE8BC647}"/>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05BC0BEB-028C-F508-4216-DD3891688A8B}"/>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CLIN 0006 - SERVICES TO PERFORM DISTRIBUTION PHASE IN </a:t>
            </a:r>
          </a:p>
          <a:p>
            <a:pPr marL="0" indent="0">
              <a:buFont typeface="Arial" panose="020B0604020202020204" pitchFamily="34" charset="0"/>
              <a:buNone/>
            </a:pPr>
            <a:r>
              <a:rPr lang="en-US" sz="1800" dirty="0">
                <a:latin typeface="Times New Roman" panose="02020603050405020304" pitchFamily="18" charset="0"/>
                <a:ea typeface="Times New Roman" panose="02020603050405020304" pitchFamily="18" charset="0"/>
              </a:rPr>
              <a:t>(Continued)</a:t>
            </a:r>
            <a:endParaRPr lang="en-US" sz="1800" dirty="0">
              <a:effectLst/>
              <a:latin typeface="Times New Roman" panose="02020603050405020304" pitchFamily="18" charset="0"/>
              <a:ea typeface="Times New Roman" panose="02020603050405020304" pitchFamily="18" charset="0"/>
            </a:endParaRPr>
          </a:p>
          <a:p>
            <a:pPr marL="0" indent="0">
              <a:buFont typeface="Arial" panose="020B0604020202020204" pitchFamily="34" charset="0"/>
              <a:buNone/>
            </a:pPr>
            <a:endParaRPr lang="en-US" dirty="0"/>
          </a:p>
        </p:txBody>
      </p:sp>
      <p:pic>
        <p:nvPicPr>
          <p:cNvPr id="3" name="Picture 2">
            <a:extLst>
              <a:ext uri="{FF2B5EF4-FFF2-40B4-BE49-F238E27FC236}">
                <a16:creationId xmlns:a16="http://schemas.microsoft.com/office/drawing/2014/main" id="{9ABF6178-51AF-8865-EA78-D26087618413}"/>
              </a:ext>
            </a:extLst>
          </p:cNvPr>
          <p:cNvPicPr>
            <a:picLocks noChangeAspect="1"/>
          </p:cNvPicPr>
          <p:nvPr/>
        </p:nvPicPr>
        <p:blipFill>
          <a:blip r:embed="rId3"/>
          <a:stretch>
            <a:fillRect/>
          </a:stretch>
        </p:blipFill>
        <p:spPr>
          <a:xfrm>
            <a:off x="1082842" y="2267982"/>
            <a:ext cx="8049126" cy="4315427"/>
          </a:xfrm>
          <a:prstGeom prst="rect">
            <a:avLst/>
          </a:prstGeom>
        </p:spPr>
      </p:pic>
    </p:spTree>
    <p:extLst>
      <p:ext uri="{BB962C8B-B14F-4D97-AF65-F5344CB8AC3E}">
        <p14:creationId xmlns:p14="http://schemas.microsoft.com/office/powerpoint/2010/main" val="156607039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A5194-C3F2-F0B3-910A-C02253584C5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C56AEF-9AD6-7C06-D55E-006F782A14DD}"/>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017A5312-71F3-9412-1889-84850AA153D0}"/>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CLIN 0006 - SERVICES TO PERFORM DISTRIBUTION PHASE IN</a:t>
            </a:r>
          </a:p>
          <a:p>
            <a:pPr lvl="1"/>
            <a:r>
              <a:rPr lang="en-US" sz="1600" dirty="0"/>
              <a:t>Summary Table: </a:t>
            </a:r>
          </a:p>
          <a:p>
            <a:pPr marL="0" indent="0">
              <a:buFont typeface="Arial" panose="020B0604020202020204" pitchFamily="34" charset="0"/>
              <a:buNone/>
            </a:pPr>
            <a:endParaRPr lang="en-US" dirty="0"/>
          </a:p>
        </p:txBody>
      </p:sp>
      <p:pic>
        <p:nvPicPr>
          <p:cNvPr id="8" name="Picture 7">
            <a:extLst>
              <a:ext uri="{FF2B5EF4-FFF2-40B4-BE49-F238E27FC236}">
                <a16:creationId xmlns:a16="http://schemas.microsoft.com/office/drawing/2014/main" id="{B27CC639-D702-8FB9-F701-609EE7BCA807}"/>
              </a:ext>
            </a:extLst>
          </p:cNvPr>
          <p:cNvPicPr>
            <a:picLocks noChangeAspect="1"/>
          </p:cNvPicPr>
          <p:nvPr/>
        </p:nvPicPr>
        <p:blipFill>
          <a:blip r:embed="rId3"/>
          <a:stretch>
            <a:fillRect/>
          </a:stretch>
        </p:blipFill>
        <p:spPr>
          <a:xfrm>
            <a:off x="1608958" y="2711156"/>
            <a:ext cx="6500326" cy="1641834"/>
          </a:xfrm>
          <a:prstGeom prst="rect">
            <a:avLst/>
          </a:prstGeom>
        </p:spPr>
      </p:pic>
    </p:spTree>
    <p:extLst>
      <p:ext uri="{BB962C8B-B14F-4D97-AF65-F5344CB8AC3E}">
        <p14:creationId xmlns:p14="http://schemas.microsoft.com/office/powerpoint/2010/main" val="290590601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47561-ECA7-22AE-0068-E0258BCA72F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294196-2448-A5EF-091F-8276736EE99E}"/>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3526BF6A-5AF9-4FD0-384E-265B7C60B339}"/>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CLIN 0007 - SERVICES TO PERFORM DISPOSITION PHASE IN </a:t>
            </a:r>
          </a:p>
          <a:p>
            <a:pPr marL="0" indent="0">
              <a:buFont typeface="Arial" panose="020B0604020202020204" pitchFamily="34" charset="0"/>
              <a:buNone/>
            </a:pPr>
            <a:r>
              <a:rPr lang="en-US" sz="1800" dirty="0">
                <a:effectLst/>
                <a:latin typeface="Times New Roman" panose="02020603050405020304" pitchFamily="18" charset="0"/>
                <a:ea typeface="Times New Roman" panose="02020603050405020304" pitchFamily="18" charset="0"/>
              </a:rPr>
              <a:t>Offerors shall complete the tables below. </a:t>
            </a:r>
          </a:p>
          <a:p>
            <a:pPr marL="0" indent="0">
              <a:buFont typeface="Arial" panose="020B0604020202020204" pitchFamily="34" charset="0"/>
              <a:buNone/>
            </a:pPr>
            <a:endParaRPr lang="en-US" dirty="0"/>
          </a:p>
        </p:txBody>
      </p:sp>
      <p:pic>
        <p:nvPicPr>
          <p:cNvPr id="3" name="Picture 2">
            <a:extLst>
              <a:ext uri="{FF2B5EF4-FFF2-40B4-BE49-F238E27FC236}">
                <a16:creationId xmlns:a16="http://schemas.microsoft.com/office/drawing/2014/main" id="{23FCFFA7-2BDC-1CE0-E9F0-CC04545141A4}"/>
              </a:ext>
            </a:extLst>
          </p:cNvPr>
          <p:cNvPicPr>
            <a:picLocks noChangeAspect="1"/>
          </p:cNvPicPr>
          <p:nvPr/>
        </p:nvPicPr>
        <p:blipFill>
          <a:blip r:embed="rId3"/>
          <a:stretch>
            <a:fillRect/>
          </a:stretch>
        </p:blipFill>
        <p:spPr>
          <a:xfrm>
            <a:off x="839406" y="2509644"/>
            <a:ext cx="8581320" cy="3328861"/>
          </a:xfrm>
          <a:prstGeom prst="rect">
            <a:avLst/>
          </a:prstGeom>
        </p:spPr>
      </p:pic>
    </p:spTree>
    <p:extLst>
      <p:ext uri="{BB962C8B-B14F-4D97-AF65-F5344CB8AC3E}">
        <p14:creationId xmlns:p14="http://schemas.microsoft.com/office/powerpoint/2010/main" val="178772898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235DE-7114-2DB3-362C-5284413046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327557-548A-1A18-8483-B4538EA61728}"/>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FBDD88AA-2AA5-2917-C663-A007BB515D8C}"/>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CLIN 0007 - SERVICES TO PERFORM DISPOSITION PHASE IN </a:t>
            </a:r>
          </a:p>
          <a:p>
            <a:pPr marL="0" indent="0">
              <a:buFont typeface="Arial" panose="020B0604020202020204" pitchFamily="34" charset="0"/>
              <a:buNone/>
            </a:pPr>
            <a:r>
              <a:rPr lang="en-US" sz="1800" dirty="0">
                <a:latin typeface="Times New Roman" panose="02020603050405020304" pitchFamily="18" charset="0"/>
                <a:ea typeface="Times New Roman" panose="02020603050405020304" pitchFamily="18" charset="0"/>
              </a:rPr>
              <a:t>(Continued)</a:t>
            </a:r>
            <a:endParaRPr lang="en-US" sz="1800" dirty="0">
              <a:effectLst/>
              <a:latin typeface="Times New Roman" panose="02020603050405020304" pitchFamily="18" charset="0"/>
              <a:ea typeface="Times New Roman" panose="02020603050405020304" pitchFamily="18" charset="0"/>
            </a:endParaRPr>
          </a:p>
          <a:p>
            <a:pPr marL="0" indent="0">
              <a:buFont typeface="Arial" panose="020B0604020202020204" pitchFamily="34" charset="0"/>
              <a:buNone/>
            </a:pPr>
            <a:endParaRPr lang="en-US" dirty="0"/>
          </a:p>
        </p:txBody>
      </p:sp>
      <p:pic>
        <p:nvPicPr>
          <p:cNvPr id="5" name="Picture 4">
            <a:extLst>
              <a:ext uri="{FF2B5EF4-FFF2-40B4-BE49-F238E27FC236}">
                <a16:creationId xmlns:a16="http://schemas.microsoft.com/office/drawing/2014/main" id="{39AFD64F-46B0-E410-5992-A4ECCF4A7BA1}"/>
              </a:ext>
            </a:extLst>
          </p:cNvPr>
          <p:cNvPicPr>
            <a:picLocks noChangeAspect="1"/>
          </p:cNvPicPr>
          <p:nvPr/>
        </p:nvPicPr>
        <p:blipFill>
          <a:blip r:embed="rId3"/>
          <a:stretch>
            <a:fillRect/>
          </a:stretch>
        </p:blipFill>
        <p:spPr>
          <a:xfrm>
            <a:off x="854241" y="2291798"/>
            <a:ext cx="8373979" cy="4267796"/>
          </a:xfrm>
          <a:prstGeom prst="rect">
            <a:avLst/>
          </a:prstGeom>
        </p:spPr>
      </p:pic>
    </p:spTree>
    <p:extLst>
      <p:ext uri="{BB962C8B-B14F-4D97-AF65-F5344CB8AC3E}">
        <p14:creationId xmlns:p14="http://schemas.microsoft.com/office/powerpoint/2010/main" val="379107891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E15AD-EF30-4222-DD38-F4FCB9E36AE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D2257F5-8D67-CE2F-4766-61F176E79933}"/>
              </a:ext>
            </a:extLst>
          </p:cNvPr>
          <p:cNvSpPr>
            <a:spLocks noGrp="1" noRot="1" noMove="1" noResize="1" noEditPoints="1" noAdjustHandles="1" noChangeArrowheads="1" noChangeShapeType="1"/>
          </p:cNvSpPr>
          <p:nvPr>
            <p:ph type="title"/>
          </p:nvPr>
        </p:nvSpPr>
        <p:spPr/>
        <p:txBody>
          <a:bodyPr/>
          <a:lstStyle/>
          <a:p>
            <a:r>
              <a:rPr lang="en-US" sz="2000" dirty="0"/>
              <a:t>E-File V – Cost Proposal</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63667929-49BB-EFE7-9F3F-0F1AE7F2439F}"/>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CLIN 0007 - SERVICES TO PERFORM DISPOSITION PHASE IN</a:t>
            </a:r>
          </a:p>
          <a:p>
            <a:pPr lvl="1"/>
            <a:r>
              <a:rPr lang="en-US" sz="1600" dirty="0"/>
              <a:t>Summary Table: </a:t>
            </a:r>
          </a:p>
          <a:p>
            <a:pPr marL="0" indent="0">
              <a:buFont typeface="Arial" panose="020B0604020202020204" pitchFamily="34" charset="0"/>
              <a:buNone/>
            </a:pPr>
            <a:endParaRPr lang="en-US" dirty="0"/>
          </a:p>
        </p:txBody>
      </p:sp>
      <p:pic>
        <p:nvPicPr>
          <p:cNvPr id="3" name="Picture 2">
            <a:extLst>
              <a:ext uri="{FF2B5EF4-FFF2-40B4-BE49-F238E27FC236}">
                <a16:creationId xmlns:a16="http://schemas.microsoft.com/office/drawing/2014/main" id="{DB9859A4-C9E0-BA6F-9036-E4B5593ECEC3}"/>
              </a:ext>
            </a:extLst>
          </p:cNvPr>
          <p:cNvPicPr>
            <a:picLocks noChangeAspect="1"/>
          </p:cNvPicPr>
          <p:nvPr/>
        </p:nvPicPr>
        <p:blipFill>
          <a:blip r:embed="rId3"/>
          <a:stretch>
            <a:fillRect/>
          </a:stretch>
        </p:blipFill>
        <p:spPr>
          <a:xfrm>
            <a:off x="1118555" y="2628765"/>
            <a:ext cx="7002761" cy="1700410"/>
          </a:xfrm>
          <a:prstGeom prst="rect">
            <a:avLst/>
          </a:prstGeom>
        </p:spPr>
      </p:pic>
    </p:spTree>
    <p:extLst>
      <p:ext uri="{BB962C8B-B14F-4D97-AF65-F5344CB8AC3E}">
        <p14:creationId xmlns:p14="http://schemas.microsoft.com/office/powerpoint/2010/main" val="75843385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0D1F3-301E-8640-664F-8F22175E3A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6C2C0E-EFF6-0A3F-8020-10A4A285EE6B}"/>
              </a:ext>
            </a:extLst>
          </p:cNvPr>
          <p:cNvSpPr>
            <a:spLocks noGrp="1" noRot="1" noMove="1" noResize="1" noEditPoints="1" noAdjustHandles="1" noChangeArrowheads="1" noChangeShapeType="1"/>
          </p:cNvSpPr>
          <p:nvPr>
            <p:ph type="title"/>
          </p:nvPr>
        </p:nvSpPr>
        <p:spPr/>
        <p:txBody>
          <a:bodyPr/>
          <a:lstStyle/>
          <a:p>
            <a:r>
              <a:rPr lang="en-US" sz="2000" dirty="0"/>
              <a:t>Section M – Evaluation Factors for Award</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A649211F-4CA3-C10F-2967-CFD7D91ED083}"/>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5" name="TextBox 4">
            <a:extLst>
              <a:ext uri="{FF2B5EF4-FFF2-40B4-BE49-F238E27FC236}">
                <a16:creationId xmlns:a16="http://schemas.microsoft.com/office/drawing/2014/main" id="{A08A4163-19EF-3D20-D135-63236BD7E3CB}"/>
              </a:ext>
            </a:extLst>
          </p:cNvPr>
          <p:cNvSpPr txBox="1"/>
          <p:nvPr/>
        </p:nvSpPr>
        <p:spPr>
          <a:xfrm>
            <a:off x="2310063" y="3260558"/>
            <a:ext cx="5489407" cy="830997"/>
          </a:xfrm>
          <a:prstGeom prst="rect">
            <a:avLst/>
          </a:prstGeom>
          <a:noFill/>
        </p:spPr>
        <p:txBody>
          <a:bodyPr wrap="square">
            <a:spAutoFit/>
          </a:bodyPr>
          <a:lstStyle/>
          <a:p>
            <a:pPr algn="ctr">
              <a:defRPr/>
            </a:pPr>
            <a:r>
              <a:rPr lang="en-US" altLang="en-US" sz="2400" b="1" dirty="0">
                <a:solidFill>
                  <a:prstClr val="black"/>
                </a:solidFill>
                <a:ea typeface="+mj-ea"/>
                <a:cs typeface="Arial" charset="0"/>
              </a:rPr>
              <a:t>Section M </a:t>
            </a:r>
          </a:p>
          <a:p>
            <a:pPr algn="ctr">
              <a:defRPr/>
            </a:pPr>
            <a:r>
              <a:rPr lang="en-US" altLang="en-US" sz="2400" dirty="0">
                <a:ea typeface="+mj-ea"/>
                <a:cs typeface="Arial" charset="0"/>
              </a:rPr>
              <a:t>Evaluation Factors for Award</a:t>
            </a:r>
            <a:endParaRPr lang="en-US" altLang="en-US" sz="2400" dirty="0"/>
          </a:p>
        </p:txBody>
      </p:sp>
    </p:spTree>
    <p:extLst>
      <p:ext uri="{BB962C8B-B14F-4D97-AF65-F5344CB8AC3E}">
        <p14:creationId xmlns:p14="http://schemas.microsoft.com/office/powerpoint/2010/main" val="277310139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7113E-6233-94F2-34D3-13C6D1122D6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4FC864-B595-DD6B-8CCC-2F15AE4E7BA7}"/>
              </a:ext>
            </a:extLst>
          </p:cNvPr>
          <p:cNvSpPr>
            <a:spLocks noGrp="1" noRot="1" noMove="1" noResize="1" noEditPoints="1" noAdjustHandles="1" noChangeArrowheads="1" noChangeShapeType="1"/>
          </p:cNvSpPr>
          <p:nvPr>
            <p:ph type="title"/>
          </p:nvPr>
        </p:nvSpPr>
        <p:spPr/>
        <p:txBody>
          <a:bodyPr/>
          <a:lstStyle/>
          <a:p>
            <a:r>
              <a:rPr lang="en-US" sz="2000" dirty="0"/>
              <a:t>Section M – Evaluation Factors for Award</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1F484EF2-DB8E-1605-15DB-41426DA57961}"/>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3" name="TextBox 2">
            <a:extLst>
              <a:ext uri="{FF2B5EF4-FFF2-40B4-BE49-F238E27FC236}">
                <a16:creationId xmlns:a16="http://schemas.microsoft.com/office/drawing/2014/main" id="{1D85B83C-70E1-8258-87A2-74E2292FEDFB}"/>
              </a:ext>
            </a:extLst>
          </p:cNvPr>
          <p:cNvSpPr txBox="1"/>
          <p:nvPr/>
        </p:nvSpPr>
        <p:spPr>
          <a:xfrm>
            <a:off x="276726" y="1512129"/>
            <a:ext cx="9553074" cy="1231106"/>
          </a:xfrm>
          <a:prstGeom prst="rect">
            <a:avLst/>
          </a:prstGeom>
          <a:noFill/>
        </p:spPr>
        <p:txBody>
          <a:bodyPr wrap="square">
            <a:spAutoFit/>
          </a:bodyPr>
          <a:lstStyle/>
          <a:p>
            <a:pPr eaLnBrk="1" hangingPunct="1">
              <a:buFontTx/>
              <a:buChar char="•"/>
              <a:defRPr/>
            </a:pPr>
            <a:r>
              <a:rPr lang="en-US" altLang="en-US" sz="2000" b="1" u="sng" dirty="0"/>
              <a:t>Key Points:</a:t>
            </a:r>
            <a:endParaRPr lang="en-US" altLang="en-US" sz="2000" b="1" i="1" u="sng" dirty="0"/>
          </a:p>
          <a:p>
            <a:pPr eaLnBrk="1" hangingPunct="1">
              <a:buFont typeface="Arial" charset="0"/>
              <a:buChar char="-"/>
              <a:defRPr/>
            </a:pPr>
            <a:r>
              <a:rPr lang="en-US" altLang="en-US" dirty="0"/>
              <a:t>Best Value / Trade-Off</a:t>
            </a:r>
          </a:p>
          <a:p>
            <a:pPr eaLnBrk="1" hangingPunct="1">
              <a:buFont typeface="Arial" charset="0"/>
              <a:buChar char="-"/>
              <a:defRPr/>
            </a:pPr>
            <a:r>
              <a:rPr lang="en-US" altLang="en-US" dirty="0"/>
              <a:t>The SSA will make a tradeoff assessment based on the results of the evaluation utilizing the relative importance of the evaluation factors as indicated below. </a:t>
            </a:r>
          </a:p>
        </p:txBody>
      </p:sp>
      <p:pic>
        <p:nvPicPr>
          <p:cNvPr id="8" name="Picture 7">
            <a:extLst>
              <a:ext uri="{FF2B5EF4-FFF2-40B4-BE49-F238E27FC236}">
                <a16:creationId xmlns:a16="http://schemas.microsoft.com/office/drawing/2014/main" id="{50042DBC-7777-375E-32E6-78769E3BCE6B}"/>
              </a:ext>
            </a:extLst>
          </p:cNvPr>
          <p:cNvPicPr>
            <a:picLocks noChangeAspect="1"/>
          </p:cNvPicPr>
          <p:nvPr/>
        </p:nvPicPr>
        <p:blipFill>
          <a:blip r:embed="rId3"/>
          <a:stretch>
            <a:fillRect/>
          </a:stretch>
        </p:blipFill>
        <p:spPr>
          <a:xfrm>
            <a:off x="828801" y="3107037"/>
            <a:ext cx="8399420" cy="2956879"/>
          </a:xfrm>
          <a:prstGeom prst="rect">
            <a:avLst/>
          </a:prstGeom>
        </p:spPr>
      </p:pic>
    </p:spTree>
    <p:extLst>
      <p:ext uri="{BB962C8B-B14F-4D97-AF65-F5344CB8AC3E}">
        <p14:creationId xmlns:p14="http://schemas.microsoft.com/office/powerpoint/2010/main" val="203739596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ABD57-BB54-912B-E1A6-2337CC51260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1F9C56-45B9-0D0A-3C34-39D01B8D6F2C}"/>
              </a:ext>
            </a:extLst>
          </p:cNvPr>
          <p:cNvSpPr>
            <a:spLocks noGrp="1" noRot="1" noMove="1" noResize="1" noEditPoints="1" noAdjustHandles="1" noChangeArrowheads="1" noChangeShapeType="1"/>
          </p:cNvSpPr>
          <p:nvPr>
            <p:ph type="title"/>
          </p:nvPr>
        </p:nvSpPr>
        <p:spPr/>
        <p:txBody>
          <a:bodyPr/>
          <a:lstStyle/>
          <a:p>
            <a:r>
              <a:rPr lang="en-US" sz="2000" dirty="0"/>
              <a:t>Section M – Evaluation Factors for Award</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890F454C-EF6E-47F0-1448-9AC63A5C9E56}"/>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3" name="TextBox 2">
            <a:extLst>
              <a:ext uri="{FF2B5EF4-FFF2-40B4-BE49-F238E27FC236}">
                <a16:creationId xmlns:a16="http://schemas.microsoft.com/office/drawing/2014/main" id="{1561F7AE-55D8-C395-1137-05C90010D5C1}"/>
              </a:ext>
            </a:extLst>
          </p:cNvPr>
          <p:cNvSpPr txBox="1"/>
          <p:nvPr/>
        </p:nvSpPr>
        <p:spPr>
          <a:xfrm>
            <a:off x="276726" y="1512129"/>
            <a:ext cx="9553074" cy="6247864"/>
          </a:xfrm>
          <a:prstGeom prst="rect">
            <a:avLst/>
          </a:prstGeom>
          <a:noFill/>
        </p:spPr>
        <p:txBody>
          <a:bodyPr wrap="square">
            <a:spAutoFit/>
          </a:bodyPr>
          <a:lstStyle/>
          <a:p>
            <a:pPr marL="342900" indent="-342900" eaLnBrk="1" hangingPunct="1">
              <a:buFont typeface="Arial" panose="020B0604020202020204" pitchFamily="34" charset="0"/>
              <a:buChar char="•"/>
              <a:defRPr/>
            </a:pPr>
            <a:r>
              <a:rPr lang="en-US" altLang="en-US" sz="2000" b="1" dirty="0"/>
              <a:t>Acceptable Accounting System </a:t>
            </a:r>
          </a:p>
          <a:p>
            <a:pPr marL="800100" lvl="1" indent="-342900">
              <a:buFont typeface="Courier New" panose="02070309020205020404" pitchFamily="49" charset="0"/>
              <a:buChar char="o"/>
              <a:defRPr/>
            </a:pPr>
            <a:r>
              <a:rPr lang="en-US" altLang="en-US" dirty="0"/>
              <a:t>In order to eligible for award, the Offeror shall have an accounting system, determined by the Government to be acceptable to support the non-fixed-price line items on the resultant contract. </a:t>
            </a:r>
          </a:p>
          <a:p>
            <a:pPr marL="800100" lvl="1" indent="-342900">
              <a:buFont typeface="Courier New" panose="02070309020205020404" pitchFamily="49" charset="0"/>
              <a:buChar char="o"/>
              <a:defRPr/>
            </a:pPr>
            <a:endParaRPr lang="en-US" altLang="en-US" sz="2000" dirty="0"/>
          </a:p>
          <a:p>
            <a:pPr marL="342900" indent="-342900">
              <a:buFont typeface="Arial" panose="020B0604020202020204" pitchFamily="34" charset="0"/>
              <a:buChar char="•"/>
              <a:defRPr/>
            </a:pPr>
            <a:r>
              <a:rPr lang="en-US" altLang="en-US" sz="2000" b="1" dirty="0"/>
              <a:t>DCSA approved facility clearance </a:t>
            </a:r>
          </a:p>
          <a:p>
            <a:pPr marL="800100" lvl="1" indent="-342900">
              <a:buFont typeface="Courier New" panose="02070309020205020404" pitchFamily="49" charset="0"/>
              <a:buChar char="o"/>
              <a:defRPr/>
            </a:pPr>
            <a:r>
              <a:rPr lang="en-US" altLang="en-US" dirty="0"/>
              <a:t>Required at time of proposal submission</a:t>
            </a:r>
          </a:p>
          <a:p>
            <a:pPr marL="800100" lvl="1" indent="-342900">
              <a:buFont typeface="Courier New" panose="02070309020205020404" pitchFamily="49" charset="0"/>
              <a:buChar char="o"/>
              <a:defRPr/>
            </a:pPr>
            <a:endParaRPr lang="en-US" altLang="en-US" sz="2000" dirty="0"/>
          </a:p>
          <a:p>
            <a:pPr marL="342900" indent="-342900">
              <a:buFont typeface="Arial" panose="020B0604020202020204" pitchFamily="34" charset="0"/>
              <a:buChar char="•"/>
              <a:defRPr/>
            </a:pPr>
            <a:r>
              <a:rPr lang="en-US" altLang="en-US" sz="2000" b="1" dirty="0"/>
              <a:t>Acceptable OCI Mitigation Plan </a:t>
            </a:r>
          </a:p>
          <a:p>
            <a:pPr>
              <a:defRPr/>
            </a:pPr>
            <a:endParaRPr lang="en-US" altLang="en-US" sz="2000" b="1" dirty="0"/>
          </a:p>
          <a:p>
            <a:pPr marL="342900" indent="-342900">
              <a:buFont typeface="Arial" panose="020B0604020202020204" pitchFamily="34" charset="0"/>
              <a:buChar char="•"/>
              <a:defRPr/>
            </a:pPr>
            <a:r>
              <a:rPr lang="en-US" altLang="en-US" sz="2000" b="1" dirty="0"/>
              <a:t>Acceptable subcontracting plan (Large Businesses only)</a:t>
            </a:r>
          </a:p>
          <a:p>
            <a:pPr marL="342900" indent="-342900">
              <a:buFont typeface="Arial" panose="020B0604020202020204" pitchFamily="34" charset="0"/>
              <a:buChar char="•"/>
              <a:defRPr/>
            </a:pPr>
            <a:endParaRPr lang="en-US" altLang="en-US" sz="2000" b="1" dirty="0"/>
          </a:p>
          <a:p>
            <a:pPr marL="342900" indent="-342900">
              <a:buFont typeface="Arial" panose="020B0604020202020204" pitchFamily="34" charset="0"/>
              <a:buChar char="•"/>
              <a:defRPr/>
            </a:pPr>
            <a:r>
              <a:rPr lang="en-US" altLang="en-US" sz="2000" b="1" dirty="0"/>
              <a:t>The Offeror shall have an active, approved Disclosure Statement or a substantiated exception to Cost Accounting Standards. </a:t>
            </a:r>
          </a:p>
          <a:p>
            <a:pPr marL="342900" indent="-342900">
              <a:buFont typeface="Arial" panose="020B0604020202020204" pitchFamily="34" charset="0"/>
              <a:buChar char="•"/>
              <a:defRPr/>
            </a:pPr>
            <a:endParaRPr lang="en-US" altLang="en-US" sz="2000" b="1" dirty="0"/>
          </a:p>
          <a:p>
            <a:pPr marL="342900" indent="-342900">
              <a:buFont typeface="Arial" panose="020B0604020202020204" pitchFamily="34" charset="0"/>
              <a:buChar char="•"/>
              <a:defRPr/>
            </a:pPr>
            <a:r>
              <a:rPr lang="en-US" altLang="en-US" sz="2000" b="1" dirty="0"/>
              <a:t>Evaluation of Cost Proposal</a:t>
            </a:r>
          </a:p>
          <a:p>
            <a:pPr marL="800100" lvl="1" indent="-342900">
              <a:buFont typeface="Courier New" panose="02070309020205020404" pitchFamily="49" charset="0"/>
              <a:buChar char="o"/>
              <a:defRPr/>
            </a:pPr>
            <a:r>
              <a:rPr lang="en-US" altLang="en-US" dirty="0"/>
              <a:t>Price analysis will be conducted in accordance with FAR 15.404-1(a)(2). Cost analysis in accordance with FAR 15.404-1(c) and cost realism analysis in accordance with FAR 15.404-1(d) will be conducted on the CR CLINs.</a:t>
            </a:r>
          </a:p>
          <a:p>
            <a:pPr marL="800100" lvl="1" indent="-342900">
              <a:buFont typeface="Courier New" panose="02070309020205020404" pitchFamily="49" charset="0"/>
              <a:buChar char="o"/>
              <a:defRPr/>
            </a:pPr>
            <a:endParaRPr lang="en-US" altLang="en-US" sz="2000" b="1" dirty="0"/>
          </a:p>
        </p:txBody>
      </p:sp>
    </p:spTree>
    <p:extLst>
      <p:ext uri="{BB962C8B-B14F-4D97-AF65-F5344CB8AC3E}">
        <p14:creationId xmlns:p14="http://schemas.microsoft.com/office/powerpoint/2010/main" val="41325410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81452-B84A-84C3-320C-6FD4E2A3C0A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67D22E0-F58F-5181-5459-467383326415}"/>
              </a:ext>
            </a:extLst>
          </p:cNvPr>
          <p:cNvSpPr>
            <a:spLocks noGrp="1" noRot="1" noMove="1" noResize="1" noEditPoints="1" noAdjustHandles="1" noChangeArrowheads="1" noChangeShapeType="1"/>
          </p:cNvSpPr>
          <p:nvPr>
            <p:ph type="title"/>
          </p:nvPr>
        </p:nvSpPr>
        <p:spPr/>
        <p:txBody>
          <a:bodyPr/>
          <a:lstStyle/>
          <a:p>
            <a:r>
              <a:rPr lang="en-US" sz="2000" dirty="0"/>
              <a:t>Section M – Evaluation Factors for Award</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EBA18823-8F7E-4E2A-FA1B-C50A49C5370B}"/>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3" name="TextBox 2">
            <a:extLst>
              <a:ext uri="{FF2B5EF4-FFF2-40B4-BE49-F238E27FC236}">
                <a16:creationId xmlns:a16="http://schemas.microsoft.com/office/drawing/2014/main" id="{6969FAE0-696A-729D-5CBC-AE80BCFF8B80}"/>
              </a:ext>
            </a:extLst>
          </p:cNvPr>
          <p:cNvSpPr txBox="1"/>
          <p:nvPr/>
        </p:nvSpPr>
        <p:spPr>
          <a:xfrm>
            <a:off x="276726" y="1512129"/>
            <a:ext cx="9553074" cy="4031873"/>
          </a:xfrm>
          <a:prstGeom prst="rect">
            <a:avLst/>
          </a:prstGeom>
          <a:noFill/>
        </p:spPr>
        <p:txBody>
          <a:bodyPr wrap="square">
            <a:spAutoFit/>
          </a:bodyPr>
          <a:lstStyle/>
          <a:p>
            <a:pPr marL="342900" indent="-342900" eaLnBrk="1" hangingPunct="1">
              <a:buFont typeface="Arial" panose="020B0604020202020204" pitchFamily="34" charset="0"/>
              <a:buChar char="•"/>
              <a:defRPr/>
            </a:pPr>
            <a:r>
              <a:rPr lang="en-US" altLang="en-US" sz="2000" b="1" dirty="0"/>
              <a:t>Proposal Tips:</a:t>
            </a:r>
          </a:p>
          <a:p>
            <a:pPr eaLnBrk="1" hangingPunct="1">
              <a:defRPr/>
            </a:pPr>
            <a:endParaRPr lang="en-US" altLang="en-US" sz="2000" b="1" dirty="0"/>
          </a:p>
          <a:p>
            <a:pPr marL="800100" lvl="1" indent="-342900">
              <a:buFont typeface="Courier New" panose="02070309020205020404" pitchFamily="49" charset="0"/>
              <a:buChar char="o"/>
              <a:defRPr/>
            </a:pPr>
            <a:r>
              <a:rPr lang="en-US" altLang="en-US" dirty="0"/>
              <a:t>Be sure to read entire solicitation</a:t>
            </a:r>
          </a:p>
          <a:p>
            <a:pPr marL="800100" lvl="1" indent="-342900">
              <a:buFont typeface="Courier New" panose="02070309020205020404" pitchFamily="49" charset="0"/>
              <a:buChar char="o"/>
              <a:defRPr/>
            </a:pPr>
            <a:r>
              <a:rPr lang="en-US" altLang="en-US" dirty="0"/>
              <a:t>Technical Approach must be your methods and plans for performing the requirements</a:t>
            </a:r>
          </a:p>
          <a:p>
            <a:pPr marL="1257300" lvl="2" indent="-342900">
              <a:buFont typeface="Wingdings" panose="05000000000000000000" pitchFamily="2" charset="2"/>
              <a:buChar char="§"/>
              <a:defRPr/>
            </a:pPr>
            <a:r>
              <a:rPr lang="en-US" altLang="en-US" dirty="0"/>
              <a:t>Shall not be a reiteration of the requirements in the PWS</a:t>
            </a:r>
          </a:p>
          <a:p>
            <a:pPr marL="1257300" lvl="2" indent="-342900">
              <a:buFont typeface="Wingdings" panose="05000000000000000000" pitchFamily="2" charset="2"/>
              <a:buChar char="§"/>
              <a:defRPr/>
            </a:pPr>
            <a:r>
              <a:rPr lang="en-US" altLang="en-US" dirty="0"/>
              <a:t>Shall not be a description of how you perform on current contracts or have performed on past contracts</a:t>
            </a:r>
          </a:p>
          <a:p>
            <a:pPr marL="1714500" lvl="3" indent="-342900">
              <a:buFont typeface="Wingdings" panose="05000000000000000000" pitchFamily="2" charset="2"/>
              <a:buChar char="q"/>
              <a:defRPr/>
            </a:pPr>
            <a:r>
              <a:rPr lang="en-US" altLang="en-US" sz="1600" dirty="0">
                <a:solidFill>
                  <a:srgbClr val="FF0000"/>
                </a:solidFill>
              </a:rPr>
              <a:t>Address this in your Past Performance Proposal (E-File II)</a:t>
            </a:r>
          </a:p>
          <a:p>
            <a:pPr marL="800100" lvl="1" indent="-342900">
              <a:buFont typeface="Courier New" panose="02070309020205020404" pitchFamily="49" charset="0"/>
              <a:buChar char="o"/>
              <a:defRPr/>
            </a:pPr>
            <a:r>
              <a:rPr lang="en-US" altLang="en-US" dirty="0"/>
              <a:t>Address all requirements in Section L</a:t>
            </a:r>
          </a:p>
          <a:p>
            <a:pPr marL="1257300" lvl="2" indent="-342900">
              <a:buFont typeface="Wingdings" panose="05000000000000000000" pitchFamily="2" charset="2"/>
              <a:buChar char="§"/>
              <a:defRPr/>
            </a:pPr>
            <a:r>
              <a:rPr lang="en-US" altLang="en-US" dirty="0"/>
              <a:t>Address all requirements with detailed descriptions</a:t>
            </a:r>
          </a:p>
          <a:p>
            <a:pPr marL="1257300" lvl="2" indent="-342900">
              <a:buFont typeface="Wingdings" panose="05000000000000000000" pitchFamily="2" charset="2"/>
              <a:buChar char="§"/>
              <a:defRPr/>
            </a:pPr>
            <a:r>
              <a:rPr lang="en-US" altLang="en-US" dirty="0"/>
              <a:t>Use of Section L numbering outline in proposals is expected to ensure all requirements are addressed and easily identified / crossed referenced. </a:t>
            </a:r>
          </a:p>
          <a:p>
            <a:pPr marL="800100" lvl="1" indent="-342900">
              <a:buFont typeface="Courier New" panose="02070309020205020404" pitchFamily="49" charset="0"/>
              <a:buChar char="o"/>
              <a:defRPr/>
            </a:pPr>
            <a:endParaRPr lang="en-US" altLang="en-US" sz="2000" b="1" dirty="0"/>
          </a:p>
        </p:txBody>
      </p:sp>
    </p:spTree>
    <p:extLst>
      <p:ext uri="{BB962C8B-B14F-4D97-AF65-F5344CB8AC3E}">
        <p14:creationId xmlns:p14="http://schemas.microsoft.com/office/powerpoint/2010/main" val="269754656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6F408-20B1-785E-6A14-E825A7DF91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CC90C0-C1E5-DEF7-0DCF-4AA3995CD891}"/>
              </a:ext>
            </a:extLst>
          </p:cNvPr>
          <p:cNvSpPr>
            <a:spLocks noGrp="1" noRot="1" noMove="1" noResize="1" noEditPoints="1" noAdjustHandles="1" noChangeArrowheads="1" noChangeShapeType="1"/>
          </p:cNvSpPr>
          <p:nvPr>
            <p:ph type="title"/>
          </p:nvPr>
        </p:nvSpPr>
        <p:spPr/>
        <p:txBody>
          <a:bodyPr/>
          <a:lstStyle/>
          <a:p>
            <a:r>
              <a:rPr lang="en-US" sz="2000" dirty="0"/>
              <a:t>Conclusion</a:t>
            </a:r>
            <a:endParaRPr lang="en-US" sz="1800" dirty="0">
              <a:latin typeface="Raleway Black" pitchFamily="2" charset="0"/>
            </a:endParaRPr>
          </a:p>
        </p:txBody>
      </p:sp>
      <p:sp>
        <p:nvSpPr>
          <p:cNvPr id="7" name="Content Placeholder 2">
            <a:extLst>
              <a:ext uri="{FF2B5EF4-FFF2-40B4-BE49-F238E27FC236}">
                <a16:creationId xmlns:a16="http://schemas.microsoft.com/office/drawing/2014/main" id="{F7FD4583-D095-E89C-0DAA-FFB821573B7B}"/>
              </a:ext>
            </a:extLst>
          </p:cNvPr>
          <p:cNvSpPr txBox="1">
            <a:spLocks/>
          </p:cNvSpPr>
          <p:nvPr/>
        </p:nvSpPr>
        <p:spPr>
          <a:xfrm>
            <a:off x="0" y="1512129"/>
            <a:ext cx="10363200" cy="5827134"/>
          </a:xfrm>
          <a:prstGeom prst="rect">
            <a:avLst/>
          </a:prstGeom>
        </p:spPr>
        <p:txBody>
          <a:bodyPr/>
          <a:lstStyle>
            <a:lvl1pPr marL="228611" indent="-228611" algn="l" defTabSz="914446" rtl="0" eaLnBrk="1" latinLnBrk="0" hangingPunct="1">
              <a:lnSpc>
                <a:spcPct val="90000"/>
              </a:lnSpc>
              <a:spcBef>
                <a:spcPts val="1200"/>
              </a:spcBef>
              <a:spcAft>
                <a:spcPts val="0"/>
              </a:spcAft>
              <a:buFont typeface="Arial" panose="020B0604020202020204" pitchFamily="34" charset="0"/>
              <a:buChar char="•"/>
              <a:defRPr sz="2400" kern="1200">
                <a:solidFill>
                  <a:srgbClr val="171610"/>
                </a:solidFill>
                <a:latin typeface="+mn-lt"/>
                <a:ea typeface="+mn-ea"/>
                <a:cs typeface="+mn-cs"/>
              </a:defRPr>
            </a:lvl1pPr>
            <a:lvl2pPr marL="685835" indent="-228611" algn="l" defTabSz="914446" rtl="0" eaLnBrk="1" latinLnBrk="0" hangingPunct="1">
              <a:lnSpc>
                <a:spcPct val="90000"/>
              </a:lnSpc>
              <a:spcBef>
                <a:spcPts val="600"/>
              </a:spcBef>
              <a:spcAft>
                <a:spcPts val="0"/>
              </a:spcAft>
              <a:buFont typeface="Courier New" panose="02070309020205020404" pitchFamily="49" charset="0"/>
              <a:buChar char="o"/>
              <a:defRPr sz="2200" kern="1200">
                <a:solidFill>
                  <a:srgbClr val="171610"/>
                </a:solidFill>
                <a:latin typeface="+mn-lt"/>
                <a:ea typeface="+mn-ea"/>
                <a:cs typeface="+mn-cs"/>
              </a:defRPr>
            </a:lvl2pPr>
            <a:lvl3pPr marL="1143057" indent="-228611" algn="l" defTabSz="914446" rtl="0" eaLnBrk="1" latinLnBrk="0" hangingPunct="1">
              <a:lnSpc>
                <a:spcPct val="90000"/>
              </a:lnSpc>
              <a:spcBef>
                <a:spcPts val="600"/>
              </a:spcBef>
              <a:spcAft>
                <a:spcPts val="0"/>
              </a:spcAft>
              <a:buFont typeface="Wingdings" panose="05000000000000000000" pitchFamily="2" charset="2"/>
              <a:buChar char="§"/>
              <a:defRPr sz="2000" kern="1200">
                <a:solidFill>
                  <a:srgbClr val="171610"/>
                </a:solidFill>
                <a:latin typeface="+mn-lt"/>
                <a:ea typeface="+mn-ea"/>
                <a:cs typeface="+mn-cs"/>
              </a:defRPr>
            </a:lvl3pPr>
            <a:lvl4pPr marL="1600281" indent="-228611" algn="l" defTabSz="914446" rtl="0" eaLnBrk="1" latinLnBrk="0" hangingPunct="1">
              <a:lnSpc>
                <a:spcPct val="90000"/>
              </a:lnSpc>
              <a:spcBef>
                <a:spcPts val="600"/>
              </a:spcBef>
              <a:spcAft>
                <a:spcPts val="0"/>
              </a:spcAft>
              <a:buFont typeface="Arial" panose="020B0604020202020204" pitchFamily="34" charset="0"/>
              <a:buChar char="–"/>
              <a:defRPr sz="1800" kern="1200">
                <a:solidFill>
                  <a:srgbClr val="171610"/>
                </a:solidFill>
                <a:latin typeface="+mn-lt"/>
                <a:ea typeface="+mn-ea"/>
                <a:cs typeface="+mn-cs"/>
              </a:defRPr>
            </a:lvl4pPr>
            <a:lvl5pPr marL="2057504" indent="-228611" algn="l" defTabSz="914446" rtl="0" eaLnBrk="1" latinLnBrk="0" hangingPunct="1">
              <a:lnSpc>
                <a:spcPct val="90000"/>
              </a:lnSpc>
              <a:spcBef>
                <a:spcPts val="600"/>
              </a:spcBef>
              <a:spcAft>
                <a:spcPts val="0"/>
              </a:spcAft>
              <a:buFont typeface="Arial" panose="020B0604020202020204" pitchFamily="34" charset="0"/>
              <a:buChar char="•"/>
              <a:defRPr sz="1600" kern="1200">
                <a:solidFill>
                  <a:srgbClr val="171610"/>
                </a:solidFill>
                <a:latin typeface="+mn-lt"/>
                <a:ea typeface="+mn-ea"/>
                <a:cs typeface="+mn-cs"/>
              </a:defRPr>
            </a:lvl5pPr>
            <a:lvl6pPr marL="2514727"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5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3" name="TextBox 2">
            <a:extLst>
              <a:ext uri="{FF2B5EF4-FFF2-40B4-BE49-F238E27FC236}">
                <a16:creationId xmlns:a16="http://schemas.microsoft.com/office/drawing/2014/main" id="{F698B7A2-075B-F301-049A-42D50AC1B106}"/>
              </a:ext>
            </a:extLst>
          </p:cNvPr>
          <p:cNvSpPr txBox="1"/>
          <p:nvPr/>
        </p:nvSpPr>
        <p:spPr>
          <a:xfrm>
            <a:off x="276726" y="1512129"/>
            <a:ext cx="9553074" cy="3477875"/>
          </a:xfrm>
          <a:prstGeom prst="rect">
            <a:avLst/>
          </a:prstGeom>
          <a:noFill/>
        </p:spPr>
        <p:txBody>
          <a:bodyPr wrap="square">
            <a:spAutoFit/>
          </a:bodyPr>
          <a:lstStyle/>
          <a:p>
            <a:pPr marL="342900" indent="-342900" eaLnBrk="1" hangingPunct="1">
              <a:buFont typeface="Arial" panose="020B0604020202020204" pitchFamily="34" charset="0"/>
              <a:buChar char="•"/>
              <a:defRPr/>
            </a:pPr>
            <a:r>
              <a:rPr lang="en-US" altLang="en-US" sz="2000" b="1" dirty="0"/>
              <a:t>Keep questions relevant to the issues in the solicitation</a:t>
            </a:r>
          </a:p>
          <a:p>
            <a:pPr marL="342900" indent="-342900" eaLnBrk="1" hangingPunct="1">
              <a:buFont typeface="Arial" panose="020B0604020202020204" pitchFamily="34" charset="0"/>
              <a:buChar char="•"/>
              <a:defRPr/>
            </a:pPr>
            <a:endParaRPr lang="en-US" altLang="en-US" sz="2000" b="1" dirty="0"/>
          </a:p>
          <a:p>
            <a:pPr marL="342900" indent="-342900" eaLnBrk="1" hangingPunct="1">
              <a:buFont typeface="Arial" panose="020B0604020202020204" pitchFamily="34" charset="0"/>
              <a:buChar char="•"/>
              <a:defRPr/>
            </a:pPr>
            <a:r>
              <a:rPr lang="en-US" altLang="en-US" sz="2000" b="1" dirty="0"/>
              <a:t>Reading and understanding the solicitation reduces questions</a:t>
            </a:r>
          </a:p>
          <a:p>
            <a:pPr marL="342900" indent="-342900" eaLnBrk="1" hangingPunct="1">
              <a:buFont typeface="Arial" panose="020B0604020202020204" pitchFamily="34" charset="0"/>
              <a:buChar char="•"/>
              <a:defRPr/>
            </a:pPr>
            <a:endParaRPr lang="en-US" altLang="en-US" sz="2000" b="1" dirty="0"/>
          </a:p>
          <a:p>
            <a:pPr marL="342900" indent="-342900" eaLnBrk="1" hangingPunct="1">
              <a:buFont typeface="Arial" panose="020B0604020202020204" pitchFamily="34" charset="0"/>
              <a:buChar char="•"/>
              <a:defRPr/>
            </a:pPr>
            <a:r>
              <a:rPr lang="en-US" altLang="en-US" sz="2000" b="1" dirty="0"/>
              <a:t>Monitor </a:t>
            </a:r>
            <a:r>
              <a:rPr lang="en-US" altLang="en-US" sz="2000" b="1" dirty="0" err="1"/>
              <a:t>Sam.Gov</a:t>
            </a:r>
            <a:r>
              <a:rPr lang="en-US" altLang="en-US" sz="2000" b="1" dirty="0"/>
              <a:t> for Amendments</a:t>
            </a:r>
          </a:p>
          <a:p>
            <a:pPr marL="342900" indent="-342900" eaLnBrk="1" hangingPunct="1">
              <a:buFont typeface="Arial" panose="020B0604020202020204" pitchFamily="34" charset="0"/>
              <a:buChar char="•"/>
              <a:defRPr/>
            </a:pPr>
            <a:endParaRPr lang="en-US" altLang="en-US" sz="2000" b="1" dirty="0"/>
          </a:p>
          <a:p>
            <a:pPr marL="342900" indent="-342900" eaLnBrk="1" hangingPunct="1">
              <a:buFont typeface="Arial" panose="020B0604020202020204" pitchFamily="34" charset="0"/>
              <a:buChar char="•"/>
              <a:defRPr/>
            </a:pPr>
            <a:r>
              <a:rPr lang="en-US" altLang="en-US" sz="2000" b="1" dirty="0"/>
              <a:t>Make the initial proposal your best offer</a:t>
            </a:r>
          </a:p>
          <a:p>
            <a:pPr marL="342900" indent="-342900" eaLnBrk="1" hangingPunct="1">
              <a:buFont typeface="Arial" panose="020B0604020202020204" pitchFamily="34" charset="0"/>
              <a:buChar char="•"/>
              <a:defRPr/>
            </a:pPr>
            <a:endParaRPr lang="en-US" altLang="en-US" sz="2000" b="1" dirty="0"/>
          </a:p>
          <a:p>
            <a:pPr marL="342900" indent="-342900" eaLnBrk="1" hangingPunct="1">
              <a:buFont typeface="Arial" panose="020B0604020202020204" pitchFamily="34" charset="0"/>
              <a:buChar char="•"/>
              <a:defRPr/>
            </a:pPr>
            <a:r>
              <a:rPr lang="en-US" altLang="en-US" sz="2000" b="1" dirty="0"/>
              <a:t>Communicate through the proper channels (Contracting Officer and Acquisition Specialist)</a:t>
            </a:r>
          </a:p>
          <a:p>
            <a:pPr marL="800100" lvl="1" indent="-342900">
              <a:buFont typeface="Courier New" panose="02070309020205020404" pitchFamily="49" charset="0"/>
              <a:buChar char="o"/>
              <a:defRPr/>
            </a:pPr>
            <a:endParaRPr lang="en-US" altLang="en-US" sz="2000" b="1" dirty="0"/>
          </a:p>
        </p:txBody>
      </p:sp>
    </p:spTree>
    <p:extLst>
      <p:ext uri="{BB962C8B-B14F-4D97-AF65-F5344CB8AC3E}">
        <p14:creationId xmlns:p14="http://schemas.microsoft.com/office/powerpoint/2010/main" val="162856343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F5142D-6D13-DA29-0AC6-C1FB34A4EF6A}"/>
              </a:ext>
            </a:extLst>
          </p:cNvPr>
          <p:cNvSpPr>
            <a:spLocks noGrp="1"/>
          </p:cNvSpPr>
          <p:nvPr>
            <p:ph type="title" idx="4294967295"/>
          </p:nvPr>
        </p:nvSpPr>
        <p:spPr>
          <a:xfrm>
            <a:off x="712788" y="-1501775"/>
            <a:ext cx="8937625" cy="1501775"/>
          </a:xfrm>
          <a:prstGeom prst="rect">
            <a:avLst/>
          </a:prstGeom>
        </p:spPr>
        <p:txBody>
          <a:bodyPr anchor="b"/>
          <a:lstStyle/>
          <a:p>
            <a:r>
              <a:rPr lang="en-US" dirty="0"/>
              <a:t>End Slide 1</a:t>
            </a:r>
          </a:p>
        </p:txBody>
      </p:sp>
      <p:pic>
        <p:nvPicPr>
          <p:cNvPr id="5" name="Picture 4">
            <a:extLst>
              <a:ext uri="{FF2B5EF4-FFF2-40B4-BE49-F238E27FC236}">
                <a16:creationId xmlns:a16="http://schemas.microsoft.com/office/drawing/2014/main" id="{F306C0FB-7E5C-CF5B-0107-2C8CC5C54A93}"/>
              </a:ext>
            </a:extLst>
          </p:cNvPr>
          <p:cNvPicPr>
            <a:picLocks noChangeAspect="1"/>
          </p:cNvPicPr>
          <p:nvPr/>
        </p:nvPicPr>
        <p:blipFill>
          <a:blip r:embed="rId2"/>
          <a:stretch>
            <a:fillRect/>
          </a:stretch>
        </p:blipFill>
        <p:spPr>
          <a:xfrm>
            <a:off x="343503" y="1419726"/>
            <a:ext cx="9690834" cy="4788569"/>
          </a:xfrm>
          <a:prstGeom prst="rect">
            <a:avLst/>
          </a:prstGeom>
        </p:spPr>
      </p:pic>
    </p:spTree>
    <p:extLst>
      <p:ext uri="{BB962C8B-B14F-4D97-AF65-F5344CB8AC3E}">
        <p14:creationId xmlns:p14="http://schemas.microsoft.com/office/powerpoint/2010/main" val="2948620437"/>
      </p:ext>
    </p:extLst>
  </p:cSld>
  <p:clrMapOvr>
    <a:masterClrMapping/>
  </p:clrMapOvr>
</p:sld>
</file>

<file path=ppt/theme/theme1.xml><?xml version="1.0" encoding="utf-8"?>
<a:theme xmlns:a="http://schemas.openxmlformats.org/drawingml/2006/main" name="Cover Slide">
  <a:themeElements>
    <a:clrScheme name="DLA 2020 Template">
      <a:dk1>
        <a:sysClr val="windowText" lastClr="000000"/>
      </a:dk1>
      <a:lt1>
        <a:sysClr val="window" lastClr="FFFFFF"/>
      </a:lt1>
      <a:dk2>
        <a:srgbClr val="0076A3"/>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ontent Slide">
  <a:themeElements>
    <a:clrScheme name="DLA 2020 Template">
      <a:dk1>
        <a:sysClr val="windowText" lastClr="000000"/>
      </a:dk1>
      <a:lt1>
        <a:sysClr val="window" lastClr="FFFFFF"/>
      </a:lt1>
      <a:dk2>
        <a:srgbClr val="0076A3"/>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ontent Slide">
  <a:themeElements>
    <a:clrScheme name="DLA 2020 Template">
      <a:dk1>
        <a:sysClr val="windowText" lastClr="000000"/>
      </a:dk1>
      <a:lt1>
        <a:sysClr val="window" lastClr="FFFFFF"/>
      </a:lt1>
      <a:dk2>
        <a:srgbClr val="0076A3"/>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End Slides">
  <a:themeElements>
    <a:clrScheme name="DLA 2020 Template">
      <a:dk1>
        <a:sysClr val="windowText" lastClr="000000"/>
      </a:dk1>
      <a:lt1>
        <a:sysClr val="window" lastClr="FFFFFF"/>
      </a:lt1>
      <a:dk2>
        <a:srgbClr val="0076A3"/>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Blank Slide">
  <a:themeElements>
    <a:clrScheme name="DLA 2020 Template">
      <a:dk1>
        <a:sysClr val="windowText" lastClr="000000"/>
      </a:dk1>
      <a:lt1>
        <a:sysClr val="window" lastClr="FFFFFF"/>
      </a:lt1>
      <a:dk2>
        <a:srgbClr val="0076A3"/>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c2811d8-9047-42d4-b820-cdea9cab3ce7" xsi:nil="true"/>
    <lcf76f155ced4ddcb4097134ff3c332f xmlns="aec27c88-53b4-42cc-ad1b-069d89947a6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2627D3B22F76E4A9E9EDD25745297B6" ma:contentTypeVersion="11" ma:contentTypeDescription="Create a new document." ma:contentTypeScope="" ma:versionID="5ed7c669d4c0cd2ea31add298bdfed6f">
  <xsd:schema xmlns:xsd="http://www.w3.org/2001/XMLSchema" xmlns:xs="http://www.w3.org/2001/XMLSchema" xmlns:p="http://schemas.microsoft.com/office/2006/metadata/properties" xmlns:ns2="aec27c88-53b4-42cc-ad1b-069d89947a66" xmlns:ns3="9c2811d8-9047-42d4-b820-cdea9cab3ce7" targetNamespace="http://schemas.microsoft.com/office/2006/metadata/properties" ma:root="true" ma:fieldsID="c353650156fa0fb4b92805ae40ba77ff" ns2:_="" ns3:_="">
    <xsd:import namespace="aec27c88-53b4-42cc-ad1b-069d89947a66"/>
    <xsd:import namespace="9c2811d8-9047-42d4-b820-cdea9cab3c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c27c88-53b4-42cc-ad1b-069d89947a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3792285-60e9-4ab2-97de-bba1fc82f52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c2811d8-9047-42d4-b820-cdea9cab3ce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d5ed889-4c07-4732-ba3e-f2997991a608}" ma:internalName="TaxCatchAll" ma:showField="CatchAllData" ma:web="9c2811d8-9047-42d4-b820-cdea9cab3c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B18D645-6709-4AC3-B89B-7A9CBF2A4310}">
  <ds:schemaRefs>
    <ds:schemaRef ds:uri="http://schemas.microsoft.com/office/2006/documentManagement/types"/>
    <ds:schemaRef ds:uri="http://www.w3.org/XML/1998/namespace"/>
    <ds:schemaRef ds:uri="http://purl.org/dc/elements/1.1/"/>
    <ds:schemaRef ds:uri="http://schemas.openxmlformats.org/package/2006/metadata/core-properties"/>
    <ds:schemaRef ds:uri="http://schemas.microsoft.com/office/2006/metadata/properties"/>
    <ds:schemaRef ds:uri="http://purl.org/dc/terms/"/>
    <ds:schemaRef ds:uri="http://schemas.microsoft.com/office/infopath/2007/PartnerControls"/>
    <ds:schemaRef ds:uri="9c2811d8-9047-42d4-b820-cdea9cab3ce7"/>
    <ds:schemaRef ds:uri="aec27c88-53b4-42cc-ad1b-069d89947a66"/>
    <ds:schemaRef ds:uri="http://purl.org/dc/dcmitype/"/>
  </ds:schemaRefs>
</ds:datastoreItem>
</file>

<file path=customXml/itemProps2.xml><?xml version="1.0" encoding="utf-8"?>
<ds:datastoreItem xmlns:ds="http://schemas.openxmlformats.org/officeDocument/2006/customXml" ds:itemID="{610A551E-F491-4E02-8D33-7B2F4DED5B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c27c88-53b4-42cc-ad1b-069d89947a66"/>
    <ds:schemaRef ds:uri="9c2811d8-9047-42d4-b820-cdea9cab3ce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493ED3D-638C-4755-AA9B-20BCF08A396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1588</TotalTime>
  <Words>12017</Words>
  <Application>Microsoft Office PowerPoint</Application>
  <PresentationFormat>Custom</PresentationFormat>
  <Paragraphs>937</Paragraphs>
  <Slides>117</Slides>
  <Notes>106</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117</vt:i4>
      </vt:variant>
    </vt:vector>
  </HeadingPairs>
  <TitlesOfParts>
    <vt:vector size="131" baseType="lpstr">
      <vt:lpstr>Aptos</vt:lpstr>
      <vt:lpstr>Arial</vt:lpstr>
      <vt:lpstr>Calibri</vt:lpstr>
      <vt:lpstr>Courier</vt:lpstr>
      <vt:lpstr>Courier New</vt:lpstr>
      <vt:lpstr>Raleway Black</vt:lpstr>
      <vt:lpstr>Symbol</vt:lpstr>
      <vt:lpstr>Times New Roman</vt:lpstr>
      <vt:lpstr>Wingdings</vt:lpstr>
      <vt:lpstr>Cover Slide</vt:lpstr>
      <vt:lpstr>2_Content Slide</vt:lpstr>
      <vt:lpstr>1_Content Slide</vt:lpstr>
      <vt:lpstr>End Slides</vt:lpstr>
      <vt:lpstr>Blank Slide</vt:lpstr>
      <vt:lpstr>DLA Distribution Expeditionary Capabilities Contract (DECAP) Pre-Proposal Conference </vt:lpstr>
      <vt:lpstr>DECAP Pre-Proposal Conference</vt:lpstr>
      <vt:lpstr>Administrative and Introductions</vt:lpstr>
      <vt:lpstr>Administrative and Introductions</vt:lpstr>
      <vt:lpstr>Administrative and Introductions</vt:lpstr>
      <vt:lpstr>Mission Brief Overview</vt:lpstr>
      <vt:lpstr>DLA Strategic Plan 2025-2030</vt:lpstr>
      <vt:lpstr>DLA Distribution</vt:lpstr>
      <vt:lpstr>DLA Disposition</vt:lpstr>
      <vt:lpstr>DLA Distribution</vt:lpstr>
      <vt:lpstr>DLA Disposition Services</vt:lpstr>
      <vt:lpstr>DLA Disposition Services</vt:lpstr>
      <vt:lpstr>WMS Introduction</vt:lpstr>
      <vt:lpstr>WMS Introduction</vt:lpstr>
      <vt:lpstr>WMS Introduction</vt:lpstr>
      <vt:lpstr>WMS Introduction</vt:lpstr>
      <vt:lpstr>Warehouse Management System</vt:lpstr>
      <vt:lpstr>WMS Impacts</vt:lpstr>
      <vt:lpstr>WMS Impacts</vt:lpstr>
      <vt:lpstr>WMS Causative Research</vt:lpstr>
      <vt:lpstr>DLA Distribution Expeditionary Capabilities Contract (DECAP)</vt:lpstr>
      <vt:lpstr>DECAP Overview</vt:lpstr>
      <vt:lpstr>DECAP Overview</vt:lpstr>
      <vt:lpstr>DECAP Overview</vt:lpstr>
      <vt:lpstr>DECAP Pre-Proposal Conference</vt:lpstr>
      <vt:lpstr>Section A Solicitation, Offer, and Award</vt:lpstr>
      <vt:lpstr>Section B Supplies or Services &amp; Price/Cost</vt:lpstr>
      <vt:lpstr>Section B Supplies or Services &amp; Price/Cost</vt:lpstr>
      <vt:lpstr>Section B Supplies or Services &amp; Price/Cost</vt:lpstr>
      <vt:lpstr>Section B Supplies or Services &amp; Price/Cost</vt:lpstr>
      <vt:lpstr>Section B Instructions</vt:lpstr>
      <vt:lpstr>Section B Instructions</vt:lpstr>
      <vt:lpstr>Section B Instructions</vt:lpstr>
      <vt:lpstr>Section B Narrative</vt:lpstr>
      <vt:lpstr>Section B Narrative</vt:lpstr>
      <vt:lpstr>Section C Performance Work Statement Review  </vt:lpstr>
      <vt:lpstr>Section C Key Points</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Performance Work Statement Review Section C</vt:lpstr>
      <vt:lpstr>Inspection and Acceptance Section E</vt:lpstr>
      <vt:lpstr>Deliveries or Performance Section F</vt:lpstr>
      <vt:lpstr>Deliveries or Performance Section F</vt:lpstr>
      <vt:lpstr>Contract Administration Data Section G</vt:lpstr>
      <vt:lpstr>Special Contract Requirements Section H</vt:lpstr>
      <vt:lpstr>Contract Clauses Section I</vt:lpstr>
      <vt:lpstr>List of Attachments Section J</vt:lpstr>
      <vt:lpstr>Representations, Certifications  &amp; Other Statements of Offerors or Respondents  Section K</vt:lpstr>
      <vt:lpstr>Instructions, Conditions &amp; Notices to Offerors or Respondents Section L</vt:lpstr>
      <vt:lpstr>Instructions, Conditions &amp; Notices to Offerors or Respondents Section L</vt:lpstr>
      <vt:lpstr>Instructions, Conditions &amp; Notices to Offerors or Respondents Section L</vt:lpstr>
      <vt:lpstr>Instructions, Conditions &amp; Notices to Offerors or Respondents Section L</vt:lpstr>
      <vt:lpstr>Instructions, Conditions &amp; Notices to Offerors or Respondents Section L</vt:lpstr>
      <vt:lpstr>E-FILE I Solicitation, Offer, and Award Documents Section L</vt:lpstr>
      <vt:lpstr>E-FILE I Solicitation, Offer, and Award Documents Section L</vt:lpstr>
      <vt:lpstr>E-File II - Factor 1:  Performance Confidence Assessment</vt:lpstr>
      <vt:lpstr>E-File II - Factor 1:  Performance Confidence Assessment</vt:lpstr>
      <vt:lpstr>E-File II - Factor 1:  Performance Confidence Assessment</vt:lpstr>
      <vt:lpstr>E-File III – Technical Proposal </vt:lpstr>
      <vt:lpstr>E-File III – Technical Proposal Factor 2:  Program Management Office Approach</vt:lpstr>
      <vt:lpstr>E-File III - Factor 2:  Program Management Office Approach</vt:lpstr>
      <vt:lpstr>E-File III - Factor 2:  Program Management Office Approach</vt:lpstr>
      <vt:lpstr>E-File III - Factor 2:  Program Management Office Approach</vt:lpstr>
      <vt:lpstr>E-File III - Factor 2:  Program Management Office Approach</vt:lpstr>
      <vt:lpstr>E-File III - Factor 2:  Program Management Office Approach</vt:lpstr>
      <vt:lpstr>E-File III - Factor 3: Global Readiness</vt:lpstr>
      <vt:lpstr>E-FILE IV – Factor 4: Small Business Participation  Commitment Document </vt:lpstr>
      <vt:lpstr>E-File IV - Factor 4: Small business Participation Commitment Document</vt:lpstr>
      <vt:lpstr>E-File IV - Factor 4: Small business Participation Commitment Document</vt:lpstr>
      <vt:lpstr>E-File V –Cost Proposal</vt:lpstr>
      <vt:lpstr>E-File V – Cost Proposal</vt:lpstr>
      <vt:lpstr>E-File V – Cost Proposal</vt:lpstr>
      <vt:lpstr>E-File V – Cost Proposal</vt:lpstr>
      <vt:lpstr>E-File V – Cost Proposal</vt:lpstr>
      <vt:lpstr>E-File V – Cost Proposal</vt:lpstr>
      <vt:lpstr>E-File V – Cost Proposal</vt:lpstr>
      <vt:lpstr>E-File V – Cost Proposal</vt:lpstr>
      <vt:lpstr>E-File V – Cost Proposal</vt:lpstr>
      <vt:lpstr>E-File V – Cost Proposal</vt:lpstr>
      <vt:lpstr>E-File V – Cost Proposal</vt:lpstr>
      <vt:lpstr>E-File V – Cost Proposal</vt:lpstr>
      <vt:lpstr>E-File V – Cost Proposal</vt:lpstr>
      <vt:lpstr>E-File V – Cost Proposal</vt:lpstr>
      <vt:lpstr>E-File V – Cost Proposal</vt:lpstr>
      <vt:lpstr>E-File V – Cost Proposal</vt:lpstr>
      <vt:lpstr>E-File V – Cost Proposal</vt:lpstr>
      <vt:lpstr>Section M – Evaluation Factors for Award</vt:lpstr>
      <vt:lpstr>Section M – Evaluation Factors for Award</vt:lpstr>
      <vt:lpstr>Section M – Evaluation Factors for Award</vt:lpstr>
      <vt:lpstr>Section M – Evaluation Factors for Award</vt:lpstr>
      <vt:lpstr>Conclusion</vt:lpstr>
      <vt:lpstr>End Slide 1</vt:lpstr>
    </vt:vector>
  </TitlesOfParts>
  <Manager>martin.binder@dla.mil</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SIG</dc:creator>
  <cp:lastModifiedBy>Lesh, Scott W CIV DLA DISTRIBUTION (USA)</cp:lastModifiedBy>
  <cp:revision>65</cp:revision>
  <dcterms:created xsi:type="dcterms:W3CDTF">2024-04-17T19:52:04Z</dcterms:created>
  <dcterms:modified xsi:type="dcterms:W3CDTF">2025-05-15T16:58:25Z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0x010100E2627D3B22F76E4A9E9EDD25745297B6</vt:lpwstr>
  </property>
  <property fmtid="{D5CDD505-2E9C-101B-9397-08002B2CF9AE}" pid="3" name="MediaServiceImageTags">
    <vt:lpwstr/>
  </property>
  <property fmtid="{D5CDD505-2E9C-101B-9397-08002B2CF9AE}" pid="4" name="Order">
    <vt:r8>160500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