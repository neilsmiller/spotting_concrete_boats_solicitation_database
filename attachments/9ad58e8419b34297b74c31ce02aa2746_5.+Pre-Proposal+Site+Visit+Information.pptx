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5"/>
  </p:sldMasterIdLst>
  <p:notesMasterIdLst>
    <p:notesMasterId r:id="rId14"/>
  </p:notesMasterIdLst>
  <p:handoutMasterIdLst>
    <p:handoutMasterId r:id="rId15"/>
  </p:handoutMasterIdLst>
  <p:sldIdLst>
    <p:sldId id="269" r:id="rId6"/>
    <p:sldId id="451" r:id="rId7"/>
    <p:sldId id="450" r:id="rId8"/>
    <p:sldId id="459" r:id="rId9"/>
    <p:sldId id="449" r:id="rId10"/>
    <p:sldId id="467" r:id="rId11"/>
    <p:sldId id="466" r:id="rId12"/>
    <p:sldId id="468" r:id="rId13"/>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7102629-6E79-44F9-84A3-DCFFAF98230F}">
          <p14:sldIdLst>
            <p14:sldId id="269"/>
            <p14:sldId id="451"/>
            <p14:sldId id="450"/>
            <p14:sldId id="459"/>
            <p14:sldId id="449"/>
            <p14:sldId id="467"/>
            <p14:sldId id="466"/>
            <p14:sldId id="468"/>
          </p14:sldIdLst>
        </p14:section>
      </p14:sectionLst>
    </p:ext>
    <p:ext uri="{EFAFB233-063F-42B5-8137-9DF3F51BA10A}">
      <p15:sldGuideLst xmlns:p15="http://schemas.microsoft.com/office/powerpoint/2012/main">
        <p15:guide id="1" orient="horz" pos="215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9270C0-040E-4CD2-ACA1-73DA69E1FDA3}" v="6" dt="2026-03-31T19:26:19.1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94660"/>
  </p:normalViewPr>
  <p:slideViewPr>
    <p:cSldViewPr snapToGrid="0" snapToObjects="1">
      <p:cViewPr varScale="1">
        <p:scale>
          <a:sx n="74" d="100"/>
          <a:sy n="74" d="100"/>
        </p:scale>
        <p:origin x="2990" y="283"/>
      </p:cViewPr>
      <p:guideLst>
        <p:guide orient="horz" pos="2158"/>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idez, Rosario E." userId="be604d7b-0b2a-499c-bbff-d16e70f5c79a" providerId="ADAL" clId="{D209861C-12C2-4B59-AEA0-A651D279DB97}"/>
    <pc:docChg chg="undo custSel modSld">
      <pc:chgData name="Chaidez, Rosario E." userId="be604d7b-0b2a-499c-bbff-d16e70f5c79a" providerId="ADAL" clId="{D209861C-12C2-4B59-AEA0-A651D279DB97}" dt="2026-04-28T15:13:48.499" v="1340" actId="20577"/>
      <pc:docMkLst>
        <pc:docMk/>
      </pc:docMkLst>
      <pc:sldChg chg="modSp mod">
        <pc:chgData name="Chaidez, Rosario E." userId="be604d7b-0b2a-499c-bbff-d16e70f5c79a" providerId="ADAL" clId="{D209861C-12C2-4B59-AEA0-A651D279DB97}" dt="2026-04-27T20:37:18.092" v="1188" actId="113"/>
        <pc:sldMkLst>
          <pc:docMk/>
          <pc:sldMk cId="2576542182" sldId="269"/>
        </pc:sldMkLst>
        <pc:spChg chg="mod">
          <ac:chgData name="Chaidez, Rosario E." userId="be604d7b-0b2a-499c-bbff-d16e70f5c79a" providerId="ADAL" clId="{D209861C-12C2-4B59-AEA0-A651D279DB97}" dt="2026-04-27T20:37:18.092" v="1188" actId="113"/>
          <ac:spMkLst>
            <pc:docMk/>
            <pc:sldMk cId="2576542182" sldId="269"/>
            <ac:spMk id="4" creationId="{00000000-0000-0000-0000-000000000000}"/>
          </ac:spMkLst>
        </pc:spChg>
        <pc:spChg chg="mod">
          <ac:chgData name="Chaidez, Rosario E." userId="be604d7b-0b2a-499c-bbff-d16e70f5c79a" providerId="ADAL" clId="{D209861C-12C2-4B59-AEA0-A651D279DB97}" dt="2026-03-31T19:10:49.188" v="43" actId="20577"/>
          <ac:spMkLst>
            <pc:docMk/>
            <pc:sldMk cId="2576542182" sldId="269"/>
            <ac:spMk id="5" creationId="{00000000-0000-0000-0000-000000000000}"/>
          </ac:spMkLst>
        </pc:spChg>
      </pc:sldChg>
      <pc:sldChg chg="modSp mod">
        <pc:chgData name="Chaidez, Rosario E." userId="be604d7b-0b2a-499c-bbff-d16e70f5c79a" providerId="ADAL" clId="{D209861C-12C2-4B59-AEA0-A651D279DB97}" dt="2026-04-28T15:13:48.499" v="1340" actId="20577"/>
        <pc:sldMkLst>
          <pc:docMk/>
          <pc:sldMk cId="129874622" sldId="449"/>
        </pc:sldMkLst>
        <pc:spChg chg="mod">
          <ac:chgData name="Chaidez, Rosario E." userId="be604d7b-0b2a-499c-bbff-d16e70f5c79a" providerId="ADAL" clId="{D209861C-12C2-4B59-AEA0-A651D279DB97}" dt="2026-04-28T15:13:48.499" v="1340" actId="20577"/>
          <ac:spMkLst>
            <pc:docMk/>
            <pc:sldMk cId="129874622" sldId="449"/>
            <ac:spMk id="310275" creationId="{00000000-0000-0000-0000-000000000000}"/>
          </ac:spMkLst>
        </pc:spChg>
      </pc:sldChg>
      <pc:sldChg chg="modSp mod">
        <pc:chgData name="Chaidez, Rosario E." userId="be604d7b-0b2a-499c-bbff-d16e70f5c79a" providerId="ADAL" clId="{D209861C-12C2-4B59-AEA0-A651D279DB97}" dt="2026-03-31T19:12:47.667" v="103" actId="6549"/>
        <pc:sldMkLst>
          <pc:docMk/>
          <pc:sldMk cId="1584856224" sldId="450"/>
        </pc:sldMkLst>
        <pc:spChg chg="mod">
          <ac:chgData name="Chaidez, Rosario E." userId="be604d7b-0b2a-499c-bbff-d16e70f5c79a" providerId="ADAL" clId="{D209861C-12C2-4B59-AEA0-A651D279DB97}" dt="2026-03-31T19:12:47.667" v="103" actId="6549"/>
          <ac:spMkLst>
            <pc:docMk/>
            <pc:sldMk cId="1584856224" sldId="450"/>
            <ac:spMk id="310275" creationId="{00000000-0000-0000-0000-000000000000}"/>
          </ac:spMkLst>
        </pc:spChg>
      </pc:sldChg>
      <pc:sldChg chg="modSp mod">
        <pc:chgData name="Chaidez, Rosario E." userId="be604d7b-0b2a-499c-bbff-d16e70f5c79a" providerId="ADAL" clId="{D209861C-12C2-4B59-AEA0-A651D279DB97}" dt="2026-04-27T20:38:53.938" v="1328" actId="20577"/>
        <pc:sldMkLst>
          <pc:docMk/>
          <pc:sldMk cId="547749990" sldId="451"/>
        </pc:sldMkLst>
        <pc:spChg chg="mod">
          <ac:chgData name="Chaidez, Rosario E." userId="be604d7b-0b2a-499c-bbff-d16e70f5c79a" providerId="ADAL" clId="{D209861C-12C2-4B59-AEA0-A651D279DB97}" dt="2026-04-27T20:38:53.938" v="1328" actId="20577"/>
          <ac:spMkLst>
            <pc:docMk/>
            <pc:sldMk cId="547749990" sldId="451"/>
            <ac:spMk id="310275" creationId="{00000000-0000-0000-0000-000000000000}"/>
          </ac:spMkLst>
        </pc:spChg>
      </pc:sldChg>
      <pc:sldChg chg="modSp mod">
        <pc:chgData name="Chaidez, Rosario E." userId="be604d7b-0b2a-499c-bbff-d16e70f5c79a" providerId="ADAL" clId="{D209861C-12C2-4B59-AEA0-A651D279DB97}" dt="2026-04-27T20:39:11.649" v="1332" actId="20577"/>
        <pc:sldMkLst>
          <pc:docMk/>
          <pc:sldMk cId="624635166" sldId="459"/>
        </pc:sldMkLst>
        <pc:spChg chg="mod">
          <ac:chgData name="Chaidez, Rosario E." userId="be604d7b-0b2a-499c-bbff-d16e70f5c79a" providerId="ADAL" clId="{D209861C-12C2-4B59-AEA0-A651D279DB97}" dt="2026-04-27T20:39:11.649" v="1332" actId="20577"/>
          <ac:spMkLst>
            <pc:docMk/>
            <pc:sldMk cId="624635166" sldId="459"/>
            <ac:spMk id="3" creationId="{F6E89FB7-F2A5-4EA2-9CBA-B282A61B8443}"/>
          </ac:spMkLst>
        </pc:spChg>
      </pc:sldChg>
      <pc:sldChg chg="modSp mod">
        <pc:chgData name="Chaidez, Rosario E." userId="be604d7b-0b2a-499c-bbff-d16e70f5c79a" providerId="ADAL" clId="{D209861C-12C2-4B59-AEA0-A651D279DB97}" dt="2026-04-27T20:39:47.916" v="1338" actId="20577"/>
        <pc:sldMkLst>
          <pc:docMk/>
          <pc:sldMk cId="55409085" sldId="466"/>
        </pc:sldMkLst>
        <pc:spChg chg="mod">
          <ac:chgData name="Chaidez, Rosario E." userId="be604d7b-0b2a-499c-bbff-d16e70f5c79a" providerId="ADAL" clId="{D209861C-12C2-4B59-AEA0-A651D279DB97}" dt="2026-04-27T20:39:47.916" v="1338" actId="20577"/>
          <ac:spMkLst>
            <pc:docMk/>
            <pc:sldMk cId="55409085" sldId="466"/>
            <ac:spMk id="3" creationId="{2CBF235A-C839-4129-A97D-213F8753C6EB}"/>
          </ac:spMkLst>
        </pc:spChg>
      </pc:sldChg>
      <pc:sldChg chg="modSp mod">
        <pc:chgData name="Chaidez, Rosario E." userId="be604d7b-0b2a-499c-bbff-d16e70f5c79a" providerId="ADAL" clId="{D209861C-12C2-4B59-AEA0-A651D279DB97}" dt="2026-04-22T20:58:34.114" v="1118" actId="6549"/>
        <pc:sldMkLst>
          <pc:docMk/>
          <pc:sldMk cId="4192265605" sldId="467"/>
        </pc:sldMkLst>
        <pc:spChg chg="mod">
          <ac:chgData name="Chaidez, Rosario E." userId="be604d7b-0b2a-499c-bbff-d16e70f5c79a" providerId="ADAL" clId="{D209861C-12C2-4B59-AEA0-A651D279DB97}" dt="2026-04-22T20:58:34.114" v="1118" actId="6549"/>
          <ac:spMkLst>
            <pc:docMk/>
            <pc:sldMk cId="4192265605" sldId="467"/>
            <ac:spMk id="3" creationId="{5BF863B6-53EF-42CE-B1A6-BB3A04AED5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484A682B-60B7-244F-AF8C-16AA5F067F6C}" type="datetimeFigureOut">
              <a:rPr lang="en-US" smtClean="0"/>
              <a:t>4/28/2026</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6B285591-F2ED-7B4B-AAEB-54F8DF9914E5}" type="slidenum">
              <a:rPr lang="en-US" smtClean="0"/>
              <a:t>‹#›</a:t>
            </a:fld>
            <a:endParaRPr lang="en-US" dirty="0"/>
          </a:p>
        </p:txBody>
      </p:sp>
    </p:spTree>
    <p:extLst>
      <p:ext uri="{BB962C8B-B14F-4D97-AF65-F5344CB8AC3E}">
        <p14:creationId xmlns:p14="http://schemas.microsoft.com/office/powerpoint/2010/main" val="19199291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42C0177D-0B34-354A-A985-A7708375935C}" type="datetimeFigureOut">
              <a:rPr lang="en-US" smtClean="0"/>
              <a:t>4/28/2026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DFD3E557-29CA-2942-B5B0-BBAE067F5736}" type="slidenum">
              <a:rPr lang="en-US" smtClean="0"/>
              <a:t>‹#›</a:t>
            </a:fld>
            <a:endParaRPr lang="en-US" dirty="0"/>
          </a:p>
        </p:txBody>
      </p:sp>
    </p:spTree>
    <p:extLst>
      <p:ext uri="{BB962C8B-B14F-4D97-AF65-F5344CB8AC3E}">
        <p14:creationId xmlns:p14="http://schemas.microsoft.com/office/powerpoint/2010/main" val="52516197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2F909BC5-8149-429D-BC0A-3C689745EDF8}" type="slidenum">
              <a:rPr lang="en-US" smtClean="0"/>
              <a:pPr/>
              <a:t>1</a:t>
            </a:fld>
            <a:endParaRPr lang="en-US"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2F909BC5-8149-429D-BC0A-3C689745EDF8}" type="slidenum">
              <a:rPr lang="en-US" smtClean="0"/>
              <a:pPr/>
              <a:t>2</a:t>
            </a:fld>
            <a:endParaRPr lang="en-US"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2F909BC5-8149-429D-BC0A-3C689745EDF8}" type="slidenum">
              <a:rPr lang="en-US" smtClean="0"/>
              <a:pPr/>
              <a:t>4</a:t>
            </a:fld>
            <a:endParaRPr lang="en-US"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 name="Picture 4" descr="cover9.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hasCustomPrompt="1"/>
          </p:nvPr>
        </p:nvSpPr>
        <p:spPr>
          <a:xfrm>
            <a:off x="338880" y="3178162"/>
            <a:ext cx="7772400" cy="730127"/>
          </a:xfrm>
        </p:spPr>
        <p:txBody>
          <a:bodyPr anchor="b" anchorCtr="0">
            <a:normAutofit/>
          </a:bodyPr>
          <a:lstStyle>
            <a:lvl1pPr algn="l">
              <a:defRPr sz="2000" b="1">
                <a:latin typeface="Calibri"/>
                <a:cs typeface="Calibri"/>
              </a:defRPr>
            </a:lvl1pPr>
          </a:lstStyle>
          <a:p>
            <a:r>
              <a:rPr lang="en-US" dirty="0"/>
              <a:t>CLICK TO EDIT MASTER TITLE STYLE</a:t>
            </a:r>
          </a:p>
        </p:txBody>
      </p:sp>
      <p:sp>
        <p:nvSpPr>
          <p:cNvPr id="3" name="Subtitle 2"/>
          <p:cNvSpPr>
            <a:spLocks noGrp="1"/>
          </p:cNvSpPr>
          <p:nvPr>
            <p:ph type="subTitle" idx="1"/>
          </p:nvPr>
        </p:nvSpPr>
        <p:spPr>
          <a:xfrm>
            <a:off x="357696" y="4004454"/>
            <a:ext cx="7753584" cy="914813"/>
          </a:xfrm>
        </p:spPr>
        <p:txBody>
          <a:bodyPr>
            <a:noAutofit/>
          </a:bodyPr>
          <a:lstStyle>
            <a:lvl1pPr marL="0" indent="0" algn="l">
              <a:buNone/>
              <a:defRPr sz="1600">
                <a:solidFill>
                  <a:srgbClr val="FFFFFF"/>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3009023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935650"/>
            <a:ext cx="8229600" cy="41905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0"/>
          </p:nvPr>
        </p:nvSpPr>
        <p:spPr/>
        <p:txBody>
          <a:bodyPr/>
          <a:lstStyle/>
          <a:p>
            <a:fld id="{9B27D237-6C0D-5549-BE11-2040A22CBC71}" type="slidenum">
              <a:rPr lang="en-US" smtClean="0"/>
              <a:pPr/>
              <a:t>‹#›</a:t>
            </a:fld>
            <a:endParaRPr lang="en-US" dirty="0"/>
          </a:p>
        </p:txBody>
      </p:sp>
    </p:spTree>
    <p:extLst>
      <p:ext uri="{BB962C8B-B14F-4D97-AF65-F5344CB8AC3E}">
        <p14:creationId xmlns:p14="http://schemas.microsoft.com/office/powerpoint/2010/main" val="2229877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norm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856225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23322"/>
            <a:ext cx="4038600" cy="4202841"/>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923322"/>
            <a:ext cx="4038600" cy="4202841"/>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9B27D237-6C0D-5549-BE11-2040A22CBC71}" type="slidenum">
              <a:rPr lang="en-US" smtClean="0"/>
              <a:t>‹#›</a:t>
            </a:fld>
            <a:endParaRPr lang="en-US" dirty="0"/>
          </a:p>
        </p:txBody>
      </p:sp>
    </p:spTree>
    <p:extLst>
      <p:ext uri="{BB962C8B-B14F-4D97-AF65-F5344CB8AC3E}">
        <p14:creationId xmlns:p14="http://schemas.microsoft.com/office/powerpoint/2010/main" val="1508298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732377"/>
            <a:ext cx="4040188" cy="63976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372139"/>
            <a:ext cx="4040188" cy="3706052"/>
          </a:xfrm>
        </p:spPr>
        <p:txBody>
          <a:bodyPr>
            <a:normAutofit/>
          </a:bodyPr>
          <a:lstStyle>
            <a:lvl1pPr>
              <a:defRPr sz="1600"/>
            </a:lvl1pPr>
            <a:lvl2pPr>
              <a:defRPr sz="1600"/>
            </a:lvl2pPr>
            <a:lvl3pPr>
              <a:defRPr sz="1600"/>
            </a:lvl3pPr>
            <a:lvl4pPr>
              <a:defRPr sz="1800"/>
            </a:lvl4pPr>
            <a:lvl5pPr>
              <a:defRPr sz="18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p:nvPr>
        </p:nvSpPr>
        <p:spPr>
          <a:xfrm>
            <a:off x="4645025" y="1732377"/>
            <a:ext cx="4041775" cy="63976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372139"/>
            <a:ext cx="4041775" cy="3706052"/>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9" name="Slide Number Placeholder 8"/>
          <p:cNvSpPr>
            <a:spLocks noGrp="1"/>
          </p:cNvSpPr>
          <p:nvPr>
            <p:ph type="sldNum" sz="quarter" idx="12"/>
          </p:nvPr>
        </p:nvSpPr>
        <p:spPr/>
        <p:txBody>
          <a:bodyPr/>
          <a:lstStyle/>
          <a:p>
            <a:fld id="{9B27D237-6C0D-5549-BE11-2040A22CBC71}" type="slidenum">
              <a:rPr lang="en-US" smtClean="0"/>
              <a:t>‹#›</a:t>
            </a:fld>
            <a:endParaRPr lang="en-US" dirty="0"/>
          </a:p>
        </p:txBody>
      </p:sp>
    </p:spTree>
    <p:extLst>
      <p:ext uri="{BB962C8B-B14F-4D97-AF65-F5344CB8AC3E}">
        <p14:creationId xmlns:p14="http://schemas.microsoft.com/office/powerpoint/2010/main" val="1862334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9B27D237-6C0D-5549-BE11-2040A22CBC71}" type="slidenum">
              <a:rPr lang="en-US" smtClean="0"/>
              <a:t>‹#›</a:t>
            </a:fld>
            <a:endParaRPr lang="en-US" dirty="0"/>
          </a:p>
        </p:txBody>
      </p:sp>
    </p:spTree>
    <p:extLst>
      <p:ext uri="{BB962C8B-B14F-4D97-AF65-F5344CB8AC3E}">
        <p14:creationId xmlns:p14="http://schemas.microsoft.com/office/powerpoint/2010/main" val="3806173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27D237-6C0D-5549-BE11-2040A22CBC71}" type="slidenum">
              <a:rPr lang="en-US" smtClean="0"/>
              <a:t>‹#›</a:t>
            </a:fld>
            <a:endParaRPr lang="en-US" dirty="0"/>
          </a:p>
        </p:txBody>
      </p:sp>
    </p:spTree>
    <p:extLst>
      <p:ext uri="{BB962C8B-B14F-4D97-AF65-F5344CB8AC3E}">
        <p14:creationId xmlns:p14="http://schemas.microsoft.com/office/powerpoint/2010/main" val="2614254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997295"/>
            <a:ext cx="5111750" cy="4128867"/>
          </a:xfrm>
        </p:spPr>
        <p:txBody>
          <a:bodyPr>
            <a:normAutofit/>
          </a:bodyPr>
          <a:lstStyle>
            <a:lvl1pPr>
              <a:defRPr sz="1800"/>
            </a:lvl1pPr>
            <a:lvl2pPr>
              <a:defRPr sz="18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p:txBody>
      </p:sp>
      <p:sp>
        <p:nvSpPr>
          <p:cNvPr id="4" name="Text Placeholder 3"/>
          <p:cNvSpPr>
            <a:spLocks noGrp="1"/>
          </p:cNvSpPr>
          <p:nvPr>
            <p:ph type="body" sz="half" idx="2"/>
          </p:nvPr>
        </p:nvSpPr>
        <p:spPr>
          <a:xfrm>
            <a:off x="457200" y="1997296"/>
            <a:ext cx="3008313" cy="4128866"/>
          </a:xfrm>
          <a:solidFill>
            <a:srgbClr val="FFFFFF"/>
          </a:solidFill>
          <a:ln>
            <a:solidFill>
              <a:srgbClr val="BFBFBF"/>
            </a:solidFill>
          </a:ln>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Slide Number Placeholder 6"/>
          <p:cNvSpPr>
            <a:spLocks noGrp="1"/>
          </p:cNvSpPr>
          <p:nvPr>
            <p:ph type="sldNum" sz="quarter" idx="12"/>
          </p:nvPr>
        </p:nvSpPr>
        <p:spPr/>
        <p:txBody>
          <a:bodyPr/>
          <a:lstStyle/>
          <a:p>
            <a:fld id="{9B27D237-6C0D-5549-BE11-2040A22CBC71}" type="slidenum">
              <a:rPr lang="en-US" smtClean="0"/>
              <a:t>‹#›</a:t>
            </a:fld>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89150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2391824"/>
            <a:ext cx="5486400" cy="27240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682602"/>
            <a:ext cx="5486400" cy="61356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Slide Number Placeholder 6"/>
          <p:cNvSpPr>
            <a:spLocks noGrp="1"/>
          </p:cNvSpPr>
          <p:nvPr>
            <p:ph type="sldNum" sz="quarter" idx="12"/>
          </p:nvPr>
        </p:nvSpPr>
        <p:spPr/>
        <p:txBody>
          <a:bodyPr/>
          <a:lstStyle/>
          <a:p>
            <a:fld id="{9B27D237-6C0D-5549-BE11-2040A22CBC71}" type="slidenum">
              <a:rPr lang="en-US" smtClean="0"/>
              <a:t>‹#›</a:t>
            </a:fld>
            <a:endParaRPr lang="en-US" dirty="0"/>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7674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9B27D237-6C0D-5549-BE11-2040A22CBC71}" type="slidenum">
              <a:rPr lang="en-US" smtClean="0"/>
              <a:pPr/>
              <a:t>‹#›</a:t>
            </a:fld>
            <a:endParaRPr lang="en-US" dirty="0"/>
          </a:p>
        </p:txBody>
      </p:sp>
    </p:spTree>
    <p:extLst>
      <p:ext uri="{BB962C8B-B14F-4D97-AF65-F5344CB8AC3E}">
        <p14:creationId xmlns:p14="http://schemas.microsoft.com/office/powerpoint/2010/main" val="3669573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descr="background interior.pdf"/>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457200" y="274638"/>
            <a:ext cx="8229600" cy="129114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457200" y="1849348"/>
            <a:ext cx="8229600" cy="427681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p:cNvSpPr>
            <a:spLocks noGrp="1"/>
          </p:cNvSpPr>
          <p:nvPr>
            <p:ph type="sldNum" sz="quarter" idx="4"/>
          </p:nvPr>
        </p:nvSpPr>
        <p:spPr>
          <a:xfrm>
            <a:off x="8583351" y="6249857"/>
            <a:ext cx="490750" cy="365125"/>
          </a:xfrm>
          <a:prstGeom prst="rect">
            <a:avLst/>
          </a:prstGeom>
        </p:spPr>
        <p:txBody>
          <a:bodyPr vert="horz" lIns="91440" tIns="45720" rIns="91440" bIns="45720" rtlCol="0" anchor="ctr"/>
          <a:lstStyle>
            <a:lvl1pPr algn="r">
              <a:defRPr sz="1000">
                <a:solidFill>
                  <a:schemeClr val="tx1">
                    <a:tint val="75000"/>
                  </a:schemeClr>
                </a:solidFill>
                <a:latin typeface="Georgia"/>
                <a:cs typeface="Georgia"/>
              </a:defRPr>
            </a:lvl1pPr>
          </a:lstStyle>
          <a:p>
            <a:fld id="{9B27D237-6C0D-5549-BE11-2040A22CBC71}" type="slidenum">
              <a:rPr lang="en-US" smtClean="0"/>
              <a:pPr/>
              <a:t>‹#›</a:t>
            </a:fld>
            <a:endParaRPr lang="en-US" dirty="0"/>
          </a:p>
        </p:txBody>
      </p:sp>
      <p:sp>
        <p:nvSpPr>
          <p:cNvPr id="7" name="TextBox 6"/>
          <p:cNvSpPr txBox="1"/>
          <p:nvPr userDrawn="1"/>
        </p:nvSpPr>
        <p:spPr>
          <a:xfrm>
            <a:off x="457200" y="6284494"/>
            <a:ext cx="4311073" cy="276999"/>
          </a:xfrm>
          <a:prstGeom prst="rect">
            <a:avLst/>
          </a:prstGeom>
          <a:noFill/>
        </p:spPr>
        <p:txBody>
          <a:bodyPr wrap="square" rtlCol="0">
            <a:spAutoFit/>
          </a:bodyPr>
          <a:lstStyle/>
          <a:p>
            <a:r>
              <a:rPr lang="en-US" sz="1200" spc="100" dirty="0">
                <a:solidFill>
                  <a:schemeClr val="bg1">
                    <a:lumMod val="65000"/>
                  </a:schemeClr>
                </a:solidFill>
              </a:rPr>
              <a:t>VETERANS HEALTH</a:t>
            </a:r>
            <a:r>
              <a:rPr lang="en-US" sz="1200" spc="100" baseline="0" dirty="0">
                <a:solidFill>
                  <a:schemeClr val="bg1">
                    <a:lumMod val="65000"/>
                  </a:schemeClr>
                </a:solidFill>
              </a:rPr>
              <a:t> ADMINISTRATION</a:t>
            </a:r>
            <a:endParaRPr lang="en-US" sz="1200" spc="100" dirty="0">
              <a:solidFill>
                <a:schemeClr val="bg1">
                  <a:lumMod val="65000"/>
                </a:schemeClr>
              </a:solidFill>
            </a:endParaRPr>
          </a:p>
        </p:txBody>
      </p:sp>
    </p:spTree>
    <p:extLst>
      <p:ext uri="{BB962C8B-B14F-4D97-AF65-F5344CB8AC3E}">
        <p14:creationId xmlns:p14="http://schemas.microsoft.com/office/powerpoint/2010/main" val="1229106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dt="0"/>
  <p:txStyles>
    <p:titleStyle>
      <a:lvl1pPr algn="l" defTabSz="457200" rtl="0" eaLnBrk="1" latinLnBrk="0" hangingPunct="1">
        <a:spcBef>
          <a:spcPct val="0"/>
        </a:spcBef>
        <a:buNone/>
        <a:defRPr sz="2400" kern="1200">
          <a:solidFill>
            <a:schemeClr val="bg1"/>
          </a:solidFill>
          <a:latin typeface="Georgia"/>
          <a:ea typeface="+mj-ea"/>
          <a:cs typeface="Georgia"/>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Georgia"/>
        </a:defRPr>
      </a:lvl1pPr>
      <a:lvl2pPr marL="742950" indent="-285750" algn="l" defTabSz="457200" rtl="0" eaLnBrk="1" latinLnBrk="0" hangingPunct="1">
        <a:spcBef>
          <a:spcPct val="20000"/>
        </a:spcBef>
        <a:buFont typeface="Arial"/>
        <a:buChar char="–"/>
        <a:defRPr sz="1600" kern="1200">
          <a:solidFill>
            <a:schemeClr val="tx1"/>
          </a:solidFill>
          <a:latin typeface="+mn-lt"/>
          <a:ea typeface="+mn-ea"/>
          <a:cs typeface="Georgia"/>
        </a:defRPr>
      </a:lvl2pPr>
      <a:lvl3pPr marL="1143000" indent="-228600" algn="l" defTabSz="457200" rtl="0" eaLnBrk="1" latinLnBrk="0" hangingPunct="1">
        <a:spcBef>
          <a:spcPct val="20000"/>
        </a:spcBef>
        <a:buFont typeface="Arial"/>
        <a:buChar char="•"/>
        <a:defRPr sz="1400" kern="1200">
          <a:solidFill>
            <a:schemeClr val="tx1"/>
          </a:solidFill>
          <a:latin typeface="+mn-lt"/>
          <a:ea typeface="+mn-ea"/>
          <a:cs typeface="Georgia"/>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Georgia"/>
        </a:defRPr>
      </a:lvl4pPr>
      <a:lvl5pPr marL="2057400" indent="-228600" algn="l" defTabSz="457200" rtl="0" eaLnBrk="1" latinLnBrk="0" hangingPunct="1">
        <a:spcBef>
          <a:spcPct val="20000"/>
        </a:spcBef>
        <a:buFont typeface="Arial"/>
        <a:buChar char="»"/>
        <a:defRPr sz="12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mailto:rosario.chaidez1@va.gov"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mailto:Rosario.Chaidez1@va.gov" TargetMode="External"/></Relationships>
</file>

<file path=ppt/slides/_rels/slide6.xml.rels><?xml version="1.0" encoding="UTF-8" standalone="yes"?>
<Relationships xmlns="http://schemas.openxmlformats.org/package/2006/relationships"><Relationship Id="rId2" Type="http://schemas.openxmlformats.org/officeDocument/2006/relationships/hyperlink" Target="https://search.certifications.sba.gov/"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mailto:Chaidez1@va.go"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225631" y="3382371"/>
            <a:ext cx="8716488" cy="1886767"/>
          </a:xfrm>
        </p:spPr>
        <p:txBody>
          <a:bodyPr>
            <a:normAutofit/>
          </a:bodyPr>
          <a:lstStyle/>
          <a:p>
            <a:r>
              <a:rPr lang="en-US" sz="3200" dirty="0">
                <a:latin typeface="Arial Narrow" panose="020B0606020202030204" pitchFamily="34" charset="0"/>
              </a:rPr>
              <a:t>RFP 36C26126R0034</a:t>
            </a:r>
            <a:br>
              <a:rPr lang="en-US" sz="3200" dirty="0">
                <a:latin typeface="Arial Narrow" panose="020B0606020202030204" pitchFamily="34" charset="0"/>
              </a:rPr>
            </a:br>
            <a:r>
              <a:rPr lang="en-US" sz="3100" dirty="0">
                <a:latin typeface="Arial Narrow" panose="020B0606020202030204" pitchFamily="34" charset="0"/>
              </a:rPr>
              <a:t>Project No. 570-21-108</a:t>
            </a:r>
            <a:br>
              <a:rPr lang="en-US" sz="3200" dirty="0">
                <a:latin typeface="Arial Narrow" panose="020B0606020202030204" pitchFamily="34" charset="0"/>
              </a:rPr>
            </a:br>
            <a:r>
              <a:rPr lang="en-US" sz="3200" dirty="0">
                <a:latin typeface="Arial Narrow" panose="020B0606020202030204" pitchFamily="34" charset="0"/>
              </a:rPr>
              <a:t>Repair Exterior Finishes</a:t>
            </a:r>
            <a:br>
              <a:rPr lang="en-US" sz="3200" dirty="0">
                <a:latin typeface="Arial Narrow" panose="020B0606020202030204" pitchFamily="34" charset="0"/>
              </a:rPr>
            </a:br>
            <a:r>
              <a:rPr lang="en-US" cap="all" dirty="0">
                <a:latin typeface="Arial Narrow" panose="020B0606020202030204" pitchFamily="34" charset="0"/>
              </a:rPr>
              <a:t>VA CENTRAL California Healthcare System, FRESNO VA Medical Center</a:t>
            </a:r>
          </a:p>
        </p:txBody>
      </p:sp>
      <p:sp>
        <p:nvSpPr>
          <p:cNvPr id="6" name="Subtitle 5"/>
          <p:cNvSpPr>
            <a:spLocks noGrp="1"/>
          </p:cNvSpPr>
          <p:nvPr>
            <p:ph type="subTitle" idx="1"/>
          </p:nvPr>
        </p:nvSpPr>
        <p:spPr>
          <a:xfrm>
            <a:off x="201882" y="5287964"/>
            <a:ext cx="5144310" cy="530589"/>
          </a:xfrm>
        </p:spPr>
        <p:txBody>
          <a:bodyPr/>
          <a:lstStyle/>
          <a:p>
            <a:r>
              <a:rPr lang="en-US" sz="2400" dirty="0">
                <a:solidFill>
                  <a:srgbClr val="C00000"/>
                </a:solidFill>
                <a:latin typeface="Arial Black" panose="020B0A04020102020204" pitchFamily="34" charset="0"/>
              </a:rPr>
              <a:t>Pre-Proposal Site Visit</a:t>
            </a:r>
            <a:endParaRPr lang="en-US" sz="1000" dirty="0">
              <a:solidFill>
                <a:srgbClr val="C00000"/>
              </a:solidFill>
              <a:latin typeface="Arial Black" panose="020B0A04020102020204" pitchFamily="34" charset="0"/>
            </a:endParaRPr>
          </a:p>
          <a:p>
            <a:endParaRPr lang="en-US" sz="2400" dirty="0"/>
          </a:p>
          <a:p>
            <a:r>
              <a:rPr lang="en-US" sz="2400" dirty="0"/>
              <a:t>													</a:t>
            </a:r>
          </a:p>
        </p:txBody>
      </p:sp>
      <p:sp>
        <p:nvSpPr>
          <p:cNvPr id="4" name="Subtitle 5"/>
          <p:cNvSpPr txBox="1">
            <a:spLocks/>
          </p:cNvSpPr>
          <p:nvPr/>
        </p:nvSpPr>
        <p:spPr>
          <a:xfrm>
            <a:off x="4680488" y="5213265"/>
            <a:ext cx="4261631" cy="855025"/>
          </a:xfrm>
          <a:prstGeom prst="rect">
            <a:avLst/>
          </a:prstGeom>
        </p:spPr>
        <p:txBody>
          <a:bodyPr vert="horz" lIns="91440" tIns="45720" rIns="91440" bIns="45720" rtlCol="0">
            <a:noAutofit/>
          </a:bodyPr>
          <a:lstStyle>
            <a:lvl1pPr marL="0" indent="0" algn="l" defTabSz="457200" rtl="0" eaLnBrk="1" latinLnBrk="0" hangingPunct="1">
              <a:spcBef>
                <a:spcPct val="20000"/>
              </a:spcBef>
              <a:buFont typeface="Arial"/>
              <a:buNone/>
              <a:defRPr sz="1600" kern="1200">
                <a:solidFill>
                  <a:srgbClr val="FFFFFF"/>
                </a:solidFill>
                <a:latin typeface="+mn-lt"/>
                <a:ea typeface="+mn-ea"/>
                <a:cs typeface="Georgia"/>
              </a:defRPr>
            </a:lvl1pPr>
            <a:lvl2pPr marL="457200" indent="0" algn="ctr" defTabSz="457200" rtl="0" eaLnBrk="1" latinLnBrk="0" hangingPunct="1">
              <a:spcBef>
                <a:spcPct val="20000"/>
              </a:spcBef>
              <a:buFont typeface="Arial"/>
              <a:buNone/>
              <a:defRPr sz="1600" kern="1200">
                <a:solidFill>
                  <a:schemeClr val="tx1">
                    <a:tint val="75000"/>
                  </a:schemeClr>
                </a:solidFill>
                <a:latin typeface="+mn-lt"/>
                <a:ea typeface="+mn-ea"/>
                <a:cs typeface="Georgia"/>
              </a:defRPr>
            </a:lvl2pPr>
            <a:lvl3pPr marL="914400" indent="0" algn="ctr" defTabSz="457200" rtl="0" eaLnBrk="1" latinLnBrk="0" hangingPunct="1">
              <a:spcBef>
                <a:spcPct val="20000"/>
              </a:spcBef>
              <a:buFont typeface="Arial"/>
              <a:buNone/>
              <a:defRPr sz="1400" kern="1200">
                <a:solidFill>
                  <a:schemeClr val="tx1">
                    <a:tint val="75000"/>
                  </a:schemeClr>
                </a:solidFill>
                <a:latin typeface="+mn-lt"/>
                <a:ea typeface="+mn-ea"/>
                <a:cs typeface="Georgia"/>
              </a:defRPr>
            </a:lvl3pPr>
            <a:lvl4pPr marL="1371600" indent="0" algn="ctr" defTabSz="457200" rtl="0" eaLnBrk="1" latinLnBrk="0" hangingPunct="1">
              <a:spcBef>
                <a:spcPct val="20000"/>
              </a:spcBef>
              <a:buFont typeface="Arial"/>
              <a:buNone/>
              <a:defRPr sz="1200" kern="1200">
                <a:solidFill>
                  <a:schemeClr val="tx1">
                    <a:tint val="75000"/>
                  </a:schemeClr>
                </a:solidFill>
                <a:latin typeface="+mn-lt"/>
                <a:ea typeface="+mn-ea"/>
                <a:cs typeface="Georgia"/>
              </a:defRPr>
            </a:lvl4pPr>
            <a:lvl5pPr marL="1828800" indent="0" algn="ctr" defTabSz="457200" rtl="0" eaLnBrk="1" latinLnBrk="0" hangingPunct="1">
              <a:spcBef>
                <a:spcPct val="20000"/>
              </a:spcBef>
              <a:buFont typeface="Arial"/>
              <a:buNone/>
              <a:defRPr sz="1200" kern="1200">
                <a:solidFill>
                  <a:schemeClr val="tx1">
                    <a:tint val="75000"/>
                  </a:schemeClr>
                </a:solidFill>
                <a:latin typeface="Georgia"/>
                <a:ea typeface="+mn-ea"/>
                <a:cs typeface="Georgia"/>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2400" dirty="0">
                <a:latin typeface="Arial Narrow" panose="020B0606020202030204" pitchFamily="34" charset="0"/>
              </a:rPr>
              <a:t>								        </a:t>
            </a:r>
            <a:r>
              <a:rPr lang="en-US" sz="2400" b="1" dirty="0">
                <a:solidFill>
                  <a:srgbClr val="FF0000"/>
                </a:solidFill>
                <a:latin typeface="Arial Narrow" panose="020B0606020202030204" pitchFamily="34" charset="0"/>
              </a:rPr>
              <a:t>12:00pm (PT) May 6, 2026</a:t>
            </a:r>
          </a:p>
        </p:txBody>
      </p:sp>
    </p:spTree>
    <p:extLst>
      <p:ext uri="{BB962C8B-B14F-4D97-AF65-F5344CB8AC3E}">
        <p14:creationId xmlns:p14="http://schemas.microsoft.com/office/powerpoint/2010/main" val="2576542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a:xfrm>
            <a:off x="457200" y="655003"/>
            <a:ext cx="8229600" cy="941387"/>
          </a:xfrm>
        </p:spPr>
        <p:txBody>
          <a:bodyPr>
            <a:normAutofit/>
          </a:bodyPr>
          <a:lstStyle/>
          <a:p>
            <a:pPr eaLnBrk="1" hangingPunct="1">
              <a:defRPr/>
            </a:pPr>
            <a:r>
              <a:rPr lang="en-US" sz="4000" b="1" dirty="0">
                <a:latin typeface="Arial Narrow" panose="020B0606020202030204" pitchFamily="34" charset="0"/>
              </a:rPr>
              <a:t>Project Information</a:t>
            </a:r>
          </a:p>
        </p:txBody>
      </p:sp>
      <p:sp>
        <p:nvSpPr>
          <p:cNvPr id="310275" name="Rectangle 3"/>
          <p:cNvSpPr>
            <a:spLocks noGrp="1" noChangeArrowheads="1"/>
          </p:cNvSpPr>
          <p:nvPr>
            <p:ph type="body" idx="1"/>
          </p:nvPr>
        </p:nvSpPr>
        <p:spPr>
          <a:xfrm>
            <a:off x="137160" y="1805940"/>
            <a:ext cx="8773575" cy="4809042"/>
          </a:xfrm>
        </p:spPr>
        <p:txBody>
          <a:bodyPr>
            <a:noAutofit/>
          </a:bodyPr>
          <a:lstStyle/>
          <a:p>
            <a:endParaRPr lang="en-US" sz="2400" dirty="0">
              <a:latin typeface="Arial Narrow" panose="020B0606020202030204" pitchFamily="34" charset="0"/>
              <a:cs typeface="Times New Roman" panose="02020603050405020304" pitchFamily="18" charset="0"/>
            </a:endParaRPr>
          </a:p>
          <a:p>
            <a:r>
              <a:rPr lang="en-US" sz="2400" dirty="0">
                <a:latin typeface="Arial Narrow" panose="020B0606020202030204" pitchFamily="34" charset="0"/>
                <a:cs typeface="Times New Roman" panose="02020603050405020304" pitchFamily="18" charset="0"/>
              </a:rPr>
              <a:t>Site Visit Time and Date:  </a:t>
            </a:r>
            <a:r>
              <a:rPr lang="en-US" sz="2400" b="1" dirty="0">
                <a:latin typeface="Arial Narrow" panose="020B0606020202030204" pitchFamily="34" charset="0"/>
                <a:cs typeface="Times New Roman" panose="02020603050405020304" pitchFamily="18" charset="0"/>
              </a:rPr>
              <a:t>12:00PM (PT), Wednesday, May 6, 2026</a:t>
            </a:r>
          </a:p>
          <a:p>
            <a:pPr marL="0" indent="0">
              <a:buNone/>
            </a:pPr>
            <a:endParaRPr lang="en-US" sz="2400" b="1" dirty="0">
              <a:latin typeface="Arial Narrow" panose="020B0606020202030204" pitchFamily="34" charset="0"/>
              <a:cs typeface="Times New Roman" panose="02020603050405020304" pitchFamily="18" charset="0"/>
            </a:endParaRPr>
          </a:p>
          <a:p>
            <a:r>
              <a:rPr lang="en-US" sz="2400" dirty="0">
                <a:latin typeface="Arial Narrow" panose="020B0606020202030204" pitchFamily="34" charset="0"/>
                <a:cs typeface="Times New Roman" panose="02020603050405020304" pitchFamily="18" charset="0"/>
              </a:rPr>
              <a:t>Project Name: </a:t>
            </a:r>
            <a:r>
              <a:rPr lang="en-US" sz="2400" dirty="0">
                <a:latin typeface="Arial Narrow" panose="020B0606020202030204" pitchFamily="34" charset="0"/>
              </a:rPr>
              <a:t>Repair exterior Finishes Building 1 &amp; OPC, Fresno VA Medical Center</a:t>
            </a:r>
          </a:p>
          <a:p>
            <a:pPr marL="0" indent="0" algn="l">
              <a:buNone/>
            </a:pPr>
            <a:endParaRPr lang="en-US" sz="2400" dirty="0">
              <a:latin typeface="Arial Narrow" panose="020B0606020202030204" pitchFamily="34" charset="0"/>
              <a:cs typeface="Times New Roman" panose="02020603050405020304" pitchFamily="18" charset="0"/>
            </a:endParaRPr>
          </a:p>
          <a:p>
            <a:pPr marL="342900" lvl="7" indent="-342900">
              <a:spcBef>
                <a:spcPts val="0"/>
              </a:spcBef>
            </a:pPr>
            <a:r>
              <a:rPr lang="en-US" sz="2400" dirty="0">
                <a:latin typeface="Arial Narrow" panose="020B0606020202030204" pitchFamily="34" charset="0"/>
                <a:cs typeface="Times New Roman" panose="02020603050405020304" pitchFamily="18" charset="0"/>
              </a:rPr>
              <a:t>Project Address: 	2615 East Clinton Ave, Fresno, CA 93703-2223</a:t>
            </a:r>
          </a:p>
          <a:p>
            <a:pPr marL="800100" lvl="8" indent="-342900">
              <a:spcBef>
                <a:spcPts val="0"/>
              </a:spcBef>
            </a:pPr>
            <a:endParaRPr lang="en-US" sz="2400" dirty="0">
              <a:latin typeface="Arial Narrow" panose="020B0606020202030204" pitchFamily="34" charset="0"/>
              <a:cs typeface="Times New Roman" panose="02020603050405020304" pitchFamily="18" charset="0"/>
            </a:endParaRPr>
          </a:p>
          <a:p>
            <a:pPr marL="342900" lvl="7" indent="-342900">
              <a:spcBef>
                <a:spcPts val="0"/>
              </a:spcBef>
            </a:pPr>
            <a:r>
              <a:rPr lang="en-US" sz="2400" dirty="0">
                <a:latin typeface="Arial Narrow" panose="020B0606020202030204" pitchFamily="34" charset="0"/>
                <a:cs typeface="Times New Roman" panose="02020603050405020304" pitchFamily="18" charset="0"/>
              </a:rPr>
              <a:t>Pre-Proposal Site Visit Location: </a:t>
            </a:r>
            <a:r>
              <a:rPr lang="en-US" sz="2400" b="1" dirty="0">
                <a:latin typeface="Arial Narrow" panose="020B0606020202030204" pitchFamily="34" charset="0"/>
                <a:cs typeface="Times New Roman" panose="02020603050405020304" pitchFamily="18" charset="0"/>
              </a:rPr>
              <a:t>Meet at Parking Lot E, by Bldg. 3</a:t>
            </a:r>
          </a:p>
          <a:p>
            <a:pPr marL="0" lvl="7" indent="0">
              <a:spcBef>
                <a:spcPts val="0"/>
              </a:spcBef>
              <a:buNone/>
            </a:pPr>
            <a:endParaRPr lang="en-US" sz="2400" dirty="0">
              <a:latin typeface="Arial Narrow" panose="020B0606020202030204" pitchFamily="34" charset="0"/>
              <a:cs typeface="Times New Roman" panose="02020603050405020304" pitchFamily="18" charset="0"/>
            </a:endParaRPr>
          </a:p>
          <a:p>
            <a:pPr marL="1371600" lvl="3" indent="0">
              <a:spcBef>
                <a:spcPts val="500"/>
              </a:spcBef>
              <a:spcAft>
                <a:spcPts val="500"/>
              </a:spcAft>
              <a:buNone/>
              <a:defRPr/>
            </a:pPr>
            <a:endParaRPr lang="en-US" sz="1800" dirty="0"/>
          </a:p>
          <a:p>
            <a:pPr marL="1371600" lvl="3" indent="0">
              <a:spcBef>
                <a:spcPts val="500"/>
              </a:spcBef>
              <a:spcAft>
                <a:spcPts val="500"/>
              </a:spcAft>
              <a:buNone/>
              <a:defRPr/>
            </a:pPr>
            <a:endParaRPr lang="en-US" sz="1800" dirty="0"/>
          </a:p>
          <a:p>
            <a:pPr marL="1371600" lvl="3" indent="0">
              <a:spcBef>
                <a:spcPts val="500"/>
              </a:spcBef>
              <a:spcAft>
                <a:spcPts val="500"/>
              </a:spcAft>
              <a:buNone/>
              <a:defRPr/>
            </a:pPr>
            <a:endParaRPr lang="en-US" sz="1800" dirty="0"/>
          </a:p>
          <a:p>
            <a:pPr lvl="1">
              <a:spcBef>
                <a:spcPts val="500"/>
              </a:spcBef>
              <a:spcAft>
                <a:spcPts val="500"/>
              </a:spcAft>
              <a:defRPr/>
            </a:pPr>
            <a:endParaRPr lang="en-US" sz="2200" dirty="0"/>
          </a:p>
          <a:p>
            <a:pPr marL="0" indent="0" eaLnBrk="1" hangingPunct="1">
              <a:spcBef>
                <a:spcPts val="500"/>
              </a:spcBef>
              <a:spcAft>
                <a:spcPts val="500"/>
              </a:spcAft>
              <a:buNone/>
              <a:defRPr/>
            </a:pPr>
            <a:endParaRPr lang="en-US" sz="1400" dirty="0"/>
          </a:p>
        </p:txBody>
      </p:sp>
      <p:sp>
        <p:nvSpPr>
          <p:cNvPr id="2" name="Slide Number Placeholder 1"/>
          <p:cNvSpPr>
            <a:spLocks noGrp="1"/>
          </p:cNvSpPr>
          <p:nvPr>
            <p:ph type="sldNum" sz="quarter" idx="10"/>
          </p:nvPr>
        </p:nvSpPr>
        <p:spPr/>
        <p:txBody>
          <a:bodyPr/>
          <a:lstStyle/>
          <a:p>
            <a:fld id="{9B27D237-6C0D-5549-BE11-2040A22CBC71}" type="slidenum">
              <a:rPr lang="en-US" smtClean="0"/>
              <a:pPr/>
              <a:t>1</a:t>
            </a:fld>
            <a:endParaRPr lang="en-US" dirty="0"/>
          </a:p>
        </p:txBody>
      </p:sp>
    </p:spTree>
    <p:extLst>
      <p:ext uri="{BB962C8B-B14F-4D97-AF65-F5344CB8AC3E}">
        <p14:creationId xmlns:p14="http://schemas.microsoft.com/office/powerpoint/2010/main" val="547749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a:xfrm>
            <a:off x="457200" y="655003"/>
            <a:ext cx="8229600" cy="941387"/>
          </a:xfrm>
        </p:spPr>
        <p:txBody>
          <a:bodyPr>
            <a:normAutofit/>
          </a:bodyPr>
          <a:lstStyle/>
          <a:p>
            <a:pPr eaLnBrk="1" hangingPunct="1">
              <a:defRPr/>
            </a:pPr>
            <a:r>
              <a:rPr lang="en-US" sz="3600" b="1" dirty="0">
                <a:latin typeface="Arial Narrow" panose="020B0606020202030204" pitchFamily="34" charset="0"/>
              </a:rPr>
              <a:t>Project Contact Information</a:t>
            </a:r>
          </a:p>
        </p:txBody>
      </p:sp>
      <p:sp>
        <p:nvSpPr>
          <p:cNvPr id="310275" name="Rectangle 3"/>
          <p:cNvSpPr>
            <a:spLocks noGrp="1" noChangeArrowheads="1"/>
          </p:cNvSpPr>
          <p:nvPr>
            <p:ph type="body" idx="1"/>
          </p:nvPr>
        </p:nvSpPr>
        <p:spPr>
          <a:xfrm>
            <a:off x="0" y="1682340"/>
            <a:ext cx="4500979" cy="5175659"/>
          </a:xfrm>
        </p:spPr>
        <p:txBody>
          <a:bodyPr>
            <a:noAutofit/>
          </a:bodyPr>
          <a:lstStyle/>
          <a:p>
            <a:pPr marL="0" indent="0">
              <a:spcBef>
                <a:spcPts val="500"/>
              </a:spcBef>
              <a:spcAft>
                <a:spcPts val="500"/>
              </a:spcAft>
              <a:buNone/>
              <a:defRPr/>
            </a:pPr>
            <a:r>
              <a:rPr lang="en-US" sz="2000" b="1" dirty="0">
                <a:latin typeface="Arial Narrow" panose="020B0606020202030204" pitchFamily="34" charset="0"/>
              </a:rPr>
              <a:t>Contracting Officer (CO):</a:t>
            </a:r>
          </a:p>
          <a:p>
            <a:pPr lvl="2">
              <a:spcBef>
                <a:spcPts val="500"/>
              </a:spcBef>
              <a:spcAft>
                <a:spcPts val="500"/>
              </a:spcAft>
              <a:defRPr/>
            </a:pPr>
            <a:r>
              <a:rPr lang="en-US" sz="2000" b="1" dirty="0">
                <a:latin typeface="Arial Narrow" panose="020B0606020202030204" pitchFamily="34" charset="0"/>
              </a:rPr>
              <a:t>Rosario Chaidez</a:t>
            </a:r>
            <a:endParaRPr lang="en-US" sz="2000" dirty="0">
              <a:latin typeface="Arial Narrow" panose="020B0606020202030204" pitchFamily="34" charset="0"/>
            </a:endParaRPr>
          </a:p>
          <a:p>
            <a:pPr lvl="2">
              <a:spcBef>
                <a:spcPts val="500"/>
              </a:spcBef>
              <a:spcAft>
                <a:spcPts val="500"/>
              </a:spcAft>
              <a:defRPr/>
            </a:pPr>
            <a:r>
              <a:rPr lang="en-US" sz="2000" dirty="0">
                <a:latin typeface="Arial Narrow" panose="020B0606020202030204" pitchFamily="34" charset="0"/>
              </a:rPr>
              <a:t>Office: (916) 923-4548</a:t>
            </a:r>
          </a:p>
          <a:p>
            <a:pPr lvl="2">
              <a:spcBef>
                <a:spcPts val="500"/>
              </a:spcBef>
              <a:spcAft>
                <a:spcPts val="500"/>
              </a:spcAft>
              <a:defRPr/>
            </a:pPr>
            <a:r>
              <a:rPr lang="en-US" sz="2000" dirty="0">
                <a:latin typeface="Arial Narrow" panose="020B0606020202030204" pitchFamily="34" charset="0"/>
              </a:rPr>
              <a:t>Email: </a:t>
            </a:r>
            <a:r>
              <a:rPr lang="en-US" sz="2000" dirty="0">
                <a:solidFill>
                  <a:srgbClr val="0033CC"/>
                </a:solidFill>
                <a:latin typeface="Arial Narrow" panose="020B0606020202030204" pitchFamily="34" charset="0"/>
              </a:rPr>
              <a:t>Rosario.chaidez1@va.gov</a:t>
            </a:r>
            <a:endParaRPr lang="en-US" dirty="0">
              <a:latin typeface="Arial Narrow" panose="020B0606020202030204" pitchFamily="34" charset="0"/>
            </a:endParaRPr>
          </a:p>
          <a:p>
            <a:pPr marL="1371600" lvl="3" indent="0">
              <a:spcBef>
                <a:spcPts val="500"/>
              </a:spcBef>
              <a:spcAft>
                <a:spcPts val="500"/>
              </a:spcAft>
              <a:buNone/>
              <a:defRPr/>
            </a:pPr>
            <a:endParaRPr lang="en-US" sz="1800" dirty="0">
              <a:latin typeface="Arial Narrow" panose="020B0606020202030204" pitchFamily="34" charset="0"/>
            </a:endParaRPr>
          </a:p>
          <a:p>
            <a:pPr marL="1371600" lvl="3" indent="0">
              <a:spcBef>
                <a:spcPts val="500"/>
              </a:spcBef>
              <a:spcAft>
                <a:spcPts val="500"/>
              </a:spcAft>
              <a:buNone/>
              <a:defRPr/>
            </a:pPr>
            <a:endParaRPr lang="en-US" sz="1800" dirty="0">
              <a:latin typeface="Arial Narrow" panose="020B0606020202030204" pitchFamily="34" charset="0"/>
            </a:endParaRPr>
          </a:p>
          <a:p>
            <a:pPr lvl="1">
              <a:spcBef>
                <a:spcPts val="500"/>
              </a:spcBef>
              <a:spcAft>
                <a:spcPts val="500"/>
              </a:spcAft>
              <a:defRPr/>
            </a:pPr>
            <a:endParaRPr lang="en-US" sz="2200" dirty="0">
              <a:latin typeface="Arial Narrow" panose="020B0606020202030204" pitchFamily="34" charset="0"/>
            </a:endParaRPr>
          </a:p>
          <a:p>
            <a:pPr marL="0" indent="0" eaLnBrk="1" hangingPunct="1">
              <a:spcBef>
                <a:spcPts val="500"/>
              </a:spcBef>
              <a:spcAft>
                <a:spcPts val="500"/>
              </a:spcAft>
              <a:buNone/>
              <a:defRPr/>
            </a:pPr>
            <a:endParaRPr lang="en-US" sz="1400" dirty="0">
              <a:latin typeface="Arial Narrow" panose="020B0606020202030204" pitchFamily="34" charset="0"/>
            </a:endParaRPr>
          </a:p>
        </p:txBody>
      </p:sp>
      <p:sp>
        <p:nvSpPr>
          <p:cNvPr id="2" name="Slide Number Placeholder 1"/>
          <p:cNvSpPr>
            <a:spLocks noGrp="1"/>
          </p:cNvSpPr>
          <p:nvPr>
            <p:ph type="sldNum" sz="quarter" idx="10"/>
          </p:nvPr>
        </p:nvSpPr>
        <p:spPr/>
        <p:txBody>
          <a:bodyPr/>
          <a:lstStyle/>
          <a:p>
            <a:fld id="{9B27D237-6C0D-5549-BE11-2040A22CBC71}" type="slidenum">
              <a:rPr lang="en-US" smtClean="0">
                <a:latin typeface="Arial Narrow" panose="020B0606020202030204" pitchFamily="34" charset="0"/>
              </a:rPr>
              <a:pPr/>
              <a:t>2</a:t>
            </a:fld>
            <a:endParaRPr lang="en-US" dirty="0">
              <a:latin typeface="Arial Narrow" panose="020B0606020202030204" pitchFamily="34" charset="0"/>
            </a:endParaRPr>
          </a:p>
        </p:txBody>
      </p:sp>
    </p:spTree>
    <p:extLst>
      <p:ext uri="{BB962C8B-B14F-4D97-AF65-F5344CB8AC3E}">
        <p14:creationId xmlns:p14="http://schemas.microsoft.com/office/powerpoint/2010/main" val="1584856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0D503-888F-4DB6-B0C8-49DD430C92D6}"/>
              </a:ext>
            </a:extLst>
          </p:cNvPr>
          <p:cNvSpPr>
            <a:spLocks noGrp="1"/>
          </p:cNvSpPr>
          <p:nvPr>
            <p:ph type="title"/>
          </p:nvPr>
        </p:nvSpPr>
        <p:spPr/>
        <p:txBody>
          <a:bodyPr>
            <a:normAutofit/>
          </a:bodyPr>
          <a:lstStyle/>
          <a:p>
            <a:r>
              <a:rPr lang="en-US" sz="3600" b="1" dirty="0">
                <a:latin typeface="Arial Narrow" panose="020B0606020202030204" pitchFamily="34" charset="0"/>
              </a:rPr>
              <a:t>Project Scope</a:t>
            </a:r>
          </a:p>
        </p:txBody>
      </p:sp>
      <p:sp>
        <p:nvSpPr>
          <p:cNvPr id="3" name="Content Placeholder 2">
            <a:extLst>
              <a:ext uri="{FF2B5EF4-FFF2-40B4-BE49-F238E27FC236}">
                <a16:creationId xmlns:a16="http://schemas.microsoft.com/office/drawing/2014/main" id="{F6E89FB7-F2A5-4EA2-9CBA-B282A61B8443}"/>
              </a:ext>
            </a:extLst>
          </p:cNvPr>
          <p:cNvSpPr>
            <a:spLocks noGrp="1"/>
          </p:cNvSpPr>
          <p:nvPr>
            <p:ph idx="1"/>
          </p:nvPr>
        </p:nvSpPr>
        <p:spPr>
          <a:xfrm>
            <a:off x="0" y="2248913"/>
            <a:ext cx="8523111" cy="4183506"/>
          </a:xfrm>
        </p:spPr>
        <p:txBody>
          <a:bodyPr>
            <a:noAutofit/>
          </a:bodyPr>
          <a:lstStyle/>
          <a:p>
            <a:pPr marL="457200" lvl="1" indent="0">
              <a:buNone/>
            </a:pPr>
            <a:r>
              <a:rPr lang="en-US" sz="2000" dirty="0">
                <a:latin typeface="Arial Narrow" panose="020B0606020202030204" pitchFamily="34" charset="0"/>
                <a:cs typeface="Arial" panose="020B0604020202020204" pitchFamily="34" charset="0"/>
              </a:rPr>
              <a:t>-   This is a firm-fixed-price (FFP) Construction requirement. </a:t>
            </a:r>
          </a:p>
          <a:p>
            <a:pPr marR="143510" lvl="1" indent="-342900">
              <a:spcBef>
                <a:spcPts val="1255"/>
              </a:spcBef>
              <a:buSzPts val="1100"/>
              <a:tabLst>
                <a:tab pos="685165" algn="l"/>
              </a:tabLst>
            </a:pPr>
            <a:r>
              <a:rPr lang="en-US" sz="1800" dirty="0">
                <a:effectLst/>
                <a:latin typeface="Arial Narrow" panose="020B0606020202030204" pitchFamily="34" charset="0"/>
                <a:ea typeface="Times New Roman" panose="02020603050405020304" pitchFamily="18" charset="0"/>
                <a:cs typeface="Arial" panose="020B0604020202020204" pitchFamily="34" charset="0"/>
              </a:rPr>
              <a:t>The purpos</a:t>
            </a:r>
            <a:r>
              <a:rPr lang="en-US" sz="1800" dirty="0">
                <a:latin typeface="Arial Narrow" panose="020B0606020202030204" pitchFamily="34" charset="0"/>
                <a:ea typeface="Times New Roman" panose="02020603050405020304" pitchFamily="18" charset="0"/>
                <a:cs typeface="Arial" panose="020B0604020202020204" pitchFamily="34" charset="0"/>
              </a:rPr>
              <a:t>e of this project is to Repair Exterior Finishes at the Fresno VA Medical Center.</a:t>
            </a:r>
            <a:r>
              <a:rPr lang="en-US" sz="1800" dirty="0">
                <a:effectLst/>
                <a:latin typeface="Arial Narrow" panose="020B0606020202030204" pitchFamily="34" charset="0"/>
                <a:ea typeface="Calibri" panose="020F0502020204030204" pitchFamily="34" charset="0"/>
                <a:cs typeface="Arial" panose="020B0604020202020204" pitchFamily="34" charset="0"/>
              </a:rPr>
              <a:t> </a:t>
            </a:r>
            <a:r>
              <a:rPr lang="en-US" sz="1800" dirty="0">
                <a:latin typeface="Arial Narrow" panose="020B0606020202030204" pitchFamily="34" charset="0"/>
                <a:cs typeface="Arial" panose="020B0604020202020204" pitchFamily="34" charset="0"/>
              </a:rPr>
              <a:t>Vendors must be able to provide all labor, materials, equipment, and supervision required to perform building envelope repairs, glazing replacement, roofing system repairs and replacements, vestibule renovations, and installation of new access at the Fresno VA Medical Center </a:t>
            </a:r>
            <a:r>
              <a:rPr lang="en-US" sz="1800" spc="-15" dirty="0">
                <a:effectLst/>
                <a:latin typeface="Arial Narrow" panose="020B0606020202030204" pitchFamily="34" charset="0"/>
                <a:ea typeface="Calibri" panose="020F0502020204030204" pitchFamily="34" charset="0"/>
                <a:cs typeface="Arial" panose="020B0604020202020204" pitchFamily="34" charset="0"/>
              </a:rPr>
              <a:t>as cited in the Statement of Work, the Construction Drawings, and Construction Specifications</a:t>
            </a:r>
            <a:r>
              <a:rPr lang="en-US" sz="1800" spc="-15" dirty="0">
                <a:latin typeface="Arial Narrow" panose="020B0606020202030204" pitchFamily="34" charset="0"/>
                <a:ea typeface="Calibri" panose="020F0502020204030204" pitchFamily="34" charset="0"/>
                <a:cs typeface="Arial" panose="020B0604020202020204" pitchFamily="34" charset="0"/>
              </a:rPr>
              <a:t>. </a:t>
            </a:r>
            <a:r>
              <a:rPr lang="en-US" sz="1800" spc="10" dirty="0">
                <a:effectLst/>
                <a:latin typeface="Arial Narrow" panose="020B0606020202030204" pitchFamily="34" charset="0"/>
                <a:ea typeface="Arial" panose="020B0604020202020204" pitchFamily="34" charset="0"/>
                <a:cs typeface="Arial" panose="020B0604020202020204" pitchFamily="34" charset="0"/>
              </a:rPr>
              <a:t>The </a:t>
            </a:r>
            <a:r>
              <a:rPr lang="en-US" sz="1800" spc="-30" dirty="0">
                <a:effectLst/>
                <a:latin typeface="Arial Narrow" panose="020B0606020202030204" pitchFamily="34" charset="0"/>
                <a:ea typeface="Arial" panose="020B0604020202020204" pitchFamily="34" charset="0"/>
                <a:cs typeface="Arial" panose="020B0604020202020204" pitchFamily="34" charset="0"/>
              </a:rPr>
              <a:t>c</a:t>
            </a:r>
            <a:r>
              <a:rPr lang="en-US" sz="1800" spc="5" dirty="0">
                <a:effectLst/>
                <a:latin typeface="Arial Narrow" panose="020B0606020202030204" pitchFamily="34" charset="0"/>
                <a:ea typeface="Arial" panose="020B0604020202020204" pitchFamily="34" charset="0"/>
                <a:cs typeface="Arial" panose="020B0604020202020204" pitchFamily="34" charset="0"/>
              </a:rPr>
              <a:t>o</a:t>
            </a:r>
            <a:r>
              <a:rPr lang="en-US" sz="1800" spc="-15" dirty="0">
                <a:effectLst/>
                <a:latin typeface="Arial Narrow" panose="020B0606020202030204" pitchFamily="34" charset="0"/>
                <a:ea typeface="Arial" panose="020B0604020202020204" pitchFamily="34" charset="0"/>
                <a:cs typeface="Arial" panose="020B0604020202020204" pitchFamily="34" charset="0"/>
              </a:rPr>
              <a:t>n</a:t>
            </a:r>
            <a:r>
              <a:rPr lang="en-US" sz="1800" dirty="0">
                <a:effectLst/>
                <a:latin typeface="Arial Narrow" panose="020B0606020202030204" pitchFamily="34" charset="0"/>
                <a:ea typeface="Arial" panose="020B0604020202020204" pitchFamily="34" charset="0"/>
                <a:cs typeface="Arial" panose="020B0604020202020204" pitchFamily="34" charset="0"/>
              </a:rPr>
              <a:t>t</a:t>
            </a:r>
            <a:r>
              <a:rPr lang="en-US" sz="1800" spc="-10" dirty="0">
                <a:effectLst/>
                <a:latin typeface="Arial Narrow" panose="020B0606020202030204" pitchFamily="34" charset="0"/>
                <a:ea typeface="Arial" panose="020B0604020202020204" pitchFamily="34" charset="0"/>
                <a:cs typeface="Arial" panose="020B0604020202020204" pitchFamily="34" charset="0"/>
              </a:rPr>
              <a:t>r</a:t>
            </a:r>
            <a:r>
              <a:rPr lang="en-US" sz="1800" spc="5" dirty="0">
                <a:effectLst/>
                <a:latin typeface="Arial Narrow" panose="020B0606020202030204" pitchFamily="34" charset="0"/>
                <a:ea typeface="Arial" panose="020B0604020202020204" pitchFamily="34" charset="0"/>
                <a:cs typeface="Arial" panose="020B0604020202020204" pitchFamily="34" charset="0"/>
              </a:rPr>
              <a:t>a</a:t>
            </a:r>
            <a:r>
              <a:rPr lang="en-US" sz="1800" dirty="0">
                <a:effectLst/>
                <a:latin typeface="Arial Narrow" panose="020B0606020202030204" pitchFamily="34" charset="0"/>
                <a:ea typeface="Arial" panose="020B0604020202020204" pitchFamily="34" charset="0"/>
                <a:cs typeface="Arial" panose="020B0604020202020204" pitchFamily="34" charset="0"/>
              </a:rPr>
              <a:t>c</a:t>
            </a:r>
            <a:r>
              <a:rPr lang="en-US" sz="1800" spc="-20" dirty="0">
                <a:effectLst/>
                <a:latin typeface="Arial Narrow" panose="020B0606020202030204" pitchFamily="34" charset="0"/>
                <a:ea typeface="Arial" panose="020B0604020202020204" pitchFamily="34" charset="0"/>
                <a:cs typeface="Arial" panose="020B0604020202020204" pitchFamily="34" charset="0"/>
              </a:rPr>
              <a:t>t</a:t>
            </a:r>
            <a:r>
              <a:rPr lang="en-US" sz="1800" spc="5" dirty="0">
                <a:effectLst/>
                <a:latin typeface="Arial Narrow" panose="020B0606020202030204" pitchFamily="34" charset="0"/>
                <a:ea typeface="Arial" panose="020B0604020202020204" pitchFamily="34" charset="0"/>
                <a:cs typeface="Arial" panose="020B0604020202020204" pitchFamily="34" charset="0"/>
              </a:rPr>
              <a:t>o</a:t>
            </a:r>
            <a:r>
              <a:rPr lang="en-US" sz="1800" dirty="0">
                <a:effectLst/>
                <a:latin typeface="Arial Narrow" panose="020B0606020202030204" pitchFamily="34" charset="0"/>
                <a:ea typeface="Arial" panose="020B0604020202020204" pitchFamily="34" charset="0"/>
                <a:cs typeface="Arial" panose="020B0604020202020204" pitchFamily="34" charset="0"/>
              </a:rPr>
              <a:t>r</a:t>
            </a:r>
            <a:r>
              <a:rPr lang="en-US" sz="1800" spc="-5" dirty="0">
                <a:effectLst/>
                <a:latin typeface="Arial Narrow" panose="020B0606020202030204" pitchFamily="34" charset="0"/>
                <a:ea typeface="Arial" panose="020B0604020202020204" pitchFamily="34" charset="0"/>
                <a:cs typeface="Arial" panose="020B0604020202020204" pitchFamily="34" charset="0"/>
              </a:rPr>
              <a:t> </a:t>
            </a:r>
            <a:r>
              <a:rPr lang="en-US" sz="1800" dirty="0">
                <a:effectLst/>
                <a:latin typeface="Arial Narrow" panose="020B0606020202030204" pitchFamily="34" charset="0"/>
                <a:ea typeface="Arial" panose="020B0604020202020204" pitchFamily="34" charset="0"/>
                <a:cs typeface="Arial" panose="020B0604020202020204" pitchFamily="34" charset="0"/>
              </a:rPr>
              <a:t>must </a:t>
            </a:r>
            <a:r>
              <a:rPr lang="en-US" sz="1800" spc="-10" dirty="0">
                <a:effectLst/>
                <a:latin typeface="Arial Narrow" panose="020B0606020202030204" pitchFamily="34" charset="0"/>
                <a:ea typeface="Arial" panose="020B0604020202020204" pitchFamily="34" charset="0"/>
                <a:cs typeface="Arial" panose="020B0604020202020204" pitchFamily="34" charset="0"/>
              </a:rPr>
              <a:t>perform all work stated in the Construction Documents</a:t>
            </a:r>
            <a:r>
              <a:rPr lang="en-US" sz="1800" dirty="0">
                <a:effectLst/>
                <a:latin typeface="Arial Narrow" panose="020B0606020202030204" pitchFamily="34" charset="0"/>
                <a:ea typeface="Arial" panose="020B0604020202020204" pitchFamily="34" charset="0"/>
                <a:cs typeface="Arial" panose="020B0604020202020204" pitchFamily="34" charset="0"/>
              </a:rPr>
              <a:t>.</a:t>
            </a:r>
          </a:p>
          <a:p>
            <a:pPr marR="143510" lvl="1" indent="-342900">
              <a:spcBef>
                <a:spcPts val="1255"/>
              </a:spcBef>
              <a:buSzPts val="1100"/>
              <a:tabLst>
                <a:tab pos="685165" algn="l"/>
              </a:tabLst>
            </a:pPr>
            <a:r>
              <a:rPr lang="en-US" sz="2000" b="0" i="0" u="none" strike="noStrike" baseline="0" dirty="0">
                <a:solidFill>
                  <a:srgbClr val="000000"/>
                </a:solidFill>
                <a:latin typeface="Arial Narrow" panose="020B0606020202030204" pitchFamily="34" charset="0"/>
                <a:cs typeface="Arial" panose="020B0604020202020204" pitchFamily="34" charset="0"/>
              </a:rPr>
              <a:t>The period of performance (POP) for Base Offer is anticipated to be 330 calendar days from the issuance of the notice to proceed (NTP). There are Three (3) Add Alternates that have three (3) separate Period of Performances, see SOW in the solicitation for those PoP days.</a:t>
            </a:r>
          </a:p>
        </p:txBody>
      </p:sp>
      <p:sp>
        <p:nvSpPr>
          <p:cNvPr id="4" name="Slide Number Placeholder 3">
            <a:extLst>
              <a:ext uri="{FF2B5EF4-FFF2-40B4-BE49-F238E27FC236}">
                <a16:creationId xmlns:a16="http://schemas.microsoft.com/office/drawing/2014/main" id="{914F95E3-23F4-4B5F-B4B7-0349AB449483}"/>
              </a:ext>
            </a:extLst>
          </p:cNvPr>
          <p:cNvSpPr>
            <a:spLocks noGrp="1"/>
          </p:cNvSpPr>
          <p:nvPr>
            <p:ph type="sldNum" sz="quarter" idx="10"/>
          </p:nvPr>
        </p:nvSpPr>
        <p:spPr/>
        <p:txBody>
          <a:bodyPr/>
          <a:lstStyle/>
          <a:p>
            <a:fld id="{9B27D237-6C0D-5549-BE11-2040A22CBC71}" type="slidenum">
              <a:rPr lang="en-US" smtClean="0"/>
              <a:pPr/>
              <a:t>3</a:t>
            </a:fld>
            <a:endParaRPr lang="en-US" dirty="0"/>
          </a:p>
        </p:txBody>
      </p:sp>
    </p:spTree>
    <p:extLst>
      <p:ext uri="{BB962C8B-B14F-4D97-AF65-F5344CB8AC3E}">
        <p14:creationId xmlns:p14="http://schemas.microsoft.com/office/powerpoint/2010/main" val="624635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a:xfrm>
            <a:off x="457200" y="655003"/>
            <a:ext cx="8229600" cy="941387"/>
          </a:xfrm>
        </p:spPr>
        <p:txBody>
          <a:bodyPr>
            <a:normAutofit/>
          </a:bodyPr>
          <a:lstStyle/>
          <a:p>
            <a:pPr eaLnBrk="1" hangingPunct="1">
              <a:defRPr/>
            </a:pPr>
            <a:r>
              <a:rPr lang="en-US" sz="3600" b="1" dirty="0">
                <a:latin typeface="Arial Narrow" panose="020B0606020202030204" pitchFamily="34" charset="0"/>
              </a:rPr>
              <a:t>Project Contract Information</a:t>
            </a:r>
          </a:p>
        </p:txBody>
      </p:sp>
      <p:sp>
        <p:nvSpPr>
          <p:cNvPr id="310275" name="Rectangle 3"/>
          <p:cNvSpPr>
            <a:spLocks noGrp="1" noChangeArrowheads="1"/>
          </p:cNvSpPr>
          <p:nvPr>
            <p:ph type="body" idx="1"/>
          </p:nvPr>
        </p:nvSpPr>
        <p:spPr>
          <a:xfrm>
            <a:off x="125730" y="1637812"/>
            <a:ext cx="9018270" cy="4280820"/>
          </a:xfrm>
        </p:spPr>
        <p:txBody>
          <a:bodyPr>
            <a:noAutofit/>
          </a:bodyPr>
          <a:lstStyle/>
          <a:p>
            <a:pPr>
              <a:spcBef>
                <a:spcPts val="500"/>
              </a:spcBef>
              <a:spcAft>
                <a:spcPts val="500"/>
              </a:spcAft>
              <a:defRPr/>
            </a:pPr>
            <a:r>
              <a:rPr lang="en-US" dirty="0">
                <a:latin typeface="Arial Narrow" panose="020B0606020202030204" pitchFamily="34" charset="0"/>
              </a:rPr>
              <a:t>Set aside for SDVOSBs on the open market</a:t>
            </a:r>
          </a:p>
          <a:p>
            <a:pPr>
              <a:spcBef>
                <a:spcPts val="500"/>
              </a:spcBef>
              <a:spcAft>
                <a:spcPts val="500"/>
              </a:spcAft>
              <a:defRPr/>
            </a:pPr>
            <a:r>
              <a:rPr lang="en-US" dirty="0">
                <a:latin typeface="Arial Narrow" panose="020B0606020202030204" pitchFamily="34" charset="0"/>
              </a:rPr>
              <a:t>Disclosure of Magnitude of Construction is:  Between $5,000,000.000 and $10,000,000, per VAAR 836.204</a:t>
            </a:r>
          </a:p>
          <a:p>
            <a:pPr>
              <a:spcBef>
                <a:spcPts val="500"/>
              </a:spcBef>
              <a:spcAft>
                <a:spcPts val="500"/>
              </a:spcAft>
              <a:defRPr/>
            </a:pPr>
            <a:r>
              <a:rPr lang="en-US" dirty="0">
                <a:latin typeface="Arial Narrow" panose="020B0606020202030204" pitchFamily="34" charset="0"/>
              </a:rPr>
              <a:t>Expected Contract Award : 7/13/2026(estimated)</a:t>
            </a:r>
          </a:p>
          <a:p>
            <a:pPr>
              <a:spcBef>
                <a:spcPts val="500"/>
              </a:spcBef>
              <a:spcAft>
                <a:spcPts val="500"/>
              </a:spcAft>
              <a:defRPr/>
            </a:pPr>
            <a:r>
              <a:rPr lang="en-US" dirty="0">
                <a:latin typeface="Arial Narrow" panose="020B0606020202030204" pitchFamily="34" charset="0"/>
              </a:rPr>
              <a:t>Period of Performance(PoP) :  Base Order Scopes 1-5 330 Calendar days from Notice to Proceed (NTP), See SOW for Add alternates different PoP.                          </a:t>
            </a:r>
          </a:p>
          <a:p>
            <a:pPr>
              <a:spcBef>
                <a:spcPts val="500"/>
              </a:spcBef>
              <a:spcAft>
                <a:spcPts val="500"/>
              </a:spcAft>
              <a:defRPr/>
            </a:pPr>
            <a:r>
              <a:rPr lang="en-US" dirty="0">
                <a:latin typeface="Arial Narrow" panose="020B0606020202030204" pitchFamily="34" charset="0"/>
              </a:rPr>
              <a:t>RFPs/Proposals are due to Contracting Officer, Rosario Chaidez by by email at </a:t>
            </a:r>
            <a:r>
              <a:rPr lang="en-US" u="sng" dirty="0">
                <a:solidFill>
                  <a:srgbClr val="0033CC"/>
                </a:solidFill>
                <a:latin typeface="Arial Narrow" panose="020B0606020202030204" pitchFamily="34" charset="0"/>
              </a:rPr>
              <a:t>R</a:t>
            </a:r>
            <a:r>
              <a:rPr lang="en-US" dirty="0">
                <a:solidFill>
                  <a:srgbClr val="0000FF"/>
                </a:solidFill>
                <a:latin typeface="Arial Narrow" panose="020B0606020202030204" pitchFamily="34" charset="0"/>
                <a:hlinkClick r:id="rId3">
                  <a:extLst>
                    <a:ext uri="{A12FA001-AC4F-418D-AE19-62706E023703}">
                      <ahyp:hlinkClr xmlns:ahyp="http://schemas.microsoft.com/office/drawing/2018/hyperlinkcolor" val="tx"/>
                    </a:ext>
                  </a:extLst>
                </a:hlinkClick>
              </a:rPr>
              <a:t>osario.Chaidez1</a:t>
            </a:r>
            <a:r>
              <a:rPr lang="en-US" dirty="0">
                <a:solidFill>
                  <a:srgbClr val="0033CC"/>
                </a:solidFill>
                <a:latin typeface="Arial Narrow" panose="020B0606020202030204" pitchFamily="34" charset="0"/>
                <a:hlinkClick r:id="rId3">
                  <a:extLst>
                    <a:ext uri="{A12FA001-AC4F-418D-AE19-62706E023703}">
                      <ahyp:hlinkClr xmlns:ahyp="http://schemas.microsoft.com/office/drawing/2018/hyperlinkcolor" val="tx"/>
                    </a:ext>
                  </a:extLst>
                </a:hlinkClick>
              </a:rPr>
              <a:t>@va.gov</a:t>
            </a:r>
            <a:r>
              <a:rPr lang="en-US" dirty="0">
                <a:solidFill>
                  <a:srgbClr val="0033CC"/>
                </a:solidFill>
                <a:latin typeface="Arial Narrow" panose="020B0606020202030204" pitchFamily="34" charset="0"/>
              </a:rPr>
              <a:t> </a:t>
            </a:r>
            <a:r>
              <a:rPr lang="en-US" dirty="0">
                <a:latin typeface="Arial Narrow" panose="020B0606020202030204" pitchFamily="34" charset="0"/>
              </a:rPr>
              <a:t>by May 29, 2026, by 3:30pm (PT)</a:t>
            </a:r>
          </a:p>
          <a:p>
            <a:pPr>
              <a:spcBef>
                <a:spcPts val="500"/>
              </a:spcBef>
              <a:spcAft>
                <a:spcPts val="500"/>
              </a:spcAft>
              <a:defRPr/>
            </a:pPr>
            <a:r>
              <a:rPr lang="en-US" dirty="0">
                <a:latin typeface="Arial Narrow" panose="020B0606020202030204" pitchFamily="34" charset="0"/>
              </a:rPr>
              <a:t>An offer guarantee is required in the form of a Bid Bond, which must be submitted electronically at the proposal due date and time to the Contracting Officer, Rosario Chaidez by e-mail at </a:t>
            </a:r>
            <a:r>
              <a:rPr lang="en-US" u="sng" dirty="0">
                <a:solidFill>
                  <a:srgbClr val="0033CC"/>
                </a:solidFill>
                <a:latin typeface="Arial Narrow" panose="020B0606020202030204" pitchFamily="34" charset="0"/>
                <a:hlinkClick r:id="rId4"/>
              </a:rPr>
              <a:t>Rosario.Chaidez1@va.gov</a:t>
            </a:r>
            <a:r>
              <a:rPr lang="en-US" u="sng" dirty="0">
                <a:solidFill>
                  <a:srgbClr val="0033CC"/>
                </a:solidFill>
                <a:latin typeface="Arial Narrow" panose="020B0606020202030204" pitchFamily="34" charset="0"/>
              </a:rPr>
              <a:t> </a:t>
            </a:r>
            <a:endParaRPr lang="en-US" dirty="0">
              <a:latin typeface="Arial Narrow" panose="020B0606020202030204" pitchFamily="34" charset="0"/>
            </a:endParaRPr>
          </a:p>
          <a:p>
            <a:pPr marL="400050" lvl="1" indent="0">
              <a:spcBef>
                <a:spcPts val="500"/>
              </a:spcBef>
              <a:spcAft>
                <a:spcPts val="500"/>
              </a:spcAft>
              <a:buNone/>
              <a:defRPr/>
            </a:pPr>
            <a:r>
              <a:rPr lang="en-US" dirty="0">
                <a:latin typeface="Arial Narrow" panose="020B0606020202030204" pitchFamily="34" charset="0"/>
              </a:rPr>
              <a:t>Note:  Performance and payment bonds will be required by the successful offeror within ten (10) days of Notice of Award. </a:t>
            </a:r>
          </a:p>
        </p:txBody>
      </p:sp>
      <p:sp>
        <p:nvSpPr>
          <p:cNvPr id="2" name="Slide Number Placeholder 1"/>
          <p:cNvSpPr>
            <a:spLocks noGrp="1"/>
          </p:cNvSpPr>
          <p:nvPr>
            <p:ph type="sldNum" sz="quarter" idx="10"/>
          </p:nvPr>
        </p:nvSpPr>
        <p:spPr/>
        <p:txBody>
          <a:bodyPr/>
          <a:lstStyle/>
          <a:p>
            <a:fld id="{9B27D237-6C0D-5549-BE11-2040A22CBC71}" type="slidenum">
              <a:rPr lang="en-US" smtClean="0"/>
              <a:pPr/>
              <a:t>4</a:t>
            </a:fld>
            <a:endParaRPr lang="en-US" dirty="0"/>
          </a:p>
        </p:txBody>
      </p:sp>
    </p:spTree>
    <p:extLst>
      <p:ext uri="{BB962C8B-B14F-4D97-AF65-F5344CB8AC3E}">
        <p14:creationId xmlns:p14="http://schemas.microsoft.com/office/powerpoint/2010/main" val="129874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CB60D-112E-4EC3-8614-FB08F8392C8A}"/>
              </a:ext>
            </a:extLst>
          </p:cNvPr>
          <p:cNvSpPr>
            <a:spLocks noGrp="1"/>
          </p:cNvSpPr>
          <p:nvPr>
            <p:ph type="title"/>
          </p:nvPr>
        </p:nvSpPr>
        <p:spPr/>
        <p:txBody>
          <a:bodyPr>
            <a:normAutofit/>
          </a:bodyPr>
          <a:lstStyle/>
          <a:p>
            <a:r>
              <a:rPr lang="en-US" sz="3600" b="1" dirty="0">
                <a:latin typeface="Arial Narrow" panose="020B0606020202030204" pitchFamily="34" charset="0"/>
              </a:rPr>
              <a:t>Basis of Award and Evaluation Factors</a:t>
            </a:r>
          </a:p>
        </p:txBody>
      </p:sp>
      <p:sp>
        <p:nvSpPr>
          <p:cNvPr id="3" name="Content Placeholder 2">
            <a:extLst>
              <a:ext uri="{FF2B5EF4-FFF2-40B4-BE49-F238E27FC236}">
                <a16:creationId xmlns:a16="http://schemas.microsoft.com/office/drawing/2014/main" id="{5BF863B6-53EF-42CE-B1A6-BB3A04AED500}"/>
              </a:ext>
            </a:extLst>
          </p:cNvPr>
          <p:cNvSpPr>
            <a:spLocks noGrp="1"/>
          </p:cNvSpPr>
          <p:nvPr>
            <p:ph idx="1"/>
          </p:nvPr>
        </p:nvSpPr>
        <p:spPr>
          <a:xfrm>
            <a:off x="310717" y="1706252"/>
            <a:ext cx="8629097" cy="4685121"/>
          </a:xfrm>
        </p:spPr>
        <p:txBody>
          <a:bodyPr>
            <a:normAutofit/>
          </a:bodyPr>
          <a:lstStyle/>
          <a:p>
            <a:pPr marL="0" marR="0" fontAlgn="base">
              <a:spcBef>
                <a:spcPts val="0"/>
              </a:spcBef>
              <a:spcAft>
                <a:spcPts val="0"/>
              </a:spcAft>
            </a:pPr>
            <a:endParaRPr lang="en-US" dirty="0">
              <a:effectLst/>
              <a:latin typeface="Times New Roman" panose="02020603050405020304" pitchFamily="18" charset="0"/>
              <a:ea typeface="Times New Roman" panose="02020603050405020304" pitchFamily="18" charset="0"/>
            </a:endParaRPr>
          </a:p>
          <a:p>
            <a:r>
              <a:rPr lang="en-US" sz="1400" dirty="0">
                <a:latin typeface="Arial Narrow" panose="020B0606020202030204" pitchFamily="34" charset="0"/>
              </a:rPr>
              <a:t>The Government intends to solicit to all capable and eligible SDVOSBs on the open market and will select the responsible offeror whose offer is the </a:t>
            </a:r>
            <a:r>
              <a:rPr lang="en-US" sz="1400" b="1" dirty="0">
                <a:latin typeface="Arial Narrow" panose="020B0606020202030204" pitchFamily="34" charset="0"/>
              </a:rPr>
              <a:t>best value </a:t>
            </a:r>
            <a:r>
              <a:rPr lang="en-US" sz="1400" dirty="0">
                <a:latin typeface="Arial Narrow" panose="020B0606020202030204" pitchFamily="34" charset="0"/>
              </a:rPr>
              <a:t>to the Government in accordance with the Solicitation requirements; statement of work, attachments, and evaluation factors and </a:t>
            </a:r>
            <a:r>
              <a:rPr lang="en-US" sz="1400" dirty="0">
                <a:latin typeface="Arial Narrow" panose="020B0606020202030204" pitchFamily="34" charset="0"/>
                <a:ea typeface="Calibri" panose="020F0502020204030204" pitchFamily="34" charset="0"/>
                <a:cs typeface="Times New Roman" panose="02020603050405020304" pitchFamily="18" charset="0"/>
              </a:rPr>
              <a:t>VAAR 852.236-92 NOTICE TO BIDDERS–ADDITIVE OR DEDUCTIVE BID LINE ITEMS (APR 2019) </a:t>
            </a:r>
            <a:r>
              <a:rPr lang="en-US" sz="1400" dirty="0">
                <a:latin typeface="Arial Narrow" panose="020B0606020202030204" pitchFamily="34" charset="0"/>
                <a:ea typeface="Times New Roman" panose="02020603050405020304" pitchFamily="18" charset="0"/>
              </a:rPr>
              <a:t>as a result of this solicitation.</a:t>
            </a:r>
            <a:endParaRPr lang="en-US" sz="1400" dirty="0">
              <a:latin typeface="Arial Narrow" panose="020B0606020202030204" pitchFamily="34" charset="0"/>
            </a:endParaRPr>
          </a:p>
          <a:p>
            <a:pPr marL="0" indent="0">
              <a:buNone/>
            </a:pPr>
            <a:endParaRPr lang="en-US" sz="1400" dirty="0">
              <a:latin typeface="Arial Narrow" panose="020B0606020202030204" pitchFamily="34" charset="0"/>
            </a:endParaRPr>
          </a:p>
          <a:p>
            <a:r>
              <a:rPr lang="en-US" sz="1400" dirty="0">
                <a:latin typeface="Arial Narrow" panose="020B0606020202030204" pitchFamily="34" charset="0"/>
                <a:ea typeface="Calibri" panose="020F0502020204030204" pitchFamily="34" charset="0"/>
                <a:cs typeface="Times New Roman" panose="02020603050405020304" pitchFamily="18" charset="0"/>
              </a:rPr>
              <a:t>All proposals shall be subject to evaluation by a team of Government personnel. The proposals will be evaluated in accordance with the content provided in the solicitation. Proposal Evaluation Factors are </a:t>
            </a:r>
            <a:r>
              <a:rPr lang="en-US" sz="1400" b="1" dirty="0">
                <a:latin typeface="Arial Narrow" panose="020B0606020202030204" pitchFamily="34" charset="0"/>
                <a:ea typeface="Calibri" panose="020F0502020204030204" pitchFamily="34" charset="0"/>
                <a:cs typeface="Times New Roman" panose="02020603050405020304" pitchFamily="18" charset="0"/>
              </a:rPr>
              <a:t>Project Schedule, Project Team and Experience,  Past Performance, and Cost/Price</a:t>
            </a:r>
            <a:r>
              <a:rPr lang="en-US" sz="1400" dirty="0">
                <a:latin typeface="Arial Narrow" panose="020B0606020202030204" pitchFamily="34" charset="0"/>
                <a:ea typeface="Calibri" panose="020F0502020204030204" pitchFamily="34" charset="0"/>
                <a:cs typeface="Times New Roman" panose="02020603050405020304" pitchFamily="18" charset="0"/>
              </a:rPr>
              <a:t>.  </a:t>
            </a:r>
          </a:p>
          <a:p>
            <a:pPr marL="0" indent="0">
              <a:buNone/>
            </a:pPr>
            <a:endParaRPr lang="en-US" sz="1400" dirty="0">
              <a:latin typeface="Arial Narrow" panose="020B0606020202030204" pitchFamily="34" charset="0"/>
              <a:ea typeface="Calibri" panose="020F0502020204030204" pitchFamily="34" charset="0"/>
              <a:cs typeface="Times New Roman" panose="02020603050405020304" pitchFamily="18" charset="0"/>
            </a:endParaRPr>
          </a:p>
          <a:p>
            <a:r>
              <a:rPr lang="en-US" sz="1400" dirty="0">
                <a:solidFill>
                  <a:srgbClr val="000000"/>
                </a:solidFill>
                <a:latin typeface="Arial Narrow" panose="020B0606020202030204" pitchFamily="34" charset="0"/>
                <a:ea typeface="Times New Roman" panose="02020603050405020304" pitchFamily="18" charset="0"/>
              </a:rPr>
              <a:t>In accordance with RFO 15.202(b)(2) and 15.103-1, the source selection evaluation will undergo a trade-off best value evaluation. The factors above are listed in descending order of importance. Factors 1, 2, and 3, when combined, </a:t>
            </a:r>
            <a:r>
              <a:rPr lang="en-US" sz="1400" b="1" u="sng" dirty="0">
                <a:solidFill>
                  <a:srgbClr val="000000"/>
                </a:solidFill>
                <a:latin typeface="Arial Narrow" panose="020B0606020202030204" pitchFamily="34" charset="0"/>
                <a:ea typeface="Times New Roman" panose="02020603050405020304" pitchFamily="18" charset="0"/>
              </a:rPr>
              <a:t>are equal</a:t>
            </a:r>
            <a:r>
              <a:rPr lang="en-US" sz="1400" u="sng" dirty="0">
                <a:solidFill>
                  <a:srgbClr val="000000"/>
                </a:solidFill>
                <a:latin typeface="Arial Narrow" panose="020B0606020202030204" pitchFamily="34" charset="0"/>
                <a:ea typeface="Times New Roman" panose="02020603050405020304" pitchFamily="18" charset="0"/>
              </a:rPr>
              <a:t> </a:t>
            </a:r>
            <a:r>
              <a:rPr lang="en-US" sz="1400" dirty="0">
                <a:solidFill>
                  <a:srgbClr val="000000"/>
                </a:solidFill>
                <a:latin typeface="Arial Narrow" panose="020B0606020202030204" pitchFamily="34" charset="0"/>
                <a:ea typeface="Times New Roman" panose="02020603050405020304" pitchFamily="18" charset="0"/>
              </a:rPr>
              <a:t>to Factor 4 – cost/price.</a:t>
            </a:r>
          </a:p>
          <a:p>
            <a:pPr marL="0" indent="0">
              <a:buNone/>
            </a:pPr>
            <a:endParaRPr lang="en-US" sz="1400" dirty="0">
              <a:latin typeface="Arial Narrow" panose="020B0606020202030204" pitchFamily="34" charset="0"/>
              <a:ea typeface="Times New Roman" panose="02020603050405020304" pitchFamily="18" charset="0"/>
            </a:endParaRPr>
          </a:p>
          <a:p>
            <a:r>
              <a:rPr lang="en-US" sz="1200" dirty="0">
                <a:latin typeface="Arial Narrow" panose="020B0606020202030204" pitchFamily="34" charset="0"/>
              </a:rPr>
              <a:t>Potential Offerors must also be verified in the SBA Veteran Small Business Certification Program as an SDVOSB to be eligible for award. The Contracting Officer (CO) will use the SBA Small Business Search (SBA SBS) (</a:t>
            </a:r>
            <a:r>
              <a:rPr lang="en-US" sz="1200" u="sng" dirty="0">
                <a:latin typeface="Arial Narrow" panose="020B0606020202030204" pitchFamily="34" charset="0"/>
                <a:hlinkClick r:id="rId2"/>
              </a:rPr>
              <a:t>https://search.certifications.sba.gov/</a:t>
            </a:r>
            <a:r>
              <a:rPr lang="en-US" sz="1200" dirty="0">
                <a:latin typeface="Arial Narrow" panose="020B0606020202030204" pitchFamily="34" charset="0"/>
              </a:rPr>
              <a:t>) to verify SDVOSB status until further guidance is provided by the Department of Veterans Affairs.in accordance with VAAR 819.7003 – Eligibility.  A proposal will be rejected and will not be considered for an award if offeror’s SDVOSB status cannot be verified at the time of submission of proposal and prior to award.</a:t>
            </a:r>
          </a:p>
          <a:p>
            <a:pPr marL="0" indent="0" algn="l">
              <a:buNone/>
            </a:pPr>
            <a:endParaRPr lang="en-US" dirty="0">
              <a:effectLst/>
              <a:latin typeface="Arial Narrow" panose="020B0606020202030204" pitchFamily="34"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0D42C4EE-8713-45CF-97A2-D9A2E63403F5}"/>
              </a:ext>
            </a:extLst>
          </p:cNvPr>
          <p:cNvSpPr>
            <a:spLocks noGrp="1"/>
          </p:cNvSpPr>
          <p:nvPr>
            <p:ph type="sldNum" sz="quarter" idx="10"/>
          </p:nvPr>
        </p:nvSpPr>
        <p:spPr/>
        <p:txBody>
          <a:bodyPr/>
          <a:lstStyle/>
          <a:p>
            <a:fld id="{9B27D237-6C0D-5549-BE11-2040A22CBC71}" type="slidenum">
              <a:rPr lang="en-US" smtClean="0"/>
              <a:pPr/>
              <a:t>5</a:t>
            </a:fld>
            <a:endParaRPr lang="en-US" dirty="0"/>
          </a:p>
        </p:txBody>
      </p:sp>
    </p:spTree>
    <p:extLst>
      <p:ext uri="{BB962C8B-B14F-4D97-AF65-F5344CB8AC3E}">
        <p14:creationId xmlns:p14="http://schemas.microsoft.com/office/powerpoint/2010/main" val="4192265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01E53-C620-44CF-B7B6-C287D23119A4}"/>
              </a:ext>
            </a:extLst>
          </p:cNvPr>
          <p:cNvSpPr>
            <a:spLocks noGrp="1"/>
          </p:cNvSpPr>
          <p:nvPr>
            <p:ph type="title"/>
          </p:nvPr>
        </p:nvSpPr>
        <p:spPr/>
        <p:txBody>
          <a:bodyPr>
            <a:normAutofit/>
          </a:bodyPr>
          <a:lstStyle/>
          <a:p>
            <a:r>
              <a:rPr lang="en-US" sz="3600" b="1" dirty="0">
                <a:latin typeface="Arial Narrow" panose="020B0606020202030204" pitchFamily="34" charset="0"/>
              </a:rPr>
              <a:t>Pre-Proposal Site Visit Rules of Engagement</a:t>
            </a:r>
          </a:p>
        </p:txBody>
      </p:sp>
      <p:sp>
        <p:nvSpPr>
          <p:cNvPr id="3" name="Content Placeholder 2">
            <a:extLst>
              <a:ext uri="{FF2B5EF4-FFF2-40B4-BE49-F238E27FC236}">
                <a16:creationId xmlns:a16="http://schemas.microsoft.com/office/drawing/2014/main" id="{2CBF235A-C839-4129-A97D-213F8753C6EB}"/>
              </a:ext>
            </a:extLst>
          </p:cNvPr>
          <p:cNvSpPr>
            <a:spLocks noGrp="1"/>
          </p:cNvSpPr>
          <p:nvPr>
            <p:ph idx="1"/>
          </p:nvPr>
        </p:nvSpPr>
        <p:spPr/>
        <p:txBody>
          <a:bodyPr>
            <a:normAutofit/>
          </a:bodyPr>
          <a:lstStyle/>
          <a:p>
            <a:pPr>
              <a:buFont typeface="Arial" panose="020B0604020202020204" pitchFamily="34" charset="0"/>
              <a:buChar char="•"/>
            </a:pPr>
            <a:r>
              <a:rPr lang="en-US" dirty="0">
                <a:latin typeface="Arial Narrow" panose="020B0606020202030204" pitchFamily="34" charset="0"/>
              </a:rPr>
              <a:t>Please ensure to sign in.</a:t>
            </a:r>
          </a:p>
          <a:p>
            <a:pPr marL="0" indent="0">
              <a:buNone/>
            </a:pPr>
            <a:endParaRPr lang="en-US" dirty="0">
              <a:latin typeface="Arial Narrow" panose="020B0606020202030204" pitchFamily="34" charset="0"/>
            </a:endParaRPr>
          </a:p>
          <a:p>
            <a:pPr>
              <a:buFont typeface="Arial" panose="020B0604020202020204" pitchFamily="34" charset="0"/>
              <a:buChar char="•"/>
            </a:pPr>
            <a:r>
              <a:rPr lang="en-US" dirty="0">
                <a:latin typeface="Arial Narrow" panose="020B0606020202030204" pitchFamily="34" charset="0"/>
              </a:rPr>
              <a:t>For Awareness, you may be required to wear a mask in certain patient areas indoors of the hospital.  We will not entertain any deviation from this requirement, if the facility requires it.</a:t>
            </a:r>
          </a:p>
          <a:p>
            <a:pPr marL="0" indent="0">
              <a:buNone/>
            </a:pPr>
            <a:endParaRPr lang="en-US" dirty="0">
              <a:latin typeface="Arial Narrow" panose="020B0606020202030204" pitchFamily="34" charset="0"/>
            </a:endParaRPr>
          </a:p>
          <a:p>
            <a:pPr>
              <a:buFont typeface="Arial" panose="020B0604020202020204" pitchFamily="34" charset="0"/>
              <a:buChar char="•"/>
            </a:pPr>
            <a:r>
              <a:rPr lang="en-US" dirty="0">
                <a:latin typeface="Arial Narrow" panose="020B0606020202030204" pitchFamily="34" charset="0"/>
              </a:rPr>
              <a:t>Please reserve all questions.  Questions </a:t>
            </a:r>
            <a:r>
              <a:rPr lang="en-US" b="1" u="sng" dirty="0">
                <a:latin typeface="Arial Narrow" panose="020B0606020202030204" pitchFamily="34" charset="0"/>
              </a:rPr>
              <a:t>WILL NOT </a:t>
            </a:r>
            <a:r>
              <a:rPr lang="en-US" dirty="0">
                <a:latin typeface="Arial Narrow" panose="020B0606020202030204" pitchFamily="34" charset="0"/>
              </a:rPr>
              <a:t>be entertained without a formal email.  All questions will receive a response via a solicitation amendment.</a:t>
            </a:r>
          </a:p>
          <a:p>
            <a:pPr>
              <a:buFont typeface="Arial" panose="020B0604020202020204" pitchFamily="34" charset="0"/>
              <a:buChar char="•"/>
            </a:pPr>
            <a:endParaRPr lang="en-US" dirty="0">
              <a:latin typeface="Arial Narrow" panose="020B0606020202030204" pitchFamily="34" charset="0"/>
            </a:endParaRPr>
          </a:p>
          <a:p>
            <a:pPr lvl="0">
              <a:spcBef>
                <a:spcPts val="0"/>
              </a:spcBef>
              <a:buFont typeface="Arial" panose="020B0604020202020204" pitchFamily="34" charset="0"/>
              <a:buChar char="•"/>
              <a:tabLst>
                <a:tab pos="457200" algn="l"/>
              </a:tabLst>
            </a:pPr>
            <a:r>
              <a:rPr lang="en-US" dirty="0">
                <a:latin typeface="Arial Narrow" panose="020B0606020202030204" pitchFamily="34" charset="0"/>
              </a:rPr>
              <a:t>All Requests for Information (RFIs) regarding this Solicitation </a:t>
            </a:r>
            <a:r>
              <a:rPr lang="en-US" b="1" u="sng" dirty="0">
                <a:latin typeface="Arial Narrow" panose="020B0606020202030204" pitchFamily="34" charset="0"/>
              </a:rPr>
              <a:t>must</a:t>
            </a:r>
            <a:r>
              <a:rPr lang="en-US" dirty="0">
                <a:latin typeface="Arial Narrow" panose="020B0606020202030204" pitchFamily="34" charset="0"/>
              </a:rPr>
              <a:t> be submitted in writing and received </a:t>
            </a:r>
            <a:r>
              <a:rPr lang="en-US">
                <a:latin typeface="Arial Narrow" panose="020B0606020202030204" pitchFamily="34" charset="0"/>
              </a:rPr>
              <a:t>by 4:30pm PT, Tuesday</a:t>
            </a:r>
            <a:r>
              <a:rPr lang="en-US" dirty="0">
                <a:latin typeface="Arial Narrow" panose="020B0606020202030204" pitchFamily="34" charset="0"/>
              </a:rPr>
              <a:t>, May 12, 2026. Questions/RFIs shall be sent via email to both Rosario Chaidez, Contracting Officer at e-mail </a:t>
            </a:r>
            <a:r>
              <a:rPr lang="en-US" u="sng" dirty="0">
                <a:solidFill>
                  <a:srgbClr val="0033CC"/>
                </a:solidFill>
                <a:latin typeface="Arial Narrow" panose="020B0606020202030204" pitchFamily="34" charset="0"/>
              </a:rPr>
              <a:t>Rosario.</a:t>
            </a:r>
            <a:r>
              <a:rPr lang="en-US" u="sng" dirty="0">
                <a:solidFill>
                  <a:srgbClr val="0033CC"/>
                </a:solidFill>
                <a:latin typeface="Arial Narrow" panose="020B0606020202030204" pitchFamily="34" charset="0"/>
                <a:hlinkClick r:id="rId2">
                  <a:extLst>
                    <a:ext uri="{A12FA001-AC4F-418D-AE19-62706E023703}">
                      <ahyp:hlinkClr xmlns:ahyp="http://schemas.microsoft.com/office/drawing/2018/hyperlinkcolor" val="tx"/>
                    </a:ext>
                  </a:extLst>
                </a:hlinkClick>
              </a:rPr>
              <a:t>Chaidez1@va.go</a:t>
            </a:r>
            <a:r>
              <a:rPr lang="en-US" u="sng" dirty="0">
                <a:solidFill>
                  <a:srgbClr val="0033CC"/>
                </a:solidFill>
                <a:latin typeface="Arial Narrow" panose="020B0606020202030204" pitchFamily="34" charset="0"/>
              </a:rPr>
              <a:t>v</a:t>
            </a:r>
          </a:p>
        </p:txBody>
      </p:sp>
      <p:sp>
        <p:nvSpPr>
          <p:cNvPr id="4" name="Slide Number Placeholder 3">
            <a:extLst>
              <a:ext uri="{FF2B5EF4-FFF2-40B4-BE49-F238E27FC236}">
                <a16:creationId xmlns:a16="http://schemas.microsoft.com/office/drawing/2014/main" id="{A69B12D9-C146-425C-8CC3-5C1FDC6B26C5}"/>
              </a:ext>
            </a:extLst>
          </p:cNvPr>
          <p:cNvSpPr>
            <a:spLocks noGrp="1"/>
          </p:cNvSpPr>
          <p:nvPr>
            <p:ph type="sldNum" sz="quarter" idx="10"/>
          </p:nvPr>
        </p:nvSpPr>
        <p:spPr/>
        <p:txBody>
          <a:bodyPr/>
          <a:lstStyle/>
          <a:p>
            <a:fld id="{9B27D237-6C0D-5549-BE11-2040A22CBC71}" type="slidenum">
              <a:rPr lang="en-US" smtClean="0"/>
              <a:pPr/>
              <a:t>6</a:t>
            </a:fld>
            <a:endParaRPr lang="en-US" dirty="0"/>
          </a:p>
        </p:txBody>
      </p:sp>
    </p:spTree>
    <p:extLst>
      <p:ext uri="{BB962C8B-B14F-4D97-AF65-F5344CB8AC3E}">
        <p14:creationId xmlns:p14="http://schemas.microsoft.com/office/powerpoint/2010/main" val="55409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5F7F0-BFC8-4AC5-81A4-3B4C961107D5}"/>
              </a:ext>
            </a:extLst>
          </p:cNvPr>
          <p:cNvSpPr>
            <a:spLocks noGrp="1"/>
          </p:cNvSpPr>
          <p:nvPr>
            <p:ph type="ctrTitle"/>
          </p:nvPr>
        </p:nvSpPr>
        <p:spPr>
          <a:xfrm>
            <a:off x="685800" y="3932765"/>
            <a:ext cx="7772400" cy="730127"/>
          </a:xfrm>
        </p:spPr>
        <p:txBody>
          <a:bodyPr>
            <a:normAutofit/>
          </a:bodyPr>
          <a:lstStyle/>
          <a:p>
            <a:pPr algn="ctr"/>
            <a:r>
              <a:rPr lang="en-US" sz="3200" dirty="0"/>
              <a:t>Thanks for attending today’s site visit!</a:t>
            </a:r>
          </a:p>
        </p:txBody>
      </p:sp>
    </p:spTree>
    <p:extLst>
      <p:ext uri="{BB962C8B-B14F-4D97-AF65-F5344CB8AC3E}">
        <p14:creationId xmlns:p14="http://schemas.microsoft.com/office/powerpoint/2010/main" val="433464335"/>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FFFFFE"/>
      </a:dk2>
      <a:lt2>
        <a:srgbClr val="FFFFFE"/>
      </a:lt2>
      <a:accent1>
        <a:srgbClr val="0083BE"/>
      </a:accent1>
      <a:accent2>
        <a:srgbClr val="78BE20"/>
      </a:accent2>
      <a:accent3>
        <a:srgbClr val="C4262E"/>
      </a:accent3>
      <a:accent4>
        <a:srgbClr val="FF7F32"/>
      </a:accent4>
      <a:accent5>
        <a:srgbClr val="F3CF45"/>
      </a:accent5>
      <a:accent6>
        <a:srgbClr val="FFFFFE"/>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Description0 xmlns="614dd832-74ab-4144-9279-3e27140f52fd">The presentation provides an overview of the construction program and capital colors of money</Description0>
    <_dlc_DocId xmlns="84c67d73-bc15-4ad1-8207-a95ac83adcdf">5VDZJ7FUDKQP-110-441</_dlc_DocId>
    <_dlc_DocIdUrl xmlns="84c67d73-bc15-4ad1-8207-a95ac83adcdf">
      <Url>http://raft.vssc.med.va.gov/_layouts/DocIdRedir.aspx?ID=5VDZJ7FUDKQP-110-441</Url>
      <Description>5VDZJ7FUDKQP-110-441</Description>
    </_dlc_DocIdUrl>
    <_dlc_DocIdPersistId xmlns="84c67d73-bc15-4ad1-8207-a95ac83adcdf">false</_dlc_DocIdPersistId>
    <Topics xmlns="b15fcc50-10e1-498c-9a18-98b8a16e6227" xsi:nil="true"/>
    <Language xmlns="52762d67-573b-4a4c-aad8-282e7a477841">English</Language>
    <Status xmlns="b15fcc50-10e1-498c-9a18-98b8a16e6227" xsi:nil="true"/>
    <RAFT_x0020_Target_x0020_Audience xmlns="b15fcc50-10e1-498c-9a18-98b8a16e6227" xsi:nil="true"/>
    <Instructors xmlns="b15fcc50-10e1-498c-9a18-98b8a16e6227">120</Instructors>
    <IconOverlay xmlns="http://schemas.microsoft.com/sharepoint/v4" xsi:nil="true"/>
    <Subject_x0020_Area xmlns="b15fcc50-10e1-498c-9a18-98b8a16e6227">1</Subject_x0020_Area>
    <Training_x0020_Level xmlns="b15fcc50-10e1-498c-9a18-98b8a16e6227">3</Training_x0020_Level>
    <View_x0020_Category xmlns="b15fcc50-10e1-498c-9a18-98b8a16e6227" xsi:nil="true"/>
    <Last_x0020_Updated xmlns="52762d67-573b-4a4c-aad8-282e7a477841">2015-02-05T05:00:00+00:00</Last_x0020_Updated>
    <Office xmlns="b15fcc50-10e1-498c-9a18-98b8a16e6227">3</Office>
    <Target_x0020_Audience xmlns="b15fcc50-10e1-498c-9a18-98b8a16e6227">15</Target_x0020_Audience>
    <Sub_x0020_Program_x0020_Area xmlns="b15fcc50-10e1-498c-9a18-98b8a16e6227">3</Sub_x0020_Program_x0020_Area>
    <RAFT_x0020_Section xmlns="b15fcc50-10e1-498c-9a18-98b8a16e6227">11</RAFT_x0020_Section>
    <Training_x0020_Type xmlns="b15fcc50-10e1-498c-9a18-98b8a16e6227">7</Training_x0020_Type>
    <Program_x0020_Area xmlns="b15fcc50-10e1-498c-9a18-98b8a16e6227">7</Program_x0020_Area>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FBACC836B6B83A408A57ED4BCD6C2C28" ma:contentTypeVersion="82" ma:contentTypeDescription="Create a new document." ma:contentTypeScope="" ma:versionID="c846e1b6523e25c8346e02243bad71dd">
  <xsd:schema xmlns:xsd="http://www.w3.org/2001/XMLSchema" xmlns:xs="http://www.w3.org/2001/XMLSchema" xmlns:p="http://schemas.microsoft.com/office/2006/metadata/properties" xmlns:ns2="52762d67-573b-4a4c-aad8-282e7a477841" xmlns:ns3="614dd832-74ab-4144-9279-3e27140f52fd" xmlns:ns4="b15fcc50-10e1-498c-9a18-98b8a16e6227" xmlns:ns5="http://schemas.microsoft.com/sharepoint/v4" xmlns:ns6="84c67d73-bc15-4ad1-8207-a95ac83adcdf" targetNamespace="http://schemas.microsoft.com/office/2006/metadata/properties" ma:root="true" ma:fieldsID="98deba321b7d3d285f1095fbaf8660f4" ns2:_="" ns3:_="" ns4:_="" ns5:_="" ns6:_="">
    <xsd:import namespace="52762d67-573b-4a4c-aad8-282e7a477841"/>
    <xsd:import namespace="614dd832-74ab-4144-9279-3e27140f52fd"/>
    <xsd:import namespace="b15fcc50-10e1-498c-9a18-98b8a16e6227"/>
    <xsd:import namespace="http://schemas.microsoft.com/sharepoint/v4"/>
    <xsd:import namespace="84c67d73-bc15-4ad1-8207-a95ac83adcdf"/>
    <xsd:element name="properties">
      <xsd:complexType>
        <xsd:sequence>
          <xsd:element name="documentManagement">
            <xsd:complexType>
              <xsd:all>
                <xsd:element ref="ns2:Last_x0020_Updated"/>
                <xsd:element ref="ns2:Language"/>
                <xsd:element ref="ns3:Description0"/>
                <xsd:element ref="ns4:Office"/>
                <xsd:element ref="ns4:Instructors" minOccurs="0"/>
                <xsd:element ref="ns4:Target_x0020_Audience" minOccurs="0"/>
                <xsd:element ref="ns4:Training_x0020_Type"/>
                <xsd:element ref="ns4:Training_x0020_Level"/>
                <xsd:element ref="ns4:RAFT_x0020_Section"/>
                <xsd:element ref="ns4:Program_x0020_Area" minOccurs="0"/>
                <xsd:element ref="ns4:Sub_x0020_Program_x0020_Area" minOccurs="0"/>
                <xsd:element ref="ns4:Subject_x0020_Area" minOccurs="0"/>
                <xsd:element ref="ns4:Status" minOccurs="0"/>
                <xsd:element ref="ns4:Topics" minOccurs="0"/>
                <xsd:element ref="ns5:IconOverlay" minOccurs="0"/>
                <xsd:element ref="ns6:_dlc_DocIdPersistId" minOccurs="0"/>
                <xsd:element ref="ns6:_dlc_DocId" minOccurs="0"/>
                <xsd:element ref="ns6:_dlc_DocIdUrl" minOccurs="0"/>
                <xsd:element ref="ns4:RAFT_x0020_Target_x0020_Audience" minOccurs="0"/>
                <xsd:element ref="ns4:View_x0020_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762d67-573b-4a4c-aad8-282e7a477841" elementFormDefault="qualified">
    <xsd:import namespace="http://schemas.microsoft.com/office/2006/documentManagement/types"/>
    <xsd:import namespace="http://schemas.microsoft.com/office/infopath/2007/PartnerControls"/>
    <xsd:element name="Last_x0020_Updated" ma:index="2" ma:displayName="Date Last Reviewed" ma:default="[today]" ma:format="DateOnly" ma:internalName="Last_x0020_Updated">
      <xsd:simpleType>
        <xsd:restriction base="dms:DateTime"/>
      </xsd:simpleType>
    </xsd:element>
    <xsd:element name="Language" ma:index="3" ma:displayName="Language" ma:default="English" ma:format="Dropdown" ma:internalName="Language">
      <xsd:simpleType>
        <xsd:restriction base="dms:Choice">
          <xsd:enumeration value="English"/>
        </xsd:restriction>
      </xsd:simpleType>
    </xsd:element>
  </xsd:schema>
  <xsd:schema xmlns:xsd="http://www.w3.org/2001/XMLSchema" xmlns:xs="http://www.w3.org/2001/XMLSchema" xmlns:dms="http://schemas.microsoft.com/office/2006/documentManagement/types" xmlns:pc="http://schemas.microsoft.com/office/infopath/2007/PartnerControls" targetNamespace="614dd832-74ab-4144-9279-3e27140f52fd" elementFormDefault="qualified">
    <xsd:import namespace="http://schemas.microsoft.com/office/2006/documentManagement/types"/>
    <xsd:import namespace="http://schemas.microsoft.com/office/infopath/2007/PartnerControls"/>
    <xsd:element name="Description0" ma:index="4" ma:displayName="Description" ma:internalName="Description0"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15fcc50-10e1-498c-9a18-98b8a16e6227" elementFormDefault="qualified">
    <xsd:import namespace="http://schemas.microsoft.com/office/2006/documentManagement/types"/>
    <xsd:import namespace="http://schemas.microsoft.com/office/infopath/2007/PartnerControls"/>
    <xsd:element name="Office" ma:index="5" ma:displayName="Office" ma:list="{3991115a-aaa6-4647-a0ea-7aeb3c7ad4f7}" ma:internalName="Office" ma:readOnly="false" ma:showField="ce">
      <xsd:simpleType>
        <xsd:restriction base="dms:Lookup"/>
      </xsd:simpleType>
    </xsd:element>
    <xsd:element name="Instructors" ma:index="6" nillable="true" ma:displayName="Instructors" ma:list="{42d39474-0931-4d26-a099-1b9bdf7912c6}" ma:internalName="Instructors" ma:showField="Title">
      <xsd:simpleType>
        <xsd:restriction base="dms:Lookup"/>
      </xsd:simpleType>
    </xsd:element>
    <xsd:element name="Target_x0020_Audience" ma:index="7" nillable="true" ma:displayName="Target Audience" ma:list="{3991115a-aaa6-4647-a0ea-7aeb3c7ad4f7}" ma:internalName="Target_x0020_Audience" ma:showField="Target_x0020_Audience">
      <xsd:simpleType>
        <xsd:restriction base="dms:Lookup"/>
      </xsd:simpleType>
    </xsd:element>
    <xsd:element name="Training_x0020_Type" ma:index="8" ma:displayName="Training Type" ma:list="{3991115a-aaa6-4647-a0ea-7aeb3c7ad4f7}" ma:internalName="Training_x0020_Type" ma:readOnly="false" ma:showField="Training_x0020_Type">
      <xsd:simpleType>
        <xsd:restriction base="dms:Lookup"/>
      </xsd:simpleType>
    </xsd:element>
    <xsd:element name="Training_x0020_Level" ma:index="9" ma:displayName="Training Level" ma:list="{3991115a-aaa6-4647-a0ea-7aeb3c7ad4f7}" ma:internalName="Training_x0020_Level" ma:readOnly="false" ma:showField="Training_x0020_Level">
      <xsd:simpleType>
        <xsd:restriction base="dms:Lookup"/>
      </xsd:simpleType>
    </xsd:element>
    <xsd:element name="RAFT_x0020_Section" ma:index="10" ma:displayName="RAFT Section" ma:list="{3991115a-aaa6-4647-a0ea-7aeb3c7ad4f7}" ma:internalName="RAFT_x0020_Section" ma:readOnly="false" ma:showField="Raft_x0020_Section">
      <xsd:simpleType>
        <xsd:restriction base="dms:Lookup"/>
      </xsd:simpleType>
    </xsd:element>
    <xsd:element name="Program_x0020_Area" ma:index="11" nillable="true" ma:displayName="Program Area" ma:description="Subject Area Training Only" ma:list="{3991115a-aaa6-4647-a0ea-7aeb3c7ad4f7}" ma:internalName="Program_x0020_Area" ma:showField="Program_x0020_Area">
      <xsd:simpleType>
        <xsd:restriction base="dms:Lookup"/>
      </xsd:simpleType>
    </xsd:element>
    <xsd:element name="Sub_x0020_Program_x0020_Area" ma:index="12" nillable="true" ma:displayName="Sub Program Area" ma:description="Subject Area Training Only" ma:list="{3991115a-aaa6-4647-a0ea-7aeb3c7ad4f7}" ma:internalName="Sub_x0020_Program_x0020_Area" ma:showField="Sub_x0020_Program_x0020_Area">
      <xsd:simpleType>
        <xsd:restriction base="dms:Lookup"/>
      </xsd:simpleType>
    </xsd:element>
    <xsd:element name="Subject_x0020_Area" ma:index="13" nillable="true" ma:displayName="Subject Area" ma:description="Subject Area Training Only - If not choose General" ma:list="{3991115a-aaa6-4647-a0ea-7aeb3c7ad4f7}" ma:internalName="Subject_x0020_Area" ma:showField="Subject_x0020_Area">
      <xsd:simpleType>
        <xsd:restriction base="dms:Lookup"/>
      </xsd:simpleType>
    </xsd:element>
    <xsd:element name="Status" ma:index="14" nillable="true" ma:displayName="Status (Core or Supplemental)" ma:description="Getting Started/Basic Stats/Advanced Stats ONLY" ma:list="{3991115a-aaa6-4647-a0ea-7aeb3c7ad4f7}" ma:internalName="Status" ma:showField="Status">
      <xsd:simpleType>
        <xsd:restriction base="dms:Lookup"/>
      </xsd:simpleType>
    </xsd:element>
    <xsd:element name="Topics" ma:index="16" nillable="true" ma:displayName="Case Scenario Training Topics" ma:description="Case Scenario Training Only" ma:list="{3991115a-aaa6-4647-a0ea-7aeb3c7ad4f7}" ma:internalName="Topics" ma:showField="Topic">
      <xsd:simpleType>
        <xsd:restriction base="dms:Lookup"/>
      </xsd:simpleType>
    </xsd:element>
    <xsd:element name="RAFT_x0020_Target_x0020_Audience" ma:index="27" nillable="true" ma:displayName="RAFT Target Audience" ma:list="{3991115a-aaa6-4647-a0ea-7aeb3c7ad4f7}" ma:internalName="RAFT_x0020_Target_x0020_Audience" ma:showField="RAFT_x0020_Target_x0020_Audience">
      <xsd:simpleType>
        <xsd:restriction base="dms:Lookup"/>
      </xsd:simpleType>
    </xsd:element>
    <xsd:element name="View_x0020_Category" ma:index="28" nillable="true" ma:displayName="View Category" ma:description="This is not requried. Add a term in the choice box if you would like to be able to create a view based on a term in this field." ma:format="Dropdown" ma:internalName="View_x0020_Category">
      <xsd:simpleType>
        <xsd:restriction base="dms:Choice">
          <xsd:enumeration value="Capital"/>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4c67d73-bc15-4ad1-8207-a95ac83adcdf" elementFormDefault="qualified">
    <xsd:import namespace="http://schemas.microsoft.com/office/2006/documentManagement/types"/>
    <xsd:import namespace="http://schemas.microsoft.com/office/infopath/2007/PartnerControls"/>
    <xsd:element name="_dlc_DocIdPersistId" ma:index="20" nillable="true" ma:displayName="Persist ID" ma:description="Keep ID on add." ma:hidden="true" ma:internalName="_dlc_DocIdPersistId" ma:readOnly="true">
      <xsd:simpleType>
        <xsd:restriction base="dms:Boolean"/>
      </xsd:simpleType>
    </xsd:element>
    <xsd:element name="_dlc_DocId" ma:index="23" nillable="true" ma:displayName="Document ID Value" ma:description="The value of the document ID assigned to this item." ma:internalName="_dlc_DocId" ma:readOnly="true">
      <xsd:simpleType>
        <xsd:restriction base="dms:Text"/>
      </xsd:simpleType>
    </xsd:element>
    <xsd:element name="_dlc_DocIdUrl" ma:index="24"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7" ma:displayName="Content Type"/>
        <xsd:element ref="dc:title" minOccurs="0" maxOccurs="1" ma:index="1" ma:displayName="Title"/>
        <xsd:element ref="dc:subject" minOccurs="0" maxOccurs="1" ma:index="15" ma:displayName="RAFT Subject"/>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137C106-A410-4C44-8C4F-373DCB9DA496}">
  <ds:schemaRefs>
    <ds:schemaRef ds:uri="http://schemas.microsoft.com/sharepoint/events"/>
  </ds:schemaRefs>
</ds:datastoreItem>
</file>

<file path=customXml/itemProps2.xml><?xml version="1.0" encoding="utf-8"?>
<ds:datastoreItem xmlns:ds="http://schemas.openxmlformats.org/officeDocument/2006/customXml" ds:itemID="{2F85D0B8-FC10-4A48-9DF7-9D8713237BF9}">
  <ds:schemaRefs>
    <ds:schemaRef ds:uri="614dd832-74ab-4144-9279-3e27140f52fd"/>
    <ds:schemaRef ds:uri="52762d67-573b-4a4c-aad8-282e7a477841"/>
    <ds:schemaRef ds:uri="http://purl.org/dc/terms/"/>
    <ds:schemaRef ds:uri="http://purl.org/dc/dcmitype/"/>
    <ds:schemaRef ds:uri="http://schemas.microsoft.com/sharepoint/v4"/>
    <ds:schemaRef ds:uri="http://schemas.openxmlformats.org/package/2006/metadata/core-properties"/>
    <ds:schemaRef ds:uri="http://schemas.microsoft.com/office/2006/documentManagement/types"/>
    <ds:schemaRef ds:uri="http://schemas.microsoft.com/office/2006/metadata/properties"/>
    <ds:schemaRef ds:uri="84c67d73-bc15-4ad1-8207-a95ac83adcdf"/>
    <ds:schemaRef ds:uri="http://schemas.microsoft.com/office/infopath/2007/PartnerControls"/>
    <ds:schemaRef ds:uri="b15fcc50-10e1-498c-9a18-98b8a16e6227"/>
    <ds:schemaRef ds:uri="http://www.w3.org/XML/1998/namespace"/>
    <ds:schemaRef ds:uri="http://purl.org/dc/elements/1.1/"/>
  </ds:schemaRefs>
</ds:datastoreItem>
</file>

<file path=customXml/itemProps3.xml><?xml version="1.0" encoding="utf-8"?>
<ds:datastoreItem xmlns:ds="http://schemas.openxmlformats.org/officeDocument/2006/customXml" ds:itemID="{437A742B-FD0F-4829-B9D2-4E8CCEBAA74F}">
  <ds:schemaRefs>
    <ds:schemaRef ds:uri="http://schemas.microsoft.com/sharepoint/v3/contenttype/forms"/>
  </ds:schemaRefs>
</ds:datastoreItem>
</file>

<file path=customXml/itemProps4.xml><?xml version="1.0" encoding="utf-8"?>
<ds:datastoreItem xmlns:ds="http://schemas.openxmlformats.org/officeDocument/2006/customXml" ds:itemID="{96CE0927-4D39-425C-A1FC-8FE0F79974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2762d67-573b-4a4c-aad8-282e7a477841"/>
    <ds:schemaRef ds:uri="614dd832-74ab-4144-9279-3e27140f52fd"/>
    <ds:schemaRef ds:uri="b15fcc50-10e1-498c-9a18-98b8a16e6227"/>
    <ds:schemaRef ds:uri="http://schemas.microsoft.com/sharepoint/v4"/>
    <ds:schemaRef ds:uri="84c67d73-bc15-4ad1-8207-a95ac83adc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0f5b659-45e0-406d-ada9-08e0b284cfc4}" enabled="1" method="Standard" siteId="{e95f1b23-abaf-45ee-821d-b7ab251ab3bf}" removed="0"/>
</clbl:labelList>
</file>

<file path=docProps/app.xml><?xml version="1.0" encoding="utf-8"?>
<Properties xmlns="http://schemas.openxmlformats.org/officeDocument/2006/extended-properties" xmlns:vt="http://schemas.openxmlformats.org/officeDocument/2006/docPropsVTypes">
  <TotalTime>10963</TotalTime>
  <Words>896</Words>
  <Application>Microsoft Office PowerPoint</Application>
  <PresentationFormat>On-screen Show (4:3)</PresentationFormat>
  <Paragraphs>64</Paragraphs>
  <Slides>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Arial Black</vt:lpstr>
      <vt:lpstr>Arial Narrow</vt:lpstr>
      <vt:lpstr>Calibri</vt:lpstr>
      <vt:lpstr>Georgia</vt:lpstr>
      <vt:lpstr>Times New Roman</vt:lpstr>
      <vt:lpstr>Office Theme</vt:lpstr>
      <vt:lpstr>RFP 36C26126R0034 Project No. 570-21-108 Repair Exterior Finishes VA CENTRAL California Healthcare System, FRESNO VA Medical Center</vt:lpstr>
      <vt:lpstr>Project Information</vt:lpstr>
      <vt:lpstr>Project Contact Information</vt:lpstr>
      <vt:lpstr>Project Scope</vt:lpstr>
      <vt:lpstr>Project Contract Information</vt:lpstr>
      <vt:lpstr>Basis of Award and Evaluation Factors</vt:lpstr>
      <vt:lpstr>Pre-Proposal Site Visit Rules of Engagement</vt:lpstr>
      <vt:lpstr>Thanks for attending today’s site visit!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ConstructionPolicy and Appropriation PowerPoint Presentation</dc:title>
  <dc:creator>Sharon Yeager</dc:creator>
  <cp:lastModifiedBy>Chaidez, Rosario E.</cp:lastModifiedBy>
  <cp:revision>368</cp:revision>
  <cp:lastPrinted>2016-06-22T21:08:43Z</cp:lastPrinted>
  <dcterms:created xsi:type="dcterms:W3CDTF">2011-05-12T19:56:03Z</dcterms:created>
  <dcterms:modified xsi:type="dcterms:W3CDTF">2026-04-28T15:13:53Z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0x010100FBACC836B6B83A408A57ED4BCD6C2C28</vt:lpwstr>
  </property>
  <property fmtid="{D5CDD505-2E9C-101B-9397-08002B2CF9AE}" pid="3" name="_dlc_DocIdItemGuid">
    <vt:lpwstr>92c66a9a-5028-4cac-b9ae-0acebd322976</vt:lpwstr>
  </property>
  <property fmtid="{D5CDD505-2E9C-101B-9397-08002B2CF9AE}" pid="4" name="Order">
    <vt:r8>11200</vt:r8>
  </property>
  <property fmtid="{D5CDD505-2E9C-101B-9397-08002B2CF9AE}" pid="5" name="TemplateUrl">
    <vt:lpwstr/>
  </property>
  <property fmtid="{D5CDD505-2E9C-101B-9397-08002B2CF9AE}" pid="6" name="xd_Signature">
    <vt:bool>false</vt:bool>
  </property>
  <property fmtid="{D5CDD505-2E9C-101B-9397-08002B2CF9AE}" pid="7" name="xd_ProgID">
    <vt:lpwstr/>
  </property>
</Properties>
</file>