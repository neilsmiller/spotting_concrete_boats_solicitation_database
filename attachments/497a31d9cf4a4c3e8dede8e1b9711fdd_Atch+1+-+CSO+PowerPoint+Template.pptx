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1" r:id="rId4"/>
  </p:sldMasterIdLst>
  <p:notesMasterIdLst>
    <p:notesMasterId r:id="rId6"/>
  </p:notesMasterIdLst>
  <p:handoutMasterIdLst>
    <p:handoutMasterId r:id="rId7"/>
  </p:handoutMasterIdLst>
  <p:sldIdLst>
    <p:sldId id="1456" r:id="rId5"/>
  </p:sldIdLst>
  <p:sldSz cx="9144000" cy="5143500" type="screen16x9"/>
  <p:notesSz cx="7010400" cy="9296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2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08099" algn="ctr" rtl="0" fontAlgn="base">
      <a:spcBef>
        <a:spcPct val="0"/>
      </a:spcBef>
      <a:spcAft>
        <a:spcPct val="0"/>
      </a:spcAft>
      <a:defRPr sz="22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816198" algn="ctr" rtl="0" fontAlgn="base">
      <a:spcBef>
        <a:spcPct val="0"/>
      </a:spcBef>
      <a:spcAft>
        <a:spcPct val="0"/>
      </a:spcAft>
      <a:defRPr sz="22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224298" algn="ctr" rtl="0" fontAlgn="base">
      <a:spcBef>
        <a:spcPct val="0"/>
      </a:spcBef>
      <a:spcAft>
        <a:spcPct val="0"/>
      </a:spcAft>
      <a:defRPr sz="22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632397" algn="ctr" rtl="0" fontAlgn="base">
      <a:spcBef>
        <a:spcPct val="0"/>
      </a:spcBef>
      <a:spcAft>
        <a:spcPct val="0"/>
      </a:spcAft>
      <a:defRPr sz="22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040496" algn="l" defTabSz="816198" rtl="0" eaLnBrk="1" latinLnBrk="0" hangingPunct="1">
      <a:defRPr sz="22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448595" algn="l" defTabSz="816198" rtl="0" eaLnBrk="1" latinLnBrk="0" hangingPunct="1">
      <a:defRPr sz="22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2856695" algn="l" defTabSz="816198" rtl="0" eaLnBrk="1" latinLnBrk="0" hangingPunct="1">
      <a:defRPr sz="22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264795" algn="l" defTabSz="816198" rtl="0" eaLnBrk="1" latinLnBrk="0" hangingPunct="1">
      <a:defRPr sz="22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89" userDrawn="1">
          <p15:clr>
            <a:srgbClr val="A4A3A4"/>
          </p15:clr>
        </p15:guide>
        <p15:guide id="2" pos="4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451" userDrawn="1">
          <p15:clr>
            <a:srgbClr val="A4A3A4"/>
          </p15:clr>
        </p15:guide>
        <p15:guide id="2" pos="48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DCFF"/>
    <a:srgbClr val="38CBFF"/>
    <a:srgbClr val="0069BA"/>
    <a:srgbClr val="D9D9D9"/>
    <a:srgbClr val="666666"/>
    <a:srgbClr val="67A6D6"/>
    <a:srgbClr val="38D2FF"/>
    <a:srgbClr val="0162AF"/>
    <a:srgbClr val="0099FC"/>
    <a:srgbClr val="008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608270-3E4F-4599-BAC3-1A8631E08957}" v="41" dt="2024-02-07T15:21:53.3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3189"/>
        <p:guide pos="49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451"/>
        <p:guide pos="48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6" tIns="47174" rIns="94346" bIns="47174" numCol="1" anchor="t" anchorCtr="0" compatLnSpc="1">
            <a:prstTxWarp prst="textNoShape">
              <a:avLst/>
            </a:prstTxWarp>
          </a:bodyPr>
          <a:lstStyle>
            <a:lvl1pPr algn="l" defTabSz="942975">
              <a:defRPr sz="1200" b="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3515" y="0"/>
            <a:ext cx="3036887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6" tIns="47174" rIns="94346" bIns="47174" numCol="1" anchor="t" anchorCtr="0" compatLnSpc="1">
            <a:prstTxWarp prst="textNoShape">
              <a:avLst/>
            </a:prstTxWarp>
          </a:bodyPr>
          <a:lstStyle>
            <a:lvl1pPr algn="r" defTabSz="942975">
              <a:defRPr sz="1200" b="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5"/>
            <a:ext cx="3036888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6" tIns="47174" rIns="94346" bIns="47174" numCol="1" anchor="b" anchorCtr="0" compatLnSpc="1">
            <a:prstTxWarp prst="textNoShape">
              <a:avLst/>
            </a:prstTxWarp>
          </a:bodyPr>
          <a:lstStyle>
            <a:lvl1pPr algn="l" defTabSz="942975">
              <a:defRPr sz="1200" b="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3515" y="8831265"/>
            <a:ext cx="3036887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6" tIns="47174" rIns="94346" bIns="47174" numCol="1" anchor="b" anchorCtr="0" compatLnSpc="1">
            <a:prstTxWarp prst="textNoShape">
              <a:avLst/>
            </a:prstTxWarp>
          </a:bodyPr>
          <a:lstStyle>
            <a:lvl1pPr algn="r" defTabSz="942975">
              <a:defRPr sz="1200" b="0">
                <a:effectLst/>
              </a:defRPr>
            </a:lvl1pPr>
          </a:lstStyle>
          <a:p>
            <a:pPr>
              <a:defRPr/>
            </a:pPr>
            <a:fld id="{C59446E6-623F-4A85-BB81-2698EC7EDC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1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3225" y="304800"/>
            <a:ext cx="6203950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3588" y="3890965"/>
            <a:ext cx="6246812" cy="5405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6" tIns="47174" rIns="94346" bIns="4717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5" y="0"/>
            <a:ext cx="303688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6" tIns="47174" rIns="94346" bIns="47174" numCol="1" anchor="b" anchorCtr="0" compatLnSpc="1">
            <a:prstTxWarp prst="textNoShape">
              <a:avLst/>
            </a:prstTxWarp>
          </a:bodyPr>
          <a:lstStyle>
            <a:lvl1pPr algn="r" defTabSz="942975">
              <a:defRPr sz="2000" b="0">
                <a:effectLst/>
              </a:defRPr>
            </a:lvl1pPr>
          </a:lstStyle>
          <a:p>
            <a:pPr>
              <a:defRPr/>
            </a:pPr>
            <a:fld id="{C8878B05-A745-43B0-BE1B-8492D4054C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132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5000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+mn-ea"/>
        <a:cs typeface="+mn-cs"/>
      </a:defRPr>
    </a:lvl1pPr>
    <a:lvl2pPr marL="202633" algn="l" rtl="0" eaLnBrk="0" fontAlgn="base" hangingPunct="0">
      <a:spcBef>
        <a:spcPct val="5000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+mn-ea"/>
        <a:cs typeface="+mn-cs"/>
      </a:defRPr>
    </a:lvl2pPr>
    <a:lvl3pPr marL="406683" algn="l" rtl="0" eaLnBrk="0" fontAlgn="base" hangingPunct="0">
      <a:spcBef>
        <a:spcPct val="5000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+mn-ea"/>
        <a:cs typeface="+mn-cs"/>
      </a:defRPr>
    </a:lvl3pPr>
    <a:lvl4pPr marL="609314" algn="l" rtl="0" eaLnBrk="0" fontAlgn="base" hangingPunct="0">
      <a:spcBef>
        <a:spcPct val="5000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+mn-ea"/>
        <a:cs typeface="+mn-cs"/>
      </a:defRPr>
    </a:lvl4pPr>
    <a:lvl5pPr marL="813365" algn="l" rtl="0" eaLnBrk="0" fontAlgn="base" hangingPunct="0">
      <a:spcBef>
        <a:spcPct val="5000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+mn-ea"/>
        <a:cs typeface="+mn-cs"/>
      </a:defRPr>
    </a:lvl5pPr>
    <a:lvl6pPr marL="2040496" algn="l" defTabSz="816198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448595" algn="l" defTabSz="816198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856695" algn="l" defTabSz="816198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264795" algn="l" defTabSz="816198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B700EF-7BC3-93B0-67A6-0F2DBE42D2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"/>
            <a:ext cx="7315200" cy="594360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bg1"/>
                </a:solidFill>
                <a:latin typeface="Agency FB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FE011DA-AF1C-B2E3-1F36-F95BA7CA497C}"/>
              </a:ext>
            </a:extLst>
          </p:cNvPr>
          <p:cNvGrpSpPr/>
          <p:nvPr userDrawn="1"/>
        </p:nvGrpSpPr>
        <p:grpSpPr>
          <a:xfrm>
            <a:off x="0" y="4583371"/>
            <a:ext cx="9144000" cy="568013"/>
            <a:chOff x="-1250" y="4583380"/>
            <a:chExt cx="9161273" cy="57017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5F2723D-2DA4-D274-0BE5-23373CD9BC6C}"/>
                </a:ext>
              </a:extLst>
            </p:cNvPr>
            <p:cNvSpPr/>
            <p:nvPr/>
          </p:nvSpPr>
          <p:spPr>
            <a:xfrm>
              <a:off x="-1250" y="4587667"/>
              <a:ext cx="9161272" cy="565889"/>
            </a:xfrm>
            <a:prstGeom prst="rect">
              <a:avLst/>
            </a:prstGeom>
            <a:gradFill flip="none" rotWithShape="1">
              <a:gsLst>
                <a:gs pos="100000">
                  <a:srgbClr val="0E1E2E"/>
                </a:gs>
                <a:gs pos="0">
                  <a:srgbClr val="243950">
                    <a:shade val="30000"/>
                    <a:satMod val="115000"/>
                  </a:srgbClr>
                </a:gs>
                <a:gs pos="53000">
                  <a:srgbClr val="24395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ABE3FE2-6EA9-5D9A-EDA0-D38303FF01C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-1249" y="4583380"/>
              <a:ext cx="91612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84DF"/>
              </a:solidFill>
              <a:prstDash val="solid"/>
              <a:round/>
              <a:headEnd type="none" w="med" len="med"/>
              <a:tailEnd type="none" w="med" len="med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</p:cxnSp>
      </p:grp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F8F8E9F-8DC0-E15E-284C-A5ACCE0568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3064" y="4897282"/>
            <a:ext cx="9144000" cy="2462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 dirty="0"/>
              <a:t>UNCLASSIFIED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18ADF7FD-D49A-DD94-46A7-101BEEF830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3064" y="0"/>
            <a:ext cx="9144000" cy="2462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 dirty="0"/>
              <a:t>UNCLASSIFIED</a:t>
            </a:r>
          </a:p>
        </p:txBody>
      </p: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3822150A-20F7-3CD5-EF1E-037B1E5BF8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558081"/>
            <a:ext cx="9144000" cy="3657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 i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1091661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No Content or Banne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B700EF-7BC3-93B0-67A6-0F2DBE42D2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"/>
            <a:ext cx="7315200" cy="594360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bg1"/>
                </a:solidFill>
                <a:latin typeface="Agency FB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F8F8E9F-8DC0-E15E-284C-A5ACCE0568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3064" y="4897282"/>
            <a:ext cx="9144000" cy="2462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 dirty="0"/>
              <a:t>UNCLASSIFIED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18ADF7FD-D49A-DD94-46A7-101BEEF830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3064" y="0"/>
            <a:ext cx="9144000" cy="2462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 dirty="0"/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3665311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E114046-BF73-1375-34F9-685E07C51881}"/>
              </a:ext>
            </a:extLst>
          </p:cNvPr>
          <p:cNvGrpSpPr/>
          <p:nvPr userDrawn="1"/>
        </p:nvGrpSpPr>
        <p:grpSpPr>
          <a:xfrm>
            <a:off x="0" y="4583371"/>
            <a:ext cx="9144000" cy="568013"/>
            <a:chOff x="-1250" y="4583380"/>
            <a:chExt cx="9161273" cy="57017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754D2C3-2199-C7F5-72B4-BC7D3FD3D2C3}"/>
                </a:ext>
              </a:extLst>
            </p:cNvPr>
            <p:cNvSpPr/>
            <p:nvPr/>
          </p:nvSpPr>
          <p:spPr>
            <a:xfrm>
              <a:off x="-1250" y="4587667"/>
              <a:ext cx="9161272" cy="565889"/>
            </a:xfrm>
            <a:prstGeom prst="rect">
              <a:avLst/>
            </a:prstGeom>
            <a:gradFill flip="none" rotWithShape="1">
              <a:gsLst>
                <a:gs pos="100000">
                  <a:srgbClr val="0E1E2E"/>
                </a:gs>
                <a:gs pos="0">
                  <a:srgbClr val="243950">
                    <a:shade val="30000"/>
                    <a:satMod val="115000"/>
                  </a:srgbClr>
                </a:gs>
                <a:gs pos="53000">
                  <a:srgbClr val="24395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764AD6-AE10-B8C2-A6D1-BB6A44AB6A8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-1249" y="4583380"/>
              <a:ext cx="91612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84DF"/>
              </a:solidFill>
              <a:prstDash val="solid"/>
              <a:round/>
              <a:headEnd type="none" w="med" len="med"/>
              <a:tailEnd type="none" w="med" len="med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</p:cxn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07B84-EFDB-B499-CFDA-DCCB207892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57350"/>
            <a:ext cx="9144000" cy="1828800"/>
          </a:xfrm>
          <a:prstGeom prst="rect">
            <a:avLst/>
          </a:prstGeom>
        </p:spPr>
        <p:txBody>
          <a:bodyPr anchor="ctr" anchorCtr="1"/>
          <a:lstStyle>
            <a:lvl1pPr marL="0" indent="0">
              <a:buNone/>
              <a:defRPr sz="4400" b="1">
                <a:latin typeface="Arial Narrow" panose="020B0606020202030204" pitchFamily="34" charset="0"/>
              </a:defRPr>
            </a:lvl1pPr>
            <a:lvl2pPr marL="408079" indent="0">
              <a:buNone/>
              <a:defRPr sz="20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400">
                <a:latin typeface="Arial Narrow" panose="020B0606020202030204" pitchFamily="34" charset="0"/>
              </a:defRPr>
            </a:lvl4pPr>
            <a:lvl5pPr>
              <a:defRPr sz="14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	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71C83AAB-F458-D696-1A5E-43109740EF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3064" y="4897282"/>
            <a:ext cx="9144000" cy="2462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 dirty="0"/>
              <a:t>UNCLASSIFIED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05D764A2-5D0F-A277-8796-141A243053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3064" y="0"/>
            <a:ext cx="9144000" cy="2462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 dirty="0"/>
              <a:t>UNCLASSIFIED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2B2232A-19D0-CFBD-734B-F6C6C468A8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558081"/>
            <a:ext cx="9144000" cy="3657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 i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617486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944F4F-8FB3-CF32-8CCD-8A06EF4610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63" y="0"/>
            <a:ext cx="9153640" cy="51435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4B32DF-1715-50A1-7086-4FC3BDC29F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10" y="3375712"/>
            <a:ext cx="3971925" cy="6365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BC168D89-20ED-4763-04B8-D310EFA55D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3064" y="4897282"/>
            <a:ext cx="9144000" cy="2462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 dirty="0"/>
              <a:t>UNCLASSIFIED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7C4E2CA-77B7-4383-5EFE-838F922CB5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3064" y="0"/>
            <a:ext cx="9144000" cy="2462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 dirty="0"/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2841694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76EEDA-EA8F-5A34-D456-FB3B36860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060" y="0"/>
            <a:ext cx="9148060" cy="5143500"/>
          </a:xfrm>
          <a:prstGeom prst="rect">
            <a:avLst/>
          </a:prstGeom>
        </p:spPr>
      </p:pic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0AFA666F-4B4D-EA7E-BE68-8D4BEF8DF5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3064" y="4897282"/>
            <a:ext cx="9144000" cy="2462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 dirty="0"/>
              <a:t>UNCLASSIFIED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EADC4FBA-FC20-B3BC-3E03-AF7215B748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3064" y="0"/>
            <a:ext cx="9144000" cy="2462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 dirty="0"/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687230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3AEF8547-8547-462F-BF77-963AB84670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846"/>
          <a:stretch/>
        </p:blipFill>
        <p:spPr>
          <a:xfrm>
            <a:off x="0" y="2"/>
            <a:ext cx="9144000" cy="10880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6D29C4-28B4-4046-94AE-A31972CD51B0}"/>
              </a:ext>
            </a:extLst>
          </p:cNvPr>
          <p:cNvSpPr txBox="1"/>
          <p:nvPr userDrawn="1"/>
        </p:nvSpPr>
        <p:spPr>
          <a:xfrm>
            <a:off x="6864706" y="828638"/>
            <a:ext cx="2663135" cy="220919"/>
          </a:xfrm>
          <a:prstGeom prst="rect">
            <a:avLst/>
          </a:prstGeom>
          <a:noFill/>
        </p:spPr>
        <p:txBody>
          <a:bodyPr wrap="square" lIns="81620" tIns="40811" rIns="81620" bIns="40811" rtlCol="0">
            <a:spAutoFit/>
          </a:bodyPr>
          <a:lstStyle/>
          <a:p>
            <a:r>
              <a:rPr lang="en-US" sz="900" spc="100">
                <a:solidFill>
                  <a:schemeClr val="bg1"/>
                </a:solidFill>
                <a:latin typeface="Arial"/>
                <a:ea typeface="Verdana" pitchFamily="34" charset="0"/>
                <a:cs typeface="Verdana" pitchFamily="34" charset="0"/>
              </a:rPr>
              <a:t>TOGETHER, WE DELIVER.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116C89-057A-5836-2495-9CE5BD7A3D8A}"/>
              </a:ext>
            </a:extLst>
          </p:cNvPr>
          <p:cNvSpPr txBox="1"/>
          <p:nvPr userDrawn="1"/>
        </p:nvSpPr>
        <p:spPr>
          <a:xfrm>
            <a:off x="6980634" y="-200055"/>
            <a:ext cx="22252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tx1"/>
                </a:solidFill>
                <a:latin typeface="Arial Narrow" panose="020B0606020202030204" pitchFamily="34" charset="0"/>
              </a:rPr>
              <a:t>SLIDE MASTER WIDESCREEN Version 1.2 </a:t>
            </a:r>
            <a:r>
              <a:rPr lang="en-US" sz="700" dirty="0" err="1">
                <a:solidFill>
                  <a:schemeClr val="tx1"/>
                </a:solidFill>
                <a:latin typeface="Arial Narrow" panose="020B0606020202030204" pitchFamily="34" charset="0"/>
              </a:rPr>
              <a:t>cao</a:t>
            </a:r>
            <a:r>
              <a:rPr lang="en-US" sz="700" dirty="0">
                <a:solidFill>
                  <a:schemeClr val="tx1"/>
                </a:solidFill>
                <a:latin typeface="Arial Narrow" panose="020B0606020202030204" pitchFamily="34" charset="0"/>
              </a:rPr>
              <a:t> 7 Feb 2024</a:t>
            </a:r>
          </a:p>
        </p:txBody>
      </p:sp>
    </p:spTree>
    <p:extLst>
      <p:ext uri="{BB962C8B-B14F-4D97-AF65-F5344CB8AC3E}">
        <p14:creationId xmlns:p14="http://schemas.microsoft.com/office/powerpoint/2010/main" val="78015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5" r:id="rId1"/>
    <p:sldLayoutId id="2147484136" r:id="rId2"/>
    <p:sldLayoutId id="2147484132" r:id="rId3"/>
    <p:sldLayoutId id="2147484133" r:id="rId4"/>
    <p:sldLayoutId id="2147484134" r:id="rId5"/>
  </p:sldLayoutIdLst>
  <p:hf hdr="0" dt="0"/>
  <p:txStyles>
    <p:titleStyle>
      <a:lvl1pPr algn="l" defTabSz="816158" rtl="0" eaLnBrk="1" latinLnBrk="0" hangingPunct="1">
        <a:spcBef>
          <a:spcPct val="0"/>
        </a:spcBef>
        <a:buNone/>
        <a:defRPr sz="29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6059" indent="-306059" algn="l" defTabSz="816158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3129" indent="-255050" algn="l" defTabSz="816158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0198" indent="-204039" algn="l" defTabSz="81615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28276" indent="-204039" algn="l" defTabSz="816158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36355" indent="-204039" algn="l" defTabSz="816158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44435" indent="-204039" algn="l" defTabSz="8161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2512" indent="-204039" algn="l" defTabSz="8161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60591" indent="-204039" algn="l" defTabSz="8161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68669" indent="-204039" algn="l" defTabSz="8161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15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079" algn="l" defTabSz="81615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158" algn="l" defTabSz="81615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237" algn="l" defTabSz="81615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315" algn="l" defTabSz="81615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394" algn="l" defTabSz="81615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8473" algn="l" defTabSz="81615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6551" algn="l" defTabSz="81615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4632" algn="l" defTabSz="81615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05B10F-9F26-D4D9-0DE1-119080A639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4882161"/>
            <a:ext cx="9144000" cy="24621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421EFA1-BD6E-C58F-F957-ECD934DCD8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11E7DE1-0D8D-44D3-E07F-B362614441CD}"/>
              </a:ext>
            </a:extLst>
          </p:cNvPr>
          <p:cNvCxnSpPr/>
          <p:nvPr/>
        </p:nvCxnSpPr>
        <p:spPr>
          <a:xfrm>
            <a:off x="258095" y="589623"/>
            <a:ext cx="873104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4810943-51AE-B869-9F6F-085BD0A7FE4F}"/>
              </a:ext>
            </a:extLst>
          </p:cNvPr>
          <p:cNvSpPr txBox="1"/>
          <p:nvPr/>
        </p:nvSpPr>
        <p:spPr>
          <a:xfrm>
            <a:off x="239661" y="152188"/>
            <a:ext cx="87679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Company Name – Project Title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BF1431-D14D-68B6-A462-7927CEB2D18C}"/>
              </a:ext>
            </a:extLst>
          </p:cNvPr>
          <p:cNvCxnSpPr/>
          <p:nvPr/>
        </p:nvCxnSpPr>
        <p:spPr>
          <a:xfrm>
            <a:off x="4550500" y="825080"/>
            <a:ext cx="18435" cy="4018936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EEBFFC8-3CB7-4957-71D8-C25CC38BC979}"/>
              </a:ext>
            </a:extLst>
          </p:cNvPr>
          <p:cNvCxnSpPr/>
          <p:nvPr/>
        </p:nvCxnSpPr>
        <p:spPr>
          <a:xfrm>
            <a:off x="114299" y="2763642"/>
            <a:ext cx="901863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FB537A2-1D3C-AC89-9C9B-B7AB27091F29}"/>
              </a:ext>
            </a:extLst>
          </p:cNvPr>
          <p:cNvSpPr txBox="1"/>
          <p:nvPr/>
        </p:nvSpPr>
        <p:spPr>
          <a:xfrm>
            <a:off x="4637737" y="707594"/>
            <a:ext cx="44663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u="sng" dirty="0"/>
              <a:t>Solution Approach</a:t>
            </a:r>
            <a:r>
              <a:rPr lang="en-US" sz="1200" u="sng"/>
              <a:t>:</a:t>
            </a:r>
            <a:r>
              <a:rPr lang="en-US" sz="1200"/>
              <a:t> </a:t>
            </a:r>
            <a:r>
              <a:rPr lang="en-US" sz="1200" b="0"/>
              <a:t>e</a:t>
            </a:r>
            <a:r>
              <a:rPr lang="en-US" sz="1200" b="0" dirty="0"/>
              <a:t>.g., Modify existing, new build, or other (</a:t>
            </a:r>
            <a:r>
              <a:rPr lang="en-US" sz="1200" b="0" u="sng" dirty="0"/>
              <a:t>&gt;</a:t>
            </a:r>
            <a:r>
              <a:rPr lang="en-US" sz="1200" b="0" dirty="0"/>
              <a:t>12pt font) </a:t>
            </a:r>
          </a:p>
          <a:p>
            <a:pPr algn="l"/>
            <a:endParaRPr lang="en-US" sz="1200" b="0" dirty="0"/>
          </a:p>
          <a:p>
            <a:pPr algn="l"/>
            <a:endParaRPr lang="en-US" sz="1200" b="0" dirty="0"/>
          </a:p>
          <a:p>
            <a:pPr algn="l"/>
            <a:endParaRPr lang="en-US" sz="1200" b="0" dirty="0"/>
          </a:p>
          <a:p>
            <a:pPr algn="l"/>
            <a:r>
              <a:rPr lang="en-US" sz="1200" u="sng" dirty="0"/>
              <a:t>State of Solution:</a:t>
            </a:r>
            <a:r>
              <a:rPr lang="en-US" sz="1200" dirty="0"/>
              <a:t> </a:t>
            </a:r>
            <a:r>
              <a:rPr lang="en-US" sz="1200" b="0" dirty="0"/>
              <a:t>Description of the current state of the solution or technology proposed (e.g., technology maturation or technology readiness level) (</a:t>
            </a:r>
            <a:r>
              <a:rPr lang="en-US" sz="1200" b="0" u="sng" dirty="0"/>
              <a:t>&gt;</a:t>
            </a:r>
            <a:r>
              <a:rPr lang="en-US" sz="1200" b="0" dirty="0"/>
              <a:t>12pt font)</a:t>
            </a:r>
            <a:endParaRPr lang="en-US" sz="1200" b="0" u="sng" dirty="0"/>
          </a:p>
          <a:p>
            <a:pPr algn="l"/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8AE158-CA94-9D92-D040-2E097EBD5CA4}"/>
              </a:ext>
            </a:extLst>
          </p:cNvPr>
          <p:cNvSpPr txBox="1"/>
          <p:nvPr/>
        </p:nvSpPr>
        <p:spPr>
          <a:xfrm>
            <a:off x="39932" y="2810571"/>
            <a:ext cx="4553565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u="sng" dirty="0"/>
              <a:t>Benefits:</a:t>
            </a:r>
            <a:r>
              <a:rPr lang="en-US" sz="1200" dirty="0"/>
              <a:t> </a:t>
            </a:r>
            <a:r>
              <a:rPr lang="en-US" sz="1200" b="0" dirty="0"/>
              <a:t>Brief statement that identifies the advantages of the proposed solution in relation to the AoI it is addressing</a:t>
            </a:r>
            <a:r>
              <a:rPr lang="en-US" sz="1200" dirty="0"/>
              <a:t> </a:t>
            </a:r>
            <a:r>
              <a:rPr lang="en-US" sz="1200" b="0" dirty="0"/>
              <a:t>(</a:t>
            </a:r>
            <a:r>
              <a:rPr lang="en-US" sz="1200" b="0" u="sng" dirty="0"/>
              <a:t>&gt;</a:t>
            </a:r>
            <a:r>
              <a:rPr lang="en-US" sz="1200" b="0" dirty="0"/>
              <a:t>12pt font)</a:t>
            </a:r>
          </a:p>
          <a:p>
            <a:pPr algn="l"/>
            <a:endParaRPr lang="en-US" sz="1200" b="0" u="sng" dirty="0"/>
          </a:p>
          <a:p>
            <a:pPr algn="l"/>
            <a:endParaRPr lang="en-US" sz="1200" b="0" u="sng" dirty="0"/>
          </a:p>
          <a:p>
            <a:pPr algn="l"/>
            <a:endParaRPr lang="en-US" sz="1200" b="0" u="sng" dirty="0"/>
          </a:p>
          <a:p>
            <a:pPr algn="l"/>
            <a:r>
              <a:rPr lang="en-US" sz="1200" u="sng" dirty="0"/>
              <a:t>Challenges: </a:t>
            </a:r>
            <a:endParaRPr lang="en-US" sz="1200" b="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/>
              <a:t>Bulleted list of technical or timeline challenges (</a:t>
            </a:r>
            <a:r>
              <a:rPr lang="en-US" sz="1200" b="0" u="sng" dirty="0"/>
              <a:t>&gt;</a:t>
            </a:r>
            <a:r>
              <a:rPr lang="en-US" sz="1200" b="0" dirty="0"/>
              <a:t>12pt font)</a:t>
            </a:r>
            <a:endParaRPr lang="en-US" sz="1200" b="0" u="sng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/>
          </a:p>
          <a:p>
            <a:pPr algn="l"/>
            <a:endParaRPr lang="en-US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E9AE6B-FA58-8091-33FC-9E5EA4852469}"/>
              </a:ext>
            </a:extLst>
          </p:cNvPr>
          <p:cNvSpPr txBox="1"/>
          <p:nvPr/>
        </p:nvSpPr>
        <p:spPr>
          <a:xfrm>
            <a:off x="4637737" y="2834548"/>
            <a:ext cx="4466327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u="sng" dirty="0"/>
              <a:t>Major Milestones to Capability Delivery (Based on FY)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/>
              <a:t>Bulleted list must include major milestones and anticipated delivery dates of functioning capability (</a:t>
            </a:r>
            <a:r>
              <a:rPr lang="en-US" sz="1200" b="0" u="sng" dirty="0"/>
              <a:t>&gt;</a:t>
            </a:r>
            <a:r>
              <a:rPr lang="en-US" sz="1200" b="0" dirty="0"/>
              <a:t>12pt font)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b="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b="0" dirty="0"/>
          </a:p>
          <a:p>
            <a:pPr algn="l"/>
            <a:r>
              <a:rPr lang="en-US" sz="1200" u="sng" dirty="0"/>
              <a:t>Rough Order Magnitude:</a:t>
            </a:r>
            <a:r>
              <a:rPr lang="en-US" sz="1200" dirty="0"/>
              <a:t> </a:t>
            </a:r>
            <a:r>
              <a:rPr lang="en-US" sz="1200" b="0" dirty="0"/>
              <a:t>Insert dollars/Government Fiscal Year (FY)</a:t>
            </a:r>
          </a:p>
          <a:p>
            <a:pPr algn="l"/>
            <a:endParaRPr lang="en-US" sz="1100" b="0" dirty="0"/>
          </a:p>
          <a:p>
            <a:pPr algn="l"/>
            <a:endParaRPr lang="en-US" sz="1100" b="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E489BC-8035-84A3-BDE8-F6CB82D916BC}"/>
              </a:ext>
            </a:extLst>
          </p:cNvPr>
          <p:cNvCxnSpPr/>
          <p:nvPr/>
        </p:nvCxnSpPr>
        <p:spPr>
          <a:xfrm>
            <a:off x="569041" y="4923841"/>
            <a:ext cx="873104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11509A2-764B-462D-7CEB-974E9F380795}"/>
              </a:ext>
            </a:extLst>
          </p:cNvPr>
          <p:cNvSpPr txBox="1"/>
          <p:nvPr/>
        </p:nvSpPr>
        <p:spPr>
          <a:xfrm>
            <a:off x="50990" y="710004"/>
            <a:ext cx="439196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u="sng" dirty="0"/>
              <a:t>Objective:</a:t>
            </a:r>
            <a:r>
              <a:rPr lang="en-US" sz="1200" dirty="0"/>
              <a:t> </a:t>
            </a:r>
            <a:r>
              <a:rPr lang="en-US" sz="1200" b="0" dirty="0"/>
              <a:t>Clear, concise (1-2 Sentences) description of the goal of the effort. Which AoI is this addressing? (</a:t>
            </a:r>
            <a:r>
              <a:rPr lang="en-US" sz="1200" b="0" u="sng" dirty="0"/>
              <a:t>&gt;</a:t>
            </a:r>
            <a:r>
              <a:rPr lang="en-US" sz="1200" b="0" dirty="0"/>
              <a:t>12pt font)</a:t>
            </a:r>
          </a:p>
          <a:p>
            <a:pPr algn="l"/>
            <a:endParaRPr lang="en-US" sz="1200" dirty="0"/>
          </a:p>
          <a:p>
            <a:pPr algn="l"/>
            <a:endParaRPr lang="en-US" sz="1200" dirty="0"/>
          </a:p>
          <a:p>
            <a:pPr algn="l"/>
            <a:endParaRPr lang="en-US" sz="1200" dirty="0"/>
          </a:p>
          <a:p>
            <a:pPr algn="l"/>
            <a:r>
              <a:rPr lang="en-US" sz="1200" u="sng" dirty="0"/>
              <a:t>Description of Effort: </a:t>
            </a:r>
            <a:r>
              <a:rPr lang="en-US" sz="1200" b="0" dirty="0"/>
              <a:t>Brief description of the solution or capability’s technology, process, or method. Must describe how this capability is innovative (</a:t>
            </a:r>
            <a:r>
              <a:rPr lang="en-US" sz="1200" b="0" u="sng" dirty="0"/>
              <a:t>&gt;</a:t>
            </a:r>
            <a:r>
              <a:rPr lang="en-US" sz="1200" b="0" dirty="0"/>
              <a:t>12pt font)</a:t>
            </a:r>
            <a:endParaRPr lang="en-US" sz="1200" b="0" u="sng" dirty="0"/>
          </a:p>
          <a:p>
            <a:pPr algn="l"/>
            <a:r>
              <a:rPr lang="en-US" sz="1100" dirty="0"/>
              <a:t> 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F5239CA2-2ACA-4BAB-DA24-E0BDB7D52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951077"/>
              </p:ext>
            </p:extLst>
          </p:nvPr>
        </p:nvGraphicFramePr>
        <p:xfrm>
          <a:off x="5042100" y="4274351"/>
          <a:ext cx="3657600" cy="4191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80918903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8280391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610997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02185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597092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9623109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Year 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Year 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Year 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Year 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Year 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49905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095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889686"/>
      </p:ext>
    </p:extLst>
  </p:cSld>
  <p:clrMapOvr>
    <a:masterClrMapping/>
  </p:clrMapOvr>
</p:sld>
</file>

<file path=ppt/theme/theme1.xml><?xml version="1.0" encoding="utf-8"?>
<a:theme xmlns:a="http://schemas.openxmlformats.org/drawingml/2006/main" name="9_Office Theme">
  <a:themeElements>
    <a:clrScheme name="USTRANSCOM Theme">
      <a:dk1>
        <a:sysClr val="windowText" lastClr="000000"/>
      </a:dk1>
      <a:lt1>
        <a:sysClr val="window" lastClr="FFFFFF"/>
      </a:lt1>
      <a:dk2>
        <a:srgbClr val="002060"/>
      </a:dk2>
      <a:lt2>
        <a:srgbClr val="B4B66E"/>
      </a:lt2>
      <a:accent1>
        <a:srgbClr val="910909"/>
      </a:accent1>
      <a:accent2>
        <a:srgbClr val="E48012"/>
      </a:accent2>
      <a:accent3>
        <a:srgbClr val="336633"/>
      </a:accent3>
      <a:accent4>
        <a:srgbClr val="006699"/>
      </a:accent4>
      <a:accent5>
        <a:srgbClr val="845284"/>
      </a:accent5>
      <a:accent6>
        <a:srgbClr val="660066"/>
      </a:accent6>
      <a:hlink>
        <a:srgbClr val="6565FF"/>
      </a:hlink>
      <a:folHlink>
        <a:srgbClr val="CBCB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roup xmlns="63a4797c-0617-42eb-a643-a9371eb3a47a">Briefing And Meeting Templates</Group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006B3A57B0A74D96354D0238B3225D" ma:contentTypeVersion="7" ma:contentTypeDescription="Create a new document." ma:contentTypeScope="" ma:versionID="68a1d3ae3af9b2ce860bfdd652788448">
  <xsd:schema xmlns:xsd="http://www.w3.org/2001/XMLSchema" xmlns:xs="http://www.w3.org/2001/XMLSchema" xmlns:p="http://schemas.microsoft.com/office/2006/metadata/properties" xmlns:ns2="63a4797c-0617-42eb-a643-a9371eb3a47a" targetNamespace="http://schemas.microsoft.com/office/2006/metadata/properties" ma:root="true" ma:fieldsID="c9ea258d1fc9a3bcb7bdc8c079d510cd" ns2:_="">
    <xsd:import namespace="63a4797c-0617-42eb-a643-a9371eb3a47a"/>
    <xsd:element name="properties">
      <xsd:complexType>
        <xsd:sequence>
          <xsd:element name="documentManagement">
            <xsd:complexType>
              <xsd:all>
                <xsd:element ref="ns2:Group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a4797c-0617-42eb-a643-a9371eb3a47a" elementFormDefault="qualified">
    <xsd:import namespace="http://schemas.microsoft.com/office/2006/documentManagement/types"/>
    <xsd:import namespace="http://schemas.microsoft.com/office/infopath/2007/PartnerControls"/>
    <xsd:element name="Group" ma:index="8" nillable="true" ma:displayName="Group" ma:format="Dropdown" ma:internalName="Group">
      <xsd:simpleType>
        <xsd:restriction base="dms:Choice">
          <xsd:enumeration value="TCCC Templates"/>
          <xsd:enumeration value="TCDC Templates"/>
          <xsd:enumeration value="TCCS Templates"/>
          <xsd:enumeration value="Command Templates"/>
          <xsd:enumeration value="Briefing And Meeting Templates"/>
          <xsd:enumeration value="Quick Knowledge"/>
          <xsd:enumeration value="How to Guides"/>
          <xsd:enumeration value="Other"/>
          <xsd:enumeration value="Attachments and Links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A9CBE8-DFE6-47DC-BDEB-E7E4A80AD24F}">
  <ds:schemaRefs>
    <ds:schemaRef ds:uri="http://schemas.microsoft.com/office/2006/metadata/properties"/>
    <ds:schemaRef ds:uri="http://schemas.microsoft.com/office/infopath/2007/PartnerControls"/>
    <ds:schemaRef ds:uri="63a4797c-0617-42eb-a643-a9371eb3a47a"/>
  </ds:schemaRefs>
</ds:datastoreItem>
</file>

<file path=customXml/itemProps2.xml><?xml version="1.0" encoding="utf-8"?>
<ds:datastoreItem xmlns:ds="http://schemas.openxmlformats.org/officeDocument/2006/customXml" ds:itemID="{17A8B3A1-2509-4E52-8088-75A1A275A2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12451B-82AB-474E-8320-B511138FBE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a4797c-0617-42eb-a643-a9371eb3a47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Designs\Global.pot</Template>
  <TotalTime>122</TotalTime>
  <Words>206</Words>
  <Application>Microsoft Office PowerPoint</Application>
  <PresentationFormat>On-screen Show (16:9)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Agency FB</vt:lpstr>
      <vt:lpstr>Aptos Narrow</vt:lpstr>
      <vt:lpstr>Arial</vt:lpstr>
      <vt:lpstr>Arial Narrow</vt:lpstr>
      <vt:lpstr>Calibri</vt:lpstr>
      <vt:lpstr>Times New Roman</vt:lpstr>
      <vt:lpstr>9_Office Theme</vt:lpstr>
      <vt:lpstr>PowerPoint Presentation</vt:lpstr>
    </vt:vector>
  </TitlesOfParts>
  <Company>USTRANSCOM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testuser</dc:creator>
  <cp:lastModifiedBy>Hill, Darrah M CIV TRANSCOM TCAQ (USA)</cp:lastModifiedBy>
  <cp:revision>8</cp:revision>
  <cp:lastPrinted>2021-10-07T19:40:14Z</cp:lastPrinted>
  <dcterms:created xsi:type="dcterms:W3CDTF">2002-03-06T21:25:14Z</dcterms:created>
  <dcterms:modified xsi:type="dcterms:W3CDTF">2025-08-04T18:20:01Z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0x01010040006B3A57B0A74D96354D0238B3225D</vt:lpwstr>
  </property>
</Properties>
</file>