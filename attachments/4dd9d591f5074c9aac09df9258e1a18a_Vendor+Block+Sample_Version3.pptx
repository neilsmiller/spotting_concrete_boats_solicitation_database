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7" d="100"/>
          <a:sy n="77" d="100"/>
        </p:scale>
        <p:origin x="1320" y="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3D2A2C6-01ED-4F13-AE9A-7B1B2403AB45}" type="datetimeFigureOut">
              <a:rPr lang="en-US" smtClean="0"/>
              <a:t>6/19/2018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0676389-CC43-4715-BD93-E1605D63AB5A}" type="slidenum">
              <a:rPr lang="en-US" smtClean="0"/>
              <a:t>‹#›</a:t>
            </a:fld>
            <a:endParaRPr lang="en-US"/>
          </a:p>
        </p:txBody>
      </p:sp>
    </p:spTree>
    <p:extLst>
      <p:ext uri="{BB962C8B-B14F-4D97-AF65-F5344CB8AC3E}">
        <p14:creationId xmlns:p14="http://schemas.microsoft.com/office/powerpoint/2010/main" val="33318105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0676389-CC43-4715-BD93-E1605D63AB5A}" type="slidenum">
              <a:rPr lang="en-US" smtClean="0"/>
              <a:t>1</a:t>
            </a:fld>
            <a:endParaRPr lang="en-US"/>
          </a:p>
        </p:txBody>
      </p:sp>
    </p:spTree>
    <p:extLst>
      <p:ext uri="{BB962C8B-B14F-4D97-AF65-F5344CB8AC3E}">
        <p14:creationId xmlns:p14="http://schemas.microsoft.com/office/powerpoint/2010/main" val="17202198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7D50B64-63D6-43E1-B667-5BD8ADF6CD11}" type="datetimeFigureOut">
              <a:rPr lang="en-US" smtClean="0"/>
              <a:t>6/19/2018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495D5C-228E-4CE4-BC9F-EBC58C87ED38}" type="slidenum">
              <a:rPr lang="en-US" smtClean="0"/>
              <a:t>‹#›</a:t>
            </a:fld>
            <a:endParaRPr lang="en-US"/>
          </a:p>
        </p:txBody>
      </p:sp>
    </p:spTree>
    <p:extLst>
      <p:ext uri="{BB962C8B-B14F-4D97-AF65-F5344CB8AC3E}">
        <p14:creationId xmlns:p14="http://schemas.microsoft.com/office/powerpoint/2010/main" val="25191610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7D50B64-63D6-43E1-B667-5BD8ADF6CD11}" type="datetimeFigureOut">
              <a:rPr lang="en-US" smtClean="0"/>
              <a:t>6/19/2018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495D5C-228E-4CE4-BC9F-EBC58C87ED38}" type="slidenum">
              <a:rPr lang="en-US" smtClean="0"/>
              <a:t>‹#›</a:t>
            </a:fld>
            <a:endParaRPr lang="en-US"/>
          </a:p>
        </p:txBody>
      </p:sp>
    </p:spTree>
    <p:extLst>
      <p:ext uri="{BB962C8B-B14F-4D97-AF65-F5344CB8AC3E}">
        <p14:creationId xmlns:p14="http://schemas.microsoft.com/office/powerpoint/2010/main" val="377996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7D50B64-63D6-43E1-B667-5BD8ADF6CD11}" type="datetimeFigureOut">
              <a:rPr lang="en-US" smtClean="0"/>
              <a:t>6/19/2018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495D5C-228E-4CE4-BC9F-EBC58C87ED38}" type="slidenum">
              <a:rPr lang="en-US" smtClean="0"/>
              <a:t>‹#›</a:t>
            </a:fld>
            <a:endParaRPr lang="en-US"/>
          </a:p>
        </p:txBody>
      </p:sp>
    </p:spTree>
    <p:extLst>
      <p:ext uri="{BB962C8B-B14F-4D97-AF65-F5344CB8AC3E}">
        <p14:creationId xmlns:p14="http://schemas.microsoft.com/office/powerpoint/2010/main" val="38125726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7D50B64-63D6-43E1-B667-5BD8ADF6CD11}" type="datetimeFigureOut">
              <a:rPr lang="en-US" smtClean="0"/>
              <a:t>6/19/2018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495D5C-228E-4CE4-BC9F-EBC58C87ED38}" type="slidenum">
              <a:rPr lang="en-US" smtClean="0"/>
              <a:t>‹#›</a:t>
            </a:fld>
            <a:endParaRPr lang="en-US"/>
          </a:p>
        </p:txBody>
      </p:sp>
    </p:spTree>
    <p:extLst>
      <p:ext uri="{BB962C8B-B14F-4D97-AF65-F5344CB8AC3E}">
        <p14:creationId xmlns:p14="http://schemas.microsoft.com/office/powerpoint/2010/main" val="26983921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7D50B64-63D6-43E1-B667-5BD8ADF6CD11}" type="datetimeFigureOut">
              <a:rPr lang="en-US" smtClean="0"/>
              <a:t>6/19/2018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C495D5C-228E-4CE4-BC9F-EBC58C87ED38}" type="slidenum">
              <a:rPr lang="en-US" smtClean="0"/>
              <a:t>‹#›</a:t>
            </a:fld>
            <a:endParaRPr lang="en-US"/>
          </a:p>
        </p:txBody>
      </p:sp>
    </p:spTree>
    <p:extLst>
      <p:ext uri="{BB962C8B-B14F-4D97-AF65-F5344CB8AC3E}">
        <p14:creationId xmlns:p14="http://schemas.microsoft.com/office/powerpoint/2010/main" val="11165685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7D50B64-63D6-43E1-B667-5BD8ADF6CD11}" type="datetimeFigureOut">
              <a:rPr lang="en-US" smtClean="0"/>
              <a:t>6/19/2018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C495D5C-228E-4CE4-BC9F-EBC58C87ED38}" type="slidenum">
              <a:rPr lang="en-US" smtClean="0"/>
              <a:t>‹#›</a:t>
            </a:fld>
            <a:endParaRPr lang="en-US"/>
          </a:p>
        </p:txBody>
      </p:sp>
    </p:spTree>
    <p:extLst>
      <p:ext uri="{BB962C8B-B14F-4D97-AF65-F5344CB8AC3E}">
        <p14:creationId xmlns:p14="http://schemas.microsoft.com/office/powerpoint/2010/main" val="32598806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D50B64-63D6-43E1-B667-5BD8ADF6CD11}" type="datetimeFigureOut">
              <a:rPr lang="en-US" smtClean="0"/>
              <a:t>6/19/2018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C495D5C-228E-4CE4-BC9F-EBC58C87ED38}" type="slidenum">
              <a:rPr lang="en-US" smtClean="0"/>
              <a:t>‹#›</a:t>
            </a:fld>
            <a:endParaRPr lang="en-US"/>
          </a:p>
        </p:txBody>
      </p:sp>
    </p:spTree>
    <p:extLst>
      <p:ext uri="{BB962C8B-B14F-4D97-AF65-F5344CB8AC3E}">
        <p14:creationId xmlns:p14="http://schemas.microsoft.com/office/powerpoint/2010/main" val="34192318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7D50B64-63D6-43E1-B667-5BD8ADF6CD11}" type="datetimeFigureOut">
              <a:rPr lang="en-US" smtClean="0"/>
              <a:t>6/19/2018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495D5C-228E-4CE4-BC9F-EBC58C87ED38}" type="slidenum">
              <a:rPr lang="en-US" smtClean="0"/>
              <a:t>‹#›</a:t>
            </a:fld>
            <a:endParaRPr lang="en-US"/>
          </a:p>
        </p:txBody>
      </p:sp>
    </p:spTree>
    <p:extLst>
      <p:ext uri="{BB962C8B-B14F-4D97-AF65-F5344CB8AC3E}">
        <p14:creationId xmlns:p14="http://schemas.microsoft.com/office/powerpoint/2010/main" val="673043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7D50B64-63D6-43E1-B667-5BD8ADF6CD11}" type="datetimeFigureOut">
              <a:rPr lang="en-US" smtClean="0"/>
              <a:t>6/19/2018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495D5C-228E-4CE4-BC9F-EBC58C87ED38}" type="slidenum">
              <a:rPr lang="en-US" smtClean="0"/>
              <a:t>‹#›</a:t>
            </a:fld>
            <a:endParaRPr lang="en-US"/>
          </a:p>
        </p:txBody>
      </p:sp>
    </p:spTree>
    <p:extLst>
      <p:ext uri="{BB962C8B-B14F-4D97-AF65-F5344CB8AC3E}">
        <p14:creationId xmlns:p14="http://schemas.microsoft.com/office/powerpoint/2010/main" val="4032144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7D50B64-63D6-43E1-B667-5BD8ADF6CD11}" type="datetimeFigureOut">
              <a:rPr lang="en-US" smtClean="0"/>
              <a:t>6/19/2018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495D5C-228E-4CE4-BC9F-EBC58C87ED38}" type="slidenum">
              <a:rPr lang="en-US" smtClean="0"/>
              <a:t>‹#›</a:t>
            </a:fld>
            <a:endParaRPr lang="en-US"/>
          </a:p>
        </p:txBody>
      </p:sp>
    </p:spTree>
    <p:extLst>
      <p:ext uri="{BB962C8B-B14F-4D97-AF65-F5344CB8AC3E}">
        <p14:creationId xmlns:p14="http://schemas.microsoft.com/office/powerpoint/2010/main" val="26226244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7D50B64-63D6-43E1-B667-5BD8ADF6CD11}" type="datetimeFigureOut">
              <a:rPr lang="en-US" smtClean="0"/>
              <a:t>6/19/2018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495D5C-228E-4CE4-BC9F-EBC58C87ED38}" type="slidenum">
              <a:rPr lang="en-US" smtClean="0"/>
              <a:t>‹#›</a:t>
            </a:fld>
            <a:endParaRPr lang="en-US"/>
          </a:p>
        </p:txBody>
      </p:sp>
    </p:spTree>
    <p:extLst>
      <p:ext uri="{BB962C8B-B14F-4D97-AF65-F5344CB8AC3E}">
        <p14:creationId xmlns:p14="http://schemas.microsoft.com/office/powerpoint/2010/main" val="42220360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D50B64-63D6-43E1-B667-5BD8ADF6CD11}" type="datetimeFigureOut">
              <a:rPr lang="en-US" smtClean="0"/>
              <a:t>6/19/2018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495D5C-228E-4CE4-BC9F-EBC58C87ED38}" type="slidenum">
              <a:rPr lang="en-US" smtClean="0"/>
              <a:t>‹#›</a:t>
            </a:fld>
            <a:endParaRPr lang="en-US"/>
          </a:p>
        </p:txBody>
      </p:sp>
    </p:spTree>
    <p:extLst>
      <p:ext uri="{BB962C8B-B14F-4D97-AF65-F5344CB8AC3E}">
        <p14:creationId xmlns:p14="http://schemas.microsoft.com/office/powerpoint/2010/main" val="31362337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4300" y="152400"/>
            <a:ext cx="8839200" cy="914400"/>
          </a:xfrm>
          <a:ln w="19050" cap="sq">
            <a:solidFill>
              <a:srgbClr val="002060"/>
            </a:solidFill>
            <a:prstDash val="sysDash"/>
          </a:ln>
        </p:spPr>
        <p:txBody>
          <a:bodyPr>
            <a:normAutofit/>
          </a:bodyPr>
          <a:lstStyle/>
          <a:p>
            <a:pPr algn="l"/>
            <a:r>
              <a:rPr lang="en-US" sz="1800" b="1" dirty="0" smtClean="0"/>
              <a:t>   </a:t>
            </a:r>
            <a:r>
              <a:rPr lang="en-US" sz="2000" b="1" u="sng" dirty="0" smtClean="0"/>
              <a:t>Scott AFB / 2.5GB Wave Service</a:t>
            </a:r>
            <a:r>
              <a:rPr lang="en-US" sz="1800" b="1" dirty="0" smtClean="0"/>
              <a:t/>
            </a:r>
            <a:br>
              <a:rPr lang="en-US" sz="1800" b="1" dirty="0" smtClean="0"/>
            </a:br>
            <a:r>
              <a:rPr lang="en-US" sz="1800" b="1" dirty="0" smtClean="0"/>
              <a:t>- </a:t>
            </a:r>
            <a:r>
              <a:rPr lang="en-US" sz="1600" b="1" dirty="0" smtClean="0"/>
              <a:t>TSR SG25FEB160001 / </a:t>
            </a:r>
            <a:r>
              <a:rPr lang="en-US" sz="1600" b="1" dirty="0" err="1" smtClean="0"/>
              <a:t>Bldg</a:t>
            </a:r>
            <a:r>
              <a:rPr lang="en-US" sz="1600" b="1" dirty="0" smtClean="0"/>
              <a:t> 1575, 103 West </a:t>
            </a:r>
            <a:r>
              <a:rPr lang="en-US" sz="1600" b="1" dirty="0" err="1" smtClean="0"/>
              <a:t>Losey</a:t>
            </a:r>
            <a:r>
              <a:rPr lang="en-US" sz="1600" b="1" dirty="0" smtClean="0"/>
              <a:t> Street, Scott AFB, IL – DECC St Louis</a:t>
            </a:r>
            <a:br>
              <a:rPr lang="en-US" sz="1600" b="1" dirty="0" smtClean="0"/>
            </a:br>
            <a:r>
              <a:rPr lang="en-US" sz="1600" b="1" dirty="0" smtClean="0"/>
              <a:t>- </a:t>
            </a:r>
            <a:r>
              <a:rPr lang="en-US" sz="1600" b="1" dirty="0" smtClean="0"/>
              <a:t> TSR </a:t>
            </a:r>
            <a:r>
              <a:rPr lang="en-US" sz="1600" b="1" dirty="0" smtClean="0"/>
              <a:t>SG25FEB160002 / </a:t>
            </a:r>
            <a:r>
              <a:rPr lang="en-US" sz="1600" b="1" dirty="0" err="1" smtClean="0"/>
              <a:t>Bldg</a:t>
            </a:r>
            <a:r>
              <a:rPr lang="en-US" sz="1600" b="1" dirty="0" smtClean="0"/>
              <a:t> 1575, 103 West </a:t>
            </a:r>
            <a:r>
              <a:rPr lang="en-US" sz="1600" b="1" dirty="0" err="1" smtClean="0"/>
              <a:t>Losey</a:t>
            </a:r>
            <a:r>
              <a:rPr lang="en-US" sz="1600" b="1" dirty="0" smtClean="0"/>
              <a:t> Street, Scott AFB, IL – Offutt AFB</a:t>
            </a:r>
            <a:endParaRPr lang="en-US" sz="1600" b="1" dirty="0"/>
          </a:p>
        </p:txBody>
      </p:sp>
      <p:grpSp>
        <p:nvGrpSpPr>
          <p:cNvPr id="26" name="Group 25"/>
          <p:cNvGrpSpPr/>
          <p:nvPr/>
        </p:nvGrpSpPr>
        <p:grpSpPr>
          <a:xfrm>
            <a:off x="1896563" y="3633726"/>
            <a:ext cx="1168458" cy="1726239"/>
            <a:chOff x="383936" y="2084996"/>
            <a:chExt cx="1168458" cy="1726239"/>
          </a:xfrm>
        </p:grpSpPr>
        <p:sp>
          <p:nvSpPr>
            <p:cNvPr id="27" name="TextBox 26"/>
            <p:cNvSpPr txBox="1"/>
            <p:nvPr/>
          </p:nvSpPr>
          <p:spPr>
            <a:xfrm>
              <a:off x="637994" y="3496305"/>
              <a:ext cx="723900" cy="261610"/>
            </a:xfrm>
            <a:prstGeom prst="rect">
              <a:avLst/>
            </a:prstGeom>
            <a:solidFill>
              <a:srgbClr val="FFFF00"/>
            </a:solidFill>
            <a:ln>
              <a:solidFill>
                <a:srgbClr val="FF0000"/>
              </a:solidFill>
            </a:ln>
          </p:spPr>
          <p:txBody>
            <a:bodyPr wrap="square" rtlCol="0">
              <a:spAutoFit/>
            </a:bodyPr>
            <a:lstStyle/>
            <a:p>
              <a:pPr algn="ctr"/>
              <a:r>
                <a:rPr lang="en-US" sz="1100" b="1" dirty="0" smtClean="0"/>
                <a:t>DWDM</a:t>
              </a:r>
              <a:endParaRPr lang="en-US" sz="1100" b="1" dirty="0"/>
            </a:p>
          </p:txBody>
        </p:sp>
        <p:sp>
          <p:nvSpPr>
            <p:cNvPr id="28" name="TextBox 27"/>
            <p:cNvSpPr txBox="1"/>
            <p:nvPr/>
          </p:nvSpPr>
          <p:spPr>
            <a:xfrm>
              <a:off x="447494" y="2364685"/>
              <a:ext cx="1104900" cy="1446550"/>
            </a:xfrm>
            <a:prstGeom prst="rect">
              <a:avLst/>
            </a:prstGeom>
            <a:noFill/>
            <a:ln w="25400">
              <a:solidFill>
                <a:schemeClr val="tx1"/>
              </a:solidFill>
            </a:ln>
          </p:spPr>
          <p:txBody>
            <a:bodyPr wrap="square" rtlCol="0">
              <a:spAutoFit/>
            </a:bodyPr>
            <a:lstStyle/>
            <a:p>
              <a:r>
                <a:rPr lang="en-US" sz="1100" dirty="0" err="1" smtClean="0"/>
                <a:t>Kretschmer</a:t>
              </a:r>
              <a:r>
                <a:rPr lang="en-US" sz="1100" dirty="0" smtClean="0"/>
                <a:t> Ave</a:t>
              </a:r>
            </a:p>
            <a:p>
              <a:r>
                <a:rPr lang="en-US" sz="1100" dirty="0" smtClean="0"/>
                <a:t>Belleville ,IL</a:t>
              </a:r>
            </a:p>
            <a:p>
              <a:endParaRPr lang="en-US" sz="1100" dirty="0"/>
            </a:p>
            <a:p>
              <a:r>
                <a:rPr lang="en-US" sz="1100" dirty="0" smtClean="0"/>
                <a:t>CLLI:  BLVLILAD</a:t>
              </a:r>
            </a:p>
            <a:p>
              <a:endParaRPr lang="en-US" sz="1100" dirty="0" smtClean="0"/>
            </a:p>
            <a:p>
              <a:endParaRPr lang="en-US" sz="1100" dirty="0"/>
            </a:p>
            <a:p>
              <a:endParaRPr lang="en-US" sz="1100" dirty="0"/>
            </a:p>
            <a:p>
              <a:endParaRPr lang="en-US" sz="1100" dirty="0"/>
            </a:p>
          </p:txBody>
        </p:sp>
        <p:sp>
          <p:nvSpPr>
            <p:cNvPr id="29" name="TextBox 28"/>
            <p:cNvSpPr txBox="1"/>
            <p:nvPr/>
          </p:nvSpPr>
          <p:spPr>
            <a:xfrm>
              <a:off x="383936" y="2084996"/>
              <a:ext cx="1073435" cy="307777"/>
            </a:xfrm>
            <a:prstGeom prst="rect">
              <a:avLst/>
            </a:prstGeom>
            <a:noFill/>
          </p:spPr>
          <p:txBody>
            <a:bodyPr wrap="none" rtlCol="0">
              <a:spAutoFit/>
            </a:bodyPr>
            <a:lstStyle/>
            <a:p>
              <a:r>
                <a:rPr lang="en-US" sz="1400" b="1" dirty="0" smtClean="0"/>
                <a:t>Belleville, IL</a:t>
              </a:r>
              <a:endParaRPr lang="en-US" sz="1400" b="1" dirty="0"/>
            </a:p>
          </p:txBody>
        </p:sp>
      </p:grpSp>
      <p:grpSp>
        <p:nvGrpSpPr>
          <p:cNvPr id="30" name="Group 29"/>
          <p:cNvGrpSpPr/>
          <p:nvPr/>
        </p:nvGrpSpPr>
        <p:grpSpPr>
          <a:xfrm>
            <a:off x="3347298" y="3646426"/>
            <a:ext cx="1168458" cy="1895516"/>
            <a:chOff x="383936" y="2084996"/>
            <a:chExt cx="1168458" cy="1895516"/>
          </a:xfrm>
        </p:grpSpPr>
        <p:sp>
          <p:nvSpPr>
            <p:cNvPr id="31" name="TextBox 30"/>
            <p:cNvSpPr txBox="1"/>
            <p:nvPr/>
          </p:nvSpPr>
          <p:spPr>
            <a:xfrm>
              <a:off x="637994" y="3496305"/>
              <a:ext cx="723900" cy="261610"/>
            </a:xfrm>
            <a:prstGeom prst="rect">
              <a:avLst/>
            </a:prstGeom>
            <a:solidFill>
              <a:srgbClr val="FFFF00"/>
            </a:solidFill>
            <a:ln>
              <a:solidFill>
                <a:srgbClr val="FF0000"/>
              </a:solidFill>
            </a:ln>
          </p:spPr>
          <p:txBody>
            <a:bodyPr wrap="square" rtlCol="0">
              <a:spAutoFit/>
            </a:bodyPr>
            <a:lstStyle/>
            <a:p>
              <a:pPr algn="ctr"/>
              <a:r>
                <a:rPr lang="en-US" sz="1100" b="1" dirty="0" smtClean="0"/>
                <a:t>DWDM</a:t>
              </a:r>
              <a:endParaRPr lang="en-US" sz="1100" b="1" dirty="0"/>
            </a:p>
          </p:txBody>
        </p:sp>
        <p:sp>
          <p:nvSpPr>
            <p:cNvPr id="32" name="TextBox 31"/>
            <p:cNvSpPr txBox="1"/>
            <p:nvPr/>
          </p:nvSpPr>
          <p:spPr>
            <a:xfrm>
              <a:off x="447494" y="2364685"/>
              <a:ext cx="1104900" cy="1615827"/>
            </a:xfrm>
            <a:prstGeom prst="rect">
              <a:avLst/>
            </a:prstGeom>
            <a:noFill/>
            <a:ln w="25400">
              <a:solidFill>
                <a:schemeClr val="tx1"/>
              </a:solidFill>
            </a:ln>
          </p:spPr>
          <p:txBody>
            <a:bodyPr wrap="square" rtlCol="0">
              <a:spAutoFit/>
            </a:bodyPr>
            <a:lstStyle/>
            <a:p>
              <a:r>
                <a:rPr lang="en-US" sz="1100" dirty="0" smtClean="0"/>
                <a:t>Vendor CO</a:t>
              </a:r>
            </a:p>
            <a:p>
              <a:r>
                <a:rPr lang="en-US" sz="1100" dirty="0" smtClean="0"/>
                <a:t>1015 Locust </a:t>
              </a:r>
              <a:r>
                <a:rPr lang="en-US" sz="1100" dirty="0" err="1" smtClean="0"/>
                <a:t>Str</a:t>
              </a:r>
              <a:endParaRPr lang="en-US" sz="1100" dirty="0" smtClean="0"/>
            </a:p>
            <a:p>
              <a:r>
                <a:rPr lang="en-US" sz="1100" dirty="0" smtClean="0"/>
                <a:t>St Louis, IL</a:t>
              </a:r>
            </a:p>
            <a:p>
              <a:endParaRPr lang="en-US" sz="1100" dirty="0"/>
            </a:p>
            <a:p>
              <a:r>
                <a:rPr lang="en-US" sz="1100" dirty="0" smtClean="0"/>
                <a:t>CLLI: STLSMOPL</a:t>
              </a:r>
            </a:p>
            <a:p>
              <a:endParaRPr lang="en-US" sz="1100" dirty="0" smtClean="0"/>
            </a:p>
            <a:p>
              <a:endParaRPr lang="en-US" sz="1100" dirty="0"/>
            </a:p>
            <a:p>
              <a:endParaRPr lang="en-US" sz="1100" dirty="0"/>
            </a:p>
            <a:p>
              <a:endParaRPr lang="en-US" sz="1100" dirty="0"/>
            </a:p>
          </p:txBody>
        </p:sp>
        <p:sp>
          <p:nvSpPr>
            <p:cNvPr id="33" name="TextBox 32"/>
            <p:cNvSpPr txBox="1"/>
            <p:nvPr/>
          </p:nvSpPr>
          <p:spPr>
            <a:xfrm>
              <a:off x="383936" y="2084996"/>
              <a:ext cx="1122423" cy="307777"/>
            </a:xfrm>
            <a:prstGeom prst="rect">
              <a:avLst/>
            </a:prstGeom>
            <a:noFill/>
          </p:spPr>
          <p:txBody>
            <a:bodyPr wrap="none" rtlCol="0">
              <a:spAutoFit/>
            </a:bodyPr>
            <a:lstStyle/>
            <a:p>
              <a:r>
                <a:rPr lang="en-US" sz="1400" b="1" dirty="0" smtClean="0"/>
                <a:t>St Louis, MO</a:t>
              </a:r>
              <a:endParaRPr lang="en-US" sz="1400" b="1" dirty="0"/>
            </a:p>
          </p:txBody>
        </p:sp>
      </p:grpSp>
      <p:grpSp>
        <p:nvGrpSpPr>
          <p:cNvPr id="34" name="Group 33"/>
          <p:cNvGrpSpPr/>
          <p:nvPr/>
        </p:nvGrpSpPr>
        <p:grpSpPr>
          <a:xfrm>
            <a:off x="1883129" y="1477861"/>
            <a:ext cx="1195327" cy="1895516"/>
            <a:chOff x="383936" y="2084996"/>
            <a:chExt cx="1195327" cy="1895516"/>
          </a:xfrm>
        </p:grpSpPr>
        <p:sp>
          <p:nvSpPr>
            <p:cNvPr id="35" name="TextBox 34"/>
            <p:cNvSpPr txBox="1"/>
            <p:nvPr/>
          </p:nvSpPr>
          <p:spPr>
            <a:xfrm>
              <a:off x="637994" y="3496305"/>
              <a:ext cx="723900" cy="261610"/>
            </a:xfrm>
            <a:prstGeom prst="rect">
              <a:avLst/>
            </a:prstGeom>
            <a:solidFill>
              <a:srgbClr val="FFFF00"/>
            </a:solidFill>
            <a:ln>
              <a:solidFill>
                <a:srgbClr val="FF0000"/>
              </a:solidFill>
            </a:ln>
          </p:spPr>
          <p:txBody>
            <a:bodyPr wrap="square" rtlCol="0">
              <a:spAutoFit/>
            </a:bodyPr>
            <a:lstStyle/>
            <a:p>
              <a:pPr algn="ctr"/>
              <a:r>
                <a:rPr lang="en-US" sz="1100" b="1" dirty="0" smtClean="0"/>
                <a:t>DWDM</a:t>
              </a:r>
              <a:endParaRPr lang="en-US" sz="1100" b="1" dirty="0"/>
            </a:p>
          </p:txBody>
        </p:sp>
        <p:sp>
          <p:nvSpPr>
            <p:cNvPr id="36" name="TextBox 35"/>
            <p:cNvSpPr txBox="1"/>
            <p:nvPr/>
          </p:nvSpPr>
          <p:spPr>
            <a:xfrm>
              <a:off x="447494" y="2364685"/>
              <a:ext cx="1104900" cy="1615827"/>
            </a:xfrm>
            <a:prstGeom prst="rect">
              <a:avLst/>
            </a:prstGeom>
            <a:noFill/>
            <a:ln w="25400">
              <a:solidFill>
                <a:schemeClr val="tx1"/>
              </a:solidFill>
            </a:ln>
          </p:spPr>
          <p:txBody>
            <a:bodyPr wrap="square" rtlCol="0">
              <a:spAutoFit/>
            </a:bodyPr>
            <a:lstStyle/>
            <a:p>
              <a:r>
                <a:rPr lang="en-US" sz="1100" dirty="0" smtClean="0"/>
                <a:t>Vendor CO</a:t>
              </a:r>
            </a:p>
            <a:p>
              <a:r>
                <a:rPr lang="en-US" sz="1100" dirty="0" smtClean="0"/>
                <a:t>125 Main Street</a:t>
              </a:r>
            </a:p>
            <a:p>
              <a:r>
                <a:rPr lang="en-US" sz="1100" dirty="0" smtClean="0"/>
                <a:t>Collinsville, IL</a:t>
              </a:r>
            </a:p>
            <a:p>
              <a:endParaRPr lang="en-US" sz="1100" dirty="0"/>
            </a:p>
            <a:p>
              <a:r>
                <a:rPr lang="en-US" sz="1100" dirty="0" smtClean="0"/>
                <a:t>CLLI:  CLSVILAB</a:t>
              </a:r>
            </a:p>
            <a:p>
              <a:endParaRPr lang="en-US" sz="1100" dirty="0" smtClean="0"/>
            </a:p>
            <a:p>
              <a:endParaRPr lang="en-US" sz="1100" dirty="0"/>
            </a:p>
            <a:p>
              <a:endParaRPr lang="en-US" sz="1100" dirty="0"/>
            </a:p>
            <a:p>
              <a:endParaRPr lang="en-US" sz="1100" dirty="0"/>
            </a:p>
          </p:txBody>
        </p:sp>
        <p:sp>
          <p:nvSpPr>
            <p:cNvPr id="37" name="TextBox 36"/>
            <p:cNvSpPr txBox="1"/>
            <p:nvPr/>
          </p:nvSpPr>
          <p:spPr>
            <a:xfrm>
              <a:off x="383936" y="2084996"/>
              <a:ext cx="1195327" cy="307777"/>
            </a:xfrm>
            <a:prstGeom prst="rect">
              <a:avLst/>
            </a:prstGeom>
            <a:noFill/>
          </p:spPr>
          <p:txBody>
            <a:bodyPr wrap="none" rtlCol="0">
              <a:spAutoFit/>
            </a:bodyPr>
            <a:lstStyle/>
            <a:p>
              <a:r>
                <a:rPr lang="en-US" sz="1400" b="1" dirty="0" smtClean="0"/>
                <a:t>Collinsville, IL</a:t>
              </a:r>
              <a:endParaRPr lang="en-US" sz="1400" b="1" dirty="0"/>
            </a:p>
          </p:txBody>
        </p:sp>
      </p:grpSp>
      <p:cxnSp>
        <p:nvCxnSpPr>
          <p:cNvPr id="42" name="Straight Connector 41"/>
          <p:cNvCxnSpPr/>
          <p:nvPr/>
        </p:nvCxnSpPr>
        <p:spPr>
          <a:xfrm>
            <a:off x="2874521" y="5188540"/>
            <a:ext cx="72683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4325256" y="5188540"/>
            <a:ext cx="70452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2" name="Group 51"/>
          <p:cNvGrpSpPr/>
          <p:nvPr/>
        </p:nvGrpSpPr>
        <p:grpSpPr>
          <a:xfrm>
            <a:off x="4775723" y="3646426"/>
            <a:ext cx="1294446" cy="1895516"/>
            <a:chOff x="383936" y="2084996"/>
            <a:chExt cx="1294446" cy="1895516"/>
          </a:xfrm>
        </p:grpSpPr>
        <p:sp>
          <p:nvSpPr>
            <p:cNvPr id="53" name="TextBox 52"/>
            <p:cNvSpPr txBox="1"/>
            <p:nvPr/>
          </p:nvSpPr>
          <p:spPr>
            <a:xfrm>
              <a:off x="637994" y="3496305"/>
              <a:ext cx="723900" cy="261610"/>
            </a:xfrm>
            <a:prstGeom prst="rect">
              <a:avLst/>
            </a:prstGeom>
            <a:solidFill>
              <a:srgbClr val="FFFF00"/>
            </a:solidFill>
            <a:ln>
              <a:solidFill>
                <a:srgbClr val="FF0000"/>
              </a:solidFill>
            </a:ln>
          </p:spPr>
          <p:txBody>
            <a:bodyPr wrap="square" rtlCol="0">
              <a:spAutoFit/>
            </a:bodyPr>
            <a:lstStyle/>
            <a:p>
              <a:pPr algn="ctr"/>
              <a:r>
                <a:rPr lang="en-US" sz="1100" b="1" dirty="0" smtClean="0"/>
                <a:t>DWDM</a:t>
              </a:r>
              <a:endParaRPr lang="en-US" sz="1100" b="1" dirty="0"/>
            </a:p>
          </p:txBody>
        </p:sp>
        <p:sp>
          <p:nvSpPr>
            <p:cNvPr id="54" name="TextBox 53"/>
            <p:cNvSpPr txBox="1"/>
            <p:nvPr/>
          </p:nvSpPr>
          <p:spPr>
            <a:xfrm>
              <a:off x="447493" y="2364685"/>
              <a:ext cx="1230889" cy="1615827"/>
            </a:xfrm>
            <a:prstGeom prst="rect">
              <a:avLst/>
            </a:prstGeom>
            <a:noFill/>
            <a:ln w="25400">
              <a:solidFill>
                <a:schemeClr val="tx1"/>
              </a:solidFill>
            </a:ln>
          </p:spPr>
          <p:txBody>
            <a:bodyPr wrap="square" rtlCol="0">
              <a:spAutoFit/>
            </a:bodyPr>
            <a:lstStyle/>
            <a:p>
              <a:pPr marL="228600" indent="-228600">
                <a:buAutoNum type="arabicPlain" startAt="4300"/>
              </a:pPr>
              <a:r>
                <a:rPr lang="en-US" sz="1100" dirty="0" smtClean="0"/>
                <a:t> </a:t>
              </a:r>
              <a:r>
                <a:rPr lang="en-US" sz="1100" dirty="0" err="1" smtClean="0"/>
                <a:t>Goodfellow</a:t>
              </a:r>
              <a:endParaRPr lang="en-US" sz="1100" dirty="0"/>
            </a:p>
            <a:p>
              <a:r>
                <a:rPr lang="en-US" sz="1100" dirty="0"/>
                <a:t> </a:t>
              </a:r>
              <a:r>
                <a:rPr lang="en-US" sz="1100" dirty="0" smtClean="0"/>
                <a:t> Blvd,  </a:t>
              </a:r>
              <a:r>
                <a:rPr lang="en-US" sz="1100" dirty="0" err="1" smtClean="0"/>
                <a:t>Bldg</a:t>
              </a:r>
              <a:r>
                <a:rPr lang="en-US" sz="1100" dirty="0" smtClean="0"/>
                <a:t> 103 Frame room, 1</a:t>
              </a:r>
              <a:r>
                <a:rPr lang="en-US" sz="1100" baseline="30000" dirty="0" smtClean="0"/>
                <a:t>st</a:t>
              </a:r>
              <a:r>
                <a:rPr lang="en-US" sz="1100" dirty="0" smtClean="0"/>
                <a:t> </a:t>
              </a:r>
              <a:r>
                <a:rPr lang="en-US" sz="1100" dirty="0" err="1" smtClean="0"/>
                <a:t>Fl</a:t>
              </a:r>
              <a:endParaRPr lang="en-US" sz="1100" dirty="0" smtClean="0"/>
            </a:p>
            <a:p>
              <a:endParaRPr lang="en-US" sz="1100" dirty="0"/>
            </a:p>
            <a:p>
              <a:endParaRPr lang="en-US" sz="1100" dirty="0" smtClean="0"/>
            </a:p>
            <a:p>
              <a:endParaRPr lang="en-US" sz="1100" dirty="0" smtClean="0"/>
            </a:p>
            <a:p>
              <a:endParaRPr lang="en-US" sz="1100" dirty="0"/>
            </a:p>
            <a:p>
              <a:endParaRPr lang="en-US" sz="1100" dirty="0"/>
            </a:p>
            <a:p>
              <a:endParaRPr lang="en-US" sz="1100" dirty="0"/>
            </a:p>
          </p:txBody>
        </p:sp>
        <p:sp>
          <p:nvSpPr>
            <p:cNvPr id="55" name="TextBox 54"/>
            <p:cNvSpPr txBox="1"/>
            <p:nvPr/>
          </p:nvSpPr>
          <p:spPr>
            <a:xfrm>
              <a:off x="383936" y="2084996"/>
              <a:ext cx="1209434" cy="307777"/>
            </a:xfrm>
            <a:prstGeom prst="rect">
              <a:avLst/>
            </a:prstGeom>
            <a:noFill/>
          </p:spPr>
          <p:txBody>
            <a:bodyPr wrap="none" rtlCol="0">
              <a:spAutoFit/>
            </a:bodyPr>
            <a:lstStyle/>
            <a:p>
              <a:r>
                <a:rPr lang="en-US" sz="1400" b="1" dirty="0" smtClean="0"/>
                <a:t>DECC ST Louis</a:t>
              </a:r>
              <a:endParaRPr lang="en-US" sz="1400" b="1" dirty="0"/>
            </a:p>
          </p:txBody>
        </p:sp>
      </p:grpSp>
      <p:grpSp>
        <p:nvGrpSpPr>
          <p:cNvPr id="56" name="Group 55"/>
          <p:cNvGrpSpPr/>
          <p:nvPr/>
        </p:nvGrpSpPr>
        <p:grpSpPr>
          <a:xfrm>
            <a:off x="3315519" y="1477861"/>
            <a:ext cx="1197764" cy="1895516"/>
            <a:chOff x="383936" y="2084996"/>
            <a:chExt cx="1197764" cy="1895516"/>
          </a:xfrm>
        </p:grpSpPr>
        <p:sp>
          <p:nvSpPr>
            <p:cNvPr id="57" name="TextBox 56"/>
            <p:cNvSpPr txBox="1"/>
            <p:nvPr/>
          </p:nvSpPr>
          <p:spPr>
            <a:xfrm>
              <a:off x="637994" y="3496305"/>
              <a:ext cx="723900" cy="261610"/>
            </a:xfrm>
            <a:prstGeom prst="rect">
              <a:avLst/>
            </a:prstGeom>
            <a:solidFill>
              <a:srgbClr val="FFFF00"/>
            </a:solidFill>
            <a:ln>
              <a:solidFill>
                <a:srgbClr val="FF0000"/>
              </a:solidFill>
            </a:ln>
          </p:spPr>
          <p:txBody>
            <a:bodyPr wrap="square" rtlCol="0">
              <a:spAutoFit/>
            </a:bodyPr>
            <a:lstStyle/>
            <a:p>
              <a:pPr algn="ctr"/>
              <a:r>
                <a:rPr lang="en-US" sz="1100" b="1" dirty="0" smtClean="0"/>
                <a:t>DWDM</a:t>
              </a:r>
              <a:endParaRPr lang="en-US" sz="1100" b="1" dirty="0"/>
            </a:p>
          </p:txBody>
        </p:sp>
        <p:sp>
          <p:nvSpPr>
            <p:cNvPr id="58" name="TextBox 57"/>
            <p:cNvSpPr txBox="1"/>
            <p:nvPr/>
          </p:nvSpPr>
          <p:spPr>
            <a:xfrm>
              <a:off x="447494" y="2364685"/>
              <a:ext cx="1104900" cy="1615827"/>
            </a:xfrm>
            <a:prstGeom prst="rect">
              <a:avLst/>
            </a:prstGeom>
            <a:noFill/>
            <a:ln w="25400">
              <a:solidFill>
                <a:schemeClr val="tx1"/>
              </a:solidFill>
            </a:ln>
          </p:spPr>
          <p:txBody>
            <a:bodyPr wrap="square" rtlCol="0">
              <a:spAutoFit/>
            </a:bodyPr>
            <a:lstStyle/>
            <a:p>
              <a:r>
                <a:rPr lang="en-US" sz="1100" dirty="0" smtClean="0"/>
                <a:t>103 W </a:t>
              </a:r>
              <a:r>
                <a:rPr lang="en-US" sz="1100" dirty="0" err="1" smtClean="0"/>
                <a:t>Losey</a:t>
              </a:r>
              <a:r>
                <a:rPr lang="en-US" sz="1100" dirty="0" smtClean="0"/>
                <a:t> </a:t>
              </a:r>
              <a:r>
                <a:rPr lang="en-US" sz="1100" dirty="0" err="1" smtClean="0"/>
                <a:t>Str</a:t>
              </a:r>
              <a:endParaRPr lang="en-US" sz="1100" dirty="0" smtClean="0"/>
            </a:p>
            <a:p>
              <a:r>
                <a:rPr lang="en-US" sz="1100" dirty="0" err="1" smtClean="0"/>
                <a:t>Bldg</a:t>
              </a:r>
              <a:r>
                <a:rPr lang="en-US" sz="1100" dirty="0" smtClean="0"/>
                <a:t> 1575</a:t>
              </a:r>
            </a:p>
            <a:p>
              <a:r>
                <a:rPr lang="en-US" sz="1100" dirty="0" smtClean="0"/>
                <a:t>Room C-1B</a:t>
              </a:r>
            </a:p>
            <a:p>
              <a:endParaRPr lang="en-US" sz="1100" dirty="0"/>
            </a:p>
            <a:p>
              <a:r>
                <a:rPr lang="en-US" sz="1100" dirty="0" smtClean="0"/>
                <a:t>CLLI:  SPFDILMR</a:t>
              </a:r>
            </a:p>
            <a:p>
              <a:endParaRPr lang="en-US" sz="1100" dirty="0" smtClean="0"/>
            </a:p>
            <a:p>
              <a:endParaRPr lang="en-US" sz="1100" dirty="0"/>
            </a:p>
            <a:p>
              <a:endParaRPr lang="en-US" sz="1100" dirty="0"/>
            </a:p>
            <a:p>
              <a:endParaRPr lang="en-US" sz="1100" dirty="0"/>
            </a:p>
          </p:txBody>
        </p:sp>
        <p:sp>
          <p:nvSpPr>
            <p:cNvPr id="59" name="TextBox 58"/>
            <p:cNvSpPr txBox="1"/>
            <p:nvPr/>
          </p:nvSpPr>
          <p:spPr>
            <a:xfrm>
              <a:off x="383936" y="2084996"/>
              <a:ext cx="1197764" cy="307777"/>
            </a:xfrm>
            <a:prstGeom prst="rect">
              <a:avLst/>
            </a:prstGeom>
            <a:noFill/>
          </p:spPr>
          <p:txBody>
            <a:bodyPr wrap="none" rtlCol="0">
              <a:spAutoFit/>
            </a:bodyPr>
            <a:lstStyle/>
            <a:p>
              <a:r>
                <a:rPr lang="en-US" sz="1400" b="1" dirty="0" smtClean="0"/>
                <a:t>Springfield, IL</a:t>
              </a:r>
              <a:endParaRPr lang="en-US" sz="1400" b="1" dirty="0"/>
            </a:p>
          </p:txBody>
        </p:sp>
      </p:grpSp>
      <p:grpSp>
        <p:nvGrpSpPr>
          <p:cNvPr id="60" name="Group 59"/>
          <p:cNvGrpSpPr/>
          <p:nvPr/>
        </p:nvGrpSpPr>
        <p:grpSpPr>
          <a:xfrm>
            <a:off x="4739032" y="1490561"/>
            <a:ext cx="1247457" cy="1895516"/>
            <a:chOff x="383936" y="2084996"/>
            <a:chExt cx="1247457" cy="1895516"/>
          </a:xfrm>
        </p:grpSpPr>
        <p:sp>
          <p:nvSpPr>
            <p:cNvPr id="61" name="TextBox 60"/>
            <p:cNvSpPr txBox="1"/>
            <p:nvPr/>
          </p:nvSpPr>
          <p:spPr>
            <a:xfrm>
              <a:off x="637994" y="3496305"/>
              <a:ext cx="723900" cy="261610"/>
            </a:xfrm>
            <a:prstGeom prst="rect">
              <a:avLst/>
            </a:prstGeom>
            <a:solidFill>
              <a:srgbClr val="FFFF00"/>
            </a:solidFill>
            <a:ln>
              <a:solidFill>
                <a:srgbClr val="FF0000"/>
              </a:solidFill>
            </a:ln>
          </p:spPr>
          <p:txBody>
            <a:bodyPr wrap="square" rtlCol="0">
              <a:spAutoFit/>
            </a:bodyPr>
            <a:lstStyle/>
            <a:p>
              <a:pPr algn="ctr"/>
              <a:r>
                <a:rPr lang="en-US" sz="1100" b="1" dirty="0" smtClean="0"/>
                <a:t>DWDM</a:t>
              </a:r>
              <a:endParaRPr lang="en-US" sz="1100" b="1" dirty="0"/>
            </a:p>
          </p:txBody>
        </p:sp>
        <p:sp>
          <p:nvSpPr>
            <p:cNvPr id="62" name="TextBox 61"/>
            <p:cNvSpPr txBox="1"/>
            <p:nvPr/>
          </p:nvSpPr>
          <p:spPr>
            <a:xfrm>
              <a:off x="447493" y="2364685"/>
              <a:ext cx="1141591" cy="1615827"/>
            </a:xfrm>
            <a:prstGeom prst="rect">
              <a:avLst/>
            </a:prstGeom>
            <a:noFill/>
            <a:ln w="25400">
              <a:solidFill>
                <a:schemeClr val="tx1"/>
              </a:solidFill>
            </a:ln>
          </p:spPr>
          <p:txBody>
            <a:bodyPr wrap="square" rtlCol="0">
              <a:spAutoFit/>
            </a:bodyPr>
            <a:lstStyle/>
            <a:p>
              <a:r>
                <a:rPr lang="en-US" sz="1100" dirty="0" smtClean="0"/>
                <a:t>Vendor Gateway</a:t>
              </a:r>
            </a:p>
            <a:p>
              <a:r>
                <a:rPr lang="en-US" sz="1100" dirty="0" smtClean="0"/>
                <a:t>1045 River Ave</a:t>
              </a:r>
            </a:p>
            <a:p>
              <a:r>
                <a:rPr lang="en-US" sz="1100" dirty="0" smtClean="0"/>
                <a:t>St Joseph, MO</a:t>
              </a:r>
            </a:p>
            <a:p>
              <a:endParaRPr lang="en-US" sz="1100" dirty="0"/>
            </a:p>
            <a:p>
              <a:r>
                <a:rPr lang="en-US" sz="1100" dirty="0" smtClean="0"/>
                <a:t>CLLI:  STJSMOFR</a:t>
              </a:r>
            </a:p>
            <a:p>
              <a:endParaRPr lang="en-US" sz="1100" dirty="0" smtClean="0"/>
            </a:p>
            <a:p>
              <a:endParaRPr lang="en-US" sz="1100" dirty="0"/>
            </a:p>
            <a:p>
              <a:endParaRPr lang="en-US" sz="1100" dirty="0"/>
            </a:p>
            <a:p>
              <a:endParaRPr lang="en-US" sz="1100" dirty="0"/>
            </a:p>
          </p:txBody>
        </p:sp>
        <p:sp>
          <p:nvSpPr>
            <p:cNvPr id="63" name="TextBox 62"/>
            <p:cNvSpPr txBox="1"/>
            <p:nvPr/>
          </p:nvSpPr>
          <p:spPr>
            <a:xfrm>
              <a:off x="383936" y="2084996"/>
              <a:ext cx="1247457" cy="307777"/>
            </a:xfrm>
            <a:prstGeom prst="rect">
              <a:avLst/>
            </a:prstGeom>
            <a:noFill/>
          </p:spPr>
          <p:txBody>
            <a:bodyPr wrap="none" rtlCol="0">
              <a:spAutoFit/>
            </a:bodyPr>
            <a:lstStyle/>
            <a:p>
              <a:r>
                <a:rPr lang="en-US" sz="1400" b="1" dirty="0" smtClean="0"/>
                <a:t>St Joseph, MO</a:t>
              </a:r>
              <a:endParaRPr lang="en-US" sz="1400" b="1" dirty="0"/>
            </a:p>
          </p:txBody>
        </p:sp>
      </p:grpSp>
      <p:grpSp>
        <p:nvGrpSpPr>
          <p:cNvPr id="64" name="Group 63"/>
          <p:cNvGrpSpPr/>
          <p:nvPr/>
        </p:nvGrpSpPr>
        <p:grpSpPr>
          <a:xfrm>
            <a:off x="6169293" y="1490561"/>
            <a:ext cx="1168458" cy="1895516"/>
            <a:chOff x="383936" y="2084996"/>
            <a:chExt cx="1168458" cy="1895516"/>
          </a:xfrm>
        </p:grpSpPr>
        <p:sp>
          <p:nvSpPr>
            <p:cNvPr id="65" name="TextBox 64"/>
            <p:cNvSpPr txBox="1"/>
            <p:nvPr/>
          </p:nvSpPr>
          <p:spPr>
            <a:xfrm>
              <a:off x="637994" y="3496305"/>
              <a:ext cx="723900" cy="261610"/>
            </a:xfrm>
            <a:prstGeom prst="rect">
              <a:avLst/>
            </a:prstGeom>
            <a:solidFill>
              <a:srgbClr val="FFFF00"/>
            </a:solidFill>
            <a:ln>
              <a:solidFill>
                <a:srgbClr val="FF0000"/>
              </a:solidFill>
            </a:ln>
          </p:spPr>
          <p:txBody>
            <a:bodyPr wrap="square" rtlCol="0">
              <a:spAutoFit/>
            </a:bodyPr>
            <a:lstStyle/>
            <a:p>
              <a:pPr algn="ctr"/>
              <a:r>
                <a:rPr lang="en-US" sz="1100" b="1" dirty="0" smtClean="0"/>
                <a:t>DWDM</a:t>
              </a:r>
              <a:endParaRPr lang="en-US" sz="1100" b="1" dirty="0"/>
            </a:p>
          </p:txBody>
        </p:sp>
        <p:sp>
          <p:nvSpPr>
            <p:cNvPr id="66" name="TextBox 65"/>
            <p:cNvSpPr txBox="1"/>
            <p:nvPr/>
          </p:nvSpPr>
          <p:spPr>
            <a:xfrm>
              <a:off x="447494" y="2364685"/>
              <a:ext cx="1104900" cy="1615827"/>
            </a:xfrm>
            <a:prstGeom prst="rect">
              <a:avLst/>
            </a:prstGeom>
            <a:noFill/>
            <a:ln w="25400">
              <a:solidFill>
                <a:schemeClr val="tx1"/>
              </a:solidFill>
            </a:ln>
          </p:spPr>
          <p:txBody>
            <a:bodyPr wrap="square" rtlCol="0">
              <a:spAutoFit/>
            </a:bodyPr>
            <a:lstStyle/>
            <a:p>
              <a:r>
                <a:rPr lang="en-US" sz="1100" dirty="0" smtClean="0"/>
                <a:t>Vendor CO</a:t>
              </a:r>
            </a:p>
            <a:p>
              <a:r>
                <a:rPr lang="en-US" sz="1100" dirty="0" smtClean="0"/>
                <a:t>1514 Chandler  </a:t>
              </a:r>
            </a:p>
            <a:p>
              <a:r>
                <a:rPr lang="en-US" sz="1100" dirty="0"/>
                <a:t> </a:t>
              </a:r>
              <a:r>
                <a:rPr lang="en-US" sz="1100" dirty="0" smtClean="0"/>
                <a:t>  Road West</a:t>
              </a:r>
            </a:p>
            <a:p>
              <a:endParaRPr lang="en-US" sz="1100" dirty="0"/>
            </a:p>
            <a:p>
              <a:r>
                <a:rPr lang="en-US" sz="1100" dirty="0" smtClean="0"/>
                <a:t>CLLI:  BLLVNEBL</a:t>
              </a:r>
            </a:p>
            <a:p>
              <a:endParaRPr lang="en-US" sz="1100" dirty="0" smtClean="0"/>
            </a:p>
            <a:p>
              <a:endParaRPr lang="en-US" sz="1100" dirty="0"/>
            </a:p>
            <a:p>
              <a:endParaRPr lang="en-US" sz="1100" dirty="0"/>
            </a:p>
            <a:p>
              <a:endParaRPr lang="en-US" sz="1100" dirty="0"/>
            </a:p>
          </p:txBody>
        </p:sp>
        <p:sp>
          <p:nvSpPr>
            <p:cNvPr id="67" name="TextBox 66"/>
            <p:cNvSpPr txBox="1"/>
            <p:nvPr/>
          </p:nvSpPr>
          <p:spPr>
            <a:xfrm>
              <a:off x="383936" y="2084996"/>
              <a:ext cx="1118319" cy="307777"/>
            </a:xfrm>
            <a:prstGeom prst="rect">
              <a:avLst/>
            </a:prstGeom>
            <a:noFill/>
          </p:spPr>
          <p:txBody>
            <a:bodyPr wrap="none" rtlCol="0">
              <a:spAutoFit/>
            </a:bodyPr>
            <a:lstStyle/>
            <a:p>
              <a:r>
                <a:rPr lang="en-US" sz="1400" b="1" dirty="0" smtClean="0"/>
                <a:t>Bellevue, NE</a:t>
              </a:r>
              <a:endParaRPr lang="en-US" sz="1400" b="1" dirty="0"/>
            </a:p>
          </p:txBody>
        </p:sp>
      </p:grpSp>
      <p:grpSp>
        <p:nvGrpSpPr>
          <p:cNvPr id="68" name="Group 67"/>
          <p:cNvGrpSpPr/>
          <p:nvPr/>
        </p:nvGrpSpPr>
        <p:grpSpPr>
          <a:xfrm>
            <a:off x="7588993" y="1489035"/>
            <a:ext cx="1174008" cy="1895516"/>
            <a:chOff x="383936" y="2084996"/>
            <a:chExt cx="1168458" cy="1895516"/>
          </a:xfrm>
        </p:grpSpPr>
        <p:sp>
          <p:nvSpPr>
            <p:cNvPr id="69" name="TextBox 68"/>
            <p:cNvSpPr txBox="1"/>
            <p:nvPr/>
          </p:nvSpPr>
          <p:spPr>
            <a:xfrm>
              <a:off x="637994" y="3496305"/>
              <a:ext cx="723900" cy="261610"/>
            </a:xfrm>
            <a:prstGeom prst="rect">
              <a:avLst/>
            </a:prstGeom>
            <a:solidFill>
              <a:srgbClr val="FFFF00"/>
            </a:solidFill>
            <a:ln>
              <a:solidFill>
                <a:srgbClr val="FF0000"/>
              </a:solidFill>
            </a:ln>
          </p:spPr>
          <p:txBody>
            <a:bodyPr wrap="square" rtlCol="0">
              <a:spAutoFit/>
            </a:bodyPr>
            <a:lstStyle/>
            <a:p>
              <a:pPr algn="ctr"/>
              <a:r>
                <a:rPr lang="en-US" sz="1100" b="1" dirty="0" smtClean="0"/>
                <a:t>DWDM</a:t>
              </a:r>
              <a:endParaRPr lang="en-US" sz="1100" b="1" dirty="0"/>
            </a:p>
          </p:txBody>
        </p:sp>
        <p:sp>
          <p:nvSpPr>
            <p:cNvPr id="70" name="TextBox 69"/>
            <p:cNvSpPr txBox="1"/>
            <p:nvPr/>
          </p:nvSpPr>
          <p:spPr>
            <a:xfrm>
              <a:off x="447494" y="2364685"/>
              <a:ext cx="1104900" cy="1615827"/>
            </a:xfrm>
            <a:prstGeom prst="rect">
              <a:avLst/>
            </a:prstGeom>
            <a:noFill/>
            <a:ln w="25400">
              <a:solidFill>
                <a:schemeClr val="tx1"/>
              </a:solidFill>
            </a:ln>
          </p:spPr>
          <p:txBody>
            <a:bodyPr wrap="square" rtlCol="0">
              <a:spAutoFit/>
            </a:bodyPr>
            <a:lstStyle/>
            <a:p>
              <a:r>
                <a:rPr lang="en-US" sz="1100" dirty="0" smtClean="0"/>
                <a:t>901 SAC Blvd</a:t>
              </a:r>
            </a:p>
            <a:p>
              <a:r>
                <a:rPr lang="en-US" sz="1100" dirty="0" err="1" smtClean="0"/>
                <a:t>Bldg</a:t>
              </a:r>
              <a:r>
                <a:rPr lang="en-US" sz="1100" dirty="0" smtClean="0"/>
                <a:t> 501</a:t>
              </a:r>
            </a:p>
            <a:p>
              <a:r>
                <a:rPr lang="en-US" sz="1100" dirty="0" smtClean="0"/>
                <a:t>Room U-127</a:t>
              </a:r>
            </a:p>
            <a:p>
              <a:endParaRPr lang="en-US" sz="1100" dirty="0" smtClean="0"/>
            </a:p>
            <a:p>
              <a:endParaRPr lang="en-US" sz="1100" dirty="0" smtClean="0"/>
            </a:p>
            <a:p>
              <a:endParaRPr lang="en-US" sz="1100" dirty="0" smtClean="0"/>
            </a:p>
            <a:p>
              <a:endParaRPr lang="en-US" sz="1100" dirty="0"/>
            </a:p>
            <a:p>
              <a:endParaRPr lang="en-US" sz="1100" dirty="0"/>
            </a:p>
            <a:p>
              <a:endParaRPr lang="en-US" sz="1100" dirty="0"/>
            </a:p>
          </p:txBody>
        </p:sp>
        <p:sp>
          <p:nvSpPr>
            <p:cNvPr id="71" name="TextBox 70"/>
            <p:cNvSpPr txBox="1"/>
            <p:nvPr/>
          </p:nvSpPr>
          <p:spPr>
            <a:xfrm>
              <a:off x="383936" y="2084996"/>
              <a:ext cx="969624" cy="307777"/>
            </a:xfrm>
            <a:prstGeom prst="rect">
              <a:avLst/>
            </a:prstGeom>
            <a:noFill/>
          </p:spPr>
          <p:txBody>
            <a:bodyPr wrap="none" rtlCol="0">
              <a:spAutoFit/>
            </a:bodyPr>
            <a:lstStyle/>
            <a:p>
              <a:r>
                <a:rPr lang="en-US" sz="1400" b="1" dirty="0" smtClean="0"/>
                <a:t>Offutt AFB</a:t>
              </a:r>
              <a:endParaRPr lang="en-US" sz="1400" b="1" dirty="0"/>
            </a:p>
          </p:txBody>
        </p:sp>
      </p:grpSp>
      <p:cxnSp>
        <p:nvCxnSpPr>
          <p:cNvPr id="77" name="Straight Connector 76"/>
          <p:cNvCxnSpPr/>
          <p:nvPr/>
        </p:nvCxnSpPr>
        <p:spPr>
          <a:xfrm>
            <a:off x="2861087" y="3019975"/>
            <a:ext cx="70849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4293477" y="3019975"/>
            <a:ext cx="699613"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5716990" y="3019975"/>
            <a:ext cx="706361" cy="0"/>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7147251" y="3019975"/>
            <a:ext cx="695800"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6375057" y="3915230"/>
            <a:ext cx="2024998" cy="1292662"/>
          </a:xfrm>
          <a:prstGeom prst="rect">
            <a:avLst/>
          </a:prstGeom>
          <a:noFill/>
          <a:ln w="25400" cap="rnd">
            <a:solidFill>
              <a:schemeClr val="tx1"/>
            </a:solidFill>
            <a:prstDash val="sysDot"/>
          </a:ln>
        </p:spPr>
        <p:txBody>
          <a:bodyPr wrap="square" rtlCol="0">
            <a:spAutoFit/>
          </a:bodyPr>
          <a:lstStyle/>
          <a:p>
            <a:r>
              <a:rPr lang="en-US" sz="1200" b="1" u="sng" dirty="0" smtClean="0"/>
              <a:t>Scott AFB – Offutt AFB</a:t>
            </a:r>
            <a:endParaRPr lang="en-US" sz="1200" dirty="0" smtClean="0"/>
          </a:p>
          <a:p>
            <a:r>
              <a:rPr lang="en-US" sz="1200" dirty="0" smtClean="0"/>
              <a:t>  </a:t>
            </a:r>
            <a:r>
              <a:rPr lang="en-US" sz="1050" dirty="0" smtClean="0"/>
              <a:t>Estimated Fiber Miles:  522</a:t>
            </a:r>
          </a:p>
          <a:p>
            <a:r>
              <a:rPr lang="en-US" sz="1050" dirty="0"/>
              <a:t> </a:t>
            </a:r>
            <a:r>
              <a:rPr lang="en-US" sz="1050" dirty="0" smtClean="0"/>
              <a:t>  Estimated RTD: 8.3ms</a:t>
            </a:r>
          </a:p>
          <a:p>
            <a:endParaRPr lang="en-US" sz="1050" dirty="0"/>
          </a:p>
          <a:p>
            <a:r>
              <a:rPr lang="en-US" sz="1200" b="1" u="sng" dirty="0" smtClean="0"/>
              <a:t>Scott AFB – DECC St Louis</a:t>
            </a:r>
          </a:p>
          <a:p>
            <a:r>
              <a:rPr lang="en-US" sz="1050" dirty="0"/>
              <a:t> </a:t>
            </a:r>
            <a:r>
              <a:rPr lang="en-US" sz="1050" dirty="0" smtClean="0"/>
              <a:t>  Estimated Fiber Miles:  36</a:t>
            </a:r>
          </a:p>
          <a:p>
            <a:r>
              <a:rPr lang="en-US" sz="1050" dirty="0"/>
              <a:t> </a:t>
            </a:r>
            <a:r>
              <a:rPr lang="en-US" sz="1050" dirty="0" smtClean="0"/>
              <a:t>  Estimated RTD:   1ms</a:t>
            </a:r>
            <a:endParaRPr lang="en-US" sz="1050" dirty="0"/>
          </a:p>
        </p:txBody>
      </p:sp>
      <p:grpSp>
        <p:nvGrpSpPr>
          <p:cNvPr id="111" name="Group 110"/>
          <p:cNvGrpSpPr/>
          <p:nvPr/>
        </p:nvGrpSpPr>
        <p:grpSpPr>
          <a:xfrm>
            <a:off x="228600" y="2056482"/>
            <a:ext cx="1168458" cy="2403347"/>
            <a:chOff x="228600" y="2056482"/>
            <a:chExt cx="1168458" cy="2403347"/>
          </a:xfrm>
        </p:grpSpPr>
        <p:grpSp>
          <p:nvGrpSpPr>
            <p:cNvPr id="104" name="Group 103"/>
            <p:cNvGrpSpPr/>
            <p:nvPr/>
          </p:nvGrpSpPr>
          <p:grpSpPr>
            <a:xfrm>
              <a:off x="228600" y="2056482"/>
              <a:ext cx="1168458" cy="2403347"/>
              <a:chOff x="297097" y="2679851"/>
              <a:chExt cx="1168458" cy="2403347"/>
            </a:xfrm>
          </p:grpSpPr>
          <p:sp>
            <p:nvSpPr>
              <p:cNvPr id="5" name="TextBox 4"/>
              <p:cNvSpPr txBox="1"/>
              <p:nvPr/>
            </p:nvSpPr>
            <p:spPr>
              <a:xfrm>
                <a:off x="360655" y="2959540"/>
                <a:ext cx="1104900" cy="2123658"/>
              </a:xfrm>
              <a:prstGeom prst="rect">
                <a:avLst/>
              </a:prstGeom>
              <a:noFill/>
              <a:ln w="25400">
                <a:solidFill>
                  <a:schemeClr val="tx1"/>
                </a:solidFill>
              </a:ln>
            </p:spPr>
            <p:txBody>
              <a:bodyPr wrap="square" rtlCol="0">
                <a:spAutoFit/>
              </a:bodyPr>
              <a:lstStyle/>
              <a:p>
                <a:r>
                  <a:rPr lang="en-US" sz="1100" dirty="0" smtClean="0"/>
                  <a:t>103 W </a:t>
                </a:r>
                <a:r>
                  <a:rPr lang="en-US" sz="1100" dirty="0" err="1" smtClean="0"/>
                  <a:t>Losey</a:t>
                </a:r>
                <a:r>
                  <a:rPr lang="en-US" sz="1100" dirty="0" smtClean="0"/>
                  <a:t> </a:t>
                </a:r>
                <a:r>
                  <a:rPr lang="en-US" sz="1100" dirty="0" err="1" smtClean="0"/>
                  <a:t>Str</a:t>
                </a:r>
                <a:endParaRPr lang="en-US" sz="1100" dirty="0" smtClean="0"/>
              </a:p>
              <a:p>
                <a:r>
                  <a:rPr lang="en-US" sz="1100" dirty="0" err="1" smtClean="0"/>
                  <a:t>Bldg</a:t>
                </a:r>
                <a:r>
                  <a:rPr lang="en-US" sz="1100" dirty="0" smtClean="0"/>
                  <a:t> 1575</a:t>
                </a:r>
              </a:p>
              <a:p>
                <a:r>
                  <a:rPr lang="en-US" sz="1100" dirty="0" smtClean="0"/>
                  <a:t>Room C-1B</a:t>
                </a:r>
              </a:p>
              <a:p>
                <a:endParaRPr lang="en-US" sz="1100" dirty="0"/>
              </a:p>
              <a:p>
                <a:endParaRPr lang="en-US" sz="1100" dirty="0" smtClean="0"/>
              </a:p>
              <a:p>
                <a:endParaRPr lang="en-US" sz="1100" dirty="0"/>
              </a:p>
              <a:p>
                <a:endParaRPr lang="en-US" sz="1100" dirty="0" smtClean="0"/>
              </a:p>
              <a:p>
                <a:endParaRPr lang="en-US" sz="1100" dirty="0" smtClean="0"/>
              </a:p>
              <a:p>
                <a:endParaRPr lang="en-US" sz="1100" dirty="0" smtClean="0"/>
              </a:p>
              <a:p>
                <a:endParaRPr lang="en-US" sz="1100" dirty="0"/>
              </a:p>
              <a:p>
                <a:endParaRPr lang="en-US" sz="1100" dirty="0"/>
              </a:p>
              <a:p>
                <a:endParaRPr lang="en-US" sz="1100" dirty="0"/>
              </a:p>
            </p:txBody>
          </p:sp>
          <p:sp>
            <p:nvSpPr>
              <p:cNvPr id="11" name="TextBox 10"/>
              <p:cNvSpPr txBox="1"/>
              <p:nvPr/>
            </p:nvSpPr>
            <p:spPr>
              <a:xfrm>
                <a:off x="297097" y="2679851"/>
                <a:ext cx="720963" cy="307777"/>
              </a:xfrm>
              <a:prstGeom prst="rect">
                <a:avLst/>
              </a:prstGeom>
              <a:noFill/>
            </p:spPr>
            <p:txBody>
              <a:bodyPr wrap="none" rtlCol="0">
                <a:spAutoFit/>
              </a:bodyPr>
              <a:lstStyle/>
              <a:p>
                <a:r>
                  <a:rPr lang="en-US" sz="1400" b="1" dirty="0" smtClean="0"/>
                  <a:t>Scott AFB</a:t>
                </a:r>
                <a:endParaRPr lang="en-US" sz="1400" b="1" dirty="0"/>
              </a:p>
            </p:txBody>
          </p:sp>
          <p:sp>
            <p:nvSpPr>
              <p:cNvPr id="99" name="TextBox 98"/>
              <p:cNvSpPr txBox="1"/>
              <p:nvPr/>
            </p:nvSpPr>
            <p:spPr>
              <a:xfrm>
                <a:off x="551155" y="4597106"/>
                <a:ext cx="723900" cy="261610"/>
              </a:xfrm>
              <a:prstGeom prst="rect">
                <a:avLst/>
              </a:prstGeom>
              <a:solidFill>
                <a:srgbClr val="FFFF00"/>
              </a:solidFill>
              <a:ln>
                <a:solidFill>
                  <a:srgbClr val="FF0000"/>
                </a:solidFill>
              </a:ln>
            </p:spPr>
            <p:txBody>
              <a:bodyPr wrap="square" rtlCol="0">
                <a:spAutoFit/>
              </a:bodyPr>
              <a:lstStyle/>
              <a:p>
                <a:pPr algn="ctr"/>
                <a:r>
                  <a:rPr lang="en-US" sz="1100" b="1" dirty="0" smtClean="0"/>
                  <a:t>DWDM</a:t>
                </a:r>
                <a:endParaRPr lang="en-US" sz="1100" b="1" dirty="0"/>
              </a:p>
            </p:txBody>
          </p:sp>
        </p:grpSp>
        <p:sp>
          <p:nvSpPr>
            <p:cNvPr id="105" name="TextBox 104"/>
            <p:cNvSpPr txBox="1"/>
            <p:nvPr/>
          </p:nvSpPr>
          <p:spPr>
            <a:xfrm>
              <a:off x="482658" y="3502921"/>
              <a:ext cx="723900" cy="261610"/>
            </a:xfrm>
            <a:prstGeom prst="rect">
              <a:avLst/>
            </a:prstGeom>
            <a:solidFill>
              <a:srgbClr val="FFFF00"/>
            </a:solidFill>
            <a:ln>
              <a:solidFill>
                <a:srgbClr val="FF0000"/>
              </a:solidFill>
            </a:ln>
          </p:spPr>
          <p:txBody>
            <a:bodyPr wrap="square" rtlCol="0">
              <a:spAutoFit/>
            </a:bodyPr>
            <a:lstStyle/>
            <a:p>
              <a:pPr algn="ctr"/>
              <a:r>
                <a:rPr lang="en-US" sz="1100" b="1" dirty="0" smtClean="0"/>
                <a:t>DWDM</a:t>
              </a:r>
              <a:endParaRPr lang="en-US" sz="1100" b="1" dirty="0"/>
            </a:p>
          </p:txBody>
        </p:sp>
      </p:grpSp>
      <p:sp>
        <p:nvSpPr>
          <p:cNvPr id="112" name="Freeform 111"/>
          <p:cNvSpPr/>
          <p:nvPr/>
        </p:nvSpPr>
        <p:spPr>
          <a:xfrm>
            <a:off x="1219200" y="3022600"/>
            <a:ext cx="914400" cy="622300"/>
          </a:xfrm>
          <a:custGeom>
            <a:avLst/>
            <a:gdLst>
              <a:gd name="connsiteX0" fmla="*/ 914400 w 914400"/>
              <a:gd name="connsiteY0" fmla="*/ 0 h 622300"/>
              <a:gd name="connsiteX1" fmla="*/ 457200 w 914400"/>
              <a:gd name="connsiteY1" fmla="*/ 0 h 622300"/>
              <a:gd name="connsiteX2" fmla="*/ 444500 w 914400"/>
              <a:gd name="connsiteY2" fmla="*/ 622300 h 622300"/>
              <a:gd name="connsiteX3" fmla="*/ 0 w 914400"/>
              <a:gd name="connsiteY3" fmla="*/ 622300 h 622300"/>
              <a:gd name="connsiteX4" fmla="*/ 0 w 914400"/>
              <a:gd name="connsiteY4" fmla="*/ 622300 h 622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 h="622300">
                <a:moveTo>
                  <a:pt x="914400" y="0"/>
                </a:moveTo>
                <a:lnTo>
                  <a:pt x="457200" y="0"/>
                </a:lnTo>
                <a:lnTo>
                  <a:pt x="444500" y="622300"/>
                </a:lnTo>
                <a:lnTo>
                  <a:pt x="0" y="622300"/>
                </a:lnTo>
                <a:lnTo>
                  <a:pt x="0" y="622300"/>
                </a:lnTo>
              </a:path>
            </a:pathLst>
          </a:cu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Freeform 112"/>
          <p:cNvSpPr/>
          <p:nvPr/>
        </p:nvSpPr>
        <p:spPr>
          <a:xfrm>
            <a:off x="1219200" y="4102100"/>
            <a:ext cx="927100" cy="1079500"/>
          </a:xfrm>
          <a:custGeom>
            <a:avLst/>
            <a:gdLst>
              <a:gd name="connsiteX0" fmla="*/ 927100 w 927100"/>
              <a:gd name="connsiteY0" fmla="*/ 1079500 h 1079500"/>
              <a:gd name="connsiteX1" fmla="*/ 431800 w 927100"/>
              <a:gd name="connsiteY1" fmla="*/ 1079500 h 1079500"/>
              <a:gd name="connsiteX2" fmla="*/ 444500 w 927100"/>
              <a:gd name="connsiteY2" fmla="*/ 0 h 1079500"/>
              <a:gd name="connsiteX3" fmla="*/ 0 w 927100"/>
              <a:gd name="connsiteY3" fmla="*/ 0 h 1079500"/>
              <a:gd name="connsiteX4" fmla="*/ 0 w 927100"/>
              <a:gd name="connsiteY4" fmla="*/ 0 h 1079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7100" h="1079500">
                <a:moveTo>
                  <a:pt x="927100" y="1079500"/>
                </a:moveTo>
                <a:lnTo>
                  <a:pt x="431800" y="1079500"/>
                </a:lnTo>
                <a:lnTo>
                  <a:pt x="444500" y="0"/>
                </a:lnTo>
                <a:lnTo>
                  <a:pt x="0" y="0"/>
                </a:lnTo>
                <a:lnTo>
                  <a:pt x="0" y="0"/>
                </a:ln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TextBox 113"/>
          <p:cNvSpPr txBox="1"/>
          <p:nvPr/>
        </p:nvSpPr>
        <p:spPr>
          <a:xfrm>
            <a:off x="7803155" y="2665661"/>
            <a:ext cx="803692" cy="261610"/>
          </a:xfrm>
          <a:prstGeom prst="rect">
            <a:avLst/>
          </a:prstGeom>
          <a:noFill/>
          <a:ln w="12700">
            <a:noFill/>
          </a:ln>
        </p:spPr>
        <p:txBody>
          <a:bodyPr wrap="square" rtlCol="0">
            <a:spAutoFit/>
          </a:bodyPr>
          <a:lstStyle/>
          <a:p>
            <a:pPr algn="ctr"/>
            <a:r>
              <a:rPr lang="en-US" sz="1100" b="1" dirty="0" smtClean="0"/>
              <a:t>On-net</a:t>
            </a:r>
            <a:endParaRPr lang="en-US" sz="1100" b="1" dirty="0"/>
          </a:p>
        </p:txBody>
      </p:sp>
      <p:sp>
        <p:nvSpPr>
          <p:cNvPr id="116" name="TextBox 115"/>
          <p:cNvSpPr txBox="1"/>
          <p:nvPr/>
        </p:nvSpPr>
        <p:spPr>
          <a:xfrm>
            <a:off x="4978594" y="4856766"/>
            <a:ext cx="803692" cy="261610"/>
          </a:xfrm>
          <a:prstGeom prst="rect">
            <a:avLst/>
          </a:prstGeom>
          <a:noFill/>
          <a:ln w="12700">
            <a:noFill/>
          </a:ln>
        </p:spPr>
        <p:txBody>
          <a:bodyPr wrap="square" rtlCol="0">
            <a:spAutoFit/>
          </a:bodyPr>
          <a:lstStyle/>
          <a:p>
            <a:pPr algn="ctr"/>
            <a:r>
              <a:rPr lang="en-US" sz="1100" b="1" dirty="0" smtClean="0"/>
              <a:t>On-net</a:t>
            </a:r>
            <a:endParaRPr lang="en-US" sz="1100" b="1" dirty="0"/>
          </a:p>
        </p:txBody>
      </p:sp>
      <p:sp>
        <p:nvSpPr>
          <p:cNvPr id="117" name="TextBox 116"/>
          <p:cNvSpPr txBox="1"/>
          <p:nvPr/>
        </p:nvSpPr>
        <p:spPr>
          <a:xfrm>
            <a:off x="442762" y="4187165"/>
            <a:ext cx="803692" cy="261610"/>
          </a:xfrm>
          <a:prstGeom prst="rect">
            <a:avLst/>
          </a:prstGeom>
          <a:noFill/>
          <a:ln w="12700">
            <a:noFill/>
          </a:ln>
        </p:spPr>
        <p:txBody>
          <a:bodyPr wrap="square" rtlCol="0">
            <a:spAutoFit/>
          </a:bodyPr>
          <a:lstStyle/>
          <a:p>
            <a:pPr algn="ctr"/>
            <a:r>
              <a:rPr lang="en-US" sz="1100" b="1" dirty="0" smtClean="0"/>
              <a:t>On-net</a:t>
            </a:r>
            <a:endParaRPr lang="en-US" sz="1100" b="1" dirty="0"/>
          </a:p>
        </p:txBody>
      </p:sp>
      <p:sp>
        <p:nvSpPr>
          <p:cNvPr id="118" name="TextBox 117"/>
          <p:cNvSpPr txBox="1"/>
          <p:nvPr/>
        </p:nvSpPr>
        <p:spPr>
          <a:xfrm>
            <a:off x="442762" y="3276867"/>
            <a:ext cx="803692" cy="261610"/>
          </a:xfrm>
          <a:prstGeom prst="rect">
            <a:avLst/>
          </a:prstGeom>
          <a:noFill/>
          <a:ln w="12700">
            <a:noFill/>
          </a:ln>
        </p:spPr>
        <p:txBody>
          <a:bodyPr wrap="square" rtlCol="0">
            <a:spAutoFit/>
          </a:bodyPr>
          <a:lstStyle/>
          <a:p>
            <a:pPr algn="ctr"/>
            <a:r>
              <a:rPr lang="en-US" sz="1100" b="1" dirty="0" smtClean="0"/>
              <a:t>On-net</a:t>
            </a:r>
            <a:endParaRPr lang="en-US" sz="1100" b="1" dirty="0"/>
          </a:p>
        </p:txBody>
      </p:sp>
      <p:sp>
        <p:nvSpPr>
          <p:cNvPr id="119" name="TextBox 118"/>
          <p:cNvSpPr txBox="1"/>
          <p:nvPr/>
        </p:nvSpPr>
        <p:spPr>
          <a:xfrm>
            <a:off x="330380" y="5758188"/>
            <a:ext cx="3963097" cy="738664"/>
          </a:xfrm>
          <a:prstGeom prst="rect">
            <a:avLst/>
          </a:prstGeom>
          <a:noFill/>
          <a:ln w="15875">
            <a:solidFill>
              <a:schemeClr val="tx1"/>
            </a:solidFill>
            <a:prstDash val="sysDash"/>
          </a:ln>
        </p:spPr>
        <p:txBody>
          <a:bodyPr wrap="square" rtlCol="0">
            <a:spAutoFit/>
          </a:bodyPr>
          <a:lstStyle/>
          <a:p>
            <a:r>
              <a:rPr lang="en-US" sz="1400" b="1" u="sng" dirty="0" smtClean="0"/>
              <a:t>Legend:</a:t>
            </a:r>
          </a:p>
          <a:p>
            <a:r>
              <a:rPr lang="en-US" sz="1400" dirty="0" smtClean="0"/>
              <a:t>Prime vendor:  	     Sub-vendor B:   </a:t>
            </a:r>
          </a:p>
          <a:p>
            <a:r>
              <a:rPr lang="en-US" sz="1400" dirty="0" smtClean="0"/>
              <a:t>Sub-vendor A:  	     Sub-vendor C:</a:t>
            </a:r>
          </a:p>
        </p:txBody>
      </p:sp>
      <p:cxnSp>
        <p:nvCxnSpPr>
          <p:cNvPr id="121" name="Straight Connector 120"/>
          <p:cNvCxnSpPr/>
          <p:nvPr/>
        </p:nvCxnSpPr>
        <p:spPr>
          <a:xfrm>
            <a:off x="1600200" y="6096000"/>
            <a:ext cx="550421"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a:off x="1600200" y="6324600"/>
            <a:ext cx="550421" cy="0"/>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a:off x="3569577" y="6337300"/>
            <a:ext cx="545223" cy="0"/>
          </a:xfrm>
          <a:prstGeom prst="line">
            <a:avLst/>
          </a:prstGeom>
          <a:ln w="2540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a:xfrm>
            <a:off x="3569577" y="6114820"/>
            <a:ext cx="545223"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132" name="TextBox 131"/>
          <p:cNvSpPr txBox="1"/>
          <p:nvPr/>
        </p:nvSpPr>
        <p:spPr>
          <a:xfrm>
            <a:off x="4469721" y="5619688"/>
            <a:ext cx="4544904" cy="1200329"/>
          </a:xfrm>
          <a:prstGeom prst="rect">
            <a:avLst/>
          </a:prstGeom>
          <a:noFill/>
        </p:spPr>
        <p:txBody>
          <a:bodyPr wrap="square" rtlCol="0">
            <a:spAutoFit/>
          </a:bodyPr>
          <a:lstStyle/>
          <a:p>
            <a:r>
              <a:rPr lang="en-US" sz="1200" b="1" u="sng" dirty="0" smtClean="0"/>
              <a:t>NOTE:</a:t>
            </a:r>
            <a:r>
              <a:rPr lang="en-US" sz="1200" dirty="0" smtClean="0"/>
              <a:t>  Vendor must indicate whether they are on-net with optical equipment at the demark locations.  If not, vendor must provide the precise fiber distance from the nearest Servicing Wire Center (SWC) or Central Office (CO) where the service will be delivered from</a:t>
            </a:r>
            <a:r>
              <a:rPr lang="en-US" sz="1200" dirty="0"/>
              <a:t>. Vendor is </a:t>
            </a:r>
            <a:r>
              <a:rPr lang="en-US" sz="1200" dirty="0" smtClean="0"/>
              <a:t>not authorized </a:t>
            </a:r>
            <a:r>
              <a:rPr lang="en-US" sz="1200" dirty="0"/>
              <a:t>to deviate or change any technical parameters from the </a:t>
            </a:r>
            <a:r>
              <a:rPr lang="en-US" sz="1200" dirty="0" smtClean="0"/>
              <a:t>order without </a:t>
            </a:r>
            <a:r>
              <a:rPr lang="en-US" sz="1200" dirty="0"/>
              <a:t>permission from the </a:t>
            </a:r>
            <a:r>
              <a:rPr lang="en-US" sz="1200" dirty="0" smtClean="0"/>
              <a:t>government.</a:t>
            </a:r>
            <a:endParaRPr lang="en-US" sz="1200" dirty="0"/>
          </a:p>
        </p:txBody>
      </p:sp>
      <p:sp>
        <p:nvSpPr>
          <p:cNvPr id="2" name="TextBox 1"/>
          <p:cNvSpPr txBox="1"/>
          <p:nvPr/>
        </p:nvSpPr>
        <p:spPr>
          <a:xfrm>
            <a:off x="174414" y="1121229"/>
            <a:ext cx="8740986" cy="369332"/>
          </a:xfrm>
          <a:prstGeom prst="rect">
            <a:avLst/>
          </a:prstGeom>
          <a:noFill/>
        </p:spPr>
        <p:txBody>
          <a:bodyPr wrap="square" rtlCol="0">
            <a:spAutoFit/>
          </a:bodyPr>
          <a:lstStyle/>
          <a:p>
            <a:r>
              <a:rPr lang="en-US" b="1" dirty="0" smtClean="0">
                <a:solidFill>
                  <a:srgbClr val="FF0000"/>
                </a:solidFill>
              </a:rPr>
              <a:t>NOTE</a:t>
            </a:r>
            <a:r>
              <a:rPr lang="en-US" dirty="0" smtClean="0">
                <a:solidFill>
                  <a:srgbClr val="FF0000"/>
                </a:solidFill>
              </a:rPr>
              <a:t>:  All addresses are fictitious (except end locations) and used only as an example. </a:t>
            </a:r>
            <a:endParaRPr lang="en-US" dirty="0">
              <a:solidFill>
                <a:srgbClr val="FF0000"/>
              </a:solidFill>
            </a:endParaRPr>
          </a:p>
        </p:txBody>
      </p:sp>
    </p:spTree>
    <p:extLst>
      <p:ext uri="{BB962C8B-B14F-4D97-AF65-F5344CB8AC3E}">
        <p14:creationId xmlns:p14="http://schemas.microsoft.com/office/powerpoint/2010/main" val="2627717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256</TotalTime>
  <Words>266</Words>
  <Application>Microsoft Office PowerPoint</Application>
  <PresentationFormat>On-screen Show (4:3)</PresentationFormat>
  <Paragraphs>101</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   Scott AFB / 2.5GB Wave Service - TSR SG25FEB160001 / Bldg 1575, 103 West Losey Street, Scott AFB, IL – DECC St Louis -  TSR SG25FEB160002 / Bldg 1575, 103 West Losey Street, Scott AFB, IL – Offutt AFB</vt:lpstr>
    </vt:vector>
  </TitlesOfParts>
  <Company>Defense Information System Agency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Scott AFB / 2.5GB Wave Service - TSR SG25FEB160001 / Bldg 1575, 103 West Losey Street, Scott AFB, IL – DECC St Louis -  TSR SG25FEB160002 / Bldg 1575, 103 West Losey Street, Scott AFB, IL – Offutt AFB</dc:title>
  <dc:creator>DISA User</dc:creator>
  <cp:lastModifiedBy>O'neil, Timothy J CIV DISA PSD</cp:lastModifiedBy>
  <cp:revision>22</cp:revision>
  <dcterms:created xsi:type="dcterms:W3CDTF">2016-02-24T17:05:33Z</dcterms:created>
  <dcterms:modified xsi:type="dcterms:W3CDTF">2018-06-19T13:29:39Z</dcterms:modified>
</cp:coreProperties>
</file>