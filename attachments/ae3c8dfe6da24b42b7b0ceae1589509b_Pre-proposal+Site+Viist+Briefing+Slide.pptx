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5"/>
  </p:sldMasterIdLst>
  <p:notesMasterIdLst>
    <p:notesMasterId r:id="rId14"/>
  </p:notesMasterIdLst>
  <p:handoutMasterIdLst>
    <p:handoutMasterId r:id="rId15"/>
  </p:handoutMasterIdLst>
  <p:sldIdLst>
    <p:sldId id="269" r:id="rId6"/>
    <p:sldId id="451" r:id="rId7"/>
    <p:sldId id="450" r:id="rId8"/>
    <p:sldId id="459" r:id="rId9"/>
    <p:sldId id="449" r:id="rId10"/>
    <p:sldId id="467" r:id="rId11"/>
    <p:sldId id="466" r:id="rId12"/>
    <p:sldId id="329" r:id="rId1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102629-6E79-44F9-84A3-DCFFAF98230F}">
          <p14:sldIdLst>
            <p14:sldId id="269"/>
            <p14:sldId id="451"/>
            <p14:sldId id="450"/>
            <p14:sldId id="459"/>
            <p14:sldId id="449"/>
            <p14:sldId id="467"/>
            <p14:sldId id="466"/>
            <p14:sldId id="329"/>
          </p14:sldIdLst>
        </p14:section>
      </p14:sectionLst>
    </p:ext>
    <p:ext uri="{EFAFB233-063F-42B5-8137-9DF3F51BA10A}">
      <p15:sldGuideLst xmlns:p15="http://schemas.microsoft.com/office/powerpoint/2012/main">
        <p15:guide id="1" orient="horz" pos="215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F4BFF9-4BC3-4D2B-9DC0-35FCC96B3CFC}" v="12" dt="2026-04-24T15:15:05.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snapToObjects="1">
      <p:cViewPr varScale="1">
        <p:scale>
          <a:sx n="96" d="100"/>
          <a:sy n="96" d="100"/>
        </p:scale>
        <p:origin x="2960" y="56"/>
      </p:cViewPr>
      <p:guideLst>
        <p:guide orient="horz" pos="2158"/>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un, Daniel" userId="a1032576-66f1-4b98-a4c7-802dd6568023" providerId="ADAL" clId="{02E96D94-8D2A-4F70-AFB9-8C760713BFBB}"/>
    <pc:docChg chg="custSel modSld">
      <pc:chgData name="Jhun, Daniel" userId="a1032576-66f1-4b98-a4c7-802dd6568023" providerId="ADAL" clId="{02E96D94-8D2A-4F70-AFB9-8C760713BFBB}" dt="2026-04-24T15:15:42.094" v="848" actId="13926"/>
      <pc:docMkLst>
        <pc:docMk/>
      </pc:docMkLst>
      <pc:sldChg chg="modSp mod">
        <pc:chgData name="Jhun, Daniel" userId="a1032576-66f1-4b98-a4c7-802dd6568023" providerId="ADAL" clId="{02E96D94-8D2A-4F70-AFB9-8C760713BFBB}" dt="2026-04-24T14:53:06.682" v="196" actId="20577"/>
        <pc:sldMkLst>
          <pc:docMk/>
          <pc:sldMk cId="2576542182" sldId="269"/>
        </pc:sldMkLst>
        <pc:spChg chg="mod">
          <ac:chgData name="Jhun, Daniel" userId="a1032576-66f1-4b98-a4c7-802dd6568023" providerId="ADAL" clId="{02E96D94-8D2A-4F70-AFB9-8C760713BFBB}" dt="2026-04-24T14:53:06.682" v="196" actId="20577"/>
          <ac:spMkLst>
            <pc:docMk/>
            <pc:sldMk cId="2576542182" sldId="269"/>
            <ac:spMk id="4" creationId="{00000000-0000-0000-0000-000000000000}"/>
          </ac:spMkLst>
        </pc:spChg>
        <pc:spChg chg="mod">
          <ac:chgData name="Jhun, Daniel" userId="a1032576-66f1-4b98-a4c7-802dd6568023" providerId="ADAL" clId="{02E96D94-8D2A-4F70-AFB9-8C760713BFBB}" dt="2026-04-24T14:52:39.910" v="156" actId="20577"/>
          <ac:spMkLst>
            <pc:docMk/>
            <pc:sldMk cId="2576542182" sldId="269"/>
            <ac:spMk id="5" creationId="{00000000-0000-0000-0000-000000000000}"/>
          </ac:spMkLst>
        </pc:spChg>
      </pc:sldChg>
      <pc:sldChg chg="modSp mod">
        <pc:chgData name="Jhun, Daniel" userId="a1032576-66f1-4b98-a4c7-802dd6568023" providerId="ADAL" clId="{02E96D94-8D2A-4F70-AFB9-8C760713BFBB}" dt="2026-04-24T15:12:06.427" v="719" actId="20577"/>
        <pc:sldMkLst>
          <pc:docMk/>
          <pc:sldMk cId="129874622" sldId="449"/>
        </pc:sldMkLst>
        <pc:spChg chg="mod">
          <ac:chgData name="Jhun, Daniel" userId="a1032576-66f1-4b98-a4c7-802dd6568023" providerId="ADAL" clId="{02E96D94-8D2A-4F70-AFB9-8C760713BFBB}" dt="2026-04-24T15:12:06.427" v="719" actId="20577"/>
          <ac:spMkLst>
            <pc:docMk/>
            <pc:sldMk cId="129874622" sldId="449"/>
            <ac:spMk id="310275" creationId="{00000000-0000-0000-0000-000000000000}"/>
          </ac:spMkLst>
        </pc:spChg>
      </pc:sldChg>
      <pc:sldChg chg="modSp mod">
        <pc:chgData name="Jhun, Daniel" userId="a1032576-66f1-4b98-a4c7-802dd6568023" providerId="ADAL" clId="{02E96D94-8D2A-4F70-AFB9-8C760713BFBB}" dt="2026-04-24T15:05:03.974" v="462" actId="2711"/>
        <pc:sldMkLst>
          <pc:docMk/>
          <pc:sldMk cId="1584856224" sldId="450"/>
        </pc:sldMkLst>
        <pc:spChg chg="mod">
          <ac:chgData name="Jhun, Daniel" userId="a1032576-66f1-4b98-a4c7-802dd6568023" providerId="ADAL" clId="{02E96D94-8D2A-4F70-AFB9-8C760713BFBB}" dt="2026-04-24T15:05:03.974" v="462" actId="2711"/>
          <ac:spMkLst>
            <pc:docMk/>
            <pc:sldMk cId="1584856224" sldId="450"/>
            <ac:spMk id="3" creationId="{24094C83-7C4F-4DDD-8C2F-1604975EED52}"/>
          </ac:spMkLst>
        </pc:spChg>
        <pc:spChg chg="mod">
          <ac:chgData name="Jhun, Daniel" userId="a1032576-66f1-4b98-a4c7-802dd6568023" providerId="ADAL" clId="{02E96D94-8D2A-4F70-AFB9-8C760713BFBB}" dt="2026-04-24T15:03:43.021" v="367" actId="20577"/>
          <ac:spMkLst>
            <pc:docMk/>
            <pc:sldMk cId="1584856224" sldId="450"/>
            <ac:spMk id="310275" creationId="{00000000-0000-0000-0000-000000000000}"/>
          </ac:spMkLst>
        </pc:spChg>
      </pc:sldChg>
      <pc:sldChg chg="modSp mod">
        <pc:chgData name="Jhun, Daniel" userId="a1032576-66f1-4b98-a4c7-802dd6568023" providerId="ADAL" clId="{02E96D94-8D2A-4F70-AFB9-8C760713BFBB}" dt="2026-04-24T15:01:14.875" v="255" actId="20577"/>
        <pc:sldMkLst>
          <pc:docMk/>
          <pc:sldMk cId="547749990" sldId="451"/>
        </pc:sldMkLst>
        <pc:spChg chg="mod">
          <ac:chgData name="Jhun, Daniel" userId="a1032576-66f1-4b98-a4c7-802dd6568023" providerId="ADAL" clId="{02E96D94-8D2A-4F70-AFB9-8C760713BFBB}" dt="2026-04-24T15:01:14.875" v="255" actId="20577"/>
          <ac:spMkLst>
            <pc:docMk/>
            <pc:sldMk cId="547749990" sldId="451"/>
            <ac:spMk id="310275" creationId="{00000000-0000-0000-0000-000000000000}"/>
          </ac:spMkLst>
        </pc:spChg>
      </pc:sldChg>
      <pc:sldChg chg="modSp mod">
        <pc:chgData name="Jhun, Daniel" userId="a1032576-66f1-4b98-a4c7-802dd6568023" providerId="ADAL" clId="{02E96D94-8D2A-4F70-AFB9-8C760713BFBB}" dt="2026-04-24T15:06:58.225" v="476" actId="20577"/>
        <pc:sldMkLst>
          <pc:docMk/>
          <pc:sldMk cId="624635166" sldId="459"/>
        </pc:sldMkLst>
        <pc:spChg chg="mod">
          <ac:chgData name="Jhun, Daniel" userId="a1032576-66f1-4b98-a4c7-802dd6568023" providerId="ADAL" clId="{02E96D94-8D2A-4F70-AFB9-8C760713BFBB}" dt="2026-04-24T15:06:58.225" v="476" actId="20577"/>
          <ac:spMkLst>
            <pc:docMk/>
            <pc:sldMk cId="624635166" sldId="459"/>
            <ac:spMk id="3" creationId="{F6E89FB7-F2A5-4EA2-9CBA-B282A61B8443}"/>
          </ac:spMkLst>
        </pc:spChg>
      </pc:sldChg>
      <pc:sldChg chg="modSp mod">
        <pc:chgData name="Jhun, Daniel" userId="a1032576-66f1-4b98-a4c7-802dd6568023" providerId="ADAL" clId="{02E96D94-8D2A-4F70-AFB9-8C760713BFBB}" dt="2026-04-24T15:15:42.094" v="848" actId="13926"/>
        <pc:sldMkLst>
          <pc:docMk/>
          <pc:sldMk cId="55409085" sldId="466"/>
        </pc:sldMkLst>
        <pc:spChg chg="mod">
          <ac:chgData name="Jhun, Daniel" userId="a1032576-66f1-4b98-a4c7-802dd6568023" providerId="ADAL" clId="{02E96D94-8D2A-4F70-AFB9-8C760713BFBB}" dt="2026-04-24T15:15:42.094" v="848" actId="13926"/>
          <ac:spMkLst>
            <pc:docMk/>
            <pc:sldMk cId="55409085" sldId="466"/>
            <ac:spMk id="3" creationId="{2CBF235A-C839-4129-A97D-213F8753C6EB}"/>
          </ac:spMkLst>
        </pc:spChg>
      </pc:sldChg>
      <pc:sldChg chg="modSp mod">
        <pc:chgData name="Jhun, Daniel" userId="a1032576-66f1-4b98-a4c7-802dd6568023" providerId="ADAL" clId="{02E96D94-8D2A-4F70-AFB9-8C760713BFBB}" dt="2026-04-24T15:14:02.416" v="733" actId="27636"/>
        <pc:sldMkLst>
          <pc:docMk/>
          <pc:sldMk cId="4192265605" sldId="467"/>
        </pc:sldMkLst>
        <pc:spChg chg="mod">
          <ac:chgData name="Jhun, Daniel" userId="a1032576-66f1-4b98-a4c7-802dd6568023" providerId="ADAL" clId="{02E96D94-8D2A-4F70-AFB9-8C760713BFBB}" dt="2026-04-24T15:14:02.416" v="733" actId="27636"/>
          <ac:spMkLst>
            <pc:docMk/>
            <pc:sldMk cId="4192265605" sldId="467"/>
            <ac:spMk id="3" creationId="{5BF863B6-53EF-42CE-B1A6-BB3A04AED5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84A682B-60B7-244F-AF8C-16AA5F067F6C}" type="datetimeFigureOut">
              <a:rPr lang="en-US" smtClean="0"/>
              <a:t>4/24/2026</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6B285591-F2ED-7B4B-AAEB-54F8DF9914E5}" type="slidenum">
              <a:rPr lang="en-US" smtClean="0"/>
              <a:t>‹#›</a:t>
            </a:fld>
            <a:endParaRPr lang="en-US" dirty="0"/>
          </a:p>
        </p:txBody>
      </p:sp>
    </p:spTree>
    <p:extLst>
      <p:ext uri="{BB962C8B-B14F-4D97-AF65-F5344CB8AC3E}">
        <p14:creationId xmlns:p14="http://schemas.microsoft.com/office/powerpoint/2010/main" val="19199291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42C0177D-0B34-354A-A985-A7708375935C}" type="datetimeFigureOut">
              <a:rPr lang="en-US" smtClean="0"/>
              <a:t>4/24/2026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FD3E557-29CA-2942-B5B0-BBAE067F5736}" type="slidenum">
              <a:rPr lang="en-US" smtClean="0"/>
              <a:t>‹#›</a:t>
            </a:fld>
            <a:endParaRPr lang="en-US" dirty="0"/>
          </a:p>
        </p:txBody>
      </p:sp>
    </p:spTree>
    <p:extLst>
      <p:ext uri="{BB962C8B-B14F-4D97-AF65-F5344CB8AC3E}">
        <p14:creationId xmlns:p14="http://schemas.microsoft.com/office/powerpoint/2010/main" val="52516197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1</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2</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F909BC5-8149-429D-BC0A-3C689745EDF8}" type="slidenum">
              <a:rPr lang="en-US" smtClean="0"/>
              <a:pPr/>
              <a:t>4</a:t>
            </a:fld>
            <a:endParaRPr lang="en-US"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1AE43E6E-9496-4A60-8ED5-5DA4B4C2A428}" type="slidenum">
              <a:rPr lang="en-US" smtClean="0"/>
              <a:pPr/>
              <a:t>7</a:t>
            </a:fld>
            <a:endParaRPr lang="en-US" dirty="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cover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hasCustomPrompt="1"/>
          </p:nvPr>
        </p:nvSpPr>
        <p:spPr>
          <a:xfrm>
            <a:off x="338880" y="3178162"/>
            <a:ext cx="7772400" cy="730127"/>
          </a:xfrm>
        </p:spPr>
        <p:txBody>
          <a:bodyPr anchor="b" anchorCtr="0">
            <a:normAutofit/>
          </a:bodyPr>
          <a:lstStyle>
            <a:lvl1pPr algn="l">
              <a:defRPr sz="2000" b="1">
                <a:latin typeface="Calibri"/>
                <a:cs typeface="Calibri"/>
              </a:defRPr>
            </a:lvl1pPr>
          </a:lstStyle>
          <a:p>
            <a:r>
              <a:rPr lang="en-US" dirty="0"/>
              <a:t>CLICK TO EDIT MASTER TITLE STYLE</a:t>
            </a:r>
          </a:p>
        </p:txBody>
      </p:sp>
      <p:sp>
        <p:nvSpPr>
          <p:cNvPr id="3" name="Subtitle 2"/>
          <p:cNvSpPr>
            <a:spLocks noGrp="1"/>
          </p:cNvSpPr>
          <p:nvPr>
            <p:ph type="subTitle" idx="1"/>
          </p:nvPr>
        </p:nvSpPr>
        <p:spPr>
          <a:xfrm>
            <a:off x="357696" y="4004454"/>
            <a:ext cx="7753584" cy="914813"/>
          </a:xfrm>
        </p:spPr>
        <p:txBody>
          <a:bodyPr>
            <a:noAutofit/>
          </a:bodyPr>
          <a:lstStyle>
            <a:lvl1pPr marL="0" indent="0" algn="l">
              <a:buNone/>
              <a:defRPr sz="1600">
                <a:solidFill>
                  <a:srgbClr val="FFFFFF"/>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00902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935650"/>
            <a:ext cx="8229600" cy="41905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222987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856225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1508298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732377"/>
            <a:ext cx="4040188"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72139"/>
            <a:ext cx="4040188" cy="3706052"/>
          </a:xfrm>
        </p:spPr>
        <p:txBody>
          <a:bodyPr>
            <a:normAutofit/>
          </a:bodyPr>
          <a:lstStyle>
            <a:lvl1pPr>
              <a:defRPr sz="1600"/>
            </a:lvl1pPr>
            <a:lvl2pPr>
              <a:defRPr sz="1600"/>
            </a:lvl2pPr>
            <a:lvl3pPr>
              <a:defRPr sz="16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4645025" y="1732377"/>
            <a:ext cx="4041775"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372139"/>
            <a:ext cx="4041775" cy="3706052"/>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9" name="Slide Number Placeholder 8"/>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186233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380617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27D237-6C0D-5549-BE11-2040A22CBC71}" type="slidenum">
              <a:rPr lang="en-US" smtClean="0"/>
              <a:t>‹#›</a:t>
            </a:fld>
            <a:endParaRPr lang="en-US" dirty="0"/>
          </a:p>
        </p:txBody>
      </p:sp>
    </p:spTree>
    <p:extLst>
      <p:ext uri="{BB962C8B-B14F-4D97-AF65-F5344CB8AC3E}">
        <p14:creationId xmlns:p14="http://schemas.microsoft.com/office/powerpoint/2010/main" val="261425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997295"/>
            <a:ext cx="5111750" cy="4128867"/>
          </a:xfrm>
        </p:spPr>
        <p:txBody>
          <a:bodyPr>
            <a:normAutofit/>
          </a:bodyPr>
          <a:lstStyle>
            <a:lvl1pPr>
              <a:defRPr sz="1800"/>
            </a:lvl1pPr>
            <a:lvl2pPr>
              <a:defRPr sz="18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half" idx="2"/>
          </p:nvPr>
        </p:nvSpPr>
        <p:spPr>
          <a:xfrm>
            <a:off x="457200" y="1997296"/>
            <a:ext cx="3008313" cy="4128866"/>
          </a:xfrm>
          <a:solidFill>
            <a:srgbClr val="FFFFFF"/>
          </a:solidFill>
          <a:ln>
            <a:solidFill>
              <a:srgbClr val="BFBFBF"/>
            </a:solidFill>
          </a:ln>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91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2391824"/>
            <a:ext cx="5486400" cy="27240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682602"/>
            <a:ext cx="5486400" cy="6135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dirty="0"/>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67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366957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background interior.pdf"/>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8"/>
            <a:ext cx="8229600" cy="129114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849348"/>
            <a:ext cx="8229600" cy="42768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583351" y="6249857"/>
            <a:ext cx="490750" cy="365125"/>
          </a:xfrm>
          <a:prstGeom prst="rect">
            <a:avLst/>
          </a:prstGeom>
        </p:spPr>
        <p:txBody>
          <a:bodyPr vert="horz" lIns="91440" tIns="45720" rIns="91440" bIns="45720" rtlCol="0" anchor="ctr"/>
          <a:lstStyle>
            <a:lvl1pPr algn="r">
              <a:defRPr sz="1000">
                <a:solidFill>
                  <a:schemeClr val="tx1">
                    <a:tint val="75000"/>
                  </a:schemeClr>
                </a:solidFill>
                <a:latin typeface="Georgia"/>
                <a:cs typeface="Georgia"/>
              </a:defRPr>
            </a:lvl1pPr>
          </a:lstStyle>
          <a:p>
            <a:fld id="{9B27D237-6C0D-5549-BE11-2040A22CBC71}" type="slidenum">
              <a:rPr lang="en-US" smtClean="0"/>
              <a:pPr/>
              <a:t>‹#›</a:t>
            </a:fld>
            <a:endParaRPr lang="en-US" dirty="0"/>
          </a:p>
        </p:txBody>
      </p:sp>
      <p:sp>
        <p:nvSpPr>
          <p:cNvPr id="7" name="TextBox 6"/>
          <p:cNvSpPr txBox="1"/>
          <p:nvPr userDrawn="1"/>
        </p:nvSpPr>
        <p:spPr>
          <a:xfrm>
            <a:off x="457200" y="6284494"/>
            <a:ext cx="4311073" cy="276999"/>
          </a:xfrm>
          <a:prstGeom prst="rect">
            <a:avLst/>
          </a:prstGeom>
          <a:noFill/>
        </p:spPr>
        <p:txBody>
          <a:bodyPr wrap="square" rtlCol="0">
            <a:spAutoFit/>
          </a:bodyPr>
          <a:lstStyle/>
          <a:p>
            <a:r>
              <a:rPr lang="en-US" sz="1200" spc="100" dirty="0">
                <a:solidFill>
                  <a:schemeClr val="bg1">
                    <a:lumMod val="65000"/>
                  </a:schemeClr>
                </a:solidFill>
              </a:rPr>
              <a:t>VETERANS HEALTH</a:t>
            </a:r>
            <a:r>
              <a:rPr lang="en-US" sz="1200" spc="100" baseline="0" dirty="0">
                <a:solidFill>
                  <a:schemeClr val="bg1">
                    <a:lumMod val="65000"/>
                  </a:schemeClr>
                </a:solidFill>
              </a:rPr>
              <a:t> ADMINISTRATION</a:t>
            </a:r>
            <a:endParaRPr lang="en-US" sz="1200" spc="100" dirty="0">
              <a:solidFill>
                <a:schemeClr val="bg1">
                  <a:lumMod val="65000"/>
                </a:schemeClr>
              </a:solidFill>
            </a:endParaRPr>
          </a:p>
        </p:txBody>
      </p:sp>
    </p:spTree>
    <p:extLst>
      <p:ext uri="{BB962C8B-B14F-4D97-AF65-F5344CB8AC3E}">
        <p14:creationId xmlns:p14="http://schemas.microsoft.com/office/powerpoint/2010/main" val="122910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defTabSz="457200" rtl="0" eaLnBrk="1" latinLnBrk="0" hangingPunct="1">
        <a:spcBef>
          <a:spcPct val="0"/>
        </a:spcBef>
        <a:buNone/>
        <a:defRPr sz="2400" kern="1200">
          <a:solidFill>
            <a:schemeClr val="bg1"/>
          </a:solidFill>
          <a:latin typeface="Georgia"/>
          <a:ea typeface="+mj-ea"/>
          <a:cs typeface="Georgia"/>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Georgia"/>
        </a:defRPr>
      </a:lvl1pPr>
      <a:lvl2pPr marL="742950" indent="-285750" algn="l" defTabSz="457200" rtl="0" eaLnBrk="1" latinLnBrk="0" hangingPunct="1">
        <a:spcBef>
          <a:spcPct val="20000"/>
        </a:spcBef>
        <a:buFont typeface="Arial"/>
        <a:buChar char="–"/>
        <a:defRPr sz="1600" kern="1200">
          <a:solidFill>
            <a:schemeClr val="tx1"/>
          </a:solidFill>
          <a:latin typeface="+mn-lt"/>
          <a:ea typeface="+mn-ea"/>
          <a:cs typeface="Georgia"/>
        </a:defRPr>
      </a:lvl2pPr>
      <a:lvl3pPr marL="1143000" indent="-228600" algn="l" defTabSz="457200" rtl="0" eaLnBrk="1" latinLnBrk="0" hangingPunct="1">
        <a:spcBef>
          <a:spcPct val="20000"/>
        </a:spcBef>
        <a:buFont typeface="Arial"/>
        <a:buChar char="•"/>
        <a:defRPr sz="1400" kern="1200">
          <a:solidFill>
            <a:schemeClr val="tx1"/>
          </a:solidFill>
          <a:latin typeface="+mn-lt"/>
          <a:ea typeface="+mn-ea"/>
          <a:cs typeface="Georgia"/>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Georgia"/>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daniel.jhun@va.gov"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mailto:Raelynn.licoan-jones@va.gov" TargetMode="External"/><Relationship Id="rId4" Type="http://schemas.openxmlformats.org/officeDocument/2006/relationships/hyperlink" Target="mailto:william.kenton@va.go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daniel.jhun@va.gov"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daniel.jhun@va.gov"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25631" y="2952427"/>
            <a:ext cx="8716488" cy="1886767"/>
          </a:xfrm>
        </p:spPr>
        <p:txBody>
          <a:bodyPr>
            <a:normAutofit/>
          </a:bodyPr>
          <a:lstStyle/>
          <a:p>
            <a:r>
              <a:rPr lang="en-US" sz="3200" dirty="0">
                <a:latin typeface="Arial Narrow" panose="020B0606020202030204" pitchFamily="34" charset="0"/>
              </a:rPr>
              <a:t>RFP 36C26126R0041</a:t>
            </a:r>
            <a:br>
              <a:rPr lang="en-US" sz="3200" dirty="0">
                <a:latin typeface="Arial Narrow" panose="020B0606020202030204" pitchFamily="34" charset="0"/>
              </a:rPr>
            </a:br>
            <a:r>
              <a:rPr lang="en-US" sz="3200" dirty="0">
                <a:latin typeface="Arial Narrow" panose="020B0606020202030204" pitchFamily="34" charset="0"/>
              </a:rPr>
              <a:t>Project No. 593-26-103</a:t>
            </a:r>
            <a:br>
              <a:rPr lang="en-US" sz="3200" dirty="0">
                <a:latin typeface="Arial Narrow" panose="020B0606020202030204" pitchFamily="34" charset="0"/>
              </a:rPr>
            </a:br>
            <a:r>
              <a:rPr lang="en-US" sz="3200" dirty="0">
                <a:latin typeface="Arial Narrow" panose="020B0606020202030204" pitchFamily="34" charset="0"/>
              </a:rPr>
              <a:t>Renovate Education Building Training Hub</a:t>
            </a:r>
            <a:br>
              <a:rPr lang="en-US" sz="3200" dirty="0">
                <a:latin typeface="Arial Narrow" panose="020B0606020202030204" pitchFamily="34" charset="0"/>
              </a:rPr>
            </a:br>
            <a:r>
              <a:rPr lang="en-US" cap="all" dirty="0">
                <a:latin typeface="Arial Narrow" panose="020B0606020202030204" pitchFamily="34" charset="0"/>
              </a:rPr>
              <a:t>VA Southern Nevada healthcare system, </a:t>
            </a:r>
            <a:r>
              <a:rPr lang="en-US" cap="all" dirty="0" err="1">
                <a:latin typeface="Arial Narrow" panose="020B0606020202030204" pitchFamily="34" charset="0"/>
              </a:rPr>
              <a:t>vamc</a:t>
            </a:r>
            <a:r>
              <a:rPr lang="en-US" cap="all" dirty="0">
                <a:latin typeface="Arial Narrow" panose="020B0606020202030204" pitchFamily="34" charset="0"/>
              </a:rPr>
              <a:t> – las </a:t>
            </a:r>
            <a:r>
              <a:rPr lang="en-US" cap="all" dirty="0" err="1">
                <a:latin typeface="Arial Narrow" panose="020B0606020202030204" pitchFamily="34" charset="0"/>
              </a:rPr>
              <a:t>vegas</a:t>
            </a:r>
            <a:r>
              <a:rPr lang="en-US" cap="all" dirty="0">
                <a:latin typeface="Arial Narrow" panose="020B0606020202030204" pitchFamily="34" charset="0"/>
              </a:rPr>
              <a:t>, </a:t>
            </a:r>
            <a:r>
              <a:rPr lang="en-US" cap="all" dirty="0" err="1">
                <a:latin typeface="Arial Narrow" panose="020B0606020202030204" pitchFamily="34" charset="0"/>
              </a:rPr>
              <a:t>nv</a:t>
            </a:r>
            <a:endParaRPr lang="en-US" cap="all" dirty="0">
              <a:latin typeface="Arial Narrow" panose="020B0606020202030204" pitchFamily="34" charset="0"/>
            </a:endParaRPr>
          </a:p>
        </p:txBody>
      </p:sp>
      <p:sp>
        <p:nvSpPr>
          <p:cNvPr id="6" name="Subtitle 5"/>
          <p:cNvSpPr>
            <a:spLocks noGrp="1"/>
          </p:cNvSpPr>
          <p:nvPr>
            <p:ph type="subTitle" idx="1"/>
          </p:nvPr>
        </p:nvSpPr>
        <p:spPr>
          <a:xfrm>
            <a:off x="201882" y="5002306"/>
            <a:ext cx="5144310" cy="530589"/>
          </a:xfrm>
        </p:spPr>
        <p:txBody>
          <a:bodyPr/>
          <a:lstStyle/>
          <a:p>
            <a:r>
              <a:rPr lang="en-US" sz="2400" dirty="0">
                <a:latin typeface="Arial Black" panose="020B0A04020102020204" pitchFamily="34" charset="0"/>
              </a:rPr>
              <a:t>Pre-Proposal Site Visit</a:t>
            </a:r>
            <a:endParaRPr lang="en-US" sz="1000" dirty="0">
              <a:latin typeface="Arial Black" panose="020B0A04020102020204" pitchFamily="34" charset="0"/>
            </a:endParaRPr>
          </a:p>
          <a:p>
            <a:endParaRPr lang="en-US" sz="2400" dirty="0"/>
          </a:p>
          <a:p>
            <a:r>
              <a:rPr lang="en-US" sz="2400" dirty="0"/>
              <a:t>													</a:t>
            </a:r>
          </a:p>
        </p:txBody>
      </p:sp>
      <p:sp>
        <p:nvSpPr>
          <p:cNvPr id="4" name="Subtitle 5"/>
          <p:cNvSpPr txBox="1">
            <a:spLocks/>
          </p:cNvSpPr>
          <p:nvPr/>
        </p:nvSpPr>
        <p:spPr>
          <a:xfrm>
            <a:off x="4113958" y="5213265"/>
            <a:ext cx="4622538" cy="855025"/>
          </a:xfrm>
          <a:prstGeom prst="rect">
            <a:avLst/>
          </a:prstGeom>
        </p:spPr>
        <p:txBody>
          <a:bodyPr vert="horz" lIns="91440" tIns="45720" rIns="91440" bIns="45720" rtlCol="0">
            <a:noAutofit/>
          </a:bodyPr>
          <a:lstStyle>
            <a:lvl1pPr marL="0" indent="0" algn="l" defTabSz="457200" rtl="0" eaLnBrk="1" latinLnBrk="0" hangingPunct="1">
              <a:spcBef>
                <a:spcPct val="20000"/>
              </a:spcBef>
              <a:buFont typeface="Arial"/>
              <a:buNone/>
              <a:defRPr sz="1600" kern="1200">
                <a:solidFill>
                  <a:srgbClr val="FFFFFF"/>
                </a:solidFill>
                <a:latin typeface="+mn-lt"/>
                <a:ea typeface="+mn-ea"/>
                <a:cs typeface="Georgia"/>
              </a:defRPr>
            </a:lvl1pPr>
            <a:lvl2pPr marL="457200" indent="0" algn="ctr" defTabSz="457200" rtl="0" eaLnBrk="1" latinLnBrk="0" hangingPunct="1">
              <a:spcBef>
                <a:spcPct val="20000"/>
              </a:spcBef>
              <a:buFont typeface="Arial"/>
              <a:buNone/>
              <a:defRPr sz="1600" kern="1200">
                <a:solidFill>
                  <a:schemeClr val="tx1">
                    <a:tint val="75000"/>
                  </a:schemeClr>
                </a:solidFill>
                <a:latin typeface="+mn-lt"/>
                <a:ea typeface="+mn-ea"/>
                <a:cs typeface="Georgia"/>
              </a:defRPr>
            </a:lvl2pPr>
            <a:lvl3pPr marL="914400" indent="0" algn="ctr" defTabSz="457200" rtl="0" eaLnBrk="1" latinLnBrk="0" hangingPunct="1">
              <a:spcBef>
                <a:spcPct val="20000"/>
              </a:spcBef>
              <a:buFont typeface="Arial"/>
              <a:buNone/>
              <a:defRPr sz="1400" kern="1200">
                <a:solidFill>
                  <a:schemeClr val="tx1">
                    <a:tint val="75000"/>
                  </a:schemeClr>
                </a:solidFill>
                <a:latin typeface="+mn-lt"/>
                <a:ea typeface="+mn-ea"/>
                <a:cs typeface="Georgia"/>
              </a:defRPr>
            </a:lvl3pPr>
            <a:lvl4pPr marL="1371600" indent="0" algn="ctr" defTabSz="457200" rtl="0" eaLnBrk="1" latinLnBrk="0" hangingPunct="1">
              <a:spcBef>
                <a:spcPct val="20000"/>
              </a:spcBef>
              <a:buFont typeface="Arial"/>
              <a:buNone/>
              <a:defRPr sz="1200" kern="1200">
                <a:solidFill>
                  <a:schemeClr val="tx1">
                    <a:tint val="75000"/>
                  </a:schemeClr>
                </a:solidFill>
                <a:latin typeface="+mn-lt"/>
                <a:ea typeface="+mn-ea"/>
                <a:cs typeface="Georgia"/>
              </a:defRPr>
            </a:lvl4pPr>
            <a:lvl5pPr marL="1828800" indent="0" algn="ctr" defTabSz="457200" rtl="0" eaLnBrk="1" latinLnBrk="0" hangingPunct="1">
              <a:spcBef>
                <a:spcPct val="20000"/>
              </a:spcBef>
              <a:buFont typeface="Arial"/>
              <a:buNone/>
              <a:defRPr sz="1200" kern="1200">
                <a:solidFill>
                  <a:schemeClr val="tx1">
                    <a:tint val="75000"/>
                  </a:schemeClr>
                </a:solidFill>
                <a:latin typeface="Georgia"/>
                <a:ea typeface="+mn-ea"/>
                <a:cs typeface="Georgia"/>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2400" dirty="0">
                <a:latin typeface="Arial Narrow" panose="020B0606020202030204" pitchFamily="34" charset="0"/>
              </a:rPr>
              <a:t>								         12 PM – 1PM (PDT) on May 12, 2026</a:t>
            </a:r>
          </a:p>
        </p:txBody>
      </p:sp>
    </p:spTree>
    <p:extLst>
      <p:ext uri="{BB962C8B-B14F-4D97-AF65-F5344CB8AC3E}">
        <p14:creationId xmlns:p14="http://schemas.microsoft.com/office/powerpoint/2010/main" val="257654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4000" b="1" dirty="0">
                <a:latin typeface="Arial Narrow" panose="020B0606020202030204" pitchFamily="34" charset="0"/>
              </a:rPr>
              <a:t>Project Information</a:t>
            </a:r>
          </a:p>
        </p:txBody>
      </p:sp>
      <p:sp>
        <p:nvSpPr>
          <p:cNvPr id="310275" name="Rectangle 3"/>
          <p:cNvSpPr>
            <a:spLocks noGrp="1" noChangeArrowheads="1"/>
          </p:cNvSpPr>
          <p:nvPr>
            <p:ph type="body" idx="1"/>
          </p:nvPr>
        </p:nvSpPr>
        <p:spPr>
          <a:xfrm>
            <a:off x="137160" y="1805940"/>
            <a:ext cx="8069193" cy="4809042"/>
          </a:xfrm>
        </p:spPr>
        <p:txBody>
          <a:bodyPr>
            <a:noAutofit/>
          </a:bodyPr>
          <a:lstStyle/>
          <a:p>
            <a:pPr marL="0" indent="0">
              <a:spcBef>
                <a:spcPts val="0"/>
              </a:spcBef>
              <a:buNone/>
            </a:pPr>
            <a:endParaRPr lang="en-US" sz="2400" dirty="0">
              <a:latin typeface="Arial Narrow" panose="020B0606020202030204" pitchFamily="34" charset="0"/>
              <a:cs typeface="Times New Roman" panose="02020603050405020304" pitchFamily="18" charset="0"/>
            </a:endParaRPr>
          </a:p>
          <a:p>
            <a:pPr>
              <a:spcBef>
                <a:spcPts val="0"/>
              </a:spcBef>
            </a:pPr>
            <a:r>
              <a:rPr lang="en-US" sz="2400" dirty="0">
                <a:latin typeface="Arial Narrow" panose="020B0606020202030204" pitchFamily="34" charset="0"/>
                <a:cs typeface="Times New Roman" panose="02020603050405020304" pitchFamily="18" charset="0"/>
              </a:rPr>
              <a:t>Project Name:  Renovate Education Building Training Hub</a:t>
            </a:r>
          </a:p>
          <a:p>
            <a:pPr marL="0" indent="0">
              <a:spcBef>
                <a:spcPts val="0"/>
              </a:spcBef>
              <a:buNone/>
            </a:pPr>
            <a:endParaRPr lang="en-US" sz="2400" dirty="0">
              <a:latin typeface="Arial Narrow" panose="020B0606020202030204" pitchFamily="34" charset="0"/>
              <a:cs typeface="Times New Roman" panose="02020603050405020304" pitchFamily="18" charset="0"/>
            </a:endParaRPr>
          </a:p>
          <a:p>
            <a:pPr marL="342900" lvl="7" indent="-342900">
              <a:spcBef>
                <a:spcPts val="0"/>
              </a:spcBef>
            </a:pPr>
            <a:r>
              <a:rPr lang="en-US" sz="2400" dirty="0">
                <a:latin typeface="Arial Narrow" panose="020B0606020202030204" pitchFamily="34" charset="0"/>
                <a:cs typeface="Times New Roman" panose="02020603050405020304" pitchFamily="18" charset="0"/>
              </a:rPr>
              <a:t>Project Address:	</a:t>
            </a:r>
          </a:p>
          <a:p>
            <a:pPr marL="0" lvl="7" indent="0">
              <a:spcBef>
                <a:spcPts val="0"/>
              </a:spcBef>
              <a:buNone/>
            </a:pPr>
            <a:endParaRPr lang="en-US" sz="2400" dirty="0">
              <a:latin typeface="Arial Narrow" panose="020B0606020202030204" pitchFamily="34" charset="0"/>
              <a:cs typeface="Times New Roman" panose="02020603050405020304" pitchFamily="18" charset="0"/>
            </a:endParaRPr>
          </a:p>
          <a:p>
            <a:pPr marL="800100" lvl="8" indent="-342900">
              <a:spcBef>
                <a:spcPts val="0"/>
              </a:spcBef>
            </a:pPr>
            <a:r>
              <a:rPr lang="en-US" dirty="0">
                <a:latin typeface="Arial Narrow" panose="020B0606020202030204" pitchFamily="34" charset="0"/>
                <a:cs typeface="Times New Roman" panose="02020603050405020304" pitchFamily="18" charset="0"/>
              </a:rPr>
              <a:t>6900 North Pecos Road, Building 7, N. Las Vegas, NV 89086</a:t>
            </a:r>
            <a:endParaRPr lang="en-US" sz="1800" dirty="0"/>
          </a:p>
          <a:p>
            <a:pPr marL="1371600" lvl="3" indent="0">
              <a:spcBef>
                <a:spcPts val="500"/>
              </a:spcBef>
              <a:spcAft>
                <a:spcPts val="500"/>
              </a:spcAft>
              <a:buNone/>
              <a:defRPr/>
            </a:pPr>
            <a:endParaRPr lang="en-US" sz="1800" dirty="0"/>
          </a:p>
          <a:p>
            <a:pPr marL="1371600" lvl="3" indent="0">
              <a:spcBef>
                <a:spcPts val="500"/>
              </a:spcBef>
              <a:spcAft>
                <a:spcPts val="500"/>
              </a:spcAft>
              <a:buNone/>
              <a:defRPr/>
            </a:pPr>
            <a:endParaRPr lang="en-US" sz="1800" dirty="0"/>
          </a:p>
          <a:p>
            <a:pPr lvl="1">
              <a:spcBef>
                <a:spcPts val="500"/>
              </a:spcBef>
              <a:spcAft>
                <a:spcPts val="500"/>
              </a:spcAft>
              <a:defRPr/>
            </a:pPr>
            <a:endParaRPr lang="en-US" sz="2200" dirty="0"/>
          </a:p>
          <a:p>
            <a:pPr marL="0" indent="0" eaLnBrk="1" hangingPunct="1">
              <a:spcBef>
                <a:spcPts val="500"/>
              </a:spcBef>
              <a:spcAft>
                <a:spcPts val="500"/>
              </a:spcAft>
              <a:buNone/>
              <a:defRPr/>
            </a:pPr>
            <a:endParaRPr lang="en-US" sz="1400" dirty="0"/>
          </a:p>
        </p:txBody>
      </p:sp>
      <p:sp>
        <p:nvSpPr>
          <p:cNvPr id="2" name="Slide Number Placeholder 1"/>
          <p:cNvSpPr>
            <a:spLocks noGrp="1"/>
          </p:cNvSpPr>
          <p:nvPr>
            <p:ph type="sldNum" sz="quarter" idx="10"/>
          </p:nvPr>
        </p:nvSpPr>
        <p:spPr/>
        <p:txBody>
          <a:bodyPr/>
          <a:lstStyle/>
          <a:p>
            <a:fld id="{9B27D237-6C0D-5549-BE11-2040A22CBC71}" type="slidenum">
              <a:rPr lang="en-US" smtClean="0"/>
              <a:pPr/>
              <a:t>1</a:t>
            </a:fld>
            <a:endParaRPr lang="en-US" dirty="0"/>
          </a:p>
        </p:txBody>
      </p:sp>
    </p:spTree>
    <p:extLst>
      <p:ext uri="{BB962C8B-B14F-4D97-AF65-F5344CB8AC3E}">
        <p14:creationId xmlns:p14="http://schemas.microsoft.com/office/powerpoint/2010/main" val="54774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3600" b="1" dirty="0">
                <a:latin typeface="Arial Narrow" panose="020B0606020202030204" pitchFamily="34" charset="0"/>
              </a:rPr>
              <a:t>Project Contact Information</a:t>
            </a:r>
          </a:p>
        </p:txBody>
      </p:sp>
      <p:sp>
        <p:nvSpPr>
          <p:cNvPr id="310275" name="Rectangle 3"/>
          <p:cNvSpPr>
            <a:spLocks noGrp="1" noChangeArrowheads="1"/>
          </p:cNvSpPr>
          <p:nvPr>
            <p:ph type="body" idx="1"/>
          </p:nvPr>
        </p:nvSpPr>
        <p:spPr>
          <a:xfrm>
            <a:off x="1" y="1682340"/>
            <a:ext cx="4277532" cy="5175659"/>
          </a:xfrm>
        </p:spPr>
        <p:txBody>
          <a:bodyPr>
            <a:noAutofit/>
          </a:bodyPr>
          <a:lstStyle/>
          <a:p>
            <a:pPr marL="0" indent="0">
              <a:spcBef>
                <a:spcPts val="500"/>
              </a:spcBef>
              <a:spcAft>
                <a:spcPts val="500"/>
              </a:spcAft>
              <a:buNone/>
              <a:defRPr/>
            </a:pPr>
            <a:r>
              <a:rPr lang="en-US" sz="2000" b="1" dirty="0">
                <a:latin typeface="Arial Narrow" panose="020B0606020202030204" pitchFamily="34" charset="0"/>
              </a:rPr>
              <a:t>Contracting Officer (CO):</a:t>
            </a:r>
          </a:p>
          <a:p>
            <a:pPr lvl="2">
              <a:spcBef>
                <a:spcPts val="500"/>
              </a:spcBef>
              <a:spcAft>
                <a:spcPts val="500"/>
              </a:spcAft>
              <a:defRPr/>
            </a:pPr>
            <a:r>
              <a:rPr lang="en-US" sz="2000" dirty="0">
                <a:latin typeface="Arial Narrow" panose="020B0606020202030204" pitchFamily="34" charset="0"/>
              </a:rPr>
              <a:t>Daniel Jhun</a:t>
            </a:r>
          </a:p>
          <a:p>
            <a:pPr lvl="2">
              <a:spcBef>
                <a:spcPts val="500"/>
              </a:spcBef>
              <a:spcAft>
                <a:spcPts val="500"/>
              </a:spcAft>
              <a:defRPr/>
            </a:pPr>
            <a:r>
              <a:rPr lang="en-US" sz="2000" dirty="0">
                <a:latin typeface="Arial Narrow" panose="020B0606020202030204" pitchFamily="34" charset="0"/>
              </a:rPr>
              <a:t>Email: </a:t>
            </a:r>
            <a:r>
              <a:rPr lang="en-US" sz="2000" dirty="0">
                <a:solidFill>
                  <a:srgbClr val="0033CC"/>
                </a:solidFill>
                <a:latin typeface="Arial Narrow" panose="020B0606020202030204" pitchFamily="34" charset="0"/>
                <a:hlinkClick r:id="rId3"/>
              </a:rPr>
              <a:t>daniel.jhun@va.gov</a:t>
            </a:r>
            <a:r>
              <a:rPr lang="en-US" sz="2000" dirty="0">
                <a:solidFill>
                  <a:srgbClr val="0033CC"/>
                </a:solidFill>
                <a:latin typeface="Arial Narrow" panose="020B0606020202030204" pitchFamily="34" charset="0"/>
              </a:rPr>
              <a:t>  </a:t>
            </a:r>
          </a:p>
          <a:p>
            <a:pPr marL="0" indent="0">
              <a:spcBef>
                <a:spcPts val="500"/>
              </a:spcBef>
              <a:spcAft>
                <a:spcPts val="500"/>
              </a:spcAft>
              <a:buNone/>
              <a:defRPr/>
            </a:pPr>
            <a:r>
              <a:rPr lang="en-US" sz="2000" b="1" dirty="0">
                <a:latin typeface="Arial Narrow" panose="020B0606020202030204" pitchFamily="34" charset="0"/>
              </a:rPr>
              <a:t>Contract Specialist (CS):</a:t>
            </a:r>
          </a:p>
          <a:p>
            <a:pPr lvl="2">
              <a:spcBef>
                <a:spcPts val="500"/>
              </a:spcBef>
              <a:spcAft>
                <a:spcPts val="500"/>
              </a:spcAft>
              <a:defRPr/>
            </a:pPr>
            <a:r>
              <a:rPr lang="en-US" sz="2000" dirty="0">
                <a:latin typeface="Arial Narrow" panose="020B0606020202030204" pitchFamily="34" charset="0"/>
              </a:rPr>
              <a:t>None</a:t>
            </a:r>
            <a:endParaRPr lang="en-US" sz="2000" dirty="0">
              <a:solidFill>
                <a:srgbClr val="0033CC"/>
              </a:solidFill>
              <a:latin typeface="Arial Narrow" panose="020B0606020202030204" pitchFamily="34" charset="0"/>
            </a:endParaRPr>
          </a:p>
          <a:p>
            <a:pPr marL="914400" lvl="2" indent="0">
              <a:spcBef>
                <a:spcPts val="500"/>
              </a:spcBef>
              <a:spcAft>
                <a:spcPts val="500"/>
              </a:spcAft>
              <a:buNone/>
              <a:defRPr/>
            </a:pPr>
            <a:endParaRPr lang="en-US" sz="2000" b="1" dirty="0">
              <a:latin typeface="Arial Narrow" panose="020B0606020202030204" pitchFamily="34" charset="0"/>
            </a:endParaRPr>
          </a:p>
          <a:p>
            <a:pPr lvl="2">
              <a:spcBef>
                <a:spcPts val="500"/>
              </a:spcBef>
              <a:spcAft>
                <a:spcPts val="500"/>
              </a:spcAft>
              <a:defRPr/>
            </a:pPr>
            <a:endParaRPr lang="en-US" dirty="0">
              <a:latin typeface="Arial Narrow" panose="020B0606020202030204" pitchFamily="34" charset="0"/>
            </a:endParaRPr>
          </a:p>
          <a:p>
            <a:pPr marL="1371600" lvl="3" indent="0">
              <a:spcBef>
                <a:spcPts val="500"/>
              </a:spcBef>
              <a:spcAft>
                <a:spcPts val="500"/>
              </a:spcAft>
              <a:buNone/>
              <a:defRPr/>
            </a:pPr>
            <a:endParaRPr lang="en-US" sz="1800" dirty="0">
              <a:latin typeface="Arial Narrow" panose="020B0606020202030204" pitchFamily="34" charset="0"/>
            </a:endParaRPr>
          </a:p>
          <a:p>
            <a:pPr marL="1371600" lvl="3" indent="0">
              <a:spcBef>
                <a:spcPts val="500"/>
              </a:spcBef>
              <a:spcAft>
                <a:spcPts val="500"/>
              </a:spcAft>
              <a:buNone/>
              <a:defRPr/>
            </a:pPr>
            <a:endParaRPr lang="en-US" sz="1800" dirty="0">
              <a:latin typeface="Arial Narrow" panose="020B0606020202030204" pitchFamily="34" charset="0"/>
            </a:endParaRPr>
          </a:p>
          <a:p>
            <a:pPr lvl="1">
              <a:spcBef>
                <a:spcPts val="500"/>
              </a:spcBef>
              <a:spcAft>
                <a:spcPts val="500"/>
              </a:spcAft>
              <a:defRPr/>
            </a:pPr>
            <a:endParaRPr lang="en-US" sz="2200" dirty="0">
              <a:latin typeface="Arial Narrow" panose="020B0606020202030204" pitchFamily="34" charset="0"/>
            </a:endParaRPr>
          </a:p>
          <a:p>
            <a:pPr marL="0" indent="0" eaLnBrk="1" hangingPunct="1">
              <a:spcBef>
                <a:spcPts val="500"/>
              </a:spcBef>
              <a:spcAft>
                <a:spcPts val="500"/>
              </a:spcAft>
              <a:buNone/>
              <a:defRPr/>
            </a:pPr>
            <a:endParaRPr lang="en-US" sz="1400" dirty="0">
              <a:latin typeface="Arial Narrow" panose="020B0606020202030204" pitchFamily="34" charset="0"/>
            </a:endParaRPr>
          </a:p>
        </p:txBody>
      </p:sp>
      <p:sp>
        <p:nvSpPr>
          <p:cNvPr id="2" name="Slide Number Placeholder 1"/>
          <p:cNvSpPr>
            <a:spLocks noGrp="1"/>
          </p:cNvSpPr>
          <p:nvPr>
            <p:ph type="sldNum" sz="quarter" idx="10"/>
          </p:nvPr>
        </p:nvSpPr>
        <p:spPr/>
        <p:txBody>
          <a:bodyPr/>
          <a:lstStyle/>
          <a:p>
            <a:fld id="{9B27D237-6C0D-5549-BE11-2040A22CBC71}" type="slidenum">
              <a:rPr lang="en-US" smtClean="0">
                <a:latin typeface="Arial Narrow" panose="020B0606020202030204" pitchFamily="34" charset="0"/>
              </a:rPr>
              <a:pPr/>
              <a:t>2</a:t>
            </a:fld>
            <a:endParaRPr lang="en-US" dirty="0">
              <a:latin typeface="Arial Narrow" panose="020B0606020202030204" pitchFamily="34" charset="0"/>
            </a:endParaRPr>
          </a:p>
        </p:txBody>
      </p:sp>
      <p:sp>
        <p:nvSpPr>
          <p:cNvPr id="3" name="TextBox 2">
            <a:extLst>
              <a:ext uri="{FF2B5EF4-FFF2-40B4-BE49-F238E27FC236}">
                <a16:creationId xmlns:a16="http://schemas.microsoft.com/office/drawing/2014/main" id="{24094C83-7C4F-4DDD-8C2F-1604975EED52}"/>
              </a:ext>
            </a:extLst>
          </p:cNvPr>
          <p:cNvSpPr txBox="1"/>
          <p:nvPr/>
        </p:nvSpPr>
        <p:spPr>
          <a:xfrm>
            <a:off x="4729307" y="1695965"/>
            <a:ext cx="4344793" cy="3167534"/>
          </a:xfrm>
          <a:prstGeom prst="rect">
            <a:avLst/>
          </a:prstGeom>
          <a:noFill/>
        </p:spPr>
        <p:txBody>
          <a:bodyPr wrap="square" rtlCol="0">
            <a:spAutoFit/>
          </a:bodyPr>
          <a:lstStyle/>
          <a:p>
            <a:pPr>
              <a:spcBef>
                <a:spcPts val="500"/>
              </a:spcBef>
              <a:spcAft>
                <a:spcPts val="500"/>
              </a:spcAft>
              <a:defRPr/>
            </a:pPr>
            <a:r>
              <a:rPr lang="en-US" sz="2000" b="1" dirty="0">
                <a:latin typeface="Arial Narrow" panose="020B0606020202030204" pitchFamily="34" charset="0"/>
              </a:rPr>
              <a:t>Contracting Officer Representative (COR):</a:t>
            </a:r>
          </a:p>
          <a:p>
            <a:pPr>
              <a:spcBef>
                <a:spcPts val="500"/>
              </a:spcBef>
              <a:spcAft>
                <a:spcPts val="500"/>
              </a:spcAft>
              <a:defRPr/>
            </a:pPr>
            <a:r>
              <a:rPr lang="en-US" sz="2000" b="1" dirty="0">
                <a:latin typeface="Arial Narrow" panose="020B0606020202030204" pitchFamily="34" charset="0"/>
              </a:rPr>
              <a:t>William Kenton</a:t>
            </a:r>
            <a:endParaRPr lang="en-US" sz="2000" dirty="0">
              <a:latin typeface="Arial Narrow" panose="020B0606020202030204" pitchFamily="34" charset="0"/>
            </a:endParaRPr>
          </a:p>
          <a:p>
            <a:pPr>
              <a:spcBef>
                <a:spcPts val="500"/>
              </a:spcBef>
              <a:spcAft>
                <a:spcPts val="500"/>
              </a:spcAft>
              <a:defRPr/>
            </a:pPr>
            <a:r>
              <a:rPr lang="en-US" sz="2000" dirty="0">
                <a:latin typeface="Arial Narrow" panose="020B0606020202030204" pitchFamily="34" charset="0"/>
              </a:rPr>
              <a:t>Email: </a:t>
            </a:r>
            <a:r>
              <a:rPr lang="en-US" sz="2000" dirty="0">
                <a:latin typeface="Arial Narrow" panose="020B0606020202030204" pitchFamily="34" charset="0"/>
                <a:hlinkClick r:id="rId4"/>
              </a:rPr>
              <a:t>william.kenton@va.gov</a:t>
            </a:r>
            <a:r>
              <a:rPr lang="en-US" sz="2000" dirty="0">
                <a:latin typeface="Arial Narrow" panose="020B0606020202030204" pitchFamily="34" charset="0"/>
              </a:rPr>
              <a:t>    </a:t>
            </a:r>
          </a:p>
          <a:p>
            <a:pPr>
              <a:spcBef>
                <a:spcPts val="500"/>
              </a:spcBef>
              <a:spcAft>
                <a:spcPts val="500"/>
              </a:spcAft>
              <a:defRPr/>
            </a:pPr>
            <a:r>
              <a:rPr lang="en-US" sz="2000" b="1" dirty="0">
                <a:latin typeface="Arial Narrow" panose="020B0606020202030204" pitchFamily="34" charset="0"/>
              </a:rPr>
              <a:t>Alternate COR:</a:t>
            </a:r>
          </a:p>
          <a:p>
            <a:pPr>
              <a:spcBef>
                <a:spcPts val="500"/>
              </a:spcBef>
              <a:spcAft>
                <a:spcPts val="500"/>
              </a:spcAft>
              <a:defRPr/>
            </a:pPr>
            <a:r>
              <a:rPr lang="en-US" b="1" dirty="0">
                <a:latin typeface="Arial Narrow" panose="020B0606020202030204" pitchFamily="34" charset="0"/>
              </a:rPr>
              <a:t>Raelynn Licoan-Jones</a:t>
            </a:r>
          </a:p>
          <a:p>
            <a:pPr>
              <a:spcBef>
                <a:spcPts val="500"/>
              </a:spcBef>
              <a:spcAft>
                <a:spcPts val="500"/>
              </a:spcAft>
              <a:defRPr/>
            </a:pPr>
            <a:r>
              <a:rPr lang="en-US" dirty="0">
                <a:latin typeface="Arial Narrow" panose="020B0606020202030204" pitchFamily="34" charset="0"/>
              </a:rPr>
              <a:t>Email: </a:t>
            </a:r>
            <a:r>
              <a:rPr lang="en-US" dirty="0">
                <a:latin typeface="Arial Narrow" panose="020B0606020202030204" pitchFamily="34" charset="0"/>
                <a:hlinkClick r:id="rId5"/>
              </a:rPr>
              <a:t>Raelynn.licoan-jones@va.gov</a:t>
            </a:r>
            <a:r>
              <a:rPr lang="en-US" dirty="0">
                <a:latin typeface="Arial Narrow" panose="020B0606020202030204" pitchFamily="34" charset="0"/>
              </a:rPr>
              <a:t> </a:t>
            </a:r>
          </a:p>
          <a:p>
            <a:pPr marL="742950" lvl="1" indent="-285750">
              <a:buFont typeface="Arial" panose="020B0604020202020204" pitchFamily="34" charset="0"/>
              <a:buChar char="•"/>
            </a:pPr>
            <a:endParaRPr lang="en-US" dirty="0">
              <a:latin typeface="Arial Narrow" panose="020B0606020202030204" pitchFamily="34" charset="0"/>
            </a:endParaRPr>
          </a:p>
        </p:txBody>
      </p:sp>
    </p:spTree>
    <p:extLst>
      <p:ext uri="{BB962C8B-B14F-4D97-AF65-F5344CB8AC3E}">
        <p14:creationId xmlns:p14="http://schemas.microsoft.com/office/powerpoint/2010/main" val="1584856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D503-888F-4DB6-B0C8-49DD430C92D6}"/>
              </a:ext>
            </a:extLst>
          </p:cNvPr>
          <p:cNvSpPr>
            <a:spLocks noGrp="1"/>
          </p:cNvSpPr>
          <p:nvPr>
            <p:ph type="title"/>
          </p:nvPr>
        </p:nvSpPr>
        <p:spPr/>
        <p:txBody>
          <a:bodyPr>
            <a:normAutofit/>
          </a:bodyPr>
          <a:lstStyle/>
          <a:p>
            <a:r>
              <a:rPr lang="en-US" sz="3600" b="1" dirty="0">
                <a:latin typeface="Arial Narrow" panose="020B0606020202030204" pitchFamily="34" charset="0"/>
              </a:rPr>
              <a:t>Project Scope</a:t>
            </a:r>
          </a:p>
        </p:txBody>
      </p:sp>
      <p:sp>
        <p:nvSpPr>
          <p:cNvPr id="3" name="Content Placeholder 2">
            <a:extLst>
              <a:ext uri="{FF2B5EF4-FFF2-40B4-BE49-F238E27FC236}">
                <a16:creationId xmlns:a16="http://schemas.microsoft.com/office/drawing/2014/main" id="{F6E89FB7-F2A5-4EA2-9CBA-B282A61B8443}"/>
              </a:ext>
            </a:extLst>
          </p:cNvPr>
          <p:cNvSpPr>
            <a:spLocks noGrp="1"/>
          </p:cNvSpPr>
          <p:nvPr>
            <p:ph idx="1"/>
          </p:nvPr>
        </p:nvSpPr>
        <p:spPr>
          <a:xfrm>
            <a:off x="270933" y="1678290"/>
            <a:ext cx="8523111" cy="3480732"/>
          </a:xfrm>
        </p:spPr>
        <p:txBody>
          <a:bodyPr>
            <a:normAutofit/>
          </a:bodyPr>
          <a:lstStyle/>
          <a:p>
            <a:pPr algn="l"/>
            <a:r>
              <a:rPr lang="en-US" sz="1800" dirty="0">
                <a:latin typeface="Arial Narrow" panose="020B0606020202030204" pitchFamily="34" charset="0"/>
              </a:rPr>
              <a:t>This is a firm-fixed price construction requirement. Offeror must furnish all labor, material, transportation, required engineering services, overhead, profit to renovate education building training hub at VA Southern Nevada Healthcare System in accordance with SOW, specifications, and drawings.</a:t>
            </a:r>
          </a:p>
        </p:txBody>
      </p:sp>
      <p:sp>
        <p:nvSpPr>
          <p:cNvPr id="4" name="Slide Number Placeholder 3">
            <a:extLst>
              <a:ext uri="{FF2B5EF4-FFF2-40B4-BE49-F238E27FC236}">
                <a16:creationId xmlns:a16="http://schemas.microsoft.com/office/drawing/2014/main" id="{914F95E3-23F4-4B5F-B4B7-0349AB449483}"/>
              </a:ext>
            </a:extLst>
          </p:cNvPr>
          <p:cNvSpPr>
            <a:spLocks noGrp="1"/>
          </p:cNvSpPr>
          <p:nvPr>
            <p:ph type="sldNum" sz="quarter" idx="10"/>
          </p:nvPr>
        </p:nvSpPr>
        <p:spPr/>
        <p:txBody>
          <a:bodyPr/>
          <a:lstStyle/>
          <a:p>
            <a:fld id="{9B27D237-6C0D-5549-BE11-2040A22CBC71}" type="slidenum">
              <a:rPr lang="en-US" smtClean="0"/>
              <a:pPr/>
              <a:t>3</a:t>
            </a:fld>
            <a:endParaRPr lang="en-US" dirty="0"/>
          </a:p>
        </p:txBody>
      </p:sp>
    </p:spTree>
    <p:extLst>
      <p:ext uri="{BB962C8B-B14F-4D97-AF65-F5344CB8AC3E}">
        <p14:creationId xmlns:p14="http://schemas.microsoft.com/office/powerpoint/2010/main" val="624635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57200" y="655003"/>
            <a:ext cx="8229600" cy="941387"/>
          </a:xfrm>
        </p:spPr>
        <p:txBody>
          <a:bodyPr>
            <a:normAutofit/>
          </a:bodyPr>
          <a:lstStyle/>
          <a:p>
            <a:pPr eaLnBrk="1" hangingPunct="1">
              <a:defRPr/>
            </a:pPr>
            <a:r>
              <a:rPr lang="en-US" sz="3600" b="1" dirty="0">
                <a:latin typeface="Arial Narrow" panose="020B0606020202030204" pitchFamily="34" charset="0"/>
              </a:rPr>
              <a:t>Project Contract Information</a:t>
            </a:r>
          </a:p>
        </p:txBody>
      </p:sp>
      <p:sp>
        <p:nvSpPr>
          <p:cNvPr id="310275" name="Rectangle 3"/>
          <p:cNvSpPr>
            <a:spLocks noGrp="1" noChangeArrowheads="1"/>
          </p:cNvSpPr>
          <p:nvPr>
            <p:ph type="body" idx="1"/>
          </p:nvPr>
        </p:nvSpPr>
        <p:spPr>
          <a:xfrm>
            <a:off x="125730" y="1922177"/>
            <a:ext cx="8892540" cy="4280820"/>
          </a:xfrm>
        </p:spPr>
        <p:txBody>
          <a:bodyPr>
            <a:noAutofit/>
          </a:bodyPr>
          <a:lstStyle/>
          <a:p>
            <a:pPr>
              <a:spcBef>
                <a:spcPts val="500"/>
              </a:spcBef>
              <a:spcAft>
                <a:spcPts val="500"/>
              </a:spcAft>
              <a:defRPr/>
            </a:pPr>
            <a:r>
              <a:rPr lang="en-US" dirty="0">
                <a:latin typeface="Arial Narrow" panose="020B0606020202030204" pitchFamily="34" charset="0"/>
              </a:rPr>
              <a:t>100% SDVOSB Set-Aside solicited on the Open Market</a:t>
            </a:r>
          </a:p>
          <a:p>
            <a:pPr>
              <a:spcBef>
                <a:spcPts val="500"/>
              </a:spcBef>
              <a:spcAft>
                <a:spcPts val="500"/>
              </a:spcAft>
              <a:defRPr/>
            </a:pPr>
            <a:r>
              <a:rPr lang="en-US" dirty="0">
                <a:latin typeface="Arial Narrow" panose="020B0606020202030204" pitchFamily="34" charset="0"/>
              </a:rPr>
              <a:t>Expected Contract Award : July 6, 2026 (Tentative)</a:t>
            </a:r>
          </a:p>
          <a:p>
            <a:pPr>
              <a:spcBef>
                <a:spcPts val="500"/>
              </a:spcBef>
              <a:spcAft>
                <a:spcPts val="500"/>
              </a:spcAft>
              <a:defRPr/>
            </a:pPr>
            <a:r>
              <a:rPr lang="en-US" dirty="0">
                <a:latin typeface="Arial Narrow" panose="020B0606020202030204" pitchFamily="34" charset="0"/>
              </a:rPr>
              <a:t>Period of Performance : 120 Calendar days from NTP.  </a:t>
            </a:r>
          </a:p>
          <a:p>
            <a:pPr>
              <a:spcBef>
                <a:spcPts val="500"/>
              </a:spcBef>
              <a:spcAft>
                <a:spcPts val="500"/>
              </a:spcAft>
              <a:defRPr/>
            </a:pPr>
            <a:r>
              <a:rPr lang="en-US" dirty="0">
                <a:latin typeface="Arial Narrow" panose="020B0606020202030204" pitchFamily="34" charset="0"/>
              </a:rPr>
              <a:t>Proposal is due to Daniel Jhun by email at </a:t>
            </a:r>
            <a:r>
              <a:rPr lang="en-US" dirty="0">
                <a:latin typeface="Arial Narrow" panose="020B0606020202030204" pitchFamily="34" charset="0"/>
                <a:hlinkClick r:id="rId3"/>
              </a:rPr>
              <a:t>daniel.jhun@va.gov</a:t>
            </a:r>
            <a:r>
              <a:rPr lang="en-US" dirty="0">
                <a:latin typeface="Arial Narrow" panose="020B0606020202030204" pitchFamily="34" charset="0"/>
              </a:rPr>
              <a:t> NLT 6/08/2026 by 2:00 P.M. PDT. </a:t>
            </a:r>
          </a:p>
          <a:p>
            <a:pPr>
              <a:spcBef>
                <a:spcPts val="500"/>
              </a:spcBef>
              <a:spcAft>
                <a:spcPts val="500"/>
              </a:spcAft>
              <a:defRPr/>
            </a:pPr>
            <a:r>
              <a:rPr lang="en-US" dirty="0">
                <a:latin typeface="Arial Narrow" panose="020B0606020202030204" pitchFamily="34" charset="0"/>
              </a:rPr>
              <a:t>The Wage Determination General Decision Number: NV20260038 01/30/2026 is applicable for this contract and project</a:t>
            </a:r>
          </a:p>
          <a:p>
            <a:pPr>
              <a:spcBef>
                <a:spcPts val="500"/>
              </a:spcBef>
              <a:spcAft>
                <a:spcPts val="500"/>
              </a:spcAft>
              <a:defRPr/>
            </a:pPr>
            <a:r>
              <a:rPr lang="en-US" dirty="0">
                <a:latin typeface="Arial Narrow" panose="020B0606020202030204" pitchFamily="34" charset="0"/>
              </a:rPr>
              <a:t>An offer guarantee is required in the form of a Bid Bond, which may be submitted electronically by the proposal due date/time to the Contracting Officer, Daniel Jhun, by email at </a:t>
            </a:r>
            <a:r>
              <a:rPr lang="en-US" dirty="0">
                <a:solidFill>
                  <a:srgbClr val="0033CC"/>
                </a:solidFill>
                <a:latin typeface="Arial Narrow" panose="020B0606020202030204" pitchFamily="34" charset="0"/>
                <a:hlinkClick r:id="rId3"/>
              </a:rPr>
              <a:t>daniel.jhun@va.gov</a:t>
            </a:r>
            <a:r>
              <a:rPr lang="en-US" dirty="0">
                <a:latin typeface="Arial Narrow" panose="020B0606020202030204" pitchFamily="34" charset="0"/>
              </a:rPr>
              <a:t>.  Note:  Performance and payment bonds will be required by the successful offeror within ten (10) days of Notice of Award.</a:t>
            </a:r>
          </a:p>
        </p:txBody>
      </p:sp>
      <p:sp>
        <p:nvSpPr>
          <p:cNvPr id="2" name="Slide Number Placeholder 1"/>
          <p:cNvSpPr>
            <a:spLocks noGrp="1"/>
          </p:cNvSpPr>
          <p:nvPr>
            <p:ph type="sldNum" sz="quarter" idx="10"/>
          </p:nvPr>
        </p:nvSpPr>
        <p:spPr/>
        <p:txBody>
          <a:bodyPr/>
          <a:lstStyle/>
          <a:p>
            <a:fld id="{9B27D237-6C0D-5549-BE11-2040A22CBC71}" type="slidenum">
              <a:rPr lang="en-US" smtClean="0"/>
              <a:pPr/>
              <a:t>4</a:t>
            </a:fld>
            <a:endParaRPr lang="en-US" dirty="0"/>
          </a:p>
        </p:txBody>
      </p:sp>
    </p:spTree>
    <p:extLst>
      <p:ext uri="{BB962C8B-B14F-4D97-AF65-F5344CB8AC3E}">
        <p14:creationId xmlns:p14="http://schemas.microsoft.com/office/powerpoint/2010/main" val="12987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CB60D-112E-4EC3-8614-FB08F8392C8A}"/>
              </a:ext>
            </a:extLst>
          </p:cNvPr>
          <p:cNvSpPr>
            <a:spLocks noGrp="1"/>
          </p:cNvSpPr>
          <p:nvPr>
            <p:ph type="title"/>
          </p:nvPr>
        </p:nvSpPr>
        <p:spPr/>
        <p:txBody>
          <a:bodyPr>
            <a:normAutofit/>
          </a:bodyPr>
          <a:lstStyle/>
          <a:p>
            <a:r>
              <a:rPr lang="en-US" sz="3600" dirty="0">
                <a:latin typeface="Arial Narrow" panose="020B0606020202030204" pitchFamily="34" charset="0"/>
              </a:rPr>
              <a:t>Basis of Award and Evaluation Factors</a:t>
            </a:r>
          </a:p>
        </p:txBody>
      </p:sp>
      <p:sp>
        <p:nvSpPr>
          <p:cNvPr id="3" name="Content Placeholder 2">
            <a:extLst>
              <a:ext uri="{FF2B5EF4-FFF2-40B4-BE49-F238E27FC236}">
                <a16:creationId xmlns:a16="http://schemas.microsoft.com/office/drawing/2014/main" id="{5BF863B6-53EF-42CE-B1A6-BB3A04AED500}"/>
              </a:ext>
            </a:extLst>
          </p:cNvPr>
          <p:cNvSpPr>
            <a:spLocks noGrp="1"/>
          </p:cNvSpPr>
          <p:nvPr>
            <p:ph idx="1"/>
          </p:nvPr>
        </p:nvSpPr>
        <p:spPr/>
        <p:txBody>
          <a:bodyPr>
            <a:normAutofit fontScale="92500" lnSpcReduction="10000"/>
          </a:bodyPr>
          <a:lstStyle/>
          <a:p>
            <a:r>
              <a:rPr lang="en-US" dirty="0">
                <a:latin typeface="Arial Narrow" panose="020B0606020202030204" pitchFamily="34" charset="0"/>
              </a:rPr>
              <a:t>This Request for Proposal (RFP) is a solicitation for a firm-fixed price contract in accordance with (IAW) Federal Acquisition Regulation (FAR) parts 15 &amp; 36. This procurement action is a total set-aside for Service-Disabled Veteran Owned Small Business (SDVOSB). An award will be made to the offeror that is responsive to the terms of the solicitation and is most advantageous to the Government, considering only price included in the solicitation. One (1) firm-fixed price construction contract will be awarded to a qualified SDVOSB offeror with the lowest priced proposal as a response to this solicitation.</a:t>
            </a:r>
          </a:p>
          <a:p>
            <a:endParaRPr lang="en-US" dirty="0">
              <a:latin typeface="Arial Narrow" panose="020B0606020202030204" pitchFamily="34" charset="0"/>
            </a:endParaRPr>
          </a:p>
          <a:p>
            <a:r>
              <a:rPr lang="en-US" dirty="0">
                <a:latin typeface="Arial Narrow" panose="020B0606020202030204" pitchFamily="34" charset="0"/>
              </a:rPr>
              <a:t>Offerors must have an active Unique Entity Identification (UEI) number and be current in System for Award Management (SAM). SDVOSB firms must be certified Veteran Eligibility (CVE) verified prior to the submission of proposals. Offerors must be certified in SBA Small Business Search the time submission offer and prior to award. SBA Small Business Search Link: https://search.certifications.sba.gov/. SBA Small Business Search will be used as the official source for SDVOSB verification for this solicitation. In accordance with (IAW) VA Acquisition Regulation (VAAR) 819.7003 – Eligibility. A proposal will be rejected and will not be considered for an award if offeror’s SDVOSB/VOSB status cannot be verified at the time of submission of proposal and prior to award.</a:t>
            </a:r>
          </a:p>
        </p:txBody>
      </p:sp>
      <p:sp>
        <p:nvSpPr>
          <p:cNvPr id="4" name="Slide Number Placeholder 3">
            <a:extLst>
              <a:ext uri="{FF2B5EF4-FFF2-40B4-BE49-F238E27FC236}">
                <a16:creationId xmlns:a16="http://schemas.microsoft.com/office/drawing/2014/main" id="{0D42C4EE-8713-45CF-97A2-D9A2E63403F5}"/>
              </a:ext>
            </a:extLst>
          </p:cNvPr>
          <p:cNvSpPr>
            <a:spLocks noGrp="1"/>
          </p:cNvSpPr>
          <p:nvPr>
            <p:ph type="sldNum" sz="quarter" idx="10"/>
          </p:nvPr>
        </p:nvSpPr>
        <p:spPr/>
        <p:txBody>
          <a:bodyPr/>
          <a:lstStyle/>
          <a:p>
            <a:fld id="{9B27D237-6C0D-5549-BE11-2040A22CBC71}" type="slidenum">
              <a:rPr lang="en-US" smtClean="0"/>
              <a:pPr/>
              <a:t>5</a:t>
            </a:fld>
            <a:endParaRPr lang="en-US" dirty="0"/>
          </a:p>
        </p:txBody>
      </p:sp>
    </p:spTree>
    <p:extLst>
      <p:ext uri="{BB962C8B-B14F-4D97-AF65-F5344CB8AC3E}">
        <p14:creationId xmlns:p14="http://schemas.microsoft.com/office/powerpoint/2010/main" val="4192265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1E53-C620-44CF-B7B6-C287D23119A4}"/>
              </a:ext>
            </a:extLst>
          </p:cNvPr>
          <p:cNvSpPr>
            <a:spLocks noGrp="1"/>
          </p:cNvSpPr>
          <p:nvPr>
            <p:ph type="title"/>
          </p:nvPr>
        </p:nvSpPr>
        <p:spPr/>
        <p:txBody>
          <a:bodyPr>
            <a:normAutofit/>
          </a:bodyPr>
          <a:lstStyle/>
          <a:p>
            <a:r>
              <a:rPr lang="en-US" sz="3600" b="1" dirty="0">
                <a:latin typeface="Arial Narrow" panose="020B0606020202030204" pitchFamily="34" charset="0"/>
              </a:rPr>
              <a:t>Pre-Proposal Site Visit Rules of Engagement</a:t>
            </a:r>
          </a:p>
        </p:txBody>
      </p:sp>
      <p:sp>
        <p:nvSpPr>
          <p:cNvPr id="3" name="Content Placeholder 2">
            <a:extLst>
              <a:ext uri="{FF2B5EF4-FFF2-40B4-BE49-F238E27FC236}">
                <a16:creationId xmlns:a16="http://schemas.microsoft.com/office/drawing/2014/main" id="{2CBF235A-C839-4129-A97D-213F8753C6EB}"/>
              </a:ext>
            </a:extLst>
          </p:cNvPr>
          <p:cNvSpPr>
            <a:spLocks noGrp="1"/>
          </p:cNvSpPr>
          <p:nvPr>
            <p:ph idx="1"/>
          </p:nvPr>
        </p:nvSpPr>
        <p:spPr/>
        <p:txBody>
          <a:bodyPr>
            <a:normAutofit/>
          </a:bodyPr>
          <a:lstStyle/>
          <a:p>
            <a:r>
              <a:rPr lang="en-US" dirty="0">
                <a:latin typeface="Arial Narrow" panose="020B0606020202030204" pitchFamily="34" charset="0"/>
              </a:rPr>
              <a:t>Please ensure to sign in. Print your name clearly.</a:t>
            </a:r>
          </a:p>
          <a:p>
            <a:r>
              <a:rPr lang="en-US" dirty="0">
                <a:latin typeface="Arial Narrow" panose="020B0606020202030204" pitchFamily="34" charset="0"/>
              </a:rPr>
              <a:t>Please reserve all questions.  Questions </a:t>
            </a:r>
            <a:r>
              <a:rPr lang="en-US" b="1" u="sng" dirty="0">
                <a:latin typeface="Arial Narrow" panose="020B0606020202030204" pitchFamily="34" charset="0"/>
              </a:rPr>
              <a:t>WILL NOT </a:t>
            </a:r>
            <a:r>
              <a:rPr lang="en-US" dirty="0">
                <a:latin typeface="Arial Narrow" panose="020B0606020202030204" pitchFamily="34" charset="0"/>
              </a:rPr>
              <a:t>be entertained without a formal email.  All questions will receive a response via solicitation amendment.</a:t>
            </a:r>
          </a:p>
          <a:p>
            <a:pPr lvl="0">
              <a:spcBef>
                <a:spcPts val="0"/>
              </a:spcBef>
              <a:buFont typeface="Symbol" panose="05050102010706020507" pitchFamily="18" charset="2"/>
              <a:buChar char=""/>
              <a:tabLst>
                <a:tab pos="457200" algn="l"/>
              </a:tabLst>
            </a:pPr>
            <a:r>
              <a:rPr lang="en-US" dirty="0">
                <a:latin typeface="Arial Narrow" panose="020B0606020202030204" pitchFamily="34" charset="0"/>
              </a:rPr>
              <a:t>All Requests for Information (RFIs) regarding this RFP must be submitted in writing and received NLT </a:t>
            </a:r>
            <a:r>
              <a:rPr lang="en-US" dirty="0">
                <a:highlight>
                  <a:srgbClr val="FFFF00"/>
                </a:highlight>
                <a:latin typeface="Arial Narrow" panose="020B0606020202030204" pitchFamily="34" charset="0"/>
              </a:rPr>
              <a:t>10:00 A.M. PDT on May 19, 2026.</a:t>
            </a:r>
            <a:r>
              <a:rPr lang="en-US" dirty="0">
                <a:latin typeface="Arial Narrow" panose="020B0606020202030204" pitchFamily="34" charset="0"/>
              </a:rPr>
              <a:t>  Questions/RFIs shall be sent via email to Daniel Jhun at </a:t>
            </a:r>
            <a:r>
              <a:rPr lang="en-US" dirty="0">
                <a:latin typeface="Arial Narrow" panose="020B0606020202030204" pitchFamily="34" charset="0"/>
                <a:hlinkClick r:id="rId2"/>
              </a:rPr>
              <a:t>daniel.jhun@va.gov</a:t>
            </a:r>
            <a:r>
              <a:rPr lang="en-US" dirty="0">
                <a:latin typeface="Arial Narrow" panose="020B0606020202030204" pitchFamily="34" charset="0"/>
              </a:rPr>
              <a:t> </a:t>
            </a:r>
            <a:endParaRPr lang="en-US" u="sng" dirty="0">
              <a:solidFill>
                <a:srgbClr val="0033CC"/>
              </a:solidFill>
              <a:latin typeface="Arial Narrow" panose="020B0606020202030204" pitchFamily="34" charset="0"/>
            </a:endParaRPr>
          </a:p>
        </p:txBody>
      </p:sp>
      <p:sp>
        <p:nvSpPr>
          <p:cNvPr id="4" name="Slide Number Placeholder 3">
            <a:extLst>
              <a:ext uri="{FF2B5EF4-FFF2-40B4-BE49-F238E27FC236}">
                <a16:creationId xmlns:a16="http://schemas.microsoft.com/office/drawing/2014/main" id="{A69B12D9-C146-425C-8CC3-5C1FDC6B26C5}"/>
              </a:ext>
            </a:extLst>
          </p:cNvPr>
          <p:cNvSpPr>
            <a:spLocks noGrp="1"/>
          </p:cNvSpPr>
          <p:nvPr>
            <p:ph type="sldNum" sz="quarter" idx="10"/>
          </p:nvPr>
        </p:nvSpPr>
        <p:spPr/>
        <p:txBody>
          <a:bodyPr/>
          <a:lstStyle/>
          <a:p>
            <a:fld id="{9B27D237-6C0D-5549-BE11-2040A22CBC71}" type="slidenum">
              <a:rPr lang="en-US" smtClean="0"/>
              <a:pPr/>
              <a:t>6</a:t>
            </a:fld>
            <a:endParaRPr lang="en-US" dirty="0"/>
          </a:p>
        </p:txBody>
      </p:sp>
    </p:spTree>
    <p:extLst>
      <p:ext uri="{BB962C8B-B14F-4D97-AF65-F5344CB8AC3E}">
        <p14:creationId xmlns:p14="http://schemas.microsoft.com/office/powerpoint/2010/main" val="5540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B27D237-6C0D-5549-BE11-2040A22CBC71}" type="slidenum">
              <a:rPr lang="en-US" smtClean="0"/>
              <a:pPr/>
              <a:t>7</a:t>
            </a:fld>
            <a:endParaRPr lang="en-US" dirty="0"/>
          </a:p>
        </p:txBody>
      </p:sp>
      <p:pic>
        <p:nvPicPr>
          <p:cNvPr id="1026" name="Picture 2" descr="C:\Users\vhalasSanchJ\Desktop\dreamstimemedium_19473030-300x3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723" y="1863395"/>
            <a:ext cx="4228186" cy="4228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299107"/>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FFFFFE"/>
      </a:dk2>
      <a:lt2>
        <a:srgbClr val="FFFFFE"/>
      </a:lt2>
      <a:accent1>
        <a:srgbClr val="0083BE"/>
      </a:accent1>
      <a:accent2>
        <a:srgbClr val="78BE20"/>
      </a:accent2>
      <a:accent3>
        <a:srgbClr val="C4262E"/>
      </a:accent3>
      <a:accent4>
        <a:srgbClr val="FF7F32"/>
      </a:accent4>
      <a:accent5>
        <a:srgbClr val="F3CF45"/>
      </a:accent5>
      <a:accent6>
        <a:srgbClr val="FFFFF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0 xmlns="614dd832-74ab-4144-9279-3e27140f52fd">The presentation provides an overview of the construction program and capital colors of money</Description0>
    <_dlc_DocId xmlns="84c67d73-bc15-4ad1-8207-a95ac83adcdf">5VDZJ7FUDKQP-110-441</_dlc_DocId>
    <_dlc_DocIdUrl xmlns="84c67d73-bc15-4ad1-8207-a95ac83adcdf">
      <Url>http://raft.vssc.med.va.gov/_layouts/DocIdRedir.aspx?ID=5VDZJ7FUDKQP-110-441</Url>
      <Description>5VDZJ7FUDKQP-110-441</Description>
    </_dlc_DocIdUrl>
    <_dlc_DocIdPersistId xmlns="84c67d73-bc15-4ad1-8207-a95ac83adcdf">false</_dlc_DocIdPersistId>
    <Topics xmlns="b15fcc50-10e1-498c-9a18-98b8a16e6227" xsi:nil="true"/>
    <Language xmlns="52762d67-573b-4a4c-aad8-282e7a477841">English</Language>
    <Status xmlns="b15fcc50-10e1-498c-9a18-98b8a16e6227" xsi:nil="true"/>
    <RAFT_x0020_Target_x0020_Audience xmlns="b15fcc50-10e1-498c-9a18-98b8a16e6227" xsi:nil="true"/>
    <Instructors xmlns="b15fcc50-10e1-498c-9a18-98b8a16e6227">120</Instructors>
    <IconOverlay xmlns="http://schemas.microsoft.com/sharepoint/v4" xsi:nil="true"/>
    <Subject_x0020_Area xmlns="b15fcc50-10e1-498c-9a18-98b8a16e6227">1</Subject_x0020_Area>
    <Training_x0020_Level xmlns="b15fcc50-10e1-498c-9a18-98b8a16e6227">3</Training_x0020_Level>
    <View_x0020_Category xmlns="b15fcc50-10e1-498c-9a18-98b8a16e6227" xsi:nil="true"/>
    <Last_x0020_Updated xmlns="52762d67-573b-4a4c-aad8-282e7a477841">2015-02-05T05:00:00+00:00</Last_x0020_Updated>
    <Office xmlns="b15fcc50-10e1-498c-9a18-98b8a16e6227">3</Office>
    <Target_x0020_Audience xmlns="b15fcc50-10e1-498c-9a18-98b8a16e6227">15</Target_x0020_Audience>
    <Sub_x0020_Program_x0020_Area xmlns="b15fcc50-10e1-498c-9a18-98b8a16e6227">3</Sub_x0020_Program_x0020_Area>
    <RAFT_x0020_Section xmlns="b15fcc50-10e1-498c-9a18-98b8a16e6227">11</RAFT_x0020_Section>
    <Training_x0020_Type xmlns="b15fcc50-10e1-498c-9a18-98b8a16e6227">7</Training_x0020_Type>
    <Program_x0020_Area xmlns="b15fcc50-10e1-498c-9a18-98b8a16e6227">7</Program_x0020_Area>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FBACC836B6B83A408A57ED4BCD6C2C28" ma:contentTypeVersion="82" ma:contentTypeDescription="Create a new document." ma:contentTypeScope="" ma:versionID="c846e1b6523e25c8346e02243bad71dd">
  <xsd:schema xmlns:xsd="http://www.w3.org/2001/XMLSchema" xmlns:xs="http://www.w3.org/2001/XMLSchema" xmlns:p="http://schemas.microsoft.com/office/2006/metadata/properties" xmlns:ns2="52762d67-573b-4a4c-aad8-282e7a477841" xmlns:ns3="614dd832-74ab-4144-9279-3e27140f52fd" xmlns:ns4="b15fcc50-10e1-498c-9a18-98b8a16e6227" xmlns:ns5="http://schemas.microsoft.com/sharepoint/v4" xmlns:ns6="84c67d73-bc15-4ad1-8207-a95ac83adcdf" targetNamespace="http://schemas.microsoft.com/office/2006/metadata/properties" ma:root="true" ma:fieldsID="98deba321b7d3d285f1095fbaf8660f4" ns2:_="" ns3:_="" ns4:_="" ns5:_="" ns6:_="">
    <xsd:import namespace="52762d67-573b-4a4c-aad8-282e7a477841"/>
    <xsd:import namespace="614dd832-74ab-4144-9279-3e27140f52fd"/>
    <xsd:import namespace="b15fcc50-10e1-498c-9a18-98b8a16e6227"/>
    <xsd:import namespace="http://schemas.microsoft.com/sharepoint/v4"/>
    <xsd:import namespace="84c67d73-bc15-4ad1-8207-a95ac83adcdf"/>
    <xsd:element name="properties">
      <xsd:complexType>
        <xsd:sequence>
          <xsd:element name="documentManagement">
            <xsd:complexType>
              <xsd:all>
                <xsd:element ref="ns2:Last_x0020_Updated"/>
                <xsd:element ref="ns2:Language"/>
                <xsd:element ref="ns3:Description0"/>
                <xsd:element ref="ns4:Office"/>
                <xsd:element ref="ns4:Instructors" minOccurs="0"/>
                <xsd:element ref="ns4:Target_x0020_Audience" minOccurs="0"/>
                <xsd:element ref="ns4:Training_x0020_Type"/>
                <xsd:element ref="ns4:Training_x0020_Level"/>
                <xsd:element ref="ns4:RAFT_x0020_Section"/>
                <xsd:element ref="ns4:Program_x0020_Area" minOccurs="0"/>
                <xsd:element ref="ns4:Sub_x0020_Program_x0020_Area" minOccurs="0"/>
                <xsd:element ref="ns4:Subject_x0020_Area" minOccurs="0"/>
                <xsd:element ref="ns4:Status" minOccurs="0"/>
                <xsd:element ref="ns4:Topics" minOccurs="0"/>
                <xsd:element ref="ns5:IconOverlay" minOccurs="0"/>
                <xsd:element ref="ns6:_dlc_DocIdPersistId" minOccurs="0"/>
                <xsd:element ref="ns6:_dlc_DocId" minOccurs="0"/>
                <xsd:element ref="ns6:_dlc_DocIdUrl" minOccurs="0"/>
                <xsd:element ref="ns4:RAFT_x0020_Target_x0020_Audience" minOccurs="0"/>
                <xsd:element ref="ns4:View_x0020_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762d67-573b-4a4c-aad8-282e7a477841" elementFormDefault="qualified">
    <xsd:import namespace="http://schemas.microsoft.com/office/2006/documentManagement/types"/>
    <xsd:import namespace="http://schemas.microsoft.com/office/infopath/2007/PartnerControls"/>
    <xsd:element name="Last_x0020_Updated" ma:index="2" ma:displayName="Date Last Reviewed" ma:default="[today]" ma:format="DateOnly" ma:internalName="Last_x0020_Updated">
      <xsd:simpleType>
        <xsd:restriction base="dms:DateTime"/>
      </xsd:simpleType>
    </xsd:element>
    <xsd:element name="Language" ma:index="3" ma:displayName="Language" ma:default="English" ma:format="Dropdown" ma:internalName="Language">
      <xsd:simpleType>
        <xsd:restriction base="dms:Choice">
          <xsd:enumeration value="English"/>
        </xsd:restriction>
      </xsd:simpleType>
    </xsd:element>
  </xsd:schema>
  <xsd:schema xmlns:xsd="http://www.w3.org/2001/XMLSchema" xmlns:xs="http://www.w3.org/2001/XMLSchema" xmlns:dms="http://schemas.microsoft.com/office/2006/documentManagement/types" xmlns:pc="http://schemas.microsoft.com/office/infopath/2007/PartnerControls" targetNamespace="614dd832-74ab-4144-9279-3e27140f52fd" elementFormDefault="qualified">
    <xsd:import namespace="http://schemas.microsoft.com/office/2006/documentManagement/types"/>
    <xsd:import namespace="http://schemas.microsoft.com/office/infopath/2007/PartnerControls"/>
    <xsd:element name="Description0" ma:index="4" ma:displayName="Description" ma:internalName="Description0"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5fcc50-10e1-498c-9a18-98b8a16e6227" elementFormDefault="qualified">
    <xsd:import namespace="http://schemas.microsoft.com/office/2006/documentManagement/types"/>
    <xsd:import namespace="http://schemas.microsoft.com/office/infopath/2007/PartnerControls"/>
    <xsd:element name="Office" ma:index="5" ma:displayName="Office" ma:list="{3991115a-aaa6-4647-a0ea-7aeb3c7ad4f7}" ma:internalName="Office" ma:readOnly="false" ma:showField="ce">
      <xsd:simpleType>
        <xsd:restriction base="dms:Lookup"/>
      </xsd:simpleType>
    </xsd:element>
    <xsd:element name="Instructors" ma:index="6" nillable="true" ma:displayName="Instructors" ma:list="{42d39474-0931-4d26-a099-1b9bdf7912c6}" ma:internalName="Instructors" ma:showField="Title">
      <xsd:simpleType>
        <xsd:restriction base="dms:Lookup"/>
      </xsd:simpleType>
    </xsd:element>
    <xsd:element name="Target_x0020_Audience" ma:index="7" nillable="true" ma:displayName="Target Audience" ma:list="{3991115a-aaa6-4647-a0ea-7aeb3c7ad4f7}" ma:internalName="Target_x0020_Audience" ma:showField="Target_x0020_Audience">
      <xsd:simpleType>
        <xsd:restriction base="dms:Lookup"/>
      </xsd:simpleType>
    </xsd:element>
    <xsd:element name="Training_x0020_Type" ma:index="8" ma:displayName="Training Type" ma:list="{3991115a-aaa6-4647-a0ea-7aeb3c7ad4f7}" ma:internalName="Training_x0020_Type" ma:readOnly="false" ma:showField="Training_x0020_Type">
      <xsd:simpleType>
        <xsd:restriction base="dms:Lookup"/>
      </xsd:simpleType>
    </xsd:element>
    <xsd:element name="Training_x0020_Level" ma:index="9" ma:displayName="Training Level" ma:list="{3991115a-aaa6-4647-a0ea-7aeb3c7ad4f7}" ma:internalName="Training_x0020_Level" ma:readOnly="false" ma:showField="Training_x0020_Level">
      <xsd:simpleType>
        <xsd:restriction base="dms:Lookup"/>
      </xsd:simpleType>
    </xsd:element>
    <xsd:element name="RAFT_x0020_Section" ma:index="10" ma:displayName="RAFT Section" ma:list="{3991115a-aaa6-4647-a0ea-7aeb3c7ad4f7}" ma:internalName="RAFT_x0020_Section" ma:readOnly="false" ma:showField="Raft_x0020_Section">
      <xsd:simpleType>
        <xsd:restriction base="dms:Lookup"/>
      </xsd:simpleType>
    </xsd:element>
    <xsd:element name="Program_x0020_Area" ma:index="11" nillable="true" ma:displayName="Program Area" ma:description="Subject Area Training Only" ma:list="{3991115a-aaa6-4647-a0ea-7aeb3c7ad4f7}" ma:internalName="Program_x0020_Area" ma:showField="Program_x0020_Area">
      <xsd:simpleType>
        <xsd:restriction base="dms:Lookup"/>
      </xsd:simpleType>
    </xsd:element>
    <xsd:element name="Sub_x0020_Program_x0020_Area" ma:index="12" nillable="true" ma:displayName="Sub Program Area" ma:description="Subject Area Training Only" ma:list="{3991115a-aaa6-4647-a0ea-7aeb3c7ad4f7}" ma:internalName="Sub_x0020_Program_x0020_Area" ma:showField="Sub_x0020_Program_x0020_Area">
      <xsd:simpleType>
        <xsd:restriction base="dms:Lookup"/>
      </xsd:simpleType>
    </xsd:element>
    <xsd:element name="Subject_x0020_Area" ma:index="13" nillable="true" ma:displayName="Subject Area" ma:description="Subject Area Training Only - If not choose General" ma:list="{3991115a-aaa6-4647-a0ea-7aeb3c7ad4f7}" ma:internalName="Subject_x0020_Area" ma:showField="Subject_x0020_Area">
      <xsd:simpleType>
        <xsd:restriction base="dms:Lookup"/>
      </xsd:simpleType>
    </xsd:element>
    <xsd:element name="Status" ma:index="14" nillable="true" ma:displayName="Status (Core or Supplemental)" ma:description="Getting Started/Basic Stats/Advanced Stats ONLY" ma:list="{3991115a-aaa6-4647-a0ea-7aeb3c7ad4f7}" ma:internalName="Status" ma:showField="Status">
      <xsd:simpleType>
        <xsd:restriction base="dms:Lookup"/>
      </xsd:simpleType>
    </xsd:element>
    <xsd:element name="Topics" ma:index="16" nillable="true" ma:displayName="Case Scenario Training Topics" ma:description="Case Scenario Training Only" ma:list="{3991115a-aaa6-4647-a0ea-7aeb3c7ad4f7}" ma:internalName="Topics" ma:showField="Topic">
      <xsd:simpleType>
        <xsd:restriction base="dms:Lookup"/>
      </xsd:simpleType>
    </xsd:element>
    <xsd:element name="RAFT_x0020_Target_x0020_Audience" ma:index="27" nillable="true" ma:displayName="RAFT Target Audience" ma:list="{3991115a-aaa6-4647-a0ea-7aeb3c7ad4f7}" ma:internalName="RAFT_x0020_Target_x0020_Audience" ma:showField="RAFT_x0020_Target_x0020_Audience">
      <xsd:simpleType>
        <xsd:restriction base="dms:Lookup"/>
      </xsd:simpleType>
    </xsd:element>
    <xsd:element name="View_x0020_Category" ma:index="28" nillable="true" ma:displayName="View Category" ma:description="This is not requried. Add a term in the choice box if you would like to be able to create a view based on a term in this field." ma:format="Dropdown" ma:internalName="View_x0020_Category">
      <xsd:simpleType>
        <xsd:restriction base="dms:Choice">
          <xsd:enumeration value="Capital"/>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c67d73-bc15-4ad1-8207-a95ac83adcdf" elementFormDefault="qualified">
    <xsd:import namespace="http://schemas.microsoft.com/office/2006/documentManagement/types"/>
    <xsd:import namespace="http://schemas.microsoft.com/office/infopath/2007/PartnerControls"/>
    <xsd:element name="_dlc_DocIdPersistId" ma:index="20" nillable="true" ma:displayName="Persist ID" ma:description="Keep ID on add." ma:hidden="true" ma:internalName="_dlc_DocIdPersistId" ma:readOnly="true">
      <xsd:simpleType>
        <xsd:restriction base="dms:Boolean"/>
      </xsd:simpleType>
    </xsd:element>
    <xsd:element name="_dlc_DocId" ma:index="23" nillable="true" ma:displayName="Document ID Value" ma:description="The value of the document ID assigned to this item." ma:internalName="_dlc_DocId" ma:readOnly="true">
      <xsd:simpleType>
        <xsd:restriction base="dms:Text"/>
      </xsd:simpleType>
    </xsd:element>
    <xsd:element name="_dlc_DocIdUrl" ma:index="24"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Content Type"/>
        <xsd:element ref="dc:title" minOccurs="0" maxOccurs="1" ma:index="1" ma:displayName="Title"/>
        <xsd:element ref="dc:subject" minOccurs="0" maxOccurs="1" ma:index="15" ma:displayName="RAFT 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85D0B8-FC10-4A48-9DF7-9D8713237BF9}">
  <ds:schemaRefs>
    <ds:schemaRef ds:uri="http://schemas.openxmlformats.org/package/2006/metadata/core-properties"/>
    <ds:schemaRef ds:uri="http://purl.org/dc/elements/1.1/"/>
    <ds:schemaRef ds:uri="84c67d73-bc15-4ad1-8207-a95ac83adcdf"/>
    <ds:schemaRef ds:uri="614dd832-74ab-4144-9279-3e27140f52fd"/>
    <ds:schemaRef ds:uri="52762d67-573b-4a4c-aad8-282e7a477841"/>
    <ds:schemaRef ds:uri="http://schemas.microsoft.com/office/2006/metadata/properties"/>
    <ds:schemaRef ds:uri="http://purl.org/dc/terms/"/>
    <ds:schemaRef ds:uri="http://schemas.microsoft.com/office/infopath/2007/PartnerControls"/>
    <ds:schemaRef ds:uri="http://schemas.microsoft.com/office/2006/documentManagement/types"/>
    <ds:schemaRef ds:uri="http://schemas.microsoft.com/sharepoint/v4"/>
    <ds:schemaRef ds:uri="b15fcc50-10e1-498c-9a18-98b8a16e6227"/>
    <ds:schemaRef ds:uri="http://www.w3.org/XML/1998/namespace"/>
    <ds:schemaRef ds:uri="http://purl.org/dc/dcmitype/"/>
  </ds:schemaRefs>
</ds:datastoreItem>
</file>

<file path=customXml/itemProps2.xml><?xml version="1.0" encoding="utf-8"?>
<ds:datastoreItem xmlns:ds="http://schemas.openxmlformats.org/officeDocument/2006/customXml" ds:itemID="{7137C106-A410-4C44-8C4F-373DCB9DA496}">
  <ds:schemaRefs>
    <ds:schemaRef ds:uri="http://schemas.microsoft.com/sharepoint/events"/>
  </ds:schemaRefs>
</ds:datastoreItem>
</file>

<file path=customXml/itemProps3.xml><?xml version="1.0" encoding="utf-8"?>
<ds:datastoreItem xmlns:ds="http://schemas.openxmlformats.org/officeDocument/2006/customXml" ds:itemID="{96CE0927-4D39-425C-A1FC-8FE0F79974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762d67-573b-4a4c-aad8-282e7a477841"/>
    <ds:schemaRef ds:uri="614dd832-74ab-4144-9279-3e27140f52fd"/>
    <ds:schemaRef ds:uri="b15fcc50-10e1-498c-9a18-98b8a16e6227"/>
    <ds:schemaRef ds:uri="http://schemas.microsoft.com/sharepoint/v4"/>
    <ds:schemaRef ds:uri="84c67d73-bc15-4ad1-8207-a95ac83adc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37A742B-FD0F-4829-B9D2-4E8CCEBAA74F}">
  <ds:schemaRefs>
    <ds:schemaRef ds:uri="http://schemas.microsoft.com/sharepoint/v3/contenttype/forms"/>
  </ds:schemaRefs>
</ds:datastoreItem>
</file>

<file path=docMetadata/LabelInfo.xml><?xml version="1.0" encoding="utf-8"?>
<clbl:labelList xmlns:clbl="http://schemas.microsoft.com/office/2020/mipLabelMetadata">
  <clbl:label id="{40f5b659-45e0-406d-ada9-08e0b284cfc4}" enabled="1" method="Standard" siteId="{e95f1b23-abaf-45ee-821d-b7ab251ab3bf}" removed="0"/>
</clbl:labelList>
</file>

<file path=docProps/app.xml><?xml version="1.0" encoding="utf-8"?>
<Properties xmlns="http://schemas.openxmlformats.org/officeDocument/2006/extended-properties" xmlns:vt="http://schemas.openxmlformats.org/officeDocument/2006/docPropsVTypes">
  <TotalTime>10528</TotalTime>
  <Words>700</Words>
  <Application>Microsoft Office PowerPoint</Application>
  <PresentationFormat>On-screen Show (4:3)</PresentationFormat>
  <Paragraphs>58</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Black</vt:lpstr>
      <vt:lpstr>Arial Narrow</vt:lpstr>
      <vt:lpstr>Calibri</vt:lpstr>
      <vt:lpstr>Georgia</vt:lpstr>
      <vt:lpstr>Symbol</vt:lpstr>
      <vt:lpstr>Office Theme</vt:lpstr>
      <vt:lpstr>RFP 36C26126R0041 Project No. 593-26-103 Renovate Education Building Training Hub VA Southern Nevada healthcare system, vamc – las vegas, nv</vt:lpstr>
      <vt:lpstr>Project Information</vt:lpstr>
      <vt:lpstr>Project Contact Information</vt:lpstr>
      <vt:lpstr>Project Scope</vt:lpstr>
      <vt:lpstr>Project Contract Information</vt:lpstr>
      <vt:lpstr>Basis of Award and Evaluation Factors</vt:lpstr>
      <vt:lpstr>Pre-Proposal Site Visit Rules of Engagement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ConstructionPolicy and Appropriation PowerPoint Presentation</dc:title>
  <dc:creator>Sharon Yeager</dc:creator>
  <cp:lastModifiedBy>Jhun, Daniel</cp:lastModifiedBy>
  <cp:revision>366</cp:revision>
  <cp:lastPrinted>2016-06-22T21:08:43Z</cp:lastPrinted>
  <dcterms:created xsi:type="dcterms:W3CDTF">2011-05-12T19:56:03Z</dcterms:created>
  <dcterms:modified xsi:type="dcterms:W3CDTF">2026-04-24T15:15:47Z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0x010100FBACC836B6B83A408A57ED4BCD6C2C28</vt:lpwstr>
  </property>
  <property fmtid="{D5CDD505-2E9C-101B-9397-08002B2CF9AE}" pid="3" name="_dlc_DocIdItemGuid">
    <vt:lpwstr>92c66a9a-5028-4cac-b9ae-0acebd322976</vt:lpwstr>
  </property>
  <property fmtid="{D5CDD505-2E9C-101B-9397-08002B2CF9AE}" pid="4" name="Order">
    <vt:r8>11200</vt:r8>
  </property>
  <property fmtid="{D5CDD505-2E9C-101B-9397-08002B2CF9AE}" pid="5" name="TemplateUrl">
    <vt:lpwstr/>
  </property>
  <property fmtid="{D5CDD505-2E9C-101B-9397-08002B2CF9AE}" pid="6" name="xd_Signature">
    <vt:bool>false</vt:bool>
  </property>
  <property fmtid="{D5CDD505-2E9C-101B-9397-08002B2CF9AE}" pid="7" name="xd_ProgID">
    <vt:lpwstr/>
  </property>
</Properties>
</file>