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</p:sldMasterIdLst>
  <p:handoutMasterIdLst>
    <p:handoutMasterId r:id="rId6"/>
  </p:handoutMasterIdLst>
  <p:sldIdLst>
    <p:sldId id="256" r:id="rId5"/>
  </p:sldIdLst>
  <p:sldSz cx="6858000" cy="9144000" type="screen4x3"/>
  <p:notesSz cx="6858000" cy="92360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FF00"/>
    <a:srgbClr val="0066FF"/>
    <a:srgbClr val="3399FF"/>
    <a:srgbClr val="FF3300"/>
    <a:srgbClr val="1DBF11"/>
    <a:srgbClr val="E7D921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07D55D-CE1A-4F43-93D8-F6F67D140879}" v="2" dt="2026-05-07T16:56:27.5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2634" y="22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an, Mimi K TSGT USAF USSOCOM SOCNORTH (USA)" userId="30cb6b3f-9fec-4398-844e-78fafd59dc18" providerId="ADAL" clId="{FD551C9F-11EB-49C0-AB11-04437A52EAF6}"/>
    <pc:docChg chg="custSel modSld">
      <pc:chgData name="Phan, Mimi K TSGT USAF USSOCOM SOCNORTH (USA)" userId="30cb6b3f-9fec-4398-844e-78fafd59dc18" providerId="ADAL" clId="{FD551C9F-11EB-49C0-AB11-04437A52EAF6}" dt="2026-05-07T16:56:32.113" v="13" actId="1076"/>
      <pc:docMkLst>
        <pc:docMk/>
      </pc:docMkLst>
      <pc:sldChg chg="delSp modSp mod">
        <pc:chgData name="Phan, Mimi K TSGT USAF USSOCOM SOCNORTH (USA)" userId="30cb6b3f-9fec-4398-844e-78fafd59dc18" providerId="ADAL" clId="{FD551C9F-11EB-49C0-AB11-04437A52EAF6}" dt="2026-05-07T16:56:32.113" v="13" actId="1076"/>
        <pc:sldMkLst>
          <pc:docMk/>
          <pc:sldMk cId="0" sldId="256"/>
        </pc:sldMkLst>
        <pc:spChg chg="mod">
          <ac:chgData name="Phan, Mimi K TSGT USAF USSOCOM SOCNORTH (USA)" userId="30cb6b3f-9fec-4398-844e-78fafd59dc18" providerId="ADAL" clId="{FD551C9F-11EB-49C0-AB11-04437A52EAF6}" dt="2026-05-07T16:56:32.113" v="13" actId="1076"/>
          <ac:spMkLst>
            <pc:docMk/>
            <pc:sldMk cId="0" sldId="256"/>
            <ac:spMk id="3094" creationId="{EEDAA965-DB33-2DB6-F5D5-4410569E4868}"/>
          </ac:spMkLst>
        </pc:spChg>
        <pc:spChg chg="del">
          <ac:chgData name="Phan, Mimi K TSGT USAF USSOCOM SOCNORTH (USA)" userId="30cb6b3f-9fec-4398-844e-78fafd59dc18" providerId="ADAL" clId="{FD551C9F-11EB-49C0-AB11-04437A52EAF6}" dt="2026-05-07T16:56:20.473" v="6" actId="478"/>
          <ac:spMkLst>
            <pc:docMk/>
            <pc:sldMk cId="0" sldId="256"/>
            <ac:spMk id="3098" creationId="{1D1A49A9-4E13-2F25-EB65-9FB3A5ED064D}"/>
          </ac:spMkLst>
        </pc:spChg>
        <pc:spChg chg="del mod">
          <ac:chgData name="Phan, Mimi K TSGT USAF USSOCOM SOCNORTH (USA)" userId="30cb6b3f-9fec-4398-844e-78fafd59dc18" providerId="ADAL" clId="{FD551C9F-11EB-49C0-AB11-04437A52EAF6}" dt="2026-05-07T16:56:16.534" v="4" actId="478"/>
          <ac:spMkLst>
            <pc:docMk/>
            <pc:sldMk cId="0" sldId="256"/>
            <ac:spMk id="3100" creationId="{BC1D10E3-6174-AF67-CDEA-E8C3357A9762}"/>
          </ac:spMkLst>
        </pc:spChg>
        <pc:cxnChg chg="del mod">
          <ac:chgData name="Phan, Mimi K TSGT USAF USSOCOM SOCNORTH (USA)" userId="30cb6b3f-9fec-4398-844e-78fafd59dc18" providerId="ADAL" clId="{FD551C9F-11EB-49C0-AB11-04437A52EAF6}" dt="2026-05-07T16:56:18.677" v="5" actId="478"/>
          <ac:cxnSpMkLst>
            <pc:docMk/>
            <pc:sldMk cId="0" sldId="256"/>
            <ac:cxnSpMk id="3099" creationId="{73FE7D9D-1482-9A5F-4151-395E451F7308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7E6745BF-F7F5-8643-370E-D38D8A66393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AA3D7762-1A6D-35F3-D54E-B58F6D1F916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1028">
            <a:extLst>
              <a:ext uri="{FF2B5EF4-FFF2-40B4-BE49-F238E27FC236}">
                <a16:creationId xmlns:a16="http://schemas.microsoft.com/office/drawing/2014/main" id="{1535379E-23FA-91A1-3CFA-14D8CC3CE05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80463"/>
            <a:ext cx="2971800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1029">
            <a:extLst>
              <a:ext uri="{FF2B5EF4-FFF2-40B4-BE49-F238E27FC236}">
                <a16:creationId xmlns:a16="http://schemas.microsoft.com/office/drawing/2014/main" id="{8F830EDD-877B-2FB6-758B-7F2D2732110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780463"/>
            <a:ext cx="2971800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7A7F642-D7FC-40C0-9B4F-F6931539944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038"/>
            <a:ext cx="5829300" cy="1960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61DF759-7380-A8EB-0F91-3A9A5C5006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6CFE408-D687-310C-8415-BBC10DBAED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DBCE4B1-0B5F-8098-8395-32C648BA85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0987F9-5D21-4F91-A0B8-1774A232EB7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2344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60A1567-5B22-F8B1-878A-F5EF6A059F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D696343-9930-91E4-0697-41CBDA8160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A76D887-81E5-2985-4B91-3EED8C23BC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39DC82-F87E-4C7F-9D80-E3B75F01915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5966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338" y="3875088"/>
            <a:ext cx="5829300" cy="20002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8B03EDD-CF5F-47F0-6188-0DE4135E30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10EB055-EEBE-83C4-6BA3-49D2B94C4B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EA6109-9674-8145-2D17-2064162D67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0BC10C-B4CF-45DE-9E56-4E0BD8DAAE7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9963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2641600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05200" y="2641600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131F96-B1FC-7E9C-4E56-D57A6C5C86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0D8097-D6FB-326F-83DF-F5B4D9121B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DABAA5-B88E-88E4-99A0-6AE3C41A0F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4E2FEB-4758-41B7-A5E4-B9FEC669CD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4608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713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4563" y="2046288"/>
            <a:ext cx="3030537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4563" y="2900363"/>
            <a:ext cx="3030537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AA54413-1B61-4152-C80C-10800B5C22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E9045A0-88C7-77EF-40E9-57A1AF2AB5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D71BA0B-065F-E15A-8E6D-A28FF7ADDC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3A282E-7697-44FC-AA96-E1031B14C6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2192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698E3D6-C5E5-DE91-EB5E-B97D427EEC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A6A07C8-9190-0FBC-A87E-23AE6C4EC9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9BB6A90-7CBF-3A3A-7B80-525F75976F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D7F906-AD0C-4D52-B31A-8ABE3830CE5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1322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05F5157-BD81-21C5-8E95-27CDD00EF9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ECAE65C-365E-17FC-51C7-D3AF1C3B0D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2164BD9-A42A-FF53-B270-C9E04A05DA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25B602-DF75-458D-A336-2D847398C2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5230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6C299E-7D21-C323-6CE5-147D4D2E54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AEC968-9882-91E2-32DC-DCF9BF8660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3CA45C-3485-2E0D-DF53-D94A4C8CEB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DBC236-1C62-43CE-ABEA-592FEDA7FF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5607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C7033B-308D-D364-9DD5-0354F31A83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BB0838-AB85-022D-B4CA-F6D4B31EF4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6DC9B0-B255-4CD7-BE0B-381D1664A4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461159-4C7C-4BDF-9428-75CD90481A2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6684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12949E-708C-8422-3CCA-625A21FD43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8D646F1-84BB-CC74-4EA1-B5FD60D513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58C58B5-9E55-569D-E61E-4466AB52EC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1EE13E-6E4A-46DA-B016-63B0693C12B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198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86325" y="812800"/>
            <a:ext cx="1457325" cy="7315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812800"/>
            <a:ext cx="4219575" cy="7315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9083775-6663-51A3-1605-2FE7A777E8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455C30A-C9BA-968D-6DCA-D202020C75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43497E2-B5D3-26B1-8700-A86615F904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E8CB16-17A0-4D47-9380-52C15D81122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5838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CBA0106-E322-BD86-DDED-A3D5353773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14350" y="812800"/>
            <a:ext cx="58293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C4A3C32-B164-1F9F-5569-A86A9C8415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2641600"/>
            <a:ext cx="58293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284834E-D8CE-FD3E-F323-29CD4AA0F7C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4350" y="8331200"/>
            <a:ext cx="14287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6A4529D-BC34-5352-F29A-90B573872E9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8331200"/>
            <a:ext cx="21717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2BDFDB2-AEF1-CFAA-CE27-41A8766F5F4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8331200"/>
            <a:ext cx="14287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3E5C496-2152-4E94-A126-333D4A5D854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AFB Map">
            <a:extLst>
              <a:ext uri="{FF2B5EF4-FFF2-40B4-BE49-F238E27FC236}">
                <a16:creationId xmlns:a16="http://schemas.microsoft.com/office/drawing/2014/main" id="{D996FDA0-CF91-D3C3-7F6C-C08842E52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423863"/>
            <a:ext cx="6535738" cy="876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Line 5">
            <a:extLst>
              <a:ext uri="{FF2B5EF4-FFF2-40B4-BE49-F238E27FC236}">
                <a16:creationId xmlns:a16="http://schemas.microsoft.com/office/drawing/2014/main" id="{20AEA353-E3EC-C37E-46AC-C3C01FC8D1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400050"/>
            <a:ext cx="1524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6" name="Freeform 24">
            <a:extLst>
              <a:ext uri="{FF2B5EF4-FFF2-40B4-BE49-F238E27FC236}">
                <a16:creationId xmlns:a16="http://schemas.microsoft.com/office/drawing/2014/main" id="{D3E7426D-9459-5C30-9DD2-232BE67D23C5}"/>
              </a:ext>
            </a:extLst>
          </p:cNvPr>
          <p:cNvSpPr>
            <a:spLocks/>
          </p:cNvSpPr>
          <p:nvPr/>
        </p:nvSpPr>
        <p:spPr bwMode="auto">
          <a:xfrm rot="2819766">
            <a:off x="4365625" y="139700"/>
            <a:ext cx="381000" cy="406400"/>
          </a:xfrm>
          <a:custGeom>
            <a:avLst/>
            <a:gdLst>
              <a:gd name="T0" fmla="*/ 2147483646 w 4560"/>
              <a:gd name="T1" fmla="*/ 2147483646 h 4176"/>
              <a:gd name="T2" fmla="*/ 2147483646 w 4560"/>
              <a:gd name="T3" fmla="*/ 2147483646 h 4176"/>
              <a:gd name="T4" fmla="*/ 2147483646 w 4560"/>
              <a:gd name="T5" fmla="*/ 0 h 4176"/>
              <a:gd name="T6" fmla="*/ 2147483646 w 4560"/>
              <a:gd name="T7" fmla="*/ 0 h 4176"/>
              <a:gd name="T8" fmla="*/ 2147483646 w 4560"/>
              <a:gd name="T9" fmla="*/ 2147483646 h 4176"/>
              <a:gd name="T10" fmla="*/ 2147483646 w 4560"/>
              <a:gd name="T11" fmla="*/ 2147483646 h 4176"/>
              <a:gd name="T12" fmla="*/ 2147483646 w 4560"/>
              <a:gd name="T13" fmla="*/ 2147483646 h 4176"/>
              <a:gd name="T14" fmla="*/ 2147483646 w 4560"/>
              <a:gd name="T15" fmla="*/ 2147483646 h 4176"/>
              <a:gd name="T16" fmla="*/ 2147483646 w 4560"/>
              <a:gd name="T17" fmla="*/ 2147483646 h 4176"/>
              <a:gd name="T18" fmla="*/ 2147483646 w 4560"/>
              <a:gd name="T19" fmla="*/ 2147483646 h 4176"/>
              <a:gd name="T20" fmla="*/ 2147483646 w 4560"/>
              <a:gd name="T21" fmla="*/ 2147483646 h 4176"/>
              <a:gd name="T22" fmla="*/ 2147483646 w 4560"/>
              <a:gd name="T23" fmla="*/ 2147483646 h 4176"/>
              <a:gd name="T24" fmla="*/ 2147483646 w 4560"/>
              <a:gd name="T25" fmla="*/ 2147483646 h 4176"/>
              <a:gd name="T26" fmla="*/ 2147483646 w 4560"/>
              <a:gd name="T27" fmla="*/ 2147483646 h 4176"/>
              <a:gd name="T28" fmla="*/ 2147483646 w 4560"/>
              <a:gd name="T29" fmla="*/ 2147483646 h 4176"/>
              <a:gd name="T30" fmla="*/ 2147483646 w 4560"/>
              <a:gd name="T31" fmla="*/ 2147483646 h 4176"/>
              <a:gd name="T32" fmla="*/ 2147483646 w 4560"/>
              <a:gd name="T33" fmla="*/ 2147483646 h 4176"/>
              <a:gd name="T34" fmla="*/ 2147483646 w 4560"/>
              <a:gd name="T35" fmla="*/ 2147483646 h 4176"/>
              <a:gd name="T36" fmla="*/ 2147483646 w 4560"/>
              <a:gd name="T37" fmla="*/ 2147483646 h 4176"/>
              <a:gd name="T38" fmla="*/ 2147483646 w 4560"/>
              <a:gd name="T39" fmla="*/ 2147483646 h 4176"/>
              <a:gd name="T40" fmla="*/ 2147483646 w 4560"/>
              <a:gd name="T41" fmla="*/ 2147483646 h 4176"/>
              <a:gd name="T42" fmla="*/ 2147483646 w 4560"/>
              <a:gd name="T43" fmla="*/ 2147483646 h 4176"/>
              <a:gd name="T44" fmla="*/ 2147483646 w 4560"/>
              <a:gd name="T45" fmla="*/ 2147483646 h 4176"/>
              <a:gd name="T46" fmla="*/ 2147483646 w 4560"/>
              <a:gd name="T47" fmla="*/ 2147483646 h 4176"/>
              <a:gd name="T48" fmla="*/ 2147483646 w 4560"/>
              <a:gd name="T49" fmla="*/ 2147483646 h 4176"/>
              <a:gd name="T50" fmla="*/ 0 w 4560"/>
              <a:gd name="T51" fmla="*/ 2147483646 h 4176"/>
              <a:gd name="T52" fmla="*/ 2147483646 w 4560"/>
              <a:gd name="T53" fmla="*/ 2147483646 h 4176"/>
              <a:gd name="T54" fmla="*/ 2147483646 w 4560"/>
              <a:gd name="T55" fmla="*/ 2147483646 h 417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4560"/>
              <a:gd name="T85" fmla="*/ 0 h 4176"/>
              <a:gd name="T86" fmla="*/ 4560 w 4560"/>
              <a:gd name="T87" fmla="*/ 4176 h 4176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4560" h="4176">
                <a:moveTo>
                  <a:pt x="624" y="144"/>
                </a:moveTo>
                <a:lnTo>
                  <a:pt x="4224" y="144"/>
                </a:lnTo>
                <a:lnTo>
                  <a:pt x="4224" y="0"/>
                </a:lnTo>
                <a:lnTo>
                  <a:pt x="4560" y="0"/>
                </a:lnTo>
                <a:lnTo>
                  <a:pt x="4560" y="1056"/>
                </a:lnTo>
                <a:lnTo>
                  <a:pt x="4272" y="1392"/>
                </a:lnTo>
                <a:lnTo>
                  <a:pt x="4272" y="1536"/>
                </a:lnTo>
                <a:lnTo>
                  <a:pt x="3792" y="1536"/>
                </a:lnTo>
                <a:lnTo>
                  <a:pt x="3792" y="1392"/>
                </a:lnTo>
                <a:lnTo>
                  <a:pt x="3696" y="1392"/>
                </a:lnTo>
                <a:lnTo>
                  <a:pt x="3696" y="1056"/>
                </a:lnTo>
                <a:lnTo>
                  <a:pt x="2448" y="1056"/>
                </a:lnTo>
                <a:lnTo>
                  <a:pt x="2112" y="1392"/>
                </a:lnTo>
                <a:lnTo>
                  <a:pt x="2064" y="1584"/>
                </a:lnTo>
                <a:lnTo>
                  <a:pt x="1872" y="1632"/>
                </a:lnTo>
                <a:lnTo>
                  <a:pt x="1584" y="1920"/>
                </a:lnTo>
                <a:lnTo>
                  <a:pt x="1584" y="2448"/>
                </a:lnTo>
                <a:lnTo>
                  <a:pt x="1824" y="2688"/>
                </a:lnTo>
                <a:lnTo>
                  <a:pt x="1776" y="2736"/>
                </a:lnTo>
                <a:lnTo>
                  <a:pt x="2400" y="3408"/>
                </a:lnTo>
                <a:lnTo>
                  <a:pt x="2256" y="3552"/>
                </a:lnTo>
                <a:lnTo>
                  <a:pt x="2400" y="3696"/>
                </a:lnTo>
                <a:lnTo>
                  <a:pt x="2064" y="4032"/>
                </a:lnTo>
                <a:lnTo>
                  <a:pt x="1920" y="3888"/>
                </a:lnTo>
                <a:lnTo>
                  <a:pt x="1584" y="4176"/>
                </a:lnTo>
                <a:lnTo>
                  <a:pt x="0" y="2592"/>
                </a:lnTo>
                <a:lnTo>
                  <a:pt x="624" y="1968"/>
                </a:lnTo>
                <a:lnTo>
                  <a:pt x="672" y="192"/>
                </a:lnTo>
              </a:path>
            </a:pathLst>
          </a:custGeom>
          <a:solidFill>
            <a:srgbClr val="FF7C80"/>
          </a:solidFill>
          <a:ln w="9525" cap="flat" cmpd="sng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7" name="Text Box 25">
            <a:extLst>
              <a:ext uri="{FF2B5EF4-FFF2-40B4-BE49-F238E27FC236}">
                <a16:creationId xmlns:a16="http://schemas.microsoft.com/office/drawing/2014/main" id="{4B5C0142-C9E5-C8E5-8F8C-1F07076D0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3575" y="133350"/>
            <a:ext cx="227013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6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078" name="Rectangle 26">
            <a:extLst>
              <a:ext uri="{FF2B5EF4-FFF2-40B4-BE49-F238E27FC236}">
                <a16:creationId xmlns:a16="http://schemas.microsoft.com/office/drawing/2014/main" id="{CE65A834-4C39-4380-3DE8-B4FB82F08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63550"/>
            <a:ext cx="117475" cy="6889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79" name="Line 27">
            <a:extLst>
              <a:ext uri="{FF2B5EF4-FFF2-40B4-BE49-F238E27FC236}">
                <a16:creationId xmlns:a16="http://schemas.microsoft.com/office/drawing/2014/main" id="{BE52E220-F6C1-23B3-8E22-FFACC802891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875" y="1181100"/>
            <a:ext cx="1685925" cy="0"/>
          </a:xfrm>
          <a:prstGeom prst="line">
            <a:avLst/>
          </a:prstGeom>
          <a:noFill/>
          <a:ln w="12700">
            <a:solidFill>
              <a:srgbClr val="00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0" name="Rectangle 28">
            <a:extLst>
              <a:ext uri="{FF2B5EF4-FFF2-40B4-BE49-F238E27FC236}">
                <a16:creationId xmlns:a16="http://schemas.microsoft.com/office/drawing/2014/main" id="{7AF166E7-8999-21F5-1191-8B57654C2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9550" y="733425"/>
            <a:ext cx="584200" cy="42862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81" name="Rectangle 29">
            <a:extLst>
              <a:ext uri="{FF2B5EF4-FFF2-40B4-BE49-F238E27FC236}">
                <a16:creationId xmlns:a16="http://schemas.microsoft.com/office/drawing/2014/main" id="{27188B46-C498-6D88-15BE-079EA069E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0" y="787400"/>
            <a:ext cx="977900" cy="36195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700">
                <a:latin typeface="Arial" panose="020B0604020202020204" pitchFamily="34" charset="0"/>
              </a:rPr>
              <a:t>Parking</a:t>
            </a:r>
          </a:p>
        </p:txBody>
      </p:sp>
      <p:sp>
        <p:nvSpPr>
          <p:cNvPr id="3082" name="Rectangle 30">
            <a:extLst>
              <a:ext uri="{FF2B5EF4-FFF2-40B4-BE49-F238E27FC236}">
                <a16:creationId xmlns:a16="http://schemas.microsoft.com/office/drawing/2014/main" id="{B565567C-70DC-D5F2-E2AD-7145E8F36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3950" y="161925"/>
            <a:ext cx="342900" cy="285750"/>
          </a:xfrm>
          <a:prstGeom prst="rect">
            <a:avLst/>
          </a:prstGeom>
          <a:solidFill>
            <a:srgbClr val="FF7C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83" name="Text Box 31">
            <a:extLst>
              <a:ext uri="{FF2B5EF4-FFF2-40B4-BE49-F238E27FC236}">
                <a16:creationId xmlns:a16="http://schemas.microsoft.com/office/drawing/2014/main" id="{CA426B57-D238-2F77-93D5-6A02E1DA73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7925" y="209550"/>
            <a:ext cx="227013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6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084" name="Rectangle 32">
            <a:extLst>
              <a:ext uri="{FF2B5EF4-FFF2-40B4-BE49-F238E27FC236}">
                <a16:creationId xmlns:a16="http://schemas.microsoft.com/office/drawing/2014/main" id="{44348AE5-C804-F6D6-0481-5FF40986B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1235075"/>
            <a:ext cx="1292225" cy="36195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700">
                <a:latin typeface="Arial" panose="020B0604020202020204" pitchFamily="34" charset="0"/>
              </a:rPr>
              <a:t>Parking</a:t>
            </a:r>
          </a:p>
        </p:txBody>
      </p:sp>
      <p:sp>
        <p:nvSpPr>
          <p:cNvPr id="3085" name="Rectangle 33">
            <a:extLst>
              <a:ext uri="{FF2B5EF4-FFF2-40B4-BE49-F238E27FC236}">
                <a16:creationId xmlns:a16="http://schemas.microsoft.com/office/drawing/2014/main" id="{5F9995F5-8433-D467-DCEE-5B45BF6AF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6375" y="787400"/>
            <a:ext cx="577850" cy="36195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700">
                <a:latin typeface="Arial" panose="020B0604020202020204" pitchFamily="34" charset="0"/>
              </a:rPr>
              <a:t>Parking</a:t>
            </a:r>
          </a:p>
        </p:txBody>
      </p:sp>
      <p:sp>
        <p:nvSpPr>
          <p:cNvPr id="3086" name="Freeform 38">
            <a:extLst>
              <a:ext uri="{FF2B5EF4-FFF2-40B4-BE49-F238E27FC236}">
                <a16:creationId xmlns:a16="http://schemas.microsoft.com/office/drawing/2014/main" id="{F0FFDEE1-133A-CF1C-B399-1A14E33130A3}"/>
              </a:ext>
            </a:extLst>
          </p:cNvPr>
          <p:cNvSpPr>
            <a:spLocks/>
          </p:cNvSpPr>
          <p:nvPr/>
        </p:nvSpPr>
        <p:spPr bwMode="auto">
          <a:xfrm>
            <a:off x="5454650" y="0"/>
            <a:ext cx="309563" cy="1182688"/>
          </a:xfrm>
          <a:custGeom>
            <a:avLst/>
            <a:gdLst>
              <a:gd name="T0" fmla="*/ 0 w 195"/>
              <a:gd name="T1" fmla="*/ 2147483646 h 745"/>
              <a:gd name="T2" fmla="*/ 2147483646 w 195"/>
              <a:gd name="T3" fmla="*/ 2147483646 h 745"/>
              <a:gd name="T4" fmla="*/ 2147483646 w 195"/>
              <a:gd name="T5" fmla="*/ 2147483646 h 745"/>
              <a:gd name="T6" fmla="*/ 2147483646 w 195"/>
              <a:gd name="T7" fmla="*/ 2147483646 h 745"/>
              <a:gd name="T8" fmla="*/ 2147483646 w 195"/>
              <a:gd name="T9" fmla="*/ 2147483646 h 745"/>
              <a:gd name="T10" fmla="*/ 2147483646 w 195"/>
              <a:gd name="T11" fmla="*/ 2147483646 h 745"/>
              <a:gd name="T12" fmla="*/ 2147483646 w 195"/>
              <a:gd name="T13" fmla="*/ 0 h 7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5"/>
              <a:gd name="T22" fmla="*/ 0 h 745"/>
              <a:gd name="T23" fmla="*/ 195 w 195"/>
              <a:gd name="T24" fmla="*/ 745 h 74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5" h="745">
                <a:moveTo>
                  <a:pt x="0" y="740"/>
                </a:moveTo>
                <a:cubicBezTo>
                  <a:pt x="45" y="740"/>
                  <a:pt x="90" y="740"/>
                  <a:pt x="112" y="740"/>
                </a:cubicBezTo>
                <a:cubicBezTo>
                  <a:pt x="134" y="740"/>
                  <a:pt x="119" y="745"/>
                  <a:pt x="130" y="740"/>
                </a:cubicBezTo>
                <a:cubicBezTo>
                  <a:pt x="141" y="735"/>
                  <a:pt x="169" y="731"/>
                  <a:pt x="178" y="708"/>
                </a:cubicBezTo>
                <a:cubicBezTo>
                  <a:pt x="187" y="685"/>
                  <a:pt x="185" y="698"/>
                  <a:pt x="186" y="600"/>
                </a:cubicBezTo>
                <a:cubicBezTo>
                  <a:pt x="187" y="502"/>
                  <a:pt x="195" y="222"/>
                  <a:pt x="186" y="122"/>
                </a:cubicBezTo>
                <a:cubicBezTo>
                  <a:pt x="177" y="22"/>
                  <a:pt x="141" y="20"/>
                  <a:pt x="132" y="0"/>
                </a:cubicBezTo>
              </a:path>
            </a:pathLst>
          </a:custGeom>
          <a:noFill/>
          <a:ln w="12700" cmpd="sng">
            <a:solidFill>
              <a:srgbClr val="00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7" name="Rectangle 49">
            <a:extLst>
              <a:ext uri="{FF2B5EF4-FFF2-40B4-BE49-F238E27FC236}">
                <a16:creationId xmlns:a16="http://schemas.microsoft.com/office/drawing/2014/main" id="{E956CEFF-C7F7-5A1F-CB6A-B11BC2DE70BC}"/>
              </a:ext>
            </a:extLst>
          </p:cNvPr>
          <p:cNvSpPr>
            <a:spLocks noChangeArrowheads="1"/>
          </p:cNvSpPr>
          <p:nvPr/>
        </p:nvSpPr>
        <p:spPr bwMode="auto">
          <a:xfrm rot="-2619178">
            <a:off x="3976688" y="4933950"/>
            <a:ext cx="400050" cy="219075"/>
          </a:xfrm>
          <a:prstGeom prst="rect">
            <a:avLst/>
          </a:prstGeom>
          <a:solidFill>
            <a:srgbClr val="FF7C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>
                <a:latin typeface="Arial" panose="020B0604020202020204" pitchFamily="34" charset="0"/>
              </a:rPr>
              <a:t>TLF</a:t>
            </a:r>
          </a:p>
        </p:txBody>
      </p:sp>
      <p:sp>
        <p:nvSpPr>
          <p:cNvPr id="3088" name="Rectangle 52">
            <a:extLst>
              <a:ext uri="{FF2B5EF4-FFF2-40B4-BE49-F238E27FC236}">
                <a16:creationId xmlns:a16="http://schemas.microsoft.com/office/drawing/2014/main" id="{F9D236B6-0E2A-FF9F-6A96-527FCA3D2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0350" y="2105025"/>
            <a:ext cx="590550" cy="2476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89" name="Line 6">
            <a:extLst>
              <a:ext uri="{FF2B5EF4-FFF2-40B4-BE49-F238E27FC236}">
                <a16:creationId xmlns:a16="http://schemas.microsoft.com/office/drawing/2014/main" id="{297161F2-36E9-9599-31F7-C37DA406F254}"/>
              </a:ext>
            </a:extLst>
          </p:cNvPr>
          <p:cNvSpPr>
            <a:spLocks noChangeShapeType="1"/>
          </p:cNvSpPr>
          <p:nvPr/>
        </p:nvSpPr>
        <p:spPr bwMode="auto">
          <a:xfrm rot="17993967" flipV="1">
            <a:off x="923925" y="1406525"/>
            <a:ext cx="12065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90" name="Text Box 102">
            <a:extLst>
              <a:ext uri="{FF2B5EF4-FFF2-40B4-BE49-F238E27FC236}">
                <a16:creationId xmlns:a16="http://schemas.microsoft.com/office/drawing/2014/main" id="{C3C4A462-4694-E975-E3FF-5788D5067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8838" y="3819525"/>
            <a:ext cx="950912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700" b="1">
                <a:latin typeface="Arial" panose="020B0604020202020204" pitchFamily="34" charset="0"/>
              </a:rPr>
              <a:t>TO EAST GATE</a:t>
            </a:r>
          </a:p>
        </p:txBody>
      </p:sp>
      <p:sp>
        <p:nvSpPr>
          <p:cNvPr id="3091" name="Line 103">
            <a:extLst>
              <a:ext uri="{FF2B5EF4-FFF2-40B4-BE49-F238E27FC236}">
                <a16:creationId xmlns:a16="http://schemas.microsoft.com/office/drawing/2014/main" id="{2801919E-4DF8-D467-2620-E7C5CC2A4B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02363" y="4073525"/>
            <a:ext cx="39052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2" name="Text Box 106">
            <a:extLst>
              <a:ext uri="{FF2B5EF4-FFF2-40B4-BE49-F238E27FC236}">
                <a16:creationId xmlns:a16="http://schemas.microsoft.com/office/drawing/2014/main" id="{423CF036-4508-135C-0BF2-7D2F48E03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6275" y="134938"/>
            <a:ext cx="6794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en-US" sz="700" b="1">
                <a:latin typeface="Arial" panose="020B0604020202020204" pitchFamily="34" charset="0"/>
              </a:rPr>
              <a:t>NORTH GATE</a:t>
            </a:r>
          </a:p>
        </p:txBody>
      </p:sp>
      <p:sp>
        <p:nvSpPr>
          <p:cNvPr id="3093" name="Text Box 53">
            <a:extLst>
              <a:ext uri="{FF2B5EF4-FFF2-40B4-BE49-F238E27FC236}">
                <a16:creationId xmlns:a16="http://schemas.microsoft.com/office/drawing/2014/main" id="{00E02BB8-08D5-3978-6088-C112D3AFC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-44450"/>
            <a:ext cx="5238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900" b="1">
                <a:latin typeface="Arial" panose="020B0604020202020204" pitchFamily="34" charset="0"/>
              </a:rPr>
              <a:t>BLDG 2</a:t>
            </a:r>
          </a:p>
        </p:txBody>
      </p:sp>
      <p:sp>
        <p:nvSpPr>
          <p:cNvPr id="3094" name="Text Box 108">
            <a:extLst>
              <a:ext uri="{FF2B5EF4-FFF2-40B4-BE49-F238E27FC236}">
                <a16:creationId xmlns:a16="http://schemas.microsoft.com/office/drawing/2014/main" id="{EEDAA965-DB33-2DB6-F5D5-4410569E4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" y="6791326"/>
            <a:ext cx="2586038" cy="233910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 u="sng" dirty="0">
                <a:latin typeface="Arial" panose="020B0604020202020204" pitchFamily="34" charset="0"/>
              </a:rPr>
              <a:t>Gate Hours: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1" dirty="0"/>
              <a:t>West Gate: (Main gate w/ Visitors Center) Open 24/7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2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1" dirty="0"/>
              <a:t>East Gate: Mon-Fri: 0500-1800; Sat: 0600-1800; Sun: 0830-1800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200" b="1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1" dirty="0"/>
              <a:t>North Gate: (Closest to SOCNORTH) Mon-Fri: In &amp; Out: 0600-0900; Outbound: 0600-1800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1" dirty="0"/>
              <a:t>	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200" b="1" dirty="0">
              <a:latin typeface="Palatino Linotype" panose="02040502050505030304" pitchFamily="18" charset="0"/>
            </a:endParaRPr>
          </a:p>
        </p:txBody>
      </p:sp>
      <p:cxnSp>
        <p:nvCxnSpPr>
          <p:cNvPr id="3096" name="Straight Arrow Connector 3">
            <a:extLst>
              <a:ext uri="{FF2B5EF4-FFF2-40B4-BE49-F238E27FC236}">
                <a16:creationId xmlns:a16="http://schemas.microsoft.com/office/drawing/2014/main" id="{213290EA-88B9-3230-9237-D9EF988A03CC}"/>
              </a:ext>
            </a:extLst>
          </p:cNvPr>
          <p:cNvCxnSpPr>
            <a:cxnSpLocks noChangeShapeType="1"/>
            <a:endCxn id="2" idx="3"/>
          </p:cNvCxnSpPr>
          <p:nvPr/>
        </p:nvCxnSpPr>
        <p:spPr bwMode="auto">
          <a:xfrm flipH="1">
            <a:off x="6057107" y="577758"/>
            <a:ext cx="731359" cy="369979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97" name="TextBox 5">
            <a:extLst>
              <a:ext uri="{FF2B5EF4-FFF2-40B4-BE49-F238E27FC236}">
                <a16:creationId xmlns:a16="http://schemas.microsoft.com/office/drawing/2014/main" id="{18C28023-2FE1-8A63-E0FC-42932895D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6143" y="67468"/>
            <a:ext cx="1472332" cy="523220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/>
              <a:t>SOCNORTH HQ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/>
              <a:t>Building 30</a:t>
            </a:r>
          </a:p>
        </p:txBody>
      </p:sp>
      <p:sp>
        <p:nvSpPr>
          <p:cNvPr id="2" name="Rectangle 30">
            <a:extLst>
              <a:ext uri="{FF2B5EF4-FFF2-40B4-BE49-F238E27FC236}">
                <a16:creationId xmlns:a16="http://schemas.microsoft.com/office/drawing/2014/main" id="{4AEE952E-FB6B-7385-0BD0-3779558FD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0569" y="764797"/>
            <a:ext cx="236538" cy="365880"/>
          </a:xfrm>
          <a:prstGeom prst="rect">
            <a:avLst/>
          </a:prstGeom>
          <a:solidFill>
            <a:srgbClr val="FF7C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600" dirty="0"/>
              <a:t>30</a:t>
            </a:r>
          </a:p>
        </p:txBody>
      </p:sp>
      <p:sp>
        <p:nvSpPr>
          <p:cNvPr id="3" name="Rectangle 29">
            <a:extLst>
              <a:ext uri="{FF2B5EF4-FFF2-40B4-BE49-F238E27FC236}">
                <a16:creationId xmlns:a16="http://schemas.microsoft.com/office/drawing/2014/main" id="{2A3A2874-85E5-1702-A62B-BE04DAC66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675" y="1152630"/>
            <a:ext cx="309563" cy="376141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700">
                <a:latin typeface="Arial" panose="020B0604020202020204" pitchFamily="34" charset="0"/>
              </a:rPr>
              <a:t>Parking</a:t>
            </a:r>
          </a:p>
        </p:txBody>
      </p:sp>
      <p:sp>
        <p:nvSpPr>
          <p:cNvPr id="3095" name="Oval 1">
            <a:extLst>
              <a:ext uri="{FF2B5EF4-FFF2-40B4-BE49-F238E27FC236}">
                <a16:creationId xmlns:a16="http://schemas.microsoft.com/office/drawing/2014/main" id="{E30C18F9-E2C0-640F-9964-944222AC2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126" y="673052"/>
            <a:ext cx="599854" cy="527041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0AD21212AD0545BD19B86421845B9A" ma:contentTypeVersion="33" ma:contentTypeDescription="Create a new document." ma:contentTypeScope="" ma:versionID="4dda5c43706a0aa943b4d7c702ff68af">
  <xsd:schema xmlns:xsd="http://www.w3.org/2001/XMLSchema" xmlns:xs="http://www.w3.org/2001/XMLSchema" xmlns:p="http://schemas.microsoft.com/office/2006/metadata/properties" xmlns:ns1="http://schemas.microsoft.com/sharepoint/v3" xmlns:ns2="a57347d8-5f53-4690-8b77-4ef6903b2b3d" xmlns:ns3="4cbeab9f-c020-4c25-a1e2-89acd53450e3" xmlns:ns4="88c8fb80-d9c5-44dc-ac22-b94b7df5b7c6" xmlns:ns5="3f77dfdc-559e-4a59-b59b-f3fa98490f0c" targetNamespace="http://schemas.microsoft.com/office/2006/metadata/properties" ma:root="true" ma:fieldsID="dabcbdd499928c49fc6486773345fba4" ns1:_="" ns2:_="" ns3:_="" ns4:_="" ns5:_="">
    <xsd:import namespace="http://schemas.microsoft.com/sharepoint/v3"/>
    <xsd:import namespace="a57347d8-5f53-4690-8b77-4ef6903b2b3d"/>
    <xsd:import namespace="4cbeab9f-c020-4c25-a1e2-89acd53450e3"/>
    <xsd:import namespace="88c8fb80-d9c5-44dc-ac22-b94b7df5b7c6"/>
    <xsd:import namespace="3f77dfdc-559e-4a59-b59b-f3fa98490f0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PublishingStartDate" minOccurs="0"/>
                <xsd:element ref="ns1:PublishingExpirationDate" minOccurs="0"/>
                <xsd:element ref="ns3:Category" minOccurs="0"/>
                <xsd:element ref="ns3:Types" minOccurs="0"/>
                <xsd:element ref="ns4:SharedWithUsers" minOccurs="0"/>
                <xsd:element ref="ns2:lcf76f155ced4ddcb4097134ff3c332f" minOccurs="0"/>
                <xsd:element ref="ns5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5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16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347d8-5f53-4690-8b77-4ef6903b2b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1bcb310-9c3d-4239-a405-6899594bcd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beab9f-c020-4c25-a1e2-89acd53450e3" elementFormDefault="qualified">
    <xsd:import namespace="http://schemas.microsoft.com/office/2006/documentManagement/types"/>
    <xsd:import namespace="http://schemas.microsoft.com/office/infopath/2007/PartnerControls"/>
    <xsd:element name="Category" ma:index="17" nillable="true" ma:displayName="Category" ma:format="Dropdown" ma:indexed="true" ma:internalName="Category">
      <xsd:simpleType>
        <xsd:restriction base="dms:Choice">
          <xsd:enumeration value="Civilian"/>
          <xsd:enumeration value="J1"/>
        </xsd:restriction>
      </xsd:simpleType>
    </xsd:element>
    <xsd:element name="Types" ma:index="18" nillable="true" ma:displayName="Types" ma:format="Dropdown" ma:internalName="Types">
      <xsd:simpleType>
        <xsd:restriction base="dms:Choice">
          <xsd:enumeration value="Performance Management"/>
          <xsd:enumeration value="Awards and Recognition"/>
          <xsd:enumeration value="Pay, Time and Attendance; Leave"/>
          <xsd:enumeration value="Recruitment, Assessment, and Hiring"/>
          <xsd:enumeration value="Awards"/>
          <xsd:enumeration value="Evals"/>
          <xsd:enumeration value="IG Inspection Checklist (SOCOM)"/>
          <xsd:enumeration value="In-and-Outprocessing"/>
          <xsd:enumeration value="Info Briefs and Newsletters"/>
          <xsd:enumeration value="Leaves and Passes"/>
          <xsd:enumeration value="Passport"/>
          <xsd:enumeration value="Performance Feedback"/>
          <xsd:enumeration value="Service Manning and Manpower Docs"/>
          <xsd:enumeration value="Sponsorship"/>
          <xsd:enumeration value="Army Purple Heart"/>
          <xsd:enumeration value="DMSM"/>
          <xsd:enumeration value="JSAM"/>
          <xsd:enumeration value="JSCM"/>
          <xsd:enumeration value="Air Force EPR"/>
          <xsd:enumeration value="Air Force OPR"/>
          <xsd:enumeration value="Army NCOER"/>
          <xsd:enumeration value="Army OER"/>
          <xsd:enumeration value="SOCNORTH Rating Schemes"/>
          <xsd:enumeration value="AF Enlisted"/>
          <xsd:enumeration value="AF Officer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c8fb80-d9c5-44dc-ac22-b94b7df5b7c6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77dfdc-559e-4a59-b59b-f3fa98490f0c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a0f24ee7-074a-400c-bef3-cf2a2c8f84fa}" ma:internalName="TaxCatchAll" ma:showField="CatchAllData" ma:web="3f77dfdc-559e-4a59-b59b-f3fa98490f0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LongProperties xmlns="http://schemas.microsoft.com/office/2006/metadata/longProperties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0FDF0B-3212-4CBD-B5D5-919356CDDD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a57347d8-5f53-4690-8b77-4ef6903b2b3d"/>
    <ds:schemaRef ds:uri="4cbeab9f-c020-4c25-a1e2-89acd53450e3"/>
    <ds:schemaRef ds:uri="88c8fb80-d9c5-44dc-ac22-b94b7df5b7c6"/>
    <ds:schemaRef ds:uri="3f77dfdc-559e-4a59-b59b-f3fa98490f0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F51910A-87AC-47AD-9F74-1C31D3CB2987}">
  <ds:schemaRefs>
    <ds:schemaRef ds:uri="http://schemas.microsoft.com/office/2006/metadata/longProperties"/>
  </ds:schemaRefs>
</ds:datastoreItem>
</file>

<file path=customXml/itemProps3.xml><?xml version="1.0" encoding="utf-8"?>
<ds:datastoreItem xmlns:ds="http://schemas.openxmlformats.org/officeDocument/2006/customXml" ds:itemID="{1BB944D4-1EC1-4252-B794-1206494B3D6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6b665fc-95ee-4bc0-ba4f-93fdedf161ac}" enabled="0" method="" siteId="{56b665fc-95ee-4bc0-ba4f-93fdedf161a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726</TotalTime>
  <Words>69</Words>
  <Application>Microsoft Office PowerPoint</Application>
  <PresentationFormat>On-screen Show (4:3)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Palatino Linotype</vt:lpstr>
      <vt:lpstr>Times New Roman</vt:lpstr>
      <vt:lpstr>Blank Presentation</vt:lpstr>
      <vt:lpstr>PowerPoint Presentation</vt:lpstr>
    </vt:vector>
  </TitlesOfParts>
  <Company>21Net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 Map</dc:title>
  <dc:creator>ruhm</dc:creator>
  <cp:lastModifiedBy>Phan, Mimi K TSGT USAF USSOCOM SOCNORTH (USA)</cp:lastModifiedBy>
  <cp:revision>39</cp:revision>
  <cp:lastPrinted>2016-01-12T17:53:32Z</cp:lastPrinted>
  <dcterms:created xsi:type="dcterms:W3CDTF">2001-10-25T14:54:19Z</dcterms:created>
  <dcterms:modified xsi:type="dcterms:W3CDTF">2026-05-07T16:56:35Z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PSDescription">
    <vt:lpwstr>Base Map</vt:lpwstr>
  </property>
  <property fmtid="{D5CDD505-2E9C-101B-9397-08002B2CF9AE}" pid="3" name="Rights">
    <vt:lpwstr>N/A</vt:lpwstr>
  </property>
  <property fmtid="{D5CDD505-2E9C-101B-9397-08002B2CF9AE}" pid="4" name="CreatorOrg">
    <vt:lpwstr>NJ32</vt:lpwstr>
  </property>
  <property fmtid="{D5CDD505-2E9C-101B-9397-08002B2CF9AE}" pid="5" name="CreatorOrgPhone">
    <vt:lpwstr/>
  </property>
  <property fmtid="{D5CDD505-2E9C-101B-9397-08002B2CF9AE}" pid="6" name="SubTitle">
    <vt:lpwstr/>
  </property>
  <property fmtid="{D5CDD505-2E9C-101B-9397-08002B2CF9AE}" pid="7" name="SecurityClassification">
    <vt:lpwstr>Unclassified</vt:lpwstr>
  </property>
  <property fmtid="{D5CDD505-2E9C-101B-9397-08002B2CF9AE}" pid="8" name="DocKeywords">
    <vt:lpwstr>Base Map</vt:lpwstr>
  </property>
  <property fmtid="{D5CDD505-2E9C-101B-9397-08002B2CF9AE}" pid="9" name="CreatorOrgEmail">
    <vt:lpwstr/>
  </property>
  <property fmtid="{D5CDD505-2E9C-101B-9397-08002B2CF9AE}" pid="10" name="CreatorSurname">
    <vt:lpwstr/>
  </property>
  <property fmtid="{D5CDD505-2E9C-101B-9397-08002B2CF9AE}" pid="11" name="CreatorGivenName">
    <vt:lpwstr/>
  </property>
  <property fmtid="{D5CDD505-2E9C-101B-9397-08002B2CF9AE}" pid="12" name="IdentifierQual">
    <vt:lpwstr/>
  </property>
  <property fmtid="{D5CDD505-2E9C-101B-9397-08002B2CF9AE}" pid="13" name="display_urn:schemas-microsoft-com:office:office#Editor">
    <vt:lpwstr>Soucy, Kevin R MSGT USAF USSOCOM SOCNORTH (USA)</vt:lpwstr>
  </property>
  <property fmtid="{D5CDD505-2E9C-101B-9397-08002B2CF9AE}" pid="14" name="display_urn:schemas-microsoft-com:office:office#Author">
    <vt:lpwstr>Burgess Christina A PO1 USN USSOCOM SOCNORTH (USA)</vt:lpwstr>
  </property>
  <property fmtid="{D5CDD505-2E9C-101B-9397-08002B2CF9AE}" pid="15" name="Order">
    <vt:lpwstr>200</vt:lpwstr>
  </property>
  <property fmtid="{D5CDD505-2E9C-101B-9397-08002B2CF9AE}" pid="16" name="IdentifierValue">
    <vt:lpwstr/>
  </property>
  <property fmtid="{D5CDD505-2E9C-101B-9397-08002B2CF9AE}" pid="17" name="DateExpired">
    <vt:lpwstr/>
  </property>
  <property fmtid="{D5CDD505-2E9C-101B-9397-08002B2CF9AE}" pid="18" name="DateCreated">
    <vt:lpwstr/>
  </property>
  <property fmtid="{D5CDD505-2E9C-101B-9397-08002B2CF9AE}" pid="19" name="xd_Signature">
    <vt:lpwstr/>
  </property>
  <property fmtid="{D5CDD505-2E9C-101B-9397-08002B2CF9AE}" pid="20" name="GUID">
    <vt:lpwstr>66a5bb7f-139f-4546-9ff9-39cf975b4ceb</vt:lpwstr>
  </property>
  <property fmtid="{D5CDD505-2E9C-101B-9397-08002B2CF9AE}" pid="21" name="xd_ProgID">
    <vt:lpwstr/>
  </property>
  <property fmtid="{D5CDD505-2E9C-101B-9397-08002B2CF9AE}" pid="22" name="PublishingStartDate">
    <vt:lpwstr/>
  </property>
  <property fmtid="{D5CDD505-2E9C-101B-9397-08002B2CF9AE}" pid="23" name="SharedWithUsers">
    <vt:lpwstr/>
  </property>
  <property fmtid="{D5CDD505-2E9C-101B-9397-08002B2CF9AE}" pid="24" name="ComplianceAssetId">
    <vt:lpwstr/>
  </property>
  <property fmtid="{D5CDD505-2E9C-101B-9397-08002B2CF9AE}" pid="25" name="TemplateUrl">
    <vt:lpwstr/>
  </property>
  <property fmtid="{D5CDD505-2E9C-101B-9397-08002B2CF9AE}" pid="26" name="_ExtendedDescription">
    <vt:lpwstr/>
  </property>
  <property fmtid="{D5CDD505-2E9C-101B-9397-08002B2CF9AE}" pid="27" name="PublishingExpirationDate">
    <vt:lpwstr/>
  </property>
  <property fmtid="{D5CDD505-2E9C-101B-9397-08002B2CF9AE}" pid="28" name="Category">
    <vt:lpwstr/>
  </property>
  <property fmtid="{D5CDD505-2E9C-101B-9397-08002B2CF9AE}" pid="29" name="TriggerFlowInfo">
    <vt:lpwstr/>
  </property>
  <property fmtid="{D5CDD505-2E9C-101B-9397-08002B2CF9AE}" pid="30" name="Types">
    <vt:lpwstr/>
  </property>
</Properties>
</file>