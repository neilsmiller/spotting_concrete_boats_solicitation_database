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436" r:id="rId2"/>
    <p:sldId id="452" r:id="rId3"/>
    <p:sldId id="439" r:id="rId4"/>
    <p:sldId id="447" r:id="rId5"/>
    <p:sldId id="442" r:id="rId6"/>
    <p:sldId id="451" r:id="rId7"/>
    <p:sldId id="456" r:id="rId8"/>
    <p:sldId id="468" r:id="rId9"/>
    <p:sldId id="455" r:id="rId10"/>
    <p:sldId id="2342" r:id="rId11"/>
    <p:sldId id="459" r:id="rId12"/>
    <p:sldId id="2343" r:id="rId13"/>
    <p:sldId id="2344" r:id="rId14"/>
    <p:sldId id="464" r:id="rId15"/>
    <p:sldId id="465" r:id="rId16"/>
    <p:sldId id="466" r:id="rId17"/>
    <p:sldId id="470" r:id="rId18"/>
    <p:sldId id="474" r:id="rId19"/>
    <p:sldId id="475" r:id="rId20"/>
    <p:sldId id="476" r:id="rId21"/>
    <p:sldId id="477" r:id="rId22"/>
    <p:sldId id="2345" r:id="rId23"/>
    <p:sldId id="4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84" autoAdjust="0"/>
    <p:restoredTop sz="94660"/>
  </p:normalViewPr>
  <p:slideViewPr>
    <p:cSldViewPr snapToGrid="0">
      <p:cViewPr varScale="1">
        <p:scale>
          <a:sx n="101" d="100"/>
          <a:sy n="101" d="100"/>
        </p:scale>
        <p:origin x="72" y="3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3544AE-4F06-413F-BBF9-D2CC143D53B6}" type="datetimeFigureOut">
              <a:rPr lang="en-US" smtClean="0"/>
              <a:t>5/21/2024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884AEB-91F2-4EAC-BEE1-53989F5F91A8}" type="slidenum">
              <a:rPr lang="en-US" smtClean="0"/>
              <a:t>‹#›</a:t>
            </a:fld>
            <a:endParaRPr lang="en-US"/>
          </a:p>
        </p:txBody>
      </p:sp>
    </p:spTree>
    <p:extLst>
      <p:ext uri="{BB962C8B-B14F-4D97-AF65-F5344CB8AC3E}">
        <p14:creationId xmlns:p14="http://schemas.microsoft.com/office/powerpoint/2010/main" val="665564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Rot="1" noChangeAspect="1" noChangeArrowheads="1" noTextEdit="1"/>
          </p:cNvSpPr>
          <p:nvPr>
            <p:ph type="sldImg"/>
          </p:nvPr>
        </p:nvSpPr>
        <p:spPr>
          <a:xfrm>
            <a:off x="231775" y="203200"/>
            <a:ext cx="6526213" cy="5041900"/>
          </a:xfrm>
          <a:ln/>
        </p:spPr>
      </p:sp>
      <p:sp>
        <p:nvSpPr>
          <p:cNvPr id="17412" name="Rectangle 3"/>
          <p:cNvSpPr>
            <a:spLocks noGrp="1" noChangeArrowheads="1"/>
          </p:cNvSpPr>
          <p:nvPr>
            <p:ph type="body" idx="1"/>
          </p:nvPr>
        </p:nvSpPr>
        <p:spPr>
          <a:xfrm>
            <a:off x="355600" y="6070600"/>
            <a:ext cx="6299200" cy="25828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en-US" altLang="en-US" sz="2000" b="1" dirty="0"/>
          </a:p>
        </p:txBody>
      </p:sp>
    </p:spTree>
    <p:extLst>
      <p:ext uri="{BB962C8B-B14F-4D97-AF65-F5344CB8AC3E}">
        <p14:creationId xmlns:p14="http://schemas.microsoft.com/office/powerpoint/2010/main" val="1488991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11</a:t>
            </a:r>
          </a:p>
        </p:txBody>
      </p:sp>
    </p:spTree>
    <p:extLst>
      <p:ext uri="{BB962C8B-B14F-4D97-AF65-F5344CB8AC3E}">
        <p14:creationId xmlns:p14="http://schemas.microsoft.com/office/powerpoint/2010/main" val="2240864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Social Networking is particularly risky</a:t>
            </a:r>
            <a:r>
              <a:rPr lang="en-US" baseline="0" dirty="0"/>
              <a:t> as people freely post critical information about themselves.  It is extremely important to protect your association with sensitive Air Force units and missions.  It is also important that your family and friends do not associate you with </a:t>
            </a:r>
            <a:r>
              <a:rPr lang="en-US" dirty="0"/>
              <a:t>sensitive Air Force units and missions.</a:t>
            </a:r>
            <a:endParaRPr lang="en-US" baseline="0" dirty="0"/>
          </a:p>
          <a:p>
            <a:endParaRPr lang="en-US" baseline="0" dirty="0"/>
          </a:p>
          <a:p>
            <a:r>
              <a:rPr lang="en-US" baseline="0" dirty="0"/>
              <a:t>We understand that people will interact on social media, but the key is to do so smartly.  Limit what you share about yourself and your unit. </a:t>
            </a:r>
          </a:p>
          <a:p>
            <a:endParaRPr lang="en-US" baseline="0" dirty="0"/>
          </a:p>
          <a:p>
            <a:r>
              <a:rPr lang="en-US" baseline="0" dirty="0" err="1"/>
              <a:t>Defense.Gov</a:t>
            </a:r>
            <a:r>
              <a:rPr lang="en-US" baseline="0" dirty="0"/>
              <a:t> is a good resource for additional information on social media.</a:t>
            </a:r>
            <a:endParaRPr lang="en-US" dirty="0"/>
          </a:p>
        </p:txBody>
      </p:sp>
      <p:sp>
        <p:nvSpPr>
          <p:cNvPr id="5"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19</a:t>
            </a:r>
          </a:p>
        </p:txBody>
      </p:sp>
    </p:spTree>
    <p:extLst>
      <p:ext uri="{BB962C8B-B14F-4D97-AF65-F5344CB8AC3E}">
        <p14:creationId xmlns:p14="http://schemas.microsoft.com/office/powerpoint/2010/main" val="3718809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dirty="0"/>
              <a:t>Introduce the lists of 100. </a:t>
            </a:r>
          </a:p>
          <a:p>
            <a:endParaRPr lang="en-US" dirty="0"/>
          </a:p>
          <a:p>
            <a:r>
              <a:rPr lang="en-US" b="1" i="1" dirty="0"/>
              <a:t>Instructor Note:</a:t>
            </a:r>
            <a:r>
              <a:rPr lang="en-US" i="1" dirty="0"/>
              <a:t>  There were actually two lists produced, but the second one got little attention compared to the first.</a:t>
            </a:r>
          </a:p>
          <a:p>
            <a:endParaRPr lang="en-US" dirty="0"/>
          </a:p>
          <a:p>
            <a:r>
              <a:rPr lang="en-US" dirty="0"/>
              <a:t>In March 2015, the Islamic State’s so-called Hacking Division posted the names, photographs, and addresses of about 100 U.S. service members to a web site and suggested that U.S. sympathizers should kill those so listed:</a:t>
            </a:r>
          </a:p>
          <a:p>
            <a:r>
              <a:rPr lang="en-US" dirty="0"/>
              <a:t>“With the huge amount of data we have from various different servers and databases, we have decided to leak 100 addresses so that our brothers in America can deal with you.  And now we have made it easy for you by giving you addresses, all you need to do is take the final step, so what are you waiting for?”</a:t>
            </a:r>
          </a:p>
          <a:p>
            <a:r>
              <a:rPr lang="en-US" dirty="0"/>
              <a:t>However, ISIS itself didn’t threaten to take action against the persons whose names appeared on the list; and it appears the posted information was not obtained (as suggested in the message) via hacking, but rather by collecting it from publicly available sources such as news stories and social media posts:</a:t>
            </a:r>
          </a:p>
          <a:p>
            <a:r>
              <a:rPr lang="en-US" dirty="0"/>
              <a:t>“It does not appear that the information had been hacked from government servers.  One Defense Department official said that most of the information could be found in public records, residential address search sites and social media.”</a:t>
            </a:r>
          </a:p>
          <a:p>
            <a:endParaRPr lang="en-US" dirty="0"/>
          </a:p>
          <a:p>
            <a:pPr defTabSz="915772">
              <a:defRPr/>
            </a:pPr>
            <a:r>
              <a:rPr lang="en-US" b="1" i="1" dirty="0"/>
              <a:t>Instructor Note:</a:t>
            </a:r>
            <a:r>
              <a:rPr lang="en-US" i="1" dirty="0"/>
              <a:t>  The main point is the information they used was provided my us.  This actually worked out to be more of a psychological effort than an actual physical threat.  Reference the follow sites for additional information:</a:t>
            </a:r>
          </a:p>
          <a:p>
            <a:pPr defTabSz="915772">
              <a:defRPr/>
            </a:pPr>
            <a:r>
              <a:rPr lang="en-US" i="1" dirty="0"/>
              <a:t>- https://www.usatoday.com/story/news/nation/2015/03/23/pentagon-response-islamic-state-kill-list/70335810/</a:t>
            </a:r>
          </a:p>
          <a:p>
            <a:pPr defTabSz="915772">
              <a:defRPr/>
            </a:pPr>
            <a:r>
              <a:rPr lang="en-US" i="1" dirty="0"/>
              <a:t>- https://nationalpost.com/news/world/israel-middle-east/isis-linked-group-releases-hit-list-of-u-s-military-personnel-including-names-and-addresses</a:t>
            </a:r>
          </a:p>
          <a:p>
            <a:pPr defTabSz="915772">
              <a:defRPr/>
            </a:pPr>
            <a:r>
              <a:rPr lang="en-US" i="1" dirty="0"/>
              <a:t>- https://www.snopes.com/fact-check/the-war-at-home/</a:t>
            </a:r>
          </a:p>
          <a:p>
            <a:pPr defTabSz="915772">
              <a:defRPr/>
            </a:pPr>
            <a:r>
              <a:rPr lang="en-US" i="1" dirty="0"/>
              <a:t>- https://www.nytimes.com/2015/03/22/world/middleeast/isis-urges-sympathizers-to-kill-us-service-members-it-identifies-on-website.html</a:t>
            </a:r>
          </a:p>
          <a:p>
            <a:pPr defTabSz="915772">
              <a:defRPr/>
            </a:pPr>
            <a:r>
              <a:rPr lang="en-US" i="1" dirty="0"/>
              <a:t>- https://www.cnn.com/2015/03/23/us/online-threat-isis-us-troops/index.html </a:t>
            </a:r>
          </a:p>
          <a:p>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113769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135351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required reading for all.  Available</a:t>
            </a:r>
            <a:r>
              <a:rPr lang="en-US" baseline="0" dirty="0"/>
              <a:t> on the wing app and on SharePoint.  Every member is required to read and understand the two documents.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855AEA-7FEC-41B2-8800-6CE1F1A1F2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5197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required reading for all.  Available</a:t>
            </a:r>
            <a:r>
              <a:rPr lang="en-US" baseline="0" dirty="0"/>
              <a:t> on the wing app and on SharePoint.  Every member is required to read and understand the two documents.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855AEA-7FEC-41B2-8800-6CE1F1A1F2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7729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required reading for all.  Available</a:t>
            </a:r>
            <a:r>
              <a:rPr lang="en-US" baseline="0" dirty="0"/>
              <a:t> on the wing app and on SharePoint.  Every member is required to read and understand the two documents.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855AEA-7FEC-41B2-8800-6CE1F1A1F2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9496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684585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002421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698345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134927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38572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78215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73549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88469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598387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8276389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6874836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52650" y="203200"/>
            <a:ext cx="2698750" cy="2084388"/>
          </a:xfrm>
        </p:spPr>
      </p:sp>
      <p:sp>
        <p:nvSpPr>
          <p:cNvPr id="3" name="Notes Placeholder 2"/>
          <p:cNvSpPr>
            <a:spLocks noGrp="1"/>
          </p:cNvSpPr>
          <p:nvPr>
            <p:ph type="body" idx="1"/>
          </p:nvPr>
        </p:nvSpPr>
        <p:spPr/>
        <p:txBody>
          <a:bodyPr/>
          <a:lstStyle/>
          <a:p>
            <a:r>
              <a:rPr lang="en-US" b="1" i="1" dirty="0"/>
              <a:t>Instructor Note:</a:t>
            </a:r>
            <a:r>
              <a:rPr lang="en-US" i="1" dirty="0"/>
              <a:t>  Just a few examples of websites that can provide useful information on protecting your identity.  There many, varied websites that can be accessed.</a:t>
            </a:r>
            <a:endParaRPr lang="en-US" dirty="0"/>
          </a:p>
        </p:txBody>
      </p:sp>
      <p:sp>
        <p:nvSpPr>
          <p:cNvPr id="4" name="Rectangle 7"/>
          <p:cNvSpPr txBox="1">
            <a:spLocks noChangeArrowheads="1"/>
          </p:cNvSpPr>
          <p:nvPr/>
        </p:nvSpPr>
        <p:spPr>
          <a:xfrm>
            <a:off x="4048125" y="8890000"/>
            <a:ext cx="2682875" cy="431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mn-ea"/>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62691FE-4A08-4B3C-9C51-EB6CFBAA8A72}"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609208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45121" y="234779"/>
            <a:ext cx="3491915" cy="581328"/>
          </a:xfrm>
        </p:spPr>
        <p:txBody>
          <a:bodyPr/>
          <a:lstStyle>
            <a:lvl1pPr algn="ctr">
              <a:defRPr/>
            </a:lvl1pPr>
          </a:lstStyle>
          <a:p>
            <a:r>
              <a:rPr lang="en-US"/>
              <a:t>Quad Chart Style</a:t>
            </a:r>
          </a:p>
        </p:txBody>
      </p:sp>
      <p:sp>
        <p:nvSpPr>
          <p:cNvPr id="21" name="Content Placeholder 2"/>
          <p:cNvSpPr>
            <a:spLocks noGrp="1"/>
          </p:cNvSpPr>
          <p:nvPr>
            <p:ph idx="1" hasCustomPrompt="1"/>
          </p:nvPr>
        </p:nvSpPr>
        <p:spPr>
          <a:xfrm>
            <a:off x="-4136" y="1038070"/>
            <a:ext cx="6096000" cy="2701470"/>
          </a:xfrm>
        </p:spPr>
        <p:txBody>
          <a:bodyPr/>
          <a:lstStyle>
            <a:lvl1pPr>
              <a:defRPr b="1"/>
            </a:lvl1pPr>
            <a:lvl2pPr>
              <a:defRPr sz="1235" b="0"/>
            </a:lvl2pPr>
            <a:lvl3pPr>
              <a:defRPr b="0"/>
            </a:lvl3pPr>
          </a:lstStyle>
          <a:p>
            <a:r>
              <a:rPr lang="en-US" sz="1765">
                <a:solidFill>
                  <a:srgbClr val="000099"/>
                </a:solidFill>
              </a:rPr>
              <a:t>Executing the Mission</a:t>
            </a:r>
          </a:p>
          <a:p>
            <a:pPr lvl="1"/>
            <a:r>
              <a:rPr lang="en-US" sz="1235" b="1">
                <a:solidFill>
                  <a:srgbClr val="000099"/>
                </a:solidFill>
              </a:rPr>
              <a:t>Reason</a:t>
            </a:r>
          </a:p>
          <a:p>
            <a:pPr lvl="2"/>
            <a:r>
              <a:rPr lang="en-US" sz="1235" b="0">
                <a:solidFill>
                  <a:srgbClr val="000099"/>
                </a:solidFill>
              </a:rPr>
              <a:t>Explanation</a:t>
            </a:r>
            <a:endParaRPr lang="en-US" sz="1235">
              <a:solidFill>
                <a:srgbClr val="000099"/>
              </a:solidFill>
            </a:endParaRPr>
          </a:p>
          <a:p>
            <a:pPr marL="365529" lvl="1" indent="0">
              <a:buNone/>
            </a:pPr>
            <a:endParaRPr lang="en-US" sz="1235" b="1">
              <a:solidFill>
                <a:srgbClr val="000099"/>
              </a:solidFill>
            </a:endParaRPr>
          </a:p>
        </p:txBody>
      </p:sp>
      <p:sp>
        <p:nvSpPr>
          <p:cNvPr id="25" name="Oval 19"/>
          <p:cNvSpPr>
            <a:spLocks noChangeArrowheads="1"/>
          </p:cNvSpPr>
          <p:nvPr userDrawn="1"/>
        </p:nvSpPr>
        <p:spPr bwMode="auto">
          <a:xfrm>
            <a:off x="12896379" y="1960220"/>
            <a:ext cx="299164" cy="343872"/>
          </a:xfrm>
          <a:prstGeom prst="ellipse">
            <a:avLst/>
          </a:prstGeom>
          <a:solidFill>
            <a:srgbClr val="FFFF00"/>
          </a:solidFill>
          <a:ln w="28575" algn="ctr">
            <a:solidFill>
              <a:schemeClr val="tx1"/>
            </a:solidFill>
            <a:round/>
            <a:headEnd/>
            <a:tailEnd/>
          </a:ln>
        </p:spPr>
        <p:txBody>
          <a:bodyPr wrap="square" lIns="80803" tIns="40380" rIns="80803" bIns="40380" anchor="ctr" anchorCtr="1">
            <a:spAutoFit/>
          </a:bodyPr>
          <a:lstStyle/>
          <a:p>
            <a:pPr defTabSz="810061">
              <a:spcBef>
                <a:spcPct val="0"/>
              </a:spcBef>
            </a:pPr>
            <a:endParaRPr lang="en-US" sz="1059">
              <a:solidFill>
                <a:srgbClr val="000000"/>
              </a:solidFill>
              <a:latin typeface="Arial"/>
              <a:cs typeface="Arial" charset="0"/>
            </a:endParaRPr>
          </a:p>
        </p:txBody>
      </p:sp>
      <p:sp>
        <p:nvSpPr>
          <p:cNvPr id="28" name="Oval 19"/>
          <p:cNvSpPr>
            <a:spLocks noChangeArrowheads="1"/>
          </p:cNvSpPr>
          <p:nvPr userDrawn="1"/>
        </p:nvSpPr>
        <p:spPr bwMode="auto">
          <a:xfrm>
            <a:off x="12896379" y="2504860"/>
            <a:ext cx="299164" cy="343872"/>
          </a:xfrm>
          <a:prstGeom prst="ellipse">
            <a:avLst/>
          </a:prstGeom>
          <a:solidFill>
            <a:srgbClr val="00A44A"/>
          </a:solidFill>
          <a:ln w="28575" algn="ctr">
            <a:solidFill>
              <a:schemeClr val="tx1"/>
            </a:solidFill>
            <a:round/>
            <a:headEnd/>
            <a:tailEnd/>
          </a:ln>
        </p:spPr>
        <p:txBody>
          <a:bodyPr wrap="square" lIns="80803" tIns="40380" rIns="80803" bIns="40380" anchor="ctr" anchorCtr="1">
            <a:spAutoFit/>
          </a:bodyPr>
          <a:lstStyle/>
          <a:p>
            <a:pPr defTabSz="810061">
              <a:spcBef>
                <a:spcPct val="0"/>
              </a:spcBef>
            </a:pPr>
            <a:endParaRPr lang="en-US" sz="1059">
              <a:solidFill>
                <a:srgbClr val="000000"/>
              </a:solidFill>
              <a:latin typeface="Arial"/>
              <a:cs typeface="Arial" charset="0"/>
            </a:endParaRPr>
          </a:p>
        </p:txBody>
      </p:sp>
      <p:sp>
        <p:nvSpPr>
          <p:cNvPr id="29" name="Oval 19"/>
          <p:cNvSpPr>
            <a:spLocks noChangeArrowheads="1"/>
          </p:cNvSpPr>
          <p:nvPr userDrawn="1"/>
        </p:nvSpPr>
        <p:spPr bwMode="auto">
          <a:xfrm>
            <a:off x="12896379" y="1489750"/>
            <a:ext cx="299164" cy="343872"/>
          </a:xfrm>
          <a:prstGeom prst="ellipse">
            <a:avLst/>
          </a:prstGeom>
          <a:solidFill>
            <a:srgbClr val="FF0000"/>
          </a:solidFill>
          <a:ln w="28575" algn="ctr">
            <a:solidFill>
              <a:schemeClr val="tx1"/>
            </a:solidFill>
            <a:round/>
            <a:headEnd/>
            <a:tailEnd/>
          </a:ln>
        </p:spPr>
        <p:txBody>
          <a:bodyPr wrap="square" lIns="80803" tIns="40380" rIns="80803" bIns="40380" anchor="ctr" anchorCtr="1">
            <a:spAutoFit/>
          </a:bodyPr>
          <a:lstStyle/>
          <a:p>
            <a:pPr defTabSz="810061">
              <a:spcBef>
                <a:spcPct val="0"/>
              </a:spcBef>
            </a:pPr>
            <a:endParaRPr lang="en-US" sz="1059">
              <a:solidFill>
                <a:srgbClr val="000000"/>
              </a:solidFill>
              <a:latin typeface="Arial"/>
              <a:cs typeface="Arial" charset="0"/>
            </a:endParaRPr>
          </a:p>
        </p:txBody>
      </p:sp>
      <p:sp>
        <p:nvSpPr>
          <p:cNvPr id="38" name="Content Placeholder 2"/>
          <p:cNvSpPr>
            <a:spLocks noGrp="1"/>
          </p:cNvSpPr>
          <p:nvPr>
            <p:ph idx="13" hasCustomPrompt="1"/>
          </p:nvPr>
        </p:nvSpPr>
        <p:spPr>
          <a:xfrm>
            <a:off x="6105650" y="1057500"/>
            <a:ext cx="6096000" cy="2701470"/>
          </a:xfrm>
        </p:spPr>
        <p:txBody>
          <a:bodyPr/>
          <a:lstStyle>
            <a:lvl1pPr>
              <a:defRPr b="1"/>
            </a:lvl1pPr>
          </a:lstStyle>
          <a:p>
            <a:r>
              <a:rPr lang="en-US" sz="1765">
                <a:solidFill>
                  <a:srgbClr val="000099"/>
                </a:solidFill>
              </a:rPr>
              <a:t>Managing Resources</a:t>
            </a:r>
          </a:p>
          <a:p>
            <a:pPr marL="365529" lvl="1" indent="0">
              <a:buNone/>
            </a:pPr>
            <a:endParaRPr lang="en-US" sz="1235" b="1">
              <a:solidFill>
                <a:srgbClr val="000099"/>
              </a:solidFill>
            </a:endParaRPr>
          </a:p>
        </p:txBody>
      </p:sp>
      <p:sp>
        <p:nvSpPr>
          <p:cNvPr id="39" name="Content Placeholder 2"/>
          <p:cNvSpPr>
            <a:spLocks noGrp="1"/>
          </p:cNvSpPr>
          <p:nvPr>
            <p:ph idx="14" hasCustomPrompt="1"/>
          </p:nvPr>
        </p:nvSpPr>
        <p:spPr>
          <a:xfrm>
            <a:off x="0" y="3765176"/>
            <a:ext cx="6096000" cy="2420471"/>
          </a:xfrm>
        </p:spPr>
        <p:txBody>
          <a:bodyPr/>
          <a:lstStyle>
            <a:lvl1pPr>
              <a:defRPr b="1" baseline="0"/>
            </a:lvl1pPr>
            <a:lvl2pPr>
              <a:defRPr sz="1235" b="0"/>
            </a:lvl2pPr>
            <a:lvl3pPr>
              <a:defRPr b="0"/>
            </a:lvl3pPr>
          </a:lstStyle>
          <a:p>
            <a:r>
              <a:rPr lang="en-US" sz="1765">
                <a:solidFill>
                  <a:srgbClr val="000099"/>
                </a:solidFill>
              </a:rPr>
              <a:t>Improving the Unit</a:t>
            </a:r>
          </a:p>
          <a:p>
            <a:pPr lvl="1"/>
            <a:r>
              <a:rPr lang="en-US" sz="1235" b="1">
                <a:solidFill>
                  <a:srgbClr val="000099"/>
                </a:solidFill>
              </a:rPr>
              <a:t>Reason</a:t>
            </a:r>
          </a:p>
          <a:p>
            <a:pPr lvl="2"/>
            <a:r>
              <a:rPr lang="en-US" sz="1235" b="0">
                <a:solidFill>
                  <a:srgbClr val="000099"/>
                </a:solidFill>
              </a:rPr>
              <a:t>Explanation</a:t>
            </a:r>
            <a:endParaRPr lang="en-US" sz="1235">
              <a:solidFill>
                <a:srgbClr val="000099"/>
              </a:solidFill>
            </a:endParaRPr>
          </a:p>
          <a:p>
            <a:pPr marL="365529" lvl="1" indent="0">
              <a:buNone/>
            </a:pPr>
            <a:endParaRPr lang="en-US" sz="1235" b="1">
              <a:solidFill>
                <a:srgbClr val="000099"/>
              </a:solidFill>
            </a:endParaRPr>
          </a:p>
        </p:txBody>
      </p:sp>
      <p:sp>
        <p:nvSpPr>
          <p:cNvPr id="40" name="Content Placeholder 2"/>
          <p:cNvSpPr>
            <a:spLocks noGrp="1"/>
          </p:cNvSpPr>
          <p:nvPr>
            <p:ph idx="15" hasCustomPrompt="1"/>
          </p:nvPr>
        </p:nvSpPr>
        <p:spPr>
          <a:xfrm>
            <a:off x="6100136" y="3765176"/>
            <a:ext cx="6096000" cy="2420471"/>
          </a:xfrm>
        </p:spPr>
        <p:txBody>
          <a:bodyPr/>
          <a:lstStyle>
            <a:lvl1pPr>
              <a:defRPr b="1"/>
            </a:lvl1pPr>
            <a:lvl2pPr>
              <a:defRPr sz="1235" b="0"/>
            </a:lvl2pPr>
            <a:lvl3pPr>
              <a:defRPr b="0"/>
            </a:lvl3pPr>
          </a:lstStyle>
          <a:p>
            <a:r>
              <a:rPr lang="en-US" sz="1765">
                <a:solidFill>
                  <a:srgbClr val="000099"/>
                </a:solidFill>
              </a:rPr>
              <a:t>Leading the People</a:t>
            </a:r>
          </a:p>
          <a:p>
            <a:pPr lvl="1"/>
            <a:r>
              <a:rPr lang="en-US" sz="1235" b="1">
                <a:solidFill>
                  <a:srgbClr val="000099"/>
                </a:solidFill>
              </a:rPr>
              <a:t>Reason</a:t>
            </a:r>
          </a:p>
          <a:p>
            <a:pPr lvl="2"/>
            <a:r>
              <a:rPr lang="en-US" sz="1235" b="0">
                <a:solidFill>
                  <a:srgbClr val="000099"/>
                </a:solidFill>
              </a:rPr>
              <a:t>Explanation</a:t>
            </a:r>
            <a:endParaRPr lang="en-US" sz="1235">
              <a:solidFill>
                <a:srgbClr val="000099"/>
              </a:solidFill>
            </a:endParaRPr>
          </a:p>
          <a:p>
            <a:pPr marL="365529" lvl="1" indent="0">
              <a:buNone/>
            </a:pPr>
            <a:endParaRPr lang="en-US" sz="1235" b="1">
              <a:solidFill>
                <a:srgbClr val="000099"/>
              </a:solidFill>
            </a:endParaRPr>
          </a:p>
        </p:txBody>
      </p:sp>
      <p:cxnSp>
        <p:nvCxnSpPr>
          <p:cNvPr id="41" name="Straight Connector 4"/>
          <p:cNvCxnSpPr>
            <a:cxnSpLocks noChangeShapeType="1"/>
          </p:cNvCxnSpPr>
          <p:nvPr userDrawn="1"/>
        </p:nvCxnSpPr>
        <p:spPr bwMode="auto">
          <a:xfrm flipH="1">
            <a:off x="6094800" y="1066804"/>
            <a:ext cx="1200" cy="5118847"/>
          </a:xfrm>
          <a:prstGeom prst="line">
            <a:avLst/>
          </a:prstGeom>
          <a:noFill/>
          <a:ln w="28575" algn="ctr">
            <a:solidFill>
              <a:schemeClr val="tx1"/>
            </a:solidFill>
            <a:round/>
            <a:headEnd/>
            <a:tailEnd/>
          </a:ln>
        </p:spPr>
      </p:cxnSp>
      <p:cxnSp>
        <p:nvCxnSpPr>
          <p:cNvPr id="42" name="Straight Connector 6"/>
          <p:cNvCxnSpPr>
            <a:cxnSpLocks noChangeShapeType="1"/>
          </p:cNvCxnSpPr>
          <p:nvPr userDrawn="1"/>
        </p:nvCxnSpPr>
        <p:spPr bwMode="auto">
          <a:xfrm flipH="1">
            <a:off x="0" y="3768270"/>
            <a:ext cx="12192000" cy="0"/>
          </a:xfrm>
          <a:prstGeom prst="line">
            <a:avLst/>
          </a:prstGeom>
          <a:noFill/>
          <a:ln w="28575" algn="ctr">
            <a:solidFill>
              <a:schemeClr val="tx1"/>
            </a:solidFill>
            <a:round/>
            <a:headEnd/>
            <a:tailEnd/>
          </a:ln>
        </p:spPr>
      </p:cxnSp>
    </p:spTree>
    <p:extLst>
      <p:ext uri="{BB962C8B-B14F-4D97-AF65-F5344CB8AC3E}">
        <p14:creationId xmlns:p14="http://schemas.microsoft.com/office/powerpoint/2010/main" val="2110217605"/>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n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54682" y="234779"/>
            <a:ext cx="2381034" cy="581328"/>
          </a:xfrm>
        </p:spPr>
        <p:txBody>
          <a:bodyPr/>
          <a:lstStyle>
            <a:lvl1pPr algn="ctr">
              <a:defRPr/>
            </a:lvl1pPr>
          </a:lstStyle>
          <a:p>
            <a:r>
              <a:rPr lang="en-US"/>
              <a:t>No Content</a:t>
            </a:r>
          </a:p>
        </p:txBody>
      </p:sp>
    </p:spTree>
    <p:extLst>
      <p:ext uri="{BB962C8B-B14F-4D97-AF65-F5344CB8AC3E}">
        <p14:creationId xmlns:p14="http://schemas.microsoft.com/office/powerpoint/2010/main" val="305023578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75649" y="302014"/>
            <a:ext cx="5805049" cy="581328"/>
          </a:xfrm>
        </p:spPr>
        <p:txBody>
          <a:bodyPr/>
          <a:lstStyle>
            <a:lvl1pPr algn="r">
              <a:defRPr/>
            </a:lvl1pPr>
          </a:lstStyle>
          <a:p>
            <a:r>
              <a:rPr lang="en-US"/>
              <a:t>Click to edit Master title style</a:t>
            </a:r>
          </a:p>
        </p:txBody>
      </p:sp>
      <p:sp>
        <p:nvSpPr>
          <p:cNvPr id="3" name="Content Placeholder 2"/>
          <p:cNvSpPr>
            <a:spLocks noGrp="1"/>
          </p:cNvSpPr>
          <p:nvPr>
            <p:ph idx="1"/>
          </p:nvPr>
        </p:nvSpPr>
        <p:spPr>
          <a:xfrm>
            <a:off x="740834" y="1418946"/>
            <a:ext cx="11451166" cy="5439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5484567"/>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7" name="Line 12"/>
          <p:cNvSpPr>
            <a:spLocks noChangeShapeType="1"/>
          </p:cNvSpPr>
          <p:nvPr userDrawn="1"/>
        </p:nvSpPr>
        <p:spPr bwMode="auto">
          <a:xfrm flipV="1">
            <a:off x="406400" y="3900488"/>
            <a:ext cx="11379200" cy="0"/>
          </a:xfrm>
          <a:prstGeom prst="line">
            <a:avLst/>
          </a:prstGeom>
          <a:noFill/>
          <a:ln w="76200">
            <a:solidFill>
              <a:srgbClr val="000080"/>
            </a:solidFill>
            <a:round/>
            <a:headEnd/>
            <a:tailEnd/>
          </a:ln>
        </p:spPr>
        <p:txBody>
          <a:bodyPr/>
          <a:lstStyle/>
          <a:p>
            <a:pPr fontAlgn="auto">
              <a:spcBef>
                <a:spcPts val="0"/>
              </a:spcBef>
              <a:spcAft>
                <a:spcPts val="0"/>
              </a:spcAft>
              <a:defRPr/>
            </a:pPr>
            <a:endParaRPr lang="en-US" sz="1165">
              <a:solidFill>
                <a:prstClr val="black"/>
              </a:solidFill>
              <a:latin typeface="Arial"/>
            </a:endParaRPr>
          </a:p>
        </p:txBody>
      </p:sp>
      <p:sp>
        <p:nvSpPr>
          <p:cNvPr id="8" name="Line 13"/>
          <p:cNvSpPr>
            <a:spLocks noChangeShapeType="1"/>
          </p:cNvSpPr>
          <p:nvPr userDrawn="1"/>
        </p:nvSpPr>
        <p:spPr bwMode="auto">
          <a:xfrm>
            <a:off x="6096000" y="1425575"/>
            <a:ext cx="0" cy="4930775"/>
          </a:xfrm>
          <a:prstGeom prst="line">
            <a:avLst/>
          </a:prstGeom>
          <a:noFill/>
          <a:ln w="57150">
            <a:solidFill>
              <a:srgbClr val="000080"/>
            </a:solidFill>
            <a:round/>
            <a:headEnd/>
            <a:tailEnd/>
          </a:ln>
        </p:spPr>
        <p:txBody>
          <a:bodyPr/>
          <a:lstStyle/>
          <a:p>
            <a:pPr fontAlgn="auto">
              <a:spcBef>
                <a:spcPts val="0"/>
              </a:spcBef>
              <a:spcAft>
                <a:spcPts val="0"/>
              </a:spcAft>
              <a:defRPr/>
            </a:pPr>
            <a:endParaRPr lang="en-US" sz="1165">
              <a:solidFill>
                <a:prstClr val="black"/>
              </a:solidFill>
              <a:latin typeface="Arial"/>
            </a:endParaRPr>
          </a:p>
        </p:txBody>
      </p:sp>
      <p:sp>
        <p:nvSpPr>
          <p:cNvPr id="2" name="Title 1"/>
          <p:cNvSpPr>
            <a:spLocks noGrp="1"/>
          </p:cNvSpPr>
          <p:nvPr>
            <p:ph type="title" sz="quarter"/>
          </p:nvPr>
        </p:nvSpPr>
        <p:spPr>
          <a:xfrm>
            <a:off x="3936425" y="418155"/>
            <a:ext cx="5805049" cy="581328"/>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normAutofit/>
          </a:bodyPr>
          <a:lstStyle>
            <a:lvl1pPr>
              <a:defRPr sz="1941"/>
            </a:lvl1pPr>
            <a:lvl2pPr>
              <a:defRPr sz="1747"/>
            </a:lvl2pPr>
            <a:lvl3pPr>
              <a:defRPr sz="1553"/>
            </a:lvl3pPr>
            <a:lvl4pPr>
              <a:defRPr sz="1359"/>
            </a:lvl4pPr>
            <a:lvl5pPr>
              <a:defRPr sz="135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lvl1pPr>
              <a:defRPr sz="1941"/>
            </a:lvl1pPr>
            <a:lvl2pPr>
              <a:defRPr sz="1747"/>
            </a:lvl2pPr>
            <a:lvl3pPr>
              <a:defRPr sz="1553"/>
            </a:lvl3pPr>
            <a:lvl4pPr>
              <a:defRPr sz="1359"/>
            </a:lvl4pPr>
            <a:lvl5pPr>
              <a:defRPr sz="135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8"/>
            <a:ext cx="5384800" cy="2187575"/>
          </a:xfrm>
        </p:spPr>
        <p:txBody>
          <a:bodyPr/>
          <a:lstStyle>
            <a:lvl1pPr>
              <a:defRPr sz="1941"/>
            </a:lvl1pPr>
            <a:lvl2pPr>
              <a:defRPr sz="1747"/>
            </a:lvl2pPr>
            <a:lvl3pPr>
              <a:defRPr sz="1553"/>
            </a:lvl3pPr>
            <a:lvl4pPr>
              <a:defRPr sz="1359"/>
            </a:lvl4pPr>
            <a:lvl5pPr>
              <a:defRPr sz="135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8"/>
            <a:ext cx="5384800" cy="2187575"/>
          </a:xfrm>
        </p:spPr>
        <p:txBody>
          <a:bodyPr>
            <a:normAutofit/>
          </a:bodyPr>
          <a:lstStyle>
            <a:lvl1pPr>
              <a:defRPr sz="1941"/>
            </a:lvl1pPr>
            <a:lvl2pPr>
              <a:defRPr sz="1747"/>
            </a:lvl2pPr>
            <a:lvl3pPr>
              <a:defRPr sz="1553"/>
            </a:lvl3pPr>
            <a:lvl4pPr>
              <a:defRPr sz="1359"/>
            </a:lvl4pPr>
            <a:lvl5pPr>
              <a:defRPr sz="135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087583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914016" y="6248684"/>
            <a:ext cx="2540000" cy="456640"/>
          </a:xfrm>
          <a:prstGeom prst="rect">
            <a:avLst/>
          </a:prstGeom>
        </p:spPr>
        <p:txBody>
          <a:bodyPr lIns="83175" tIns="41584" rIns="83175" bIns="41584"/>
          <a:lstStyle>
            <a:lvl1pPr eaLnBrk="0" hangingPunct="0">
              <a:spcBef>
                <a:spcPct val="50000"/>
              </a:spcBef>
              <a:defRPr>
                <a:latin typeface="Arial" charset="0"/>
                <a:cs typeface="+mn-cs"/>
              </a:defRPr>
            </a:lvl1pPr>
          </a:lstStyle>
          <a:p>
            <a:pPr>
              <a:defRPr/>
            </a:pPr>
            <a:endParaRPr lang="en-US" sz="1068">
              <a:solidFill>
                <a:srgbClr val="000000"/>
              </a:solidFill>
            </a:endParaRPr>
          </a:p>
        </p:txBody>
      </p:sp>
      <p:sp>
        <p:nvSpPr>
          <p:cNvPr id="4" name="Rectangle 5"/>
          <p:cNvSpPr>
            <a:spLocks noGrp="1" noChangeArrowheads="1"/>
          </p:cNvSpPr>
          <p:nvPr>
            <p:ph type="ftr" sz="quarter" idx="11"/>
          </p:nvPr>
        </p:nvSpPr>
        <p:spPr>
          <a:xfrm>
            <a:off x="4166013" y="6248684"/>
            <a:ext cx="3860030" cy="456640"/>
          </a:xfrm>
          <a:prstGeom prst="rect">
            <a:avLst/>
          </a:prstGeom>
        </p:spPr>
        <p:txBody>
          <a:bodyPr lIns="83175" tIns="41584" rIns="83175" bIns="41584"/>
          <a:lstStyle>
            <a:lvl1pPr eaLnBrk="0" hangingPunct="0">
              <a:spcBef>
                <a:spcPct val="50000"/>
              </a:spcBef>
              <a:defRPr>
                <a:latin typeface="Arial" charset="0"/>
                <a:cs typeface="+mn-cs"/>
              </a:defRPr>
            </a:lvl1pPr>
          </a:lstStyle>
          <a:p>
            <a:pPr>
              <a:defRPr/>
            </a:pPr>
            <a:endParaRPr lang="en-US" sz="1068">
              <a:solidFill>
                <a:srgbClr val="000000"/>
              </a:solidFill>
            </a:endParaRPr>
          </a:p>
        </p:txBody>
      </p:sp>
    </p:spTree>
    <p:extLst>
      <p:ext uri="{BB962C8B-B14F-4D97-AF65-F5344CB8AC3E}">
        <p14:creationId xmlns:p14="http://schemas.microsoft.com/office/powerpoint/2010/main" val="161636796"/>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3295075" y="205430"/>
            <a:ext cx="5805049" cy="581328"/>
          </a:xfrm>
        </p:spPr>
        <p:txBody>
          <a:bodyPr/>
          <a:lstStyle>
            <a:lvl1pPr>
              <a:defRPr>
                <a:solidFill>
                  <a:schemeClr val="accent2">
                    <a:lumMod val="50000"/>
                  </a:schemeClr>
                </a:solidFill>
                <a:latin typeface="+mj-lt"/>
              </a:defRPr>
            </a:lvl1pPr>
          </a:lstStyle>
          <a:p>
            <a:r>
              <a:rPr lang="en-US"/>
              <a:t>Click to edit Master title style</a:t>
            </a:r>
          </a:p>
        </p:txBody>
      </p:sp>
      <p:sp>
        <p:nvSpPr>
          <p:cNvPr id="3" name="Chart Placeholder 2"/>
          <p:cNvSpPr>
            <a:spLocks noGrp="1"/>
          </p:cNvSpPr>
          <p:nvPr>
            <p:ph type="chart" idx="1"/>
          </p:nvPr>
        </p:nvSpPr>
        <p:spPr>
          <a:xfrm>
            <a:off x="518585" y="1227139"/>
            <a:ext cx="11451167" cy="5438775"/>
          </a:xfrm>
        </p:spPr>
        <p:txBody>
          <a:bodyPr/>
          <a:lstStyle/>
          <a:p>
            <a:pPr lvl="0"/>
            <a:endParaRPr lang="en-US" noProof="0">
              <a:sym typeface="Wingdings" pitchFamily="2" charset="2"/>
            </a:endParaRPr>
          </a:p>
        </p:txBody>
      </p:sp>
    </p:spTree>
    <p:extLst>
      <p:ext uri="{BB962C8B-B14F-4D97-AF65-F5344CB8AC3E}">
        <p14:creationId xmlns:p14="http://schemas.microsoft.com/office/powerpoint/2010/main" val="161722534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44809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8202" y="58724"/>
            <a:ext cx="10548457" cy="956345"/>
          </a:xfrm>
        </p:spPr>
        <p:txBody>
          <a:bodyPr anchor="ctr">
            <a:noAutofit/>
          </a:bodyPr>
          <a:lstStyle>
            <a:lvl1pPr algn="ctr">
              <a:defRPr sz="3442"/>
            </a:lvl1pPr>
          </a:lstStyle>
          <a:p>
            <a:r>
              <a:rPr lang="en-US" dirty="0"/>
              <a:t>Click to edit Master title style</a:t>
            </a:r>
          </a:p>
        </p:txBody>
      </p:sp>
      <p:sp>
        <p:nvSpPr>
          <p:cNvPr id="3" name="Subtitle 2"/>
          <p:cNvSpPr>
            <a:spLocks noGrp="1"/>
          </p:cNvSpPr>
          <p:nvPr>
            <p:ph type="subTitle" idx="1"/>
          </p:nvPr>
        </p:nvSpPr>
        <p:spPr>
          <a:xfrm>
            <a:off x="838202" y="2508120"/>
            <a:ext cx="10548457" cy="1655762"/>
          </a:xfrm>
        </p:spPr>
        <p:txBody>
          <a:bodyPr anchor="ctr">
            <a:normAutofit/>
          </a:bodyPr>
          <a:lstStyle>
            <a:lvl1pPr marL="0" indent="0" algn="ctr">
              <a:buNone/>
              <a:defRPr sz="4206">
                <a:solidFill>
                  <a:srgbClr val="151C77"/>
                </a:solidFill>
              </a:defRPr>
            </a:lvl1pPr>
            <a:lvl2pPr marL="437047" indent="0" algn="ctr">
              <a:buNone/>
              <a:defRPr sz="1912"/>
            </a:lvl2pPr>
            <a:lvl3pPr marL="874092" indent="0" algn="ctr">
              <a:buNone/>
              <a:defRPr sz="1721"/>
            </a:lvl3pPr>
            <a:lvl4pPr marL="1311139" indent="0" algn="ctr">
              <a:buNone/>
              <a:defRPr sz="1530"/>
            </a:lvl4pPr>
            <a:lvl5pPr marL="1748184" indent="0" algn="ctr">
              <a:buNone/>
              <a:defRPr sz="1530"/>
            </a:lvl5pPr>
            <a:lvl6pPr marL="2185230" indent="0" algn="ctr">
              <a:buNone/>
              <a:defRPr sz="1530"/>
            </a:lvl6pPr>
            <a:lvl7pPr marL="2622277" indent="0" algn="ctr">
              <a:buNone/>
              <a:defRPr sz="1530"/>
            </a:lvl7pPr>
            <a:lvl8pPr marL="3059323" indent="0" algn="ctr">
              <a:buNone/>
              <a:defRPr sz="1530"/>
            </a:lvl8pPr>
            <a:lvl9pPr marL="3496369" indent="0" algn="ctr">
              <a:buNone/>
              <a:defRPr sz="1530"/>
            </a:lvl9pPr>
          </a:lstStyle>
          <a:p>
            <a:r>
              <a:rPr lang="en-US" dirty="0"/>
              <a:t>Click to edit Master subtitle style</a:t>
            </a:r>
          </a:p>
        </p:txBody>
      </p:sp>
      <p:sp>
        <p:nvSpPr>
          <p:cNvPr id="5" name="Footer Placeholder 4"/>
          <p:cNvSpPr>
            <a:spLocks noGrp="1"/>
          </p:cNvSpPr>
          <p:nvPr>
            <p:ph type="ftr" sz="quarter" idx="11"/>
          </p:nvPr>
        </p:nvSpPr>
        <p:spPr/>
        <p:txBody>
          <a:bodyPr/>
          <a:lstStyle>
            <a:lvl1pPr>
              <a:defRPr sz="1339">
                <a:solidFill>
                  <a:srgbClr val="008000"/>
                </a:solidFill>
              </a:defRPr>
            </a:lvl1pPr>
          </a:lstStyle>
          <a:p>
            <a:r>
              <a:rPr lang="en-US" altLang="en-US" b="1"/>
              <a:t>UNCLASSIFIED</a:t>
            </a:r>
            <a:endParaRPr lang="en-US" altLang="en-US" b="1" dirty="0"/>
          </a:p>
        </p:txBody>
      </p:sp>
      <p:sp>
        <p:nvSpPr>
          <p:cNvPr id="9" name="Text Placeholder 10"/>
          <p:cNvSpPr>
            <a:spLocks noGrp="1"/>
          </p:cNvSpPr>
          <p:nvPr>
            <p:ph type="body" sz="quarter" idx="13" hasCustomPrompt="1"/>
          </p:nvPr>
        </p:nvSpPr>
        <p:spPr>
          <a:xfrm>
            <a:off x="168113" y="6448631"/>
            <a:ext cx="3702632" cy="406401"/>
          </a:xfrm>
        </p:spPr>
        <p:txBody>
          <a:bodyPr/>
          <a:lstStyle>
            <a:lvl1pPr marL="0" indent="0">
              <a:buFontTx/>
              <a:buNone/>
              <a:defRPr sz="1530" baseline="0">
                <a:latin typeface="Arial Rounded MT Bold" panose="020F0704030504030204" pitchFamily="34" charset="0"/>
              </a:defRPr>
            </a:lvl1pPr>
          </a:lstStyle>
          <a:p>
            <a:pPr lvl="0"/>
            <a:r>
              <a:rPr lang="en-US" dirty="0"/>
              <a:t>As of:</a:t>
            </a:r>
          </a:p>
        </p:txBody>
      </p:sp>
    </p:spTree>
    <p:extLst>
      <p:ext uri="{BB962C8B-B14F-4D97-AF65-F5344CB8AC3E}">
        <p14:creationId xmlns:p14="http://schemas.microsoft.com/office/powerpoint/2010/main" val="384958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296430" y="205199"/>
            <a:ext cx="5805049" cy="581328"/>
          </a:xfrm>
          <a:prstGeom prst="rect">
            <a:avLst/>
          </a:prstGeom>
          <a:noFill/>
          <a:ln w="9525">
            <a:noFill/>
            <a:miter lim="800000"/>
            <a:headEnd/>
            <a:tailEnd/>
          </a:ln>
        </p:spPr>
        <p:txBody>
          <a:bodyPr vert="horz" wrap="none" lIns="91566" tIns="45759" rIns="91566" bIns="45759" numCol="1" anchor="ctr" anchorCtr="0" compatLnSpc="1">
            <a:prstTxWarp prst="textNoShape">
              <a:avLst/>
            </a:prstTxWarp>
            <a:spAutoFit/>
          </a:bodyPr>
          <a:lstStyle/>
          <a:p>
            <a:pPr lvl="0"/>
            <a:r>
              <a:rPr lang="en-US"/>
              <a:t>Click to edit Master title style</a:t>
            </a:r>
          </a:p>
        </p:txBody>
      </p:sp>
      <p:sp>
        <p:nvSpPr>
          <p:cNvPr id="1027" name="Rectangle 3"/>
          <p:cNvSpPr>
            <a:spLocks noGrp="1" noChangeArrowheads="1"/>
          </p:cNvSpPr>
          <p:nvPr>
            <p:ph type="body" idx="1"/>
          </p:nvPr>
        </p:nvSpPr>
        <p:spPr bwMode="auto">
          <a:xfrm>
            <a:off x="517710" y="1227045"/>
            <a:ext cx="11451167" cy="4824132"/>
          </a:xfrm>
          <a:prstGeom prst="rect">
            <a:avLst/>
          </a:prstGeom>
          <a:noFill/>
          <a:ln w="9525">
            <a:noFill/>
            <a:miter lim="800000"/>
            <a:headEnd/>
            <a:tailEnd/>
          </a:ln>
        </p:spPr>
        <p:txBody>
          <a:bodyPr vert="horz" wrap="square" lIns="91566" tIns="45759" rIns="91566" bIns="45759" numCol="1" anchor="t" anchorCtr="0" compatLnSpc="1">
            <a:prstTxWarp prst="textNoShape">
              <a:avLst/>
            </a:prstTxWarp>
          </a:bodyPr>
          <a:lstStyle/>
          <a:p>
            <a:pPr lvl="0"/>
            <a:r>
              <a:rPr lang="en-US">
                <a:sym typeface="Wingdings" pitchFamily="2" charset="2"/>
              </a:rPr>
              <a:t>Main bullet</a:t>
            </a:r>
          </a:p>
          <a:p>
            <a:pPr lvl="1"/>
            <a:r>
              <a:rPr lang="en-US">
                <a:sym typeface="Wingdings" pitchFamily="2" charset="2"/>
              </a:rPr>
              <a:t>Sub-bullet</a:t>
            </a:r>
          </a:p>
          <a:p>
            <a:pPr lvl="2"/>
            <a:r>
              <a:rPr lang="en-US">
                <a:sym typeface="Wingdings" pitchFamily="2" charset="2"/>
              </a:rPr>
              <a:t>Sub-sub-bullet</a:t>
            </a:r>
          </a:p>
          <a:p>
            <a:pPr lvl="3"/>
            <a:r>
              <a:rPr lang="en-US"/>
              <a:t>Sub-sub-sub-bullet</a:t>
            </a:r>
          </a:p>
          <a:p>
            <a:pPr lvl="4"/>
            <a:r>
              <a:rPr lang="en-US">
                <a:sym typeface="Wingdings" pitchFamily="2" charset="2"/>
              </a:rPr>
              <a:t>Sub-sub-sub-sub-bullet</a:t>
            </a:r>
          </a:p>
          <a:p>
            <a:pPr lvl="4"/>
            <a:r>
              <a:rPr lang="en-US">
                <a:sym typeface="Wingdings" pitchFamily="2" charset="2"/>
              </a:rPr>
              <a:t>That’s it! No more sub-sub-sub-sub-bullets! </a:t>
            </a:r>
          </a:p>
        </p:txBody>
      </p:sp>
      <p:sp>
        <p:nvSpPr>
          <p:cNvPr id="10" name="Rectangle 9"/>
          <p:cNvSpPr>
            <a:spLocks noChangeArrowheads="1"/>
          </p:cNvSpPr>
          <p:nvPr/>
        </p:nvSpPr>
        <p:spPr bwMode="auto">
          <a:xfrm>
            <a:off x="7" y="6330844"/>
            <a:ext cx="12191993" cy="64546"/>
          </a:xfrm>
          <a:prstGeom prst="rect">
            <a:avLst/>
          </a:prstGeom>
          <a:solidFill>
            <a:srgbClr val="000099"/>
          </a:solidFill>
          <a:ln w="9525">
            <a:noFill/>
            <a:miter lim="800000"/>
            <a:headEnd/>
            <a:tailEnd/>
          </a:ln>
          <a:effectLst/>
        </p:spPr>
        <p:txBody>
          <a:bodyPr wrap="none" lIns="73723" tIns="36825" rIns="73723" bIns="36825" anchor="ctr"/>
          <a:lstStyle/>
          <a:p>
            <a:pPr defTabSz="810061">
              <a:defRPr/>
            </a:pPr>
            <a:endParaRPr lang="en-US" sz="1059">
              <a:solidFill>
                <a:srgbClr val="000000"/>
              </a:solidFill>
              <a:latin typeface="Arial"/>
            </a:endParaRPr>
          </a:p>
        </p:txBody>
      </p:sp>
      <p:sp>
        <p:nvSpPr>
          <p:cNvPr id="14" name="TextBox 13"/>
          <p:cNvSpPr txBox="1"/>
          <p:nvPr/>
        </p:nvSpPr>
        <p:spPr>
          <a:xfrm>
            <a:off x="8867111" y="874522"/>
            <a:ext cx="6340805" cy="263266"/>
          </a:xfrm>
          <a:prstGeom prst="rect">
            <a:avLst/>
          </a:prstGeom>
          <a:noFill/>
        </p:spPr>
        <p:txBody>
          <a:bodyPr wrap="square" lIns="72545" tIns="36253" rIns="72545" bIns="36253">
            <a:spAutoFit/>
          </a:bodyPr>
          <a:lstStyle/>
          <a:p>
            <a:pPr defTabSz="810061">
              <a:defRPr/>
            </a:pPr>
            <a:r>
              <a:rPr lang="en-US" sz="1235" b="1" i="1">
                <a:solidFill>
                  <a:srgbClr val="000066"/>
                </a:solidFill>
                <a:latin typeface="Arial"/>
              </a:rPr>
              <a:t>Train World Class Pilots</a:t>
            </a:r>
          </a:p>
        </p:txBody>
      </p:sp>
      <p:sp>
        <p:nvSpPr>
          <p:cNvPr id="15" name="Rectangle 14"/>
          <p:cNvSpPr>
            <a:spLocks noChangeArrowheads="1"/>
          </p:cNvSpPr>
          <p:nvPr/>
        </p:nvSpPr>
        <p:spPr bwMode="auto">
          <a:xfrm flipV="1">
            <a:off x="202" y="1008528"/>
            <a:ext cx="8866909" cy="64546"/>
          </a:xfrm>
          <a:prstGeom prst="rect">
            <a:avLst/>
          </a:prstGeom>
          <a:solidFill>
            <a:srgbClr val="000099"/>
          </a:solidFill>
          <a:ln w="9525">
            <a:noFill/>
            <a:miter lim="800000"/>
            <a:headEnd/>
            <a:tailEnd/>
          </a:ln>
          <a:effectLst/>
        </p:spPr>
        <p:txBody>
          <a:bodyPr wrap="none" lIns="73723" tIns="36825" rIns="73723" bIns="36825" anchor="ctr"/>
          <a:lstStyle/>
          <a:p>
            <a:pPr defTabSz="810061">
              <a:defRPr/>
            </a:pPr>
            <a:endParaRPr lang="en-US" sz="1059">
              <a:solidFill>
                <a:srgbClr val="000000"/>
              </a:solidFill>
              <a:latin typeface="Arial"/>
            </a:endParaRPr>
          </a:p>
        </p:txBody>
      </p:sp>
      <p:pic>
        <p:nvPicPr>
          <p:cNvPr id="13" name="Picture 15" descr="14th Flyiing Training Wing, color"/>
          <p:cNvPicPr>
            <a:picLocks noChangeAspect="1" noChangeArrowheads="1"/>
          </p:cNvPicPr>
          <p:nvPr userDrawn="1"/>
        </p:nvPicPr>
        <p:blipFill>
          <a:blip r:embed="rId10" cstate="print"/>
          <a:srcRect/>
          <a:stretch>
            <a:fillRect/>
          </a:stretch>
        </p:blipFill>
        <p:spPr bwMode="auto">
          <a:xfrm>
            <a:off x="11361135" y="470729"/>
            <a:ext cx="737967" cy="470493"/>
          </a:xfrm>
          <a:prstGeom prst="rect">
            <a:avLst/>
          </a:prstGeom>
          <a:noFill/>
          <a:ln w="9525">
            <a:noFill/>
            <a:miter lim="800000"/>
            <a:headEnd/>
            <a:tailEnd/>
          </a:ln>
        </p:spPr>
      </p:pic>
      <p:pic>
        <p:nvPicPr>
          <p:cNvPr id="17" name="Picture 16"/>
          <p:cNvPicPr>
            <a:picLocks noChangeAspect="1"/>
          </p:cNvPicPr>
          <p:nvPr userDrawn="1"/>
        </p:nvPicPr>
        <p:blipFill>
          <a:blip r:embed="rId11"/>
          <a:stretch>
            <a:fillRect/>
          </a:stretch>
        </p:blipFill>
        <p:spPr>
          <a:xfrm>
            <a:off x="261603" y="29606"/>
            <a:ext cx="1366430" cy="932513"/>
          </a:xfrm>
          <a:prstGeom prst="rect">
            <a:avLst/>
          </a:prstGeom>
        </p:spPr>
      </p:pic>
      <p:pic>
        <p:nvPicPr>
          <p:cNvPr id="19" name="Picture 18" descr="1ec-AETC"/>
          <p:cNvPicPr>
            <a:picLocks noChangeAspect="1" noChangeArrowheads="1"/>
          </p:cNvPicPr>
          <p:nvPr userDrawn="1"/>
        </p:nvPicPr>
        <p:blipFill>
          <a:blip r:embed="rId12"/>
          <a:srcRect/>
          <a:stretch>
            <a:fillRect/>
          </a:stretch>
        </p:blipFill>
        <p:spPr bwMode="auto">
          <a:xfrm>
            <a:off x="10832583" y="54181"/>
            <a:ext cx="606388" cy="441415"/>
          </a:xfrm>
          <a:prstGeom prst="rect">
            <a:avLst/>
          </a:prstGeom>
          <a:noFill/>
          <a:ln w="9525">
            <a:noFill/>
            <a:miter lim="800000"/>
            <a:headEnd/>
            <a:tailEnd/>
          </a:ln>
        </p:spPr>
      </p:pic>
    </p:spTree>
    <p:extLst>
      <p:ext uri="{BB962C8B-B14F-4D97-AF65-F5344CB8AC3E}">
        <p14:creationId xmlns:p14="http://schemas.microsoft.com/office/powerpoint/2010/main" val="1499205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ransition>
    <p:wipe dir="r"/>
  </p:transition>
  <p:txStyles>
    <p:titleStyle>
      <a:lvl1pPr algn="ctr" defTabSz="806238" rtl="0" eaLnBrk="0" fontAlgn="base" hangingPunct="0">
        <a:spcBef>
          <a:spcPct val="0"/>
        </a:spcBef>
        <a:spcAft>
          <a:spcPct val="0"/>
        </a:spcAft>
        <a:defRPr sz="3177" b="1">
          <a:solidFill>
            <a:schemeClr val="folHlink"/>
          </a:solidFill>
          <a:latin typeface="Arial" panose="020B0604020202020204" pitchFamily="34" charset="0"/>
          <a:ea typeface="+mj-ea"/>
          <a:cs typeface="Arial" panose="020B0604020202020204" pitchFamily="34" charset="0"/>
        </a:defRPr>
      </a:lvl1pPr>
      <a:lvl2pPr algn="ctr" defTabSz="806238" rtl="0" eaLnBrk="0" fontAlgn="base" hangingPunct="0">
        <a:spcBef>
          <a:spcPct val="0"/>
        </a:spcBef>
        <a:spcAft>
          <a:spcPct val="0"/>
        </a:spcAft>
        <a:defRPr sz="3618" b="1">
          <a:solidFill>
            <a:schemeClr val="folHlink"/>
          </a:solidFill>
          <a:latin typeface="Arial" charset="0"/>
        </a:defRPr>
      </a:lvl2pPr>
      <a:lvl3pPr algn="ctr" defTabSz="806238" rtl="0" eaLnBrk="0" fontAlgn="base" hangingPunct="0">
        <a:spcBef>
          <a:spcPct val="0"/>
        </a:spcBef>
        <a:spcAft>
          <a:spcPct val="0"/>
        </a:spcAft>
        <a:defRPr sz="3618" b="1">
          <a:solidFill>
            <a:schemeClr val="folHlink"/>
          </a:solidFill>
          <a:latin typeface="Arial" charset="0"/>
        </a:defRPr>
      </a:lvl3pPr>
      <a:lvl4pPr algn="ctr" defTabSz="806238" rtl="0" eaLnBrk="0" fontAlgn="base" hangingPunct="0">
        <a:spcBef>
          <a:spcPct val="0"/>
        </a:spcBef>
        <a:spcAft>
          <a:spcPct val="0"/>
        </a:spcAft>
        <a:defRPr sz="3618" b="1">
          <a:solidFill>
            <a:schemeClr val="folHlink"/>
          </a:solidFill>
          <a:latin typeface="Arial" charset="0"/>
        </a:defRPr>
      </a:lvl4pPr>
      <a:lvl5pPr algn="ctr" defTabSz="806238" rtl="0" eaLnBrk="0" fontAlgn="base" hangingPunct="0">
        <a:spcBef>
          <a:spcPct val="0"/>
        </a:spcBef>
        <a:spcAft>
          <a:spcPct val="0"/>
        </a:spcAft>
        <a:defRPr sz="3618" b="1">
          <a:solidFill>
            <a:schemeClr val="folHlink"/>
          </a:solidFill>
          <a:latin typeface="Arial" charset="0"/>
        </a:defRPr>
      </a:lvl5pPr>
      <a:lvl6pPr marL="367920" algn="ctr" defTabSz="807318" rtl="0" eaLnBrk="0" fontAlgn="base" hangingPunct="0">
        <a:spcBef>
          <a:spcPct val="0"/>
        </a:spcBef>
        <a:spcAft>
          <a:spcPct val="0"/>
        </a:spcAft>
        <a:defRPr sz="3618" b="1">
          <a:solidFill>
            <a:schemeClr val="folHlink"/>
          </a:solidFill>
          <a:latin typeface="Arial" charset="0"/>
        </a:defRPr>
      </a:lvl6pPr>
      <a:lvl7pPr marL="735774" algn="ctr" defTabSz="807318" rtl="0" eaLnBrk="0" fontAlgn="base" hangingPunct="0">
        <a:spcBef>
          <a:spcPct val="0"/>
        </a:spcBef>
        <a:spcAft>
          <a:spcPct val="0"/>
        </a:spcAft>
        <a:defRPr sz="3618" b="1">
          <a:solidFill>
            <a:schemeClr val="folHlink"/>
          </a:solidFill>
          <a:latin typeface="Arial" charset="0"/>
        </a:defRPr>
      </a:lvl7pPr>
      <a:lvl8pPr marL="1103655" algn="ctr" defTabSz="807318" rtl="0" eaLnBrk="0" fontAlgn="base" hangingPunct="0">
        <a:spcBef>
          <a:spcPct val="0"/>
        </a:spcBef>
        <a:spcAft>
          <a:spcPct val="0"/>
        </a:spcAft>
        <a:defRPr sz="3618" b="1">
          <a:solidFill>
            <a:schemeClr val="folHlink"/>
          </a:solidFill>
          <a:latin typeface="Arial" charset="0"/>
        </a:defRPr>
      </a:lvl8pPr>
      <a:lvl9pPr marL="1471541" algn="ctr" defTabSz="807318" rtl="0" eaLnBrk="0" fontAlgn="base" hangingPunct="0">
        <a:spcBef>
          <a:spcPct val="0"/>
        </a:spcBef>
        <a:spcAft>
          <a:spcPct val="0"/>
        </a:spcAft>
        <a:defRPr sz="3618" b="1">
          <a:solidFill>
            <a:schemeClr val="folHlink"/>
          </a:solidFill>
          <a:latin typeface="Arial" charset="0"/>
        </a:defRPr>
      </a:lvl9pPr>
    </p:titleStyle>
    <p:bodyStyle>
      <a:lvl1pPr marL="367301" indent="-367301" algn="l" defTabSz="806238" rtl="0" eaLnBrk="0" fontAlgn="base" hangingPunct="0">
        <a:spcBef>
          <a:spcPts val="529"/>
        </a:spcBef>
        <a:spcAft>
          <a:spcPct val="0"/>
        </a:spcAft>
        <a:buChar char="•"/>
        <a:defRPr sz="2206" b="0">
          <a:solidFill>
            <a:schemeClr val="tx1"/>
          </a:solidFill>
          <a:latin typeface="+mn-lt"/>
          <a:ea typeface="+mn-ea"/>
          <a:cs typeface="+mn-cs"/>
          <a:sym typeface="Wingdings" pitchFamily="2" charset="2"/>
        </a:defRPr>
      </a:lvl1pPr>
      <a:lvl2pPr marL="734536" indent="-367301" algn="l" defTabSz="806238" rtl="0" eaLnBrk="0" fontAlgn="base" hangingPunct="0">
        <a:spcBef>
          <a:spcPts val="529"/>
        </a:spcBef>
        <a:spcAft>
          <a:spcPct val="0"/>
        </a:spcAft>
        <a:buChar char="•"/>
        <a:defRPr sz="1765">
          <a:solidFill>
            <a:schemeClr val="tx1"/>
          </a:solidFill>
          <a:latin typeface="+mn-lt"/>
          <a:sym typeface="Wingdings" pitchFamily="2" charset="2"/>
        </a:defRPr>
      </a:lvl2pPr>
      <a:lvl3pPr marL="1103070" indent="-367301" algn="l" defTabSz="806238" rtl="0" eaLnBrk="0" fontAlgn="base" hangingPunct="0">
        <a:spcBef>
          <a:spcPts val="529"/>
        </a:spcBef>
        <a:spcAft>
          <a:spcPct val="0"/>
        </a:spcAft>
        <a:buChar char="•"/>
        <a:defRPr sz="1765">
          <a:solidFill>
            <a:schemeClr val="tx1"/>
          </a:solidFill>
          <a:latin typeface="+mn-lt"/>
          <a:sym typeface="Wingdings" pitchFamily="2" charset="2"/>
        </a:defRPr>
      </a:lvl3pPr>
      <a:lvl4pPr marL="1469057" indent="-364773" algn="l" defTabSz="806238" rtl="0" eaLnBrk="0" fontAlgn="base" hangingPunct="0">
        <a:spcBef>
          <a:spcPts val="529"/>
        </a:spcBef>
        <a:spcAft>
          <a:spcPct val="0"/>
        </a:spcAft>
        <a:buChar char="•"/>
        <a:defRPr sz="1765">
          <a:solidFill>
            <a:schemeClr val="tx1"/>
          </a:solidFill>
          <a:latin typeface="+mn-lt"/>
        </a:defRPr>
      </a:lvl4pPr>
      <a:lvl5pPr marL="1837554" indent="-366045" algn="l" defTabSz="806238" rtl="0" eaLnBrk="0" fontAlgn="base" hangingPunct="0">
        <a:spcBef>
          <a:spcPts val="529"/>
        </a:spcBef>
        <a:spcAft>
          <a:spcPct val="0"/>
        </a:spcAft>
        <a:buChar char="•"/>
        <a:defRPr sz="1765">
          <a:solidFill>
            <a:schemeClr val="tx1"/>
          </a:solidFill>
          <a:latin typeface="+mn-lt"/>
          <a:sym typeface="Wingdings" pitchFamily="2" charset="2"/>
        </a:defRPr>
      </a:lvl5pPr>
      <a:lvl6pPr marL="2206008" indent="-366647" algn="l" defTabSz="807318" rtl="0" eaLnBrk="0" fontAlgn="base" hangingPunct="0">
        <a:spcBef>
          <a:spcPct val="50000"/>
        </a:spcBef>
        <a:spcAft>
          <a:spcPct val="0"/>
        </a:spcAft>
        <a:buChar char="•"/>
        <a:defRPr sz="1765">
          <a:solidFill>
            <a:schemeClr val="tx1"/>
          </a:solidFill>
          <a:latin typeface="+mn-lt"/>
          <a:sym typeface="Wingdings" pitchFamily="2" charset="2"/>
        </a:defRPr>
      </a:lvl6pPr>
      <a:lvl7pPr marL="2573881" indent="-366647" algn="l" defTabSz="807318" rtl="0" eaLnBrk="0" fontAlgn="base" hangingPunct="0">
        <a:spcBef>
          <a:spcPct val="50000"/>
        </a:spcBef>
        <a:spcAft>
          <a:spcPct val="0"/>
        </a:spcAft>
        <a:buChar char="•"/>
        <a:defRPr sz="1765">
          <a:solidFill>
            <a:schemeClr val="tx1"/>
          </a:solidFill>
          <a:latin typeface="+mn-lt"/>
          <a:sym typeface="Wingdings" pitchFamily="2" charset="2"/>
        </a:defRPr>
      </a:lvl7pPr>
      <a:lvl8pPr marL="2941767" indent="-366647" algn="l" defTabSz="807318" rtl="0" eaLnBrk="0" fontAlgn="base" hangingPunct="0">
        <a:spcBef>
          <a:spcPct val="50000"/>
        </a:spcBef>
        <a:spcAft>
          <a:spcPct val="0"/>
        </a:spcAft>
        <a:buChar char="•"/>
        <a:defRPr sz="1765">
          <a:solidFill>
            <a:schemeClr val="tx1"/>
          </a:solidFill>
          <a:latin typeface="+mn-lt"/>
          <a:sym typeface="Wingdings" pitchFamily="2" charset="2"/>
        </a:defRPr>
      </a:lvl8pPr>
      <a:lvl9pPr marL="3309625" indent="-366647" algn="l" defTabSz="807318" rtl="0" eaLnBrk="0" fontAlgn="base" hangingPunct="0">
        <a:spcBef>
          <a:spcPct val="50000"/>
        </a:spcBef>
        <a:spcAft>
          <a:spcPct val="0"/>
        </a:spcAft>
        <a:buChar char="•"/>
        <a:defRPr sz="1765">
          <a:solidFill>
            <a:schemeClr val="tx1"/>
          </a:solidFill>
          <a:latin typeface="+mn-lt"/>
          <a:sym typeface="Wingdings" pitchFamily="2" charset="2"/>
        </a:defRPr>
      </a:lvl9pPr>
    </p:bodyStyle>
    <p:otherStyle>
      <a:defPPr>
        <a:defRPr lang="en-US"/>
      </a:defPPr>
      <a:lvl1pPr marL="0" algn="l" defTabSz="735774" rtl="0" eaLnBrk="1" latinLnBrk="0" hangingPunct="1">
        <a:defRPr sz="1588" kern="1200">
          <a:solidFill>
            <a:schemeClr val="tx1"/>
          </a:solidFill>
          <a:latin typeface="+mn-lt"/>
          <a:ea typeface="+mn-ea"/>
          <a:cs typeface="+mn-cs"/>
        </a:defRPr>
      </a:lvl1pPr>
      <a:lvl2pPr marL="367920" algn="l" defTabSz="735774" rtl="0" eaLnBrk="1" latinLnBrk="0" hangingPunct="1">
        <a:defRPr sz="1588" kern="1200">
          <a:solidFill>
            <a:schemeClr val="tx1"/>
          </a:solidFill>
          <a:latin typeface="+mn-lt"/>
          <a:ea typeface="+mn-ea"/>
          <a:cs typeface="+mn-cs"/>
        </a:defRPr>
      </a:lvl2pPr>
      <a:lvl3pPr marL="735774" algn="l" defTabSz="735774" rtl="0" eaLnBrk="1" latinLnBrk="0" hangingPunct="1">
        <a:defRPr sz="1588" kern="1200">
          <a:solidFill>
            <a:schemeClr val="tx1"/>
          </a:solidFill>
          <a:latin typeface="+mn-lt"/>
          <a:ea typeface="+mn-ea"/>
          <a:cs typeface="+mn-cs"/>
        </a:defRPr>
      </a:lvl3pPr>
      <a:lvl4pPr marL="1103655" algn="l" defTabSz="735774" rtl="0" eaLnBrk="1" latinLnBrk="0" hangingPunct="1">
        <a:defRPr sz="1588" kern="1200">
          <a:solidFill>
            <a:schemeClr val="tx1"/>
          </a:solidFill>
          <a:latin typeface="+mn-lt"/>
          <a:ea typeface="+mn-ea"/>
          <a:cs typeface="+mn-cs"/>
        </a:defRPr>
      </a:lvl4pPr>
      <a:lvl5pPr marL="1471541" algn="l" defTabSz="735774" rtl="0" eaLnBrk="1" latinLnBrk="0" hangingPunct="1">
        <a:defRPr sz="1588" kern="1200">
          <a:solidFill>
            <a:schemeClr val="tx1"/>
          </a:solidFill>
          <a:latin typeface="+mn-lt"/>
          <a:ea typeface="+mn-ea"/>
          <a:cs typeface="+mn-cs"/>
        </a:defRPr>
      </a:lvl5pPr>
      <a:lvl6pPr marL="1839400" algn="l" defTabSz="735774" rtl="0" eaLnBrk="1" latinLnBrk="0" hangingPunct="1">
        <a:defRPr sz="1588" kern="1200">
          <a:solidFill>
            <a:schemeClr val="tx1"/>
          </a:solidFill>
          <a:latin typeface="+mn-lt"/>
          <a:ea typeface="+mn-ea"/>
          <a:cs typeface="+mn-cs"/>
        </a:defRPr>
      </a:lvl6pPr>
      <a:lvl7pPr marL="2207290" algn="l" defTabSz="735774" rtl="0" eaLnBrk="1" latinLnBrk="0" hangingPunct="1">
        <a:defRPr sz="1588" kern="1200">
          <a:solidFill>
            <a:schemeClr val="tx1"/>
          </a:solidFill>
          <a:latin typeface="+mn-lt"/>
          <a:ea typeface="+mn-ea"/>
          <a:cs typeface="+mn-cs"/>
        </a:defRPr>
      </a:lvl7pPr>
      <a:lvl8pPr marL="2575162" algn="l" defTabSz="735774" rtl="0" eaLnBrk="1" latinLnBrk="0" hangingPunct="1">
        <a:defRPr sz="1588" kern="1200">
          <a:solidFill>
            <a:schemeClr val="tx1"/>
          </a:solidFill>
          <a:latin typeface="+mn-lt"/>
          <a:ea typeface="+mn-ea"/>
          <a:cs typeface="+mn-cs"/>
        </a:defRPr>
      </a:lvl8pPr>
      <a:lvl9pPr marL="2943048" algn="l" defTabSz="735774" rtl="0" eaLnBrk="1" latinLnBrk="0" hangingPunct="1">
        <a:defRPr sz="15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5"/>
          <p:cNvSpPr>
            <a:spLocks noGrp="1"/>
          </p:cNvSpPr>
          <p:nvPr>
            <p:ph type="ctrTitle"/>
          </p:nvPr>
        </p:nvSpPr>
        <p:spPr/>
        <p:txBody>
          <a:bodyPr/>
          <a:lstStyle/>
          <a:p>
            <a:endParaRPr lang="en-US" altLang="en-US" dirty="0"/>
          </a:p>
        </p:txBody>
      </p:sp>
      <p:sp>
        <p:nvSpPr>
          <p:cNvPr id="16388" name="Rectangle 4"/>
          <p:cNvSpPr>
            <a:spLocks noGrp="1" noChangeArrowheads="1"/>
          </p:cNvSpPr>
          <p:nvPr>
            <p:ph type="subTitle" idx="1"/>
          </p:nvPr>
        </p:nvSpPr>
        <p:spPr>
          <a:xfrm>
            <a:off x="2268631" y="2535205"/>
            <a:ext cx="8043023" cy="1607063"/>
          </a:xfrm>
        </p:spPr>
        <p:txBody>
          <a:bodyPr>
            <a:normAutofit/>
          </a:bodyPr>
          <a:lstStyle/>
          <a:p>
            <a:r>
              <a:rPr lang="en-US" b="1" i="1" dirty="0">
                <a:effectLst>
                  <a:outerShdw blurRad="38100" dist="38100" dir="2700000" algn="tl">
                    <a:srgbClr val="000000">
                      <a:alpha val="43137"/>
                    </a:srgbClr>
                  </a:outerShdw>
                </a:effectLst>
              </a:rPr>
              <a:t>Controlled Unclassified Information (CUI)</a:t>
            </a:r>
            <a:endParaRPr lang="en-US" dirty="0"/>
          </a:p>
        </p:txBody>
      </p:sp>
      <p:sp>
        <p:nvSpPr>
          <p:cNvPr id="14" name="Rectangle 4"/>
          <p:cNvSpPr txBox="1">
            <a:spLocks noChangeArrowheads="1"/>
          </p:cNvSpPr>
          <p:nvPr/>
        </p:nvSpPr>
        <p:spPr bwMode="auto">
          <a:xfrm>
            <a:off x="7367089" y="5373593"/>
            <a:ext cx="2810435" cy="869264"/>
          </a:xfrm>
          <a:prstGeom prst="rect">
            <a:avLst/>
          </a:prstGeom>
          <a:noFill/>
          <a:ln w="9525">
            <a:noFill/>
            <a:miter lim="800000"/>
            <a:headEnd/>
            <a:tailEnd/>
          </a:ln>
        </p:spPr>
        <p:txBody>
          <a:bodyPr vert="horz" lIns="88751" tIns="44375" rIns="88751" bIns="44375" rtlCol="0">
            <a:normAutofit/>
          </a:bodyPr>
          <a:lstStyle>
            <a:lvl1pPr marL="228600" indent="-228600" algn="r" defTabSz="914400" rtl="0" eaLnBrk="1" latinLnBrk="0" hangingPunct="1">
              <a:lnSpc>
                <a:spcPct val="90000"/>
              </a:lnSpc>
              <a:spcBef>
                <a:spcPts val="300"/>
              </a:spcBef>
              <a:buClr>
                <a:srgbClr val="151C77"/>
              </a:buClr>
              <a:buSzPct val="60000"/>
              <a:buFont typeface="Wingdings" panose="05000000000000000000" pitchFamily="2" charset="2"/>
              <a:buNone/>
              <a:defRPr sz="1800" kern="1200">
                <a:solidFill>
                  <a:schemeClr val="tx1"/>
                </a:solidFill>
                <a:latin typeface="Arial Rounded MT Bold" panose="020F0704030504030204" pitchFamily="34" charset="0"/>
                <a:ea typeface="+mn-ea"/>
                <a:cs typeface="+mn-cs"/>
              </a:defRPr>
            </a:lvl1pPr>
            <a:lvl2pPr marL="685800" indent="-228600" algn="l" defTabSz="914400" rtl="0" eaLnBrk="1" latinLnBrk="0" hangingPunct="1">
              <a:lnSpc>
                <a:spcPct val="90000"/>
              </a:lnSpc>
              <a:spcBef>
                <a:spcPts val="500"/>
              </a:spcBef>
              <a:buClr>
                <a:srgbClr val="151C77"/>
              </a:buClr>
              <a:buSzPct val="80000"/>
              <a:buFont typeface="Wingdings" panose="05000000000000000000" pitchFamily="2" charset="2"/>
              <a:buChar char="Ø"/>
              <a:defRPr sz="2800" kern="1200">
                <a:solidFill>
                  <a:schemeClr val="tx1"/>
                </a:solidFill>
                <a:latin typeface="Arial Rounded MT Bold" panose="020F0704030504030204" pitchFamily="34" charset="0"/>
                <a:ea typeface="+mn-ea"/>
                <a:cs typeface="+mn-cs"/>
              </a:defRPr>
            </a:lvl2pPr>
            <a:lvl3pPr marL="1143000" indent="-228600" algn="l" defTabSz="914400" rtl="0" eaLnBrk="1" latinLnBrk="0" hangingPunct="1">
              <a:lnSpc>
                <a:spcPct val="90000"/>
              </a:lnSpc>
              <a:spcBef>
                <a:spcPts val="500"/>
              </a:spcBef>
              <a:buClr>
                <a:srgbClr val="151C77"/>
              </a:buClr>
              <a:buSzPct val="80000"/>
              <a:buFont typeface="Wingdings" panose="05000000000000000000" pitchFamily="2" charset="2"/>
              <a:buChar char="v"/>
              <a:defRPr sz="2600" kern="1200">
                <a:solidFill>
                  <a:schemeClr val="tx1"/>
                </a:solidFill>
                <a:latin typeface="Arial Rounded MT Bold" panose="020F0704030504030204" pitchFamily="34" charset="0"/>
                <a:ea typeface="+mn-ea"/>
                <a:cs typeface="+mn-cs"/>
              </a:defRPr>
            </a:lvl3pPr>
            <a:lvl4pPr marL="1600200" indent="-228600" algn="l" defTabSz="914400" rtl="0" eaLnBrk="1" latinLnBrk="0" hangingPunct="1">
              <a:lnSpc>
                <a:spcPct val="90000"/>
              </a:lnSpc>
              <a:spcBef>
                <a:spcPts val="500"/>
              </a:spcBef>
              <a:buClr>
                <a:srgbClr val="151C77"/>
              </a:buClr>
              <a:buSzPct val="60000"/>
              <a:buFont typeface="Wingdings" panose="05000000000000000000" pitchFamily="2" charset="2"/>
              <a:buChar char="q"/>
              <a:defRPr sz="2400" kern="1200">
                <a:solidFill>
                  <a:schemeClr val="tx1"/>
                </a:solidFill>
                <a:latin typeface="Arial Rounded MT Bold" panose="020F0704030504030204" pitchFamily="34" charset="0"/>
                <a:ea typeface="+mn-ea"/>
                <a:cs typeface="+mn-cs"/>
              </a:defRPr>
            </a:lvl4pPr>
            <a:lvl5pPr marL="2057400" indent="-228600" algn="l" defTabSz="914400" rtl="0" eaLnBrk="1" latinLnBrk="0" hangingPunct="1">
              <a:lnSpc>
                <a:spcPct val="90000"/>
              </a:lnSpc>
              <a:spcBef>
                <a:spcPts val="500"/>
              </a:spcBef>
              <a:buClr>
                <a:srgbClr val="151C77"/>
              </a:buClr>
              <a:buSzPct val="120000"/>
              <a:buFont typeface="Arial" panose="020B0604020202020204" pitchFamily="34" charset="0"/>
              <a:buChar char="•"/>
              <a:defRPr sz="2200" kern="1200">
                <a:solidFill>
                  <a:schemeClr val="tx1"/>
                </a:solidFill>
                <a:latin typeface="Arial Rounded MT Bold" panose="020F07040305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1717" indent="-201717" defTabSz="806867">
              <a:spcBef>
                <a:spcPts val="265"/>
              </a:spcBef>
            </a:pPr>
            <a:endParaRPr lang="en-US" sz="1747" dirty="0">
              <a:solidFill>
                <a:srgbClr val="000000"/>
              </a:solidFill>
            </a:endParaRPr>
          </a:p>
        </p:txBody>
      </p:sp>
      <p:sp>
        <p:nvSpPr>
          <p:cNvPr id="15" name="Footer Placeholder 4"/>
          <p:cNvSpPr>
            <a:spLocks noGrp="1"/>
          </p:cNvSpPr>
          <p:nvPr>
            <p:ph type="ftr" sz="quarter" idx="11"/>
          </p:nvPr>
        </p:nvSpPr>
        <p:spPr>
          <a:xfrm>
            <a:off x="4598334" y="6367959"/>
            <a:ext cx="2995332" cy="354386"/>
          </a:xfrm>
        </p:spPr>
        <p:txBody>
          <a:bodyPr/>
          <a:lstStyle>
            <a:lvl1pPr>
              <a:defRPr sz="1359">
                <a:solidFill>
                  <a:srgbClr val="008000"/>
                </a:solidFill>
              </a:defRPr>
            </a:lvl1pPr>
          </a:lstStyle>
          <a:p>
            <a:pPr algn="ctr" defTabSz="806867"/>
            <a:r>
              <a:rPr lang="en-US" altLang="en-US" b="1" dirty="0">
                <a:latin typeface="Arial"/>
              </a:rPr>
              <a:t>UNCLASSIFIED</a:t>
            </a:r>
          </a:p>
        </p:txBody>
      </p:sp>
    </p:spTree>
    <p:extLst>
      <p:ext uri="{BB962C8B-B14F-4D97-AF65-F5344CB8AC3E}">
        <p14:creationId xmlns:p14="http://schemas.microsoft.com/office/powerpoint/2010/main" val="2992247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143486" y="403308"/>
            <a:ext cx="2065243" cy="581328"/>
          </a:xfrm>
        </p:spPr>
        <p:txBody>
          <a:bodyPr/>
          <a:lstStyle/>
          <a:p>
            <a:pPr algn="ctr"/>
            <a:r>
              <a:rPr lang="en-US" dirty="0"/>
              <a:t>Definition</a:t>
            </a:r>
          </a:p>
        </p:txBody>
      </p:sp>
      <p:sp>
        <p:nvSpPr>
          <p:cNvPr id="8" name="Content Placeholder 2"/>
          <p:cNvSpPr>
            <a:spLocks noGrp="1"/>
          </p:cNvSpPr>
          <p:nvPr>
            <p:ph idx="1"/>
          </p:nvPr>
        </p:nvSpPr>
        <p:spPr>
          <a:xfrm>
            <a:off x="2005955" y="1742921"/>
            <a:ext cx="8180090" cy="3372158"/>
          </a:xfrm>
        </p:spPr>
        <p:txBody>
          <a:bodyPr/>
          <a:lstStyle/>
          <a:p>
            <a:pPr marL="200316" indent="0">
              <a:buNone/>
            </a:pPr>
            <a:r>
              <a:rPr lang="en-US" sz="2471" b="1" dirty="0"/>
              <a:t>CUI</a:t>
            </a:r>
            <a:r>
              <a:rPr lang="en-US" sz="2471" dirty="0"/>
              <a:t> – Controlled Unclassified Information:</a:t>
            </a:r>
          </a:p>
          <a:p>
            <a:pPr marL="200316" indent="0">
              <a:buNone/>
            </a:pPr>
            <a:endParaRPr lang="en-US" sz="2471" dirty="0"/>
          </a:p>
          <a:p>
            <a:pPr marL="200316" indent="0">
              <a:buNone/>
            </a:pPr>
            <a:r>
              <a:rPr lang="en-US" sz="2471" dirty="0"/>
              <a:t>	- Government created or possesses</a:t>
            </a:r>
          </a:p>
          <a:p>
            <a:pPr marL="200316" indent="0">
              <a:buNone/>
            </a:pPr>
            <a:endParaRPr lang="en-US" sz="2471" dirty="0"/>
          </a:p>
          <a:p>
            <a:pPr marL="200316" indent="0">
              <a:buNone/>
            </a:pPr>
            <a:r>
              <a:rPr lang="en-US" sz="2471" dirty="0"/>
              <a:t>	- Entity creates/possesses on behalf of Government, that a Law, Regulation, or Government-Wide Policy (LRGWP) requires or permits an agency to handle using safeguarding or dissemination controls. </a:t>
            </a:r>
          </a:p>
        </p:txBody>
      </p:sp>
      <p:sp>
        <p:nvSpPr>
          <p:cNvPr id="2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pic>
        <p:nvPicPr>
          <p:cNvPr id="2" name="Picture 1">
            <a:extLst>
              <a:ext uri="{FF2B5EF4-FFF2-40B4-BE49-F238E27FC236}">
                <a16:creationId xmlns:a16="http://schemas.microsoft.com/office/drawing/2014/main" id="{FBF6765A-9627-A967-C2F5-8AAAC01B3EA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760" t="2391" r="2690" b="2274"/>
          <a:stretch/>
        </p:blipFill>
        <p:spPr>
          <a:xfrm rot="499510">
            <a:off x="8189981" y="1212758"/>
            <a:ext cx="1901716" cy="246359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642004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2950286" y="262687"/>
            <a:ext cx="6321013" cy="970117"/>
          </a:xfrm>
          <a:prstGeom prst="rect">
            <a:avLst/>
          </a:prstGeom>
        </p:spPr>
        <p:txBody>
          <a:bodyPr/>
          <a:lstStyle>
            <a:lvl1pPr algn="ctr" defTabSz="871786" rtl="0" eaLnBrk="1" fontAlgn="base" hangingPunct="1">
              <a:spcBef>
                <a:spcPct val="0"/>
              </a:spcBef>
              <a:spcAft>
                <a:spcPct val="0"/>
              </a:spcAft>
              <a:defRPr sz="3618" b="1">
                <a:solidFill>
                  <a:schemeClr val="folHlink"/>
                </a:solidFill>
                <a:latin typeface="+mj-lt"/>
                <a:ea typeface="+mj-ea"/>
                <a:cs typeface="+mj-cs"/>
              </a:defRPr>
            </a:lvl1pPr>
            <a:lvl2pPr algn="ctr" defTabSz="871786" rtl="0" eaLnBrk="1" fontAlgn="base" hangingPunct="1">
              <a:spcBef>
                <a:spcPct val="0"/>
              </a:spcBef>
              <a:spcAft>
                <a:spcPct val="0"/>
              </a:spcAft>
              <a:defRPr sz="3618" b="1">
                <a:solidFill>
                  <a:schemeClr val="folHlink"/>
                </a:solidFill>
                <a:latin typeface="Arial" charset="0"/>
              </a:defRPr>
            </a:lvl2pPr>
            <a:lvl3pPr algn="ctr" defTabSz="871786" rtl="0" eaLnBrk="1" fontAlgn="base" hangingPunct="1">
              <a:spcBef>
                <a:spcPct val="0"/>
              </a:spcBef>
              <a:spcAft>
                <a:spcPct val="0"/>
              </a:spcAft>
              <a:defRPr sz="3618" b="1">
                <a:solidFill>
                  <a:schemeClr val="folHlink"/>
                </a:solidFill>
                <a:latin typeface="Arial" charset="0"/>
              </a:defRPr>
            </a:lvl3pPr>
            <a:lvl4pPr algn="ctr" defTabSz="871786" rtl="0" eaLnBrk="1" fontAlgn="base" hangingPunct="1">
              <a:spcBef>
                <a:spcPct val="0"/>
              </a:spcBef>
              <a:spcAft>
                <a:spcPct val="0"/>
              </a:spcAft>
              <a:defRPr sz="3618" b="1">
                <a:solidFill>
                  <a:schemeClr val="folHlink"/>
                </a:solidFill>
                <a:latin typeface="Arial" charset="0"/>
              </a:defRPr>
            </a:lvl4pPr>
            <a:lvl5pPr algn="ctr" defTabSz="871786" rtl="0" eaLnBrk="1" fontAlgn="base" hangingPunct="1">
              <a:spcBef>
                <a:spcPct val="0"/>
              </a:spcBef>
              <a:spcAft>
                <a:spcPct val="0"/>
              </a:spcAft>
              <a:defRPr sz="3618" b="1">
                <a:solidFill>
                  <a:schemeClr val="folHlink"/>
                </a:solidFill>
                <a:latin typeface="Arial" charset="0"/>
              </a:defRPr>
            </a:lvl5pPr>
            <a:lvl6pPr marL="398359" algn="ctr" defTabSz="874183" rtl="0" eaLnBrk="1" fontAlgn="base" hangingPunct="1">
              <a:spcBef>
                <a:spcPct val="0"/>
              </a:spcBef>
              <a:spcAft>
                <a:spcPct val="0"/>
              </a:spcAft>
              <a:defRPr sz="3618" b="1">
                <a:solidFill>
                  <a:schemeClr val="folHlink"/>
                </a:solidFill>
                <a:latin typeface="Arial" charset="0"/>
              </a:defRPr>
            </a:lvl6pPr>
            <a:lvl7pPr marL="796719" algn="ctr" defTabSz="874183" rtl="0" eaLnBrk="1" fontAlgn="base" hangingPunct="1">
              <a:spcBef>
                <a:spcPct val="0"/>
              </a:spcBef>
              <a:spcAft>
                <a:spcPct val="0"/>
              </a:spcAft>
              <a:defRPr sz="3618" b="1">
                <a:solidFill>
                  <a:schemeClr val="folHlink"/>
                </a:solidFill>
                <a:latin typeface="Arial" charset="0"/>
              </a:defRPr>
            </a:lvl7pPr>
            <a:lvl8pPr marL="1195080" algn="ctr" defTabSz="874183" rtl="0" eaLnBrk="1" fontAlgn="base" hangingPunct="1">
              <a:spcBef>
                <a:spcPct val="0"/>
              </a:spcBef>
              <a:spcAft>
                <a:spcPct val="0"/>
              </a:spcAft>
              <a:defRPr sz="3618" b="1">
                <a:solidFill>
                  <a:schemeClr val="folHlink"/>
                </a:solidFill>
                <a:latin typeface="Arial" charset="0"/>
              </a:defRPr>
            </a:lvl8pPr>
            <a:lvl9pPr marL="1593434" algn="ctr" defTabSz="874183" rtl="0" eaLnBrk="1" fontAlgn="base" hangingPunct="1">
              <a:spcBef>
                <a:spcPct val="0"/>
              </a:spcBef>
              <a:spcAft>
                <a:spcPct val="0"/>
              </a:spcAft>
              <a:defRPr sz="3618" b="1">
                <a:solidFill>
                  <a:schemeClr val="folHlink"/>
                </a:solidFill>
                <a:latin typeface="Arial" charset="0"/>
              </a:defRPr>
            </a:lvl9pPr>
          </a:lstStyle>
          <a:p>
            <a:pPr defTabSz="769264"/>
            <a:r>
              <a:rPr lang="en-US" sz="3106" kern="0" dirty="0">
                <a:solidFill>
                  <a:srgbClr val="000066"/>
                </a:solidFill>
                <a:latin typeface="Arial"/>
              </a:rPr>
              <a:t>Why CUI</a:t>
            </a:r>
          </a:p>
        </p:txBody>
      </p:sp>
      <p:sp>
        <p:nvSpPr>
          <p:cNvPr id="2" name="Rectangle 1"/>
          <p:cNvSpPr/>
          <p:nvPr/>
        </p:nvSpPr>
        <p:spPr>
          <a:xfrm>
            <a:off x="1855486" y="1232805"/>
            <a:ext cx="8481028" cy="4873001"/>
          </a:xfrm>
          <a:prstGeom prst="rect">
            <a:avLst/>
          </a:prstGeom>
        </p:spPr>
        <p:txBody>
          <a:bodyPr wrap="square">
            <a:spAutoFit/>
          </a:bodyPr>
          <a:lstStyle/>
          <a:p>
            <a:pPr defTabSz="806867"/>
            <a:endParaRPr lang="en-US" sz="2824" dirty="0">
              <a:solidFill>
                <a:srgbClr val="000000"/>
              </a:solidFill>
              <a:latin typeface="Arial"/>
            </a:endParaRPr>
          </a:p>
          <a:p>
            <a:pPr defTabSz="806867"/>
            <a:r>
              <a:rPr lang="en-US" sz="2824" dirty="0">
                <a:solidFill>
                  <a:srgbClr val="000000"/>
                </a:solidFill>
                <a:latin typeface="Arial"/>
              </a:rPr>
              <a:t>Identify and protect certain types of unclassified information that require application of access, distribution controls and protective measures for a variety of reasons</a:t>
            </a:r>
          </a:p>
          <a:p>
            <a:pPr defTabSz="806867"/>
            <a:endParaRPr lang="en-US" sz="2824" dirty="0">
              <a:solidFill>
                <a:srgbClr val="000000"/>
              </a:solidFill>
              <a:latin typeface="Arial"/>
            </a:endParaRPr>
          </a:p>
          <a:p>
            <a:pPr defTabSz="806867"/>
            <a:r>
              <a:rPr lang="en-US" sz="2824" dirty="0">
                <a:solidFill>
                  <a:srgbClr val="000000"/>
                </a:solidFill>
                <a:latin typeface="Arial"/>
              </a:rPr>
              <a:t>Set forth policies, practices and procedures to ensure maximum uniformity and effectiveness in the application of E.O. 13556</a:t>
            </a:r>
          </a:p>
          <a:p>
            <a:pPr defTabSz="806867"/>
            <a:endParaRPr lang="en-US" sz="2824" dirty="0">
              <a:solidFill>
                <a:srgbClr val="000000"/>
              </a:solidFill>
              <a:latin typeface="Arial"/>
            </a:endParaRPr>
          </a:p>
          <a:p>
            <a:pPr defTabSz="806867"/>
            <a:r>
              <a:rPr lang="en-US" sz="2824" b="1" dirty="0">
                <a:solidFill>
                  <a:srgbClr val="000000"/>
                </a:solidFill>
                <a:latin typeface="Arial"/>
              </a:rPr>
              <a:t>FOUO</a:t>
            </a:r>
            <a:r>
              <a:rPr lang="en-US" sz="2824" dirty="0">
                <a:solidFill>
                  <a:srgbClr val="000000"/>
                </a:solidFill>
                <a:latin typeface="Arial"/>
              </a:rPr>
              <a:t> 9 Exemptions to </a:t>
            </a:r>
            <a:r>
              <a:rPr lang="en-US" sz="2824" b="1" dirty="0">
                <a:solidFill>
                  <a:srgbClr val="000000"/>
                </a:solidFill>
                <a:latin typeface="Arial"/>
              </a:rPr>
              <a:t>CUI</a:t>
            </a:r>
            <a:r>
              <a:rPr lang="en-US" sz="2824" dirty="0">
                <a:solidFill>
                  <a:srgbClr val="000000"/>
                </a:solidFill>
                <a:latin typeface="Arial"/>
              </a:rPr>
              <a:t> 126 Exemptions</a:t>
            </a:r>
          </a:p>
        </p:txBody>
      </p:sp>
    </p:spTree>
    <p:extLst>
      <p:ext uri="{BB962C8B-B14F-4D97-AF65-F5344CB8AC3E}">
        <p14:creationId xmlns:p14="http://schemas.microsoft.com/office/powerpoint/2010/main" val="30613624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0485" y="206583"/>
            <a:ext cx="3017426" cy="581328"/>
          </a:xfrm>
        </p:spPr>
        <p:txBody>
          <a:bodyPr/>
          <a:lstStyle/>
          <a:p>
            <a:pPr algn="ctr"/>
            <a:r>
              <a:rPr lang="en-US" dirty="0"/>
              <a:t>DoD CUI Index</a:t>
            </a:r>
          </a:p>
        </p:txBody>
      </p:sp>
      <mc:AlternateContent xmlns:mc="http://schemas.openxmlformats.org/markup-compatibility/2006">
        <mc:Choice xmlns:a14="http://schemas.microsoft.com/office/drawing/2010/main" Requires="a14">
          <p:sp>
            <p:nvSpPr>
              <p:cNvPr id="5" name="Content Placeholder 2"/>
              <p:cNvSpPr>
                <a:spLocks noGrp="1"/>
              </p:cNvSpPr>
              <p:nvPr/>
            </p:nvSpPr>
            <p:spPr bwMode="auto">
              <a:xfrm>
                <a:off x="2083571" y="1119391"/>
                <a:ext cx="8380553" cy="5128801"/>
              </a:xfrm>
              <a:prstGeom prst="rect">
                <a:avLst/>
              </a:prstGeom>
              <a:noFill/>
              <a:ln w="9525">
                <a:noFill/>
                <a:miter lim="800000"/>
                <a:headEnd/>
                <a:tailEnd/>
              </a:ln>
            </p:spPr>
            <p:txBody>
              <a:bodyPr vert="horz" wrap="square" lIns="80794" tIns="40376" rIns="80794" bIns="40376" numCol="1" anchor="t" anchorCtr="0" compatLnSpc="1">
                <a:prstTxWarp prst="textNoShape">
                  <a:avLst/>
                </a:prstTxWarp>
              </a:bodyPr>
              <a:lstStyle>
                <a:lvl1pPr marL="416252" indent="-416252" algn="l" defTabSz="913688" rtl="0" eaLnBrk="0" fontAlgn="base" hangingPunct="0">
                  <a:spcBef>
                    <a:spcPts val="599"/>
                  </a:spcBef>
                  <a:spcAft>
                    <a:spcPct val="0"/>
                  </a:spcAft>
                  <a:buChar char="•"/>
                  <a:defRPr sz="2500" b="0">
                    <a:solidFill>
                      <a:schemeClr val="tx1"/>
                    </a:solidFill>
                    <a:latin typeface="+mn-lt"/>
                    <a:ea typeface="+mn-ea"/>
                    <a:cs typeface="+mn-cs"/>
                    <a:sym typeface="Wingdings" pitchFamily="2" charset="2"/>
                  </a:defRPr>
                </a:lvl1pPr>
                <a:lvl2pPr marL="832430"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2pPr>
                <a:lvl3pPr marL="1250079"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3pPr>
                <a:lvl4pPr marL="1664842" indent="-413387" algn="l" defTabSz="913688" rtl="0" eaLnBrk="0" fontAlgn="base" hangingPunct="0">
                  <a:spcBef>
                    <a:spcPts val="599"/>
                  </a:spcBef>
                  <a:spcAft>
                    <a:spcPct val="0"/>
                  </a:spcAft>
                  <a:buChar char="•"/>
                  <a:defRPr sz="2000">
                    <a:solidFill>
                      <a:schemeClr val="tx1"/>
                    </a:solidFill>
                    <a:latin typeface="+mn-lt"/>
                  </a:defRPr>
                </a:lvl4pPr>
                <a:lvl5pPr marL="2082450" indent="-414829" algn="l" defTabSz="913688" rtl="0" eaLnBrk="0" fontAlgn="base" hangingPunct="0">
                  <a:spcBef>
                    <a:spcPts val="599"/>
                  </a:spcBef>
                  <a:spcAft>
                    <a:spcPct val="0"/>
                  </a:spcAft>
                  <a:buChar char="•"/>
                  <a:defRPr sz="2000">
                    <a:solidFill>
                      <a:schemeClr val="tx1"/>
                    </a:solidFill>
                    <a:latin typeface="+mn-lt"/>
                    <a:sym typeface="Wingdings" pitchFamily="2" charset="2"/>
                  </a:defRPr>
                </a:lvl5pPr>
                <a:lvl6pPr marL="25000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6pPr>
                <a:lvl7pPr marL="29169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7pPr>
                <a:lvl8pPr marL="3333825"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8pPr>
                <a:lvl9pPr marL="3750708"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9pPr>
              </a:lstStyle>
              <a:p>
                <a:pPr marL="367301" indent="-367301" defTabSz="806238">
                  <a:spcBef>
                    <a:spcPts val="529"/>
                  </a:spcBef>
                  <a:tabLst>
                    <a:tab pos="4034333" algn="l"/>
                  </a:tabLst>
                </a:pPr>
                <a:r>
                  <a:rPr lang="en-US" sz="2206" b="1" dirty="0">
                    <a:solidFill>
                      <a:srgbClr val="0F0F99"/>
                    </a:solidFill>
                    <a:latin typeface="Arial"/>
                  </a:rPr>
                  <a:t>19</a:t>
                </a:r>
                <a:r>
                  <a:rPr lang="en-US" sz="2206" dirty="0">
                    <a:solidFill>
                      <a:srgbClr val="000000"/>
                    </a:solidFill>
                    <a:latin typeface="Arial"/>
                  </a:rPr>
                  <a:t> Major Indexes:</a:t>
                </a:r>
              </a:p>
              <a:p>
                <a:pPr marL="734536" lvl="1" indent="-367301" defTabSz="806238">
                  <a:spcBef>
                    <a:spcPts val="529"/>
                  </a:spcBef>
                  <a:tabLst>
                    <a:tab pos="5250236" algn="l"/>
                  </a:tabLst>
                </a:pPr>
                <a:r>
                  <a:rPr lang="en-US" sz="1941" dirty="0">
                    <a:solidFill>
                      <a:srgbClr val="000000"/>
                    </a:solidFill>
                    <a:latin typeface="Arial"/>
                  </a:rPr>
                  <a:t>Critical Infrastructure (11)	</a:t>
                </a:r>
                <a14:m>
                  <m:oMath xmlns:m="http://schemas.openxmlformats.org/officeDocument/2006/math">
                    <m:r>
                      <a:rPr lang="en-US" sz="1941" i="1">
                        <a:solidFill>
                          <a:srgbClr val="000000"/>
                        </a:solidFill>
                        <a:latin typeface="Cambria Math" panose="02040503050406030204" pitchFamily="18" charset="0"/>
                        <a:sym typeface="Symbol" panose="05050102010706020507" pitchFamily="18" charset="2"/>
                      </a:rPr>
                      <m:t></m:t>
                    </m:r>
                  </m:oMath>
                </a14:m>
                <a:r>
                  <a:rPr lang="en-US" sz="1941" dirty="0">
                    <a:solidFill>
                      <a:srgbClr val="000000"/>
                    </a:solidFill>
                    <a:latin typeface="Arial"/>
                  </a:rPr>
                  <a:t>  Nuclear (5) </a:t>
                </a:r>
              </a:p>
              <a:p>
                <a:pPr marL="734536" lvl="1" indent="-367301" defTabSz="806238">
                  <a:spcBef>
                    <a:spcPts val="529"/>
                  </a:spcBef>
                  <a:tabLst>
                    <a:tab pos="5250236" algn="l"/>
                  </a:tabLst>
                </a:pPr>
                <a:r>
                  <a:rPr lang="en-US" sz="1941" dirty="0">
                    <a:solidFill>
                      <a:srgbClr val="000000"/>
                    </a:solidFill>
                    <a:latin typeface="Arial"/>
                  </a:rPr>
                  <a:t>Defense (4)	</a:t>
                </a:r>
                <a14:m>
                  <m:oMath xmlns:m="http://schemas.openxmlformats.org/officeDocument/2006/math">
                    <m:r>
                      <a:rPr lang="en-US" sz="1941" i="1">
                        <a:solidFill>
                          <a:srgbClr val="000000"/>
                        </a:solidFill>
                        <a:latin typeface="Cambria Math" panose="02040503050406030204" pitchFamily="18" charset="0"/>
                        <a:sym typeface="Symbol" panose="05050102010706020507" pitchFamily="18" charset="2"/>
                      </a:rPr>
                      <m:t></m:t>
                    </m:r>
                  </m:oMath>
                </a14:m>
                <a:r>
                  <a:rPr lang="en-US" sz="1941" dirty="0">
                    <a:solidFill>
                      <a:srgbClr val="000000"/>
                    </a:solidFill>
                    <a:latin typeface="Arial"/>
                  </a:rPr>
                  <a:t>  Patent (3)</a:t>
                </a:r>
              </a:p>
              <a:p>
                <a:pPr marL="734536" lvl="1" indent="-367301" defTabSz="806238">
                  <a:spcBef>
                    <a:spcPts val="529"/>
                  </a:spcBef>
                  <a:tabLst>
                    <a:tab pos="5250236" algn="l"/>
                  </a:tabLst>
                </a:pPr>
                <a:r>
                  <a:rPr lang="en-US" sz="1941" dirty="0">
                    <a:solidFill>
                      <a:srgbClr val="000000"/>
                    </a:solidFill>
                    <a:latin typeface="Arial"/>
                  </a:rPr>
                  <a:t>Export Control (2)	</a:t>
                </a:r>
                <a14:m>
                  <m:oMath xmlns:m="http://schemas.openxmlformats.org/officeDocument/2006/math">
                    <m:r>
                      <a:rPr lang="en-US" sz="1941" i="1">
                        <a:solidFill>
                          <a:srgbClr val="000000"/>
                        </a:solidFill>
                        <a:latin typeface="Cambria Math" panose="02040503050406030204" pitchFamily="18" charset="0"/>
                        <a:sym typeface="Symbol" panose="05050102010706020507" pitchFamily="18" charset="2"/>
                      </a:rPr>
                      <m:t></m:t>
                    </m:r>
                  </m:oMath>
                </a14:m>
                <a:r>
                  <a:rPr lang="en-US" sz="1941" dirty="0">
                    <a:solidFill>
                      <a:srgbClr val="000000"/>
                    </a:solidFill>
                    <a:latin typeface="Arial"/>
                  </a:rPr>
                  <a:t>  Privacy (9)</a:t>
                </a:r>
              </a:p>
              <a:p>
                <a:pPr marL="734536" lvl="1" indent="-367301" defTabSz="806238">
                  <a:spcBef>
                    <a:spcPts val="529"/>
                  </a:spcBef>
                  <a:tabLst>
                    <a:tab pos="5250236" algn="l"/>
                  </a:tabLst>
                </a:pPr>
                <a:r>
                  <a:rPr lang="en-US" sz="1941" dirty="0">
                    <a:solidFill>
                      <a:srgbClr val="000000"/>
                    </a:solidFill>
                    <a:latin typeface="Arial"/>
                  </a:rPr>
                  <a:t>Financial (8)	</a:t>
                </a:r>
                <a14:m>
                  <m:oMath xmlns:m="http://schemas.openxmlformats.org/officeDocument/2006/math">
                    <m:r>
                      <a:rPr lang="en-US" sz="1941" i="1">
                        <a:solidFill>
                          <a:srgbClr val="000000"/>
                        </a:solidFill>
                        <a:latin typeface="Cambria Math" panose="02040503050406030204" pitchFamily="18" charset="0"/>
                        <a:sym typeface="Symbol" panose="05050102010706020507" pitchFamily="18" charset="2"/>
                      </a:rPr>
                      <m:t></m:t>
                    </m:r>
                  </m:oMath>
                </a14:m>
                <a:r>
                  <a:rPr lang="en-US" sz="1941" dirty="0">
                    <a:solidFill>
                      <a:srgbClr val="000000"/>
                    </a:solidFill>
                    <a:latin typeface="Arial"/>
                  </a:rPr>
                  <a:t>  Procurement and Acquisition (3)</a:t>
                </a:r>
              </a:p>
              <a:p>
                <a:pPr marL="734536" lvl="1" indent="-367301" defTabSz="806238">
                  <a:spcBef>
                    <a:spcPts val="529"/>
                  </a:spcBef>
                  <a:tabLst>
                    <a:tab pos="5250236" algn="l"/>
                  </a:tabLst>
                </a:pPr>
                <a:r>
                  <a:rPr lang="en-US" sz="1941" dirty="0">
                    <a:solidFill>
                      <a:srgbClr val="000000"/>
                    </a:solidFill>
                    <a:latin typeface="Arial"/>
                  </a:rPr>
                  <a:t>Intelligence (7)	</a:t>
                </a:r>
                <a14:m>
                  <m:oMath xmlns:m="http://schemas.openxmlformats.org/officeDocument/2006/math">
                    <m:r>
                      <a:rPr lang="en-US" sz="1941" i="1">
                        <a:solidFill>
                          <a:srgbClr val="000000"/>
                        </a:solidFill>
                        <a:latin typeface="Cambria Math" panose="02040503050406030204" pitchFamily="18" charset="0"/>
                        <a:sym typeface="Symbol" panose="05050102010706020507" pitchFamily="18" charset="2"/>
                      </a:rPr>
                      <m:t></m:t>
                    </m:r>
                  </m:oMath>
                </a14:m>
                <a:r>
                  <a:rPr lang="en-US" sz="1941" dirty="0">
                    <a:solidFill>
                      <a:srgbClr val="000000"/>
                    </a:solidFill>
                    <a:latin typeface="Arial"/>
                  </a:rPr>
                  <a:t>  Proprietary Business Information (6)</a:t>
                </a:r>
              </a:p>
              <a:p>
                <a:pPr marL="734536" lvl="1" indent="-367301" defTabSz="806238">
                  <a:spcBef>
                    <a:spcPts val="529"/>
                  </a:spcBef>
                  <a:tabLst>
                    <a:tab pos="5250236" algn="l"/>
                  </a:tabLst>
                </a:pPr>
                <a:r>
                  <a:rPr lang="en-US" sz="1941" dirty="0">
                    <a:solidFill>
                      <a:srgbClr val="000000"/>
                    </a:solidFill>
                    <a:latin typeface="Arial"/>
                  </a:rPr>
                  <a:t>International Agreements (1)	</a:t>
                </a:r>
                <a14:m>
                  <m:oMath xmlns:m="http://schemas.openxmlformats.org/officeDocument/2006/math">
                    <m:r>
                      <a:rPr lang="en-US" sz="1941" i="1">
                        <a:solidFill>
                          <a:srgbClr val="000000"/>
                        </a:solidFill>
                        <a:latin typeface="Cambria Math" panose="02040503050406030204" pitchFamily="18" charset="0"/>
                        <a:sym typeface="Symbol" panose="05050102010706020507" pitchFamily="18" charset="2"/>
                      </a:rPr>
                      <m:t></m:t>
                    </m:r>
                  </m:oMath>
                </a14:m>
                <a:r>
                  <a:rPr lang="en-US" sz="1941" dirty="0">
                    <a:solidFill>
                      <a:srgbClr val="000000"/>
                    </a:solidFill>
                    <a:latin typeface="Arial"/>
                  </a:rPr>
                  <a:t>  Provisional - DHS (4)</a:t>
                </a:r>
              </a:p>
              <a:p>
                <a:pPr marL="734536" lvl="1" indent="-367301" defTabSz="806238">
                  <a:spcBef>
                    <a:spcPts val="529"/>
                  </a:spcBef>
                  <a:tabLst>
                    <a:tab pos="5250236" algn="l"/>
                  </a:tabLst>
                </a:pPr>
                <a:r>
                  <a:rPr lang="en-US" sz="1941" dirty="0">
                    <a:solidFill>
                      <a:srgbClr val="000000"/>
                    </a:solidFill>
                    <a:latin typeface="Arial"/>
                  </a:rPr>
                  <a:t>Law Enforcement (18)	</a:t>
                </a:r>
                <a14:m>
                  <m:oMath xmlns:m="http://schemas.openxmlformats.org/officeDocument/2006/math">
                    <m:r>
                      <a:rPr lang="en-US" sz="1941" i="1">
                        <a:solidFill>
                          <a:srgbClr val="000000"/>
                        </a:solidFill>
                        <a:latin typeface="Cambria Math" panose="02040503050406030204" pitchFamily="18" charset="0"/>
                        <a:sym typeface="Symbol" panose="05050102010706020507" pitchFamily="18" charset="2"/>
                      </a:rPr>
                      <m:t></m:t>
                    </m:r>
                  </m:oMath>
                </a14:m>
                <a:r>
                  <a:rPr lang="en-US" sz="1941" dirty="0">
                    <a:solidFill>
                      <a:srgbClr val="000000"/>
                    </a:solidFill>
                    <a:latin typeface="Arial"/>
                  </a:rPr>
                  <a:t>  Statistical (1)</a:t>
                </a:r>
              </a:p>
              <a:p>
                <a:pPr marL="734536" lvl="1" indent="-367301" defTabSz="806238">
                  <a:spcBef>
                    <a:spcPts val="529"/>
                  </a:spcBef>
                  <a:tabLst>
                    <a:tab pos="5250236" algn="l"/>
                  </a:tabLst>
                </a:pPr>
                <a:r>
                  <a:rPr lang="en-US" sz="1941" dirty="0">
                    <a:solidFill>
                      <a:srgbClr val="000000"/>
                    </a:solidFill>
                    <a:latin typeface="Arial"/>
                  </a:rPr>
                  <a:t>Legal (12)	</a:t>
                </a:r>
                <a14:m>
                  <m:oMath xmlns:m="http://schemas.openxmlformats.org/officeDocument/2006/math">
                    <m:r>
                      <a:rPr lang="en-US" sz="1941" i="1">
                        <a:solidFill>
                          <a:srgbClr val="000000"/>
                        </a:solidFill>
                        <a:latin typeface="Cambria Math" panose="02040503050406030204" pitchFamily="18" charset="0"/>
                        <a:sym typeface="Symbol" panose="05050102010706020507" pitchFamily="18" charset="2"/>
                      </a:rPr>
                      <m:t></m:t>
                    </m:r>
                  </m:oMath>
                </a14:m>
                <a:r>
                  <a:rPr lang="en-US" sz="1941" dirty="0">
                    <a:solidFill>
                      <a:srgbClr val="000000"/>
                    </a:solidFill>
                    <a:latin typeface="Arial"/>
                  </a:rPr>
                  <a:t>  Tax (3)</a:t>
                </a:r>
              </a:p>
              <a:p>
                <a:pPr marL="734536" lvl="1" indent="-367301" defTabSz="806238">
                  <a:spcBef>
                    <a:spcPts val="529"/>
                  </a:spcBef>
                  <a:tabLst>
                    <a:tab pos="5250236" algn="l"/>
                  </a:tabLst>
                </a:pPr>
                <a:r>
                  <a:rPr lang="en-US" sz="1941" dirty="0">
                    <a:solidFill>
                      <a:srgbClr val="000000"/>
                    </a:solidFill>
                    <a:latin typeface="Arial"/>
                  </a:rPr>
                  <a:t>Natural and Cultural Resources (2)	</a:t>
                </a:r>
                <a14:m>
                  <m:oMath xmlns:m="http://schemas.openxmlformats.org/officeDocument/2006/math">
                    <m:r>
                      <a:rPr lang="en-US" sz="1941" i="1">
                        <a:solidFill>
                          <a:srgbClr val="000000"/>
                        </a:solidFill>
                        <a:latin typeface="Cambria Math" panose="02040503050406030204" pitchFamily="18" charset="0"/>
                        <a:sym typeface="Symbol" panose="05050102010706020507" pitchFamily="18" charset="2"/>
                      </a:rPr>
                      <m:t></m:t>
                    </m:r>
                  </m:oMath>
                </a14:m>
                <a:r>
                  <a:rPr lang="en-US" sz="1941" dirty="0">
                    <a:solidFill>
                      <a:srgbClr val="000000"/>
                    </a:solidFill>
                    <a:latin typeface="Arial"/>
                  </a:rPr>
                  <a:t>  Transporation (2)</a:t>
                </a:r>
              </a:p>
              <a:p>
                <a:pPr marL="734536" lvl="1" indent="-367301" defTabSz="806238">
                  <a:spcBef>
                    <a:spcPts val="529"/>
                  </a:spcBef>
                  <a:tabLst>
                    <a:tab pos="5250236" algn="l"/>
                  </a:tabLst>
                </a:pPr>
                <a:r>
                  <a:rPr lang="en-US" sz="1941" dirty="0">
                    <a:solidFill>
                      <a:srgbClr val="000000"/>
                    </a:solidFill>
                    <a:latin typeface="Arial"/>
                  </a:rPr>
                  <a:t>North Atlantic Treaty Organizations (NATO) (2)</a:t>
                </a:r>
              </a:p>
              <a:p>
                <a:pPr marL="367301" indent="-367301" defTabSz="806238">
                  <a:spcBef>
                    <a:spcPts val="529"/>
                  </a:spcBef>
                  <a:buClr>
                    <a:prstClr val="black"/>
                  </a:buClr>
                  <a:tabLst>
                    <a:tab pos="4034333" algn="l"/>
                  </a:tabLst>
                </a:pPr>
                <a:r>
                  <a:rPr lang="en-US" sz="2206" dirty="0">
                    <a:solidFill>
                      <a:srgbClr val="000000"/>
                    </a:solidFill>
                    <a:latin typeface="Arial"/>
                  </a:rPr>
                  <a:t>Major Indexes divided into </a:t>
                </a:r>
                <a:r>
                  <a:rPr lang="en-US" sz="2206" b="1" dirty="0">
                    <a:solidFill>
                      <a:srgbClr val="0F0F99"/>
                    </a:solidFill>
                    <a:latin typeface="Arial"/>
                  </a:rPr>
                  <a:t>103 </a:t>
                </a:r>
                <a:r>
                  <a:rPr lang="en-US" sz="2206" dirty="0">
                    <a:solidFill>
                      <a:srgbClr val="000000"/>
                    </a:solidFill>
                    <a:latin typeface="Arial"/>
                  </a:rPr>
                  <a:t>Categories</a:t>
                </a:r>
              </a:p>
            </p:txBody>
          </p:sp>
        </mc:Choice>
        <mc:Fallback>
          <p:sp>
            <p:nvSpPr>
              <p:cNvPr id="5" name="Content Placeholder 2"/>
              <p:cNvSpPr>
                <a:spLocks noGrp="1" noRot="1" noChangeAspect="1" noMove="1" noResize="1" noEditPoints="1" noAdjustHandles="1" noChangeArrowheads="1" noChangeShapeType="1" noTextEdit="1"/>
              </p:cNvSpPr>
              <p:nvPr/>
            </p:nvSpPr>
            <p:spPr bwMode="auto">
              <a:xfrm>
                <a:off x="2083571" y="1119391"/>
                <a:ext cx="8380553" cy="5128801"/>
              </a:xfrm>
              <a:prstGeom prst="rect">
                <a:avLst/>
              </a:prstGeom>
              <a:blipFill>
                <a:blip r:embed="rId2"/>
                <a:stretch>
                  <a:fillRect l="-945" t="-832" b="-119"/>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2841465186"/>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3678" y="182921"/>
            <a:ext cx="2675987" cy="1070244"/>
          </a:xfrm>
        </p:spPr>
        <p:txBody>
          <a:bodyPr/>
          <a:lstStyle/>
          <a:p>
            <a:pPr algn="ctr"/>
            <a:r>
              <a:rPr lang="en-US" dirty="0"/>
              <a:t>Types of CUI</a:t>
            </a:r>
            <a:br>
              <a:rPr lang="en-US" dirty="0"/>
            </a:br>
            <a:endParaRPr lang="en-US" dirty="0"/>
          </a:p>
        </p:txBody>
      </p:sp>
      <p:sp>
        <p:nvSpPr>
          <p:cNvPr id="4" name="Rectangle 3"/>
          <p:cNvSpPr txBox="1">
            <a:spLocks noChangeArrowheads="1"/>
          </p:cNvSpPr>
          <p:nvPr/>
        </p:nvSpPr>
        <p:spPr bwMode="auto">
          <a:xfrm>
            <a:off x="1939921" y="1231025"/>
            <a:ext cx="8379866" cy="4947099"/>
          </a:xfrm>
          <a:prstGeom prst="rect">
            <a:avLst/>
          </a:prstGeom>
          <a:noFill/>
          <a:ln w="9525">
            <a:noFill/>
            <a:miter lim="800000"/>
            <a:headEnd/>
            <a:tailEnd/>
          </a:ln>
        </p:spPr>
        <p:txBody>
          <a:bodyPr vert="horz" wrap="square" lIns="88751" tIns="44375" rIns="88751" bIns="44375" numCol="1" anchor="t" anchorCtr="0" compatLnSpc="1">
            <a:prstTxWarp prst="textNoShape">
              <a:avLst/>
            </a:prstTxWarp>
          </a:bodyPr>
          <a:lstStyle/>
          <a:p>
            <a:pPr defTabSz="806867">
              <a:spcAft>
                <a:spcPts val="1059"/>
              </a:spcAft>
            </a:pPr>
            <a:r>
              <a:rPr lang="en-US" sz="1588" b="1" dirty="0">
                <a:solidFill>
                  <a:srgbClr val="000000"/>
                </a:solidFill>
                <a:latin typeface="Arial"/>
              </a:rPr>
              <a:t>Examples:</a:t>
            </a:r>
            <a:endParaRPr lang="en-US" sz="1588" dirty="0">
              <a:solidFill>
                <a:srgbClr val="000000"/>
              </a:solidFill>
              <a:latin typeface="Arial"/>
            </a:endParaRP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Controlled Technical Information </a:t>
            </a:r>
            <a:r>
              <a:rPr lang="en-US" sz="1588" b="1" dirty="0">
                <a:solidFill>
                  <a:srgbClr val="000000"/>
                </a:solidFill>
                <a:latin typeface="Arial" panose="020B0604020202020204" pitchFamily="34" charset="0"/>
                <a:cs typeface="Arial" panose="020B0604020202020204" pitchFamily="34" charset="0"/>
              </a:rPr>
              <a:t>(CTI)</a:t>
            </a: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DoD Critical Infrastructure Security Information </a:t>
            </a:r>
            <a:r>
              <a:rPr lang="en-US" sz="1588" b="1" dirty="0">
                <a:solidFill>
                  <a:srgbClr val="000000"/>
                </a:solidFill>
                <a:latin typeface="Arial" panose="020B0604020202020204" pitchFamily="34" charset="0"/>
                <a:cs typeface="Arial" panose="020B0604020202020204" pitchFamily="34" charset="0"/>
              </a:rPr>
              <a:t>(DCRIT)</a:t>
            </a:r>
            <a:endParaRPr lang="en-US" sz="1588" dirty="0">
              <a:solidFill>
                <a:srgbClr val="000000"/>
              </a:solidFill>
              <a:latin typeface="Arial" panose="020B0604020202020204" pitchFamily="34" charset="0"/>
              <a:cs typeface="Arial" panose="020B0604020202020204" pitchFamily="34" charset="0"/>
            </a:endParaRP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Unclassified Controlled Nuclear Information </a:t>
            </a:r>
            <a:r>
              <a:rPr lang="en-US" sz="1588" b="1" dirty="0">
                <a:solidFill>
                  <a:srgbClr val="000000"/>
                </a:solidFill>
                <a:latin typeface="Arial" panose="020B0604020202020204" pitchFamily="34" charset="0"/>
                <a:cs typeface="Arial" panose="020B0604020202020204" pitchFamily="34" charset="0"/>
              </a:rPr>
              <a:t>(UCNI-D)</a:t>
            </a: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Geodetic Product Information </a:t>
            </a:r>
            <a:r>
              <a:rPr lang="en-US" sz="1588" b="1" dirty="0">
                <a:solidFill>
                  <a:srgbClr val="000000"/>
                </a:solidFill>
                <a:latin typeface="Arial" panose="020B0604020202020204" pitchFamily="34" charset="0"/>
                <a:cs typeface="Arial" panose="020B0604020202020204" pitchFamily="34" charset="0"/>
              </a:rPr>
              <a:t>(GPI)</a:t>
            </a:r>
            <a:endParaRPr lang="en-US" sz="1588" dirty="0">
              <a:solidFill>
                <a:srgbClr val="000000"/>
              </a:solidFill>
              <a:latin typeface="Arial" panose="020B0604020202020204" pitchFamily="34" charset="0"/>
              <a:cs typeface="Arial" panose="020B0604020202020204" pitchFamily="34" charset="0"/>
            </a:endParaRP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Export Controlled</a:t>
            </a: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International Agreement Information</a:t>
            </a: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General Law Enforcement</a:t>
            </a: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Controlled Substances</a:t>
            </a: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NATO Restricted</a:t>
            </a: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NATO Unclassified</a:t>
            </a: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General Privacy</a:t>
            </a: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Health Information</a:t>
            </a:r>
          </a:p>
          <a:p>
            <a:pPr marL="152689"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General Intelligence</a:t>
            </a:r>
          </a:p>
          <a:p>
            <a:pPr marL="152689" lvl="1" indent="-152689" defTabSz="806867">
              <a:spcAft>
                <a:spcPts val="265"/>
              </a:spcAft>
              <a:buFont typeface="Arial" panose="020B0604020202020204" pitchFamily="34" charset="0"/>
              <a:buChar char="•"/>
            </a:pPr>
            <a:r>
              <a:rPr lang="en-US" altLang="en-US" sz="1588" dirty="0">
                <a:solidFill>
                  <a:srgbClr val="000000"/>
                </a:solidFill>
                <a:latin typeface="Arial" panose="020B0604020202020204" pitchFamily="34" charset="0"/>
                <a:cs typeface="Arial" panose="020B0604020202020204" pitchFamily="34" charset="0"/>
              </a:rPr>
              <a:t>Military Personnel Records</a:t>
            </a:r>
          </a:p>
          <a:p>
            <a:pPr marL="152689" lvl="1"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Personnel Records</a:t>
            </a:r>
          </a:p>
          <a:p>
            <a:pPr marL="152689" lvl="1" indent="-152689" defTabSz="806867">
              <a:spcAft>
                <a:spcPts val="265"/>
              </a:spcAft>
              <a:buFont typeface="Arial" panose="020B0604020202020204" pitchFamily="34" charset="0"/>
              <a:buChar char="•"/>
            </a:pPr>
            <a:r>
              <a:rPr lang="en-US" sz="1588" dirty="0">
                <a:solidFill>
                  <a:srgbClr val="000000"/>
                </a:solidFill>
                <a:latin typeface="Arial" panose="020B0604020202020204" pitchFamily="34" charset="0"/>
                <a:cs typeface="Arial" panose="020B0604020202020204" pitchFamily="34" charset="0"/>
              </a:rPr>
              <a:t>Student Records</a:t>
            </a:r>
            <a:endParaRPr lang="en-US" sz="1588" u="sng" dirty="0">
              <a:solidFill>
                <a:srgbClr val="2121FF"/>
              </a:solidFill>
              <a:latin typeface="Arial" panose="020B0604020202020204" pitchFamily="34" charset="0"/>
              <a:cs typeface="Arial" panose="020B0604020202020204" pitchFamily="34" charset="0"/>
            </a:endParaRPr>
          </a:p>
        </p:txBody>
      </p:sp>
      <p:sp>
        <p:nvSpPr>
          <p:cNvPr id="10" name="Slide Number Placeholder 5"/>
          <p:cNvSpPr>
            <a:spLocks noGrp="1"/>
          </p:cNvSpPr>
          <p:nvPr>
            <p:ph type="sldNum" sz="quarter" idx="4294967295"/>
          </p:nvPr>
        </p:nvSpPr>
        <p:spPr>
          <a:xfrm>
            <a:off x="8227745" y="6343532"/>
            <a:ext cx="1996888" cy="354386"/>
          </a:xfrm>
        </p:spPr>
        <p:txBody>
          <a:bodyPr/>
          <a:lstStyle/>
          <a:p>
            <a:pPr defTabSz="806867"/>
            <a:r>
              <a:rPr lang="en-US" sz="1588" dirty="0">
                <a:solidFill>
                  <a:srgbClr val="000000"/>
                </a:solidFill>
                <a:latin typeface="Arial"/>
              </a:rPr>
              <a:t>21</a:t>
            </a:r>
          </a:p>
        </p:txBody>
      </p:sp>
    </p:spTree>
    <p:extLst>
      <p:ext uri="{BB962C8B-B14F-4D97-AF65-F5344CB8AC3E}">
        <p14:creationId xmlns:p14="http://schemas.microsoft.com/office/powerpoint/2010/main" val="23221167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1445" y="236342"/>
            <a:ext cx="2767359" cy="581328"/>
          </a:xfrm>
        </p:spPr>
        <p:txBody>
          <a:bodyPr/>
          <a:lstStyle/>
          <a:p>
            <a:pPr algn="ctr"/>
            <a:r>
              <a:rPr lang="en-US" dirty="0"/>
              <a:t>Levels of CUI</a:t>
            </a:r>
          </a:p>
        </p:txBody>
      </p:sp>
      <p:sp>
        <p:nvSpPr>
          <p:cNvPr id="5" name="Rectangle 4"/>
          <p:cNvSpPr/>
          <p:nvPr/>
        </p:nvSpPr>
        <p:spPr>
          <a:xfrm>
            <a:off x="1855486" y="1024605"/>
            <a:ext cx="8481029" cy="6094232"/>
          </a:xfrm>
          <a:prstGeom prst="rect">
            <a:avLst/>
          </a:prstGeom>
        </p:spPr>
        <p:txBody>
          <a:bodyPr wrap="square">
            <a:spAutoFit/>
          </a:bodyPr>
          <a:lstStyle/>
          <a:p>
            <a:pPr defTabSz="806867"/>
            <a:r>
              <a:rPr lang="en-US" sz="2471" dirty="0">
                <a:solidFill>
                  <a:srgbClr val="000000"/>
                </a:solidFill>
                <a:latin typeface="Arial"/>
              </a:rPr>
              <a:t>2 levels of CUI: </a:t>
            </a:r>
            <a:r>
              <a:rPr lang="en-US" sz="2471" dirty="0">
                <a:solidFill>
                  <a:srgbClr val="0F0F99"/>
                </a:solidFill>
                <a:latin typeface="Arial"/>
              </a:rPr>
              <a:t>Basic</a:t>
            </a:r>
            <a:r>
              <a:rPr lang="en-US" sz="2471" dirty="0">
                <a:solidFill>
                  <a:srgbClr val="000000"/>
                </a:solidFill>
                <a:latin typeface="Arial"/>
              </a:rPr>
              <a:t> and </a:t>
            </a:r>
            <a:r>
              <a:rPr lang="en-US" sz="2471" dirty="0">
                <a:solidFill>
                  <a:srgbClr val="0F0F99"/>
                </a:solidFill>
                <a:latin typeface="Arial"/>
              </a:rPr>
              <a:t>Specified</a:t>
            </a:r>
            <a:endParaRPr lang="en-US" sz="2471" dirty="0">
              <a:solidFill>
                <a:srgbClr val="000000"/>
              </a:solidFill>
              <a:latin typeface="Arial"/>
            </a:endParaRPr>
          </a:p>
          <a:p>
            <a:pPr defTabSz="806867"/>
            <a:r>
              <a:rPr lang="en-US" sz="2471" dirty="0">
                <a:solidFill>
                  <a:srgbClr val="000000"/>
                </a:solidFill>
                <a:latin typeface="Arial"/>
              </a:rPr>
              <a:t> </a:t>
            </a:r>
          </a:p>
          <a:p>
            <a:pPr defTabSz="806867"/>
            <a:r>
              <a:rPr lang="en-US" sz="2294" b="1" dirty="0">
                <a:solidFill>
                  <a:srgbClr val="000000"/>
                </a:solidFill>
                <a:latin typeface="Arial"/>
              </a:rPr>
              <a:t>CUI Basic </a:t>
            </a:r>
            <a:r>
              <a:rPr lang="en-US" sz="2294" dirty="0">
                <a:solidFill>
                  <a:srgbClr val="000000"/>
                </a:solidFill>
                <a:latin typeface="Arial"/>
              </a:rPr>
              <a:t>- Subset of CUI for which the authorizing law, regulation, or Government-wide policy does not set out specific handling or dissemination controls. Information handled in accordance with controls set forth in the CUI Registry. </a:t>
            </a:r>
          </a:p>
          <a:p>
            <a:pPr defTabSz="806867"/>
            <a:endParaRPr lang="en-US" sz="2294" dirty="0">
              <a:solidFill>
                <a:srgbClr val="000000"/>
              </a:solidFill>
              <a:latin typeface="Arial"/>
            </a:endParaRPr>
          </a:p>
          <a:p>
            <a:pPr defTabSz="806867"/>
            <a:r>
              <a:rPr lang="en-US" sz="2294" b="1" dirty="0">
                <a:solidFill>
                  <a:srgbClr val="000000"/>
                </a:solidFill>
                <a:latin typeface="Arial"/>
              </a:rPr>
              <a:t>CUI Specified </a:t>
            </a:r>
            <a:r>
              <a:rPr lang="en-US" sz="2294" dirty="0">
                <a:solidFill>
                  <a:srgbClr val="000000"/>
                </a:solidFill>
                <a:latin typeface="Arial"/>
              </a:rPr>
              <a:t>- Subset of CUI in which the authorizing law, regulation, or Government-wide policy contains specific handling controls that it requires or permits agencies to use that differ from those for CUI Basic. Controls may be more stringent, or simply differ from, those required by CUI Basic</a:t>
            </a:r>
          </a:p>
          <a:p>
            <a:pPr defTabSz="806867"/>
            <a:r>
              <a:rPr lang="en-US" sz="2294" dirty="0">
                <a:solidFill>
                  <a:srgbClr val="000000"/>
                </a:solidFill>
                <a:latin typeface="Arial"/>
              </a:rPr>
              <a:t>Key distinction - Underlying authority spells out specific controls for CUI Specified information and doesn’t for CUI Basic information. </a:t>
            </a:r>
          </a:p>
          <a:p>
            <a:pPr defTabSz="806867"/>
            <a:endParaRPr lang="en-US" sz="2471" dirty="0">
              <a:solidFill>
                <a:srgbClr val="000000"/>
              </a:solidFill>
              <a:latin typeface="Arial"/>
            </a:endParaRPr>
          </a:p>
          <a:p>
            <a:pPr defTabSz="806867"/>
            <a:endParaRPr lang="en-US" sz="1765" dirty="0">
              <a:solidFill>
                <a:srgbClr val="000000"/>
              </a:solidFill>
              <a:latin typeface="Arial"/>
            </a:endParaRPr>
          </a:p>
        </p:txBody>
      </p:sp>
    </p:spTree>
    <p:extLst>
      <p:ext uri="{BB962C8B-B14F-4D97-AF65-F5344CB8AC3E}">
        <p14:creationId xmlns:p14="http://schemas.microsoft.com/office/powerpoint/2010/main" val="1524456129"/>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5552" y="240325"/>
            <a:ext cx="2926055" cy="581328"/>
          </a:xfrm>
        </p:spPr>
        <p:txBody>
          <a:bodyPr/>
          <a:lstStyle/>
          <a:p>
            <a:r>
              <a:rPr lang="en-US" dirty="0"/>
              <a:t>Access to CUI</a:t>
            </a:r>
          </a:p>
        </p:txBody>
      </p:sp>
      <p:sp>
        <p:nvSpPr>
          <p:cNvPr id="3" name="Content Placeholder 2"/>
          <p:cNvSpPr>
            <a:spLocks noGrp="1"/>
          </p:cNvSpPr>
          <p:nvPr>
            <p:ph idx="1"/>
          </p:nvPr>
        </p:nvSpPr>
        <p:spPr>
          <a:xfrm>
            <a:off x="1967431" y="1306292"/>
            <a:ext cx="8335776" cy="5279084"/>
          </a:xfrm>
        </p:spPr>
        <p:txBody>
          <a:bodyPr/>
          <a:lstStyle/>
          <a:p>
            <a:r>
              <a:rPr lang="en-US" sz="2471" b="1" dirty="0"/>
              <a:t>Access</a:t>
            </a:r>
            <a:r>
              <a:rPr lang="en-US" sz="2471" dirty="0"/>
              <a:t>:  Requires an authorized, lawful government purpose </a:t>
            </a:r>
          </a:p>
          <a:p>
            <a:r>
              <a:rPr lang="en-US" sz="2471" b="1" dirty="0"/>
              <a:t>Need to Know</a:t>
            </a:r>
            <a:r>
              <a:rPr lang="en-US" sz="2471" dirty="0"/>
              <a:t>: Individual which has possession of information makes determination based on LRGWP</a:t>
            </a:r>
          </a:p>
          <a:p>
            <a:r>
              <a:rPr lang="en-US" sz="2471" b="1" dirty="0"/>
              <a:t>Disseminated:  </a:t>
            </a:r>
            <a:r>
              <a:rPr lang="en-US" sz="2471" dirty="0"/>
              <a:t>within DoD Components, between DoD Component officials, DoD contractors, consultants, grantees to conduct official business for the DoD</a:t>
            </a:r>
          </a:p>
          <a:p>
            <a:r>
              <a:rPr lang="en-US" sz="2471" b="1" dirty="0"/>
              <a:t>Dissemination</a:t>
            </a:r>
            <a:r>
              <a:rPr lang="en-US" sz="2471" dirty="0"/>
              <a:t> is consistent with controls imposed by a distribution statement or limited dissemination controls (LDC).</a:t>
            </a:r>
          </a:p>
          <a:p>
            <a:r>
              <a:rPr lang="en-US" sz="2471" dirty="0"/>
              <a:t>Privacy Act disclosure only authorized if requirements of DoD 5400.11-R are satisfied</a:t>
            </a:r>
          </a:p>
        </p:txBody>
      </p:sp>
      <p:sp>
        <p:nvSpPr>
          <p:cNvPr id="5" name="Slide Number Placeholder 5"/>
          <p:cNvSpPr>
            <a:spLocks noGrp="1"/>
          </p:cNvSpPr>
          <p:nvPr>
            <p:ph type="sldNum" sz="quarter" idx="4294967295"/>
          </p:nvPr>
        </p:nvSpPr>
        <p:spPr/>
        <p:txBody>
          <a:bodyPr/>
          <a:lstStyle/>
          <a:p>
            <a:pPr defTabSz="806867"/>
            <a:r>
              <a:rPr lang="en-US" sz="1588" dirty="0">
                <a:solidFill>
                  <a:srgbClr val="000000"/>
                </a:solidFill>
                <a:latin typeface="Arial"/>
              </a:rPr>
              <a:t>27</a:t>
            </a:r>
          </a:p>
        </p:txBody>
      </p:sp>
    </p:spTree>
    <p:extLst>
      <p:ext uri="{BB962C8B-B14F-4D97-AF65-F5344CB8AC3E}">
        <p14:creationId xmlns:p14="http://schemas.microsoft.com/office/powerpoint/2010/main" val="35711008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2974" y="87674"/>
            <a:ext cx="5175069" cy="852876"/>
          </a:xfrm>
        </p:spPr>
        <p:txBody>
          <a:bodyPr/>
          <a:lstStyle/>
          <a:p>
            <a:pPr algn="ctr">
              <a:spcBef>
                <a:spcPts val="0"/>
              </a:spcBef>
              <a:spcAft>
                <a:spcPts val="0"/>
              </a:spcAft>
              <a:buClr>
                <a:prstClr val="black"/>
              </a:buClr>
            </a:pPr>
            <a:r>
              <a:rPr lang="en-US" sz="2471" dirty="0">
                <a:solidFill>
                  <a:srgbClr val="000099"/>
                </a:solidFill>
              </a:rPr>
              <a:t>Marking CUI</a:t>
            </a:r>
            <a:br>
              <a:rPr lang="en-US" sz="2471" dirty="0">
                <a:solidFill>
                  <a:srgbClr val="000099"/>
                </a:solidFill>
              </a:rPr>
            </a:br>
            <a:r>
              <a:rPr lang="en-US" sz="2471" dirty="0">
                <a:solidFill>
                  <a:srgbClr val="000099"/>
                </a:solidFill>
              </a:rPr>
              <a:t>(Limited Dissemination Controls)</a:t>
            </a: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graphicFrame>
        <p:nvGraphicFramePr>
          <p:cNvPr id="7" name="Table 6"/>
          <p:cNvGraphicFramePr>
            <a:graphicFrameLocks noGrp="1"/>
          </p:cNvGraphicFramePr>
          <p:nvPr/>
        </p:nvGraphicFramePr>
        <p:xfrm>
          <a:off x="3016999" y="1085146"/>
          <a:ext cx="5759244" cy="4507807"/>
        </p:xfrm>
        <a:graphic>
          <a:graphicData uri="http://schemas.openxmlformats.org/drawingml/2006/table">
            <a:tbl>
              <a:tblPr/>
              <a:tblGrid>
                <a:gridCol w="5759244">
                  <a:extLst>
                    <a:ext uri="{9D8B030D-6E8A-4147-A177-3AD203B41FA5}">
                      <a16:colId xmlns:a16="http://schemas.microsoft.com/office/drawing/2014/main" val="3421060258"/>
                    </a:ext>
                  </a:extLst>
                </a:gridCol>
              </a:tblGrid>
              <a:tr h="436030">
                <a:tc>
                  <a:txBody>
                    <a:bodyPr/>
                    <a:lstStyle/>
                    <a:p>
                      <a:pPr algn="ctr" fontAlgn="ctr"/>
                      <a:r>
                        <a:rPr lang="en-US" sz="1700" b="1" i="0" u="none" strike="noStrike" dirty="0">
                          <a:solidFill>
                            <a:srgbClr val="FFFFFF"/>
                          </a:solidFill>
                          <a:effectLst/>
                          <a:latin typeface="Calibri" panose="020F0502020204030204" pitchFamily="34" charset="0"/>
                        </a:rPr>
                        <a:t>Limited Dissemination Controls</a:t>
                      </a:r>
                    </a:p>
                  </a:txBody>
                  <a:tcPr marL="10901" marR="10901" marT="10901" marB="0" anchor="ctr">
                    <a:lnL>
                      <a:noFill/>
                    </a:lnL>
                    <a:lnR>
                      <a:noFill/>
                    </a:lnR>
                    <a:lnT>
                      <a:noFill/>
                    </a:lnT>
                    <a:lnB>
                      <a:noFill/>
                    </a:lnB>
                    <a:solidFill>
                      <a:srgbClr val="1F4E78"/>
                    </a:solidFill>
                  </a:tcPr>
                </a:tc>
                <a:extLst>
                  <a:ext uri="{0D108BD9-81ED-4DB2-BD59-A6C34878D82A}">
                    <a16:rowId xmlns:a16="http://schemas.microsoft.com/office/drawing/2014/main" val="1146039695"/>
                  </a:ext>
                </a:extLst>
              </a:tr>
              <a:tr h="82834">
                <a:tc>
                  <a:txBody>
                    <a:bodyPr/>
                    <a:lstStyle/>
                    <a:p>
                      <a:pPr algn="l" fontAlgn="ctr"/>
                      <a:endParaRPr lang="en-US" sz="200" b="0" i="0" u="none" strike="noStrike" dirty="0">
                        <a:solidFill>
                          <a:srgbClr val="000000"/>
                        </a:solidFill>
                        <a:effectLst/>
                        <a:latin typeface="Calibri" panose="020F0502020204030204" pitchFamily="34" charset="0"/>
                      </a:endParaRPr>
                    </a:p>
                  </a:txBody>
                  <a:tcPr marL="10901" marR="10901" marT="10901" marB="0" anchor="ctr">
                    <a:lnL>
                      <a:noFill/>
                    </a:lnL>
                    <a:lnR>
                      <a:noFill/>
                    </a:lnR>
                    <a:lnT>
                      <a:noFill/>
                    </a:lnT>
                    <a:lnB>
                      <a:noFill/>
                    </a:lnB>
                  </a:tcPr>
                </a:tc>
                <a:extLst>
                  <a:ext uri="{0D108BD9-81ED-4DB2-BD59-A6C34878D82A}">
                    <a16:rowId xmlns:a16="http://schemas.microsoft.com/office/drawing/2014/main" val="188977202"/>
                  </a:ext>
                </a:extLst>
              </a:tr>
              <a:tr h="362631">
                <a:tc>
                  <a:txBody>
                    <a:bodyPr/>
                    <a:lstStyle/>
                    <a:p>
                      <a:pPr algn="l" fontAlgn="ctr"/>
                      <a:r>
                        <a:rPr lang="en-US" sz="1300" b="0" i="0" u="none" strike="noStrike" dirty="0">
                          <a:solidFill>
                            <a:srgbClr val="221E1F"/>
                          </a:solidFill>
                          <a:effectLst/>
                          <a:latin typeface="Calibri" panose="020F0502020204030204" pitchFamily="34" charset="0"/>
                        </a:rPr>
                        <a:t>  NONE - Publicly Releasable AFTER Review</a:t>
                      </a:r>
                    </a:p>
                  </a:txBody>
                  <a:tcPr marL="10901" marR="10901" marT="10901" marB="0" anchor="ctr">
                    <a:lnL>
                      <a:noFill/>
                    </a:lnL>
                    <a:lnR>
                      <a:noFill/>
                    </a:lnR>
                    <a:lnT>
                      <a:noFill/>
                    </a:lnT>
                    <a:lnB>
                      <a:noFill/>
                    </a:lnB>
                    <a:solidFill>
                      <a:srgbClr val="ACB9CA"/>
                    </a:solidFill>
                  </a:tcPr>
                </a:tc>
                <a:extLst>
                  <a:ext uri="{0D108BD9-81ED-4DB2-BD59-A6C34878D82A}">
                    <a16:rowId xmlns:a16="http://schemas.microsoft.com/office/drawing/2014/main" val="1740743551"/>
                  </a:ext>
                </a:extLst>
              </a:tr>
              <a:tr h="362631">
                <a:tc>
                  <a:txBody>
                    <a:bodyPr/>
                    <a:lstStyle/>
                    <a:p>
                      <a:pPr algn="l" fontAlgn="ctr"/>
                      <a:r>
                        <a:rPr lang="en-US" sz="1300" b="0" i="0" u="none" strike="noStrike" dirty="0">
                          <a:solidFill>
                            <a:srgbClr val="221E1F"/>
                          </a:solidFill>
                          <a:effectLst/>
                          <a:latin typeface="Calibri" panose="020F0502020204030204" pitchFamily="34" charset="0"/>
                        </a:rPr>
                        <a:t>  No Foreign Dissemination (NOFORN or NF)</a:t>
                      </a:r>
                    </a:p>
                  </a:txBody>
                  <a:tcPr marL="10901" marR="10901" marT="10901" marB="0" anchor="ctr">
                    <a:lnL>
                      <a:noFill/>
                    </a:lnL>
                    <a:lnR>
                      <a:noFill/>
                    </a:lnR>
                    <a:lnT>
                      <a:noFill/>
                    </a:lnT>
                    <a:lnB>
                      <a:noFill/>
                    </a:lnB>
                    <a:solidFill>
                      <a:srgbClr val="D6DCE4"/>
                    </a:solidFill>
                  </a:tcPr>
                </a:tc>
                <a:extLst>
                  <a:ext uri="{0D108BD9-81ED-4DB2-BD59-A6C34878D82A}">
                    <a16:rowId xmlns:a16="http://schemas.microsoft.com/office/drawing/2014/main" val="448546435"/>
                  </a:ext>
                </a:extLst>
              </a:tr>
              <a:tr h="362631">
                <a:tc>
                  <a:txBody>
                    <a:bodyPr/>
                    <a:lstStyle/>
                    <a:p>
                      <a:pPr algn="l" fontAlgn="ctr"/>
                      <a:r>
                        <a:rPr lang="en-US" sz="1300" b="0" i="0" u="none" strike="noStrike" dirty="0">
                          <a:solidFill>
                            <a:srgbClr val="221E1F"/>
                          </a:solidFill>
                          <a:effectLst/>
                          <a:latin typeface="Calibri" panose="020F0502020204030204" pitchFamily="34" charset="0"/>
                        </a:rPr>
                        <a:t>  Federal Employees Only (FED ONLY)</a:t>
                      </a:r>
                    </a:p>
                  </a:txBody>
                  <a:tcPr marL="10901" marR="10901" marT="10901" marB="0" anchor="ctr">
                    <a:lnL>
                      <a:noFill/>
                    </a:lnL>
                    <a:lnR>
                      <a:noFill/>
                    </a:lnR>
                    <a:lnT>
                      <a:noFill/>
                    </a:lnT>
                    <a:lnB>
                      <a:noFill/>
                    </a:lnB>
                    <a:solidFill>
                      <a:srgbClr val="ACB9CA"/>
                    </a:solidFill>
                  </a:tcPr>
                </a:tc>
                <a:extLst>
                  <a:ext uri="{0D108BD9-81ED-4DB2-BD59-A6C34878D82A}">
                    <a16:rowId xmlns:a16="http://schemas.microsoft.com/office/drawing/2014/main" val="3006234337"/>
                  </a:ext>
                </a:extLst>
              </a:tr>
              <a:tr h="362631">
                <a:tc>
                  <a:txBody>
                    <a:bodyPr/>
                    <a:lstStyle/>
                    <a:p>
                      <a:pPr algn="l" fontAlgn="ctr"/>
                      <a:r>
                        <a:rPr lang="en-US" sz="1300" b="0" i="0" u="none" strike="noStrike" dirty="0">
                          <a:solidFill>
                            <a:srgbClr val="221E1F"/>
                          </a:solidFill>
                          <a:effectLst/>
                          <a:latin typeface="Calibri" panose="020F0502020204030204" pitchFamily="34" charset="0"/>
                        </a:rPr>
                        <a:t>  Federal Employees and Contractors Only (FEDCON)</a:t>
                      </a:r>
                    </a:p>
                  </a:txBody>
                  <a:tcPr marL="10901" marR="10901" marT="10901" marB="0" anchor="ctr">
                    <a:lnL>
                      <a:noFill/>
                    </a:lnL>
                    <a:lnR>
                      <a:noFill/>
                    </a:lnR>
                    <a:lnT>
                      <a:noFill/>
                    </a:lnT>
                    <a:lnB>
                      <a:noFill/>
                    </a:lnB>
                    <a:solidFill>
                      <a:srgbClr val="D6DCE4"/>
                    </a:solidFill>
                  </a:tcPr>
                </a:tc>
                <a:extLst>
                  <a:ext uri="{0D108BD9-81ED-4DB2-BD59-A6C34878D82A}">
                    <a16:rowId xmlns:a16="http://schemas.microsoft.com/office/drawing/2014/main" val="3543701240"/>
                  </a:ext>
                </a:extLst>
              </a:tr>
              <a:tr h="362631">
                <a:tc>
                  <a:txBody>
                    <a:bodyPr/>
                    <a:lstStyle/>
                    <a:p>
                      <a:pPr algn="l" fontAlgn="ctr"/>
                      <a:r>
                        <a:rPr lang="en-US" sz="1300" b="0" i="0" u="none" strike="noStrike" dirty="0">
                          <a:solidFill>
                            <a:srgbClr val="221E1F"/>
                          </a:solidFill>
                          <a:effectLst/>
                          <a:latin typeface="Calibri" panose="020F0502020204030204" pitchFamily="34" charset="0"/>
                        </a:rPr>
                        <a:t>  No Dissemination to Contractors (NOCON)</a:t>
                      </a:r>
                    </a:p>
                  </a:txBody>
                  <a:tcPr marL="10901" marR="10901" marT="10901" marB="0" anchor="ctr">
                    <a:lnL>
                      <a:noFill/>
                    </a:lnL>
                    <a:lnR>
                      <a:noFill/>
                    </a:lnR>
                    <a:lnT>
                      <a:noFill/>
                    </a:lnT>
                    <a:lnB>
                      <a:noFill/>
                    </a:lnB>
                    <a:solidFill>
                      <a:srgbClr val="ACB9CA"/>
                    </a:solidFill>
                  </a:tcPr>
                </a:tc>
                <a:extLst>
                  <a:ext uri="{0D108BD9-81ED-4DB2-BD59-A6C34878D82A}">
                    <a16:rowId xmlns:a16="http://schemas.microsoft.com/office/drawing/2014/main" val="1053626144"/>
                  </a:ext>
                </a:extLst>
              </a:tr>
              <a:tr h="362631">
                <a:tc>
                  <a:txBody>
                    <a:bodyPr/>
                    <a:lstStyle/>
                    <a:p>
                      <a:pPr algn="l" fontAlgn="ctr"/>
                      <a:r>
                        <a:rPr lang="en-US" sz="1300" b="0" i="0" u="none" strike="noStrike" dirty="0">
                          <a:solidFill>
                            <a:srgbClr val="221E1F"/>
                          </a:solidFill>
                          <a:effectLst/>
                          <a:latin typeface="Calibri" panose="020F0502020204030204" pitchFamily="34" charset="0"/>
                        </a:rPr>
                        <a:t>  Dissemination List Controlled (DL ONLY)</a:t>
                      </a:r>
                    </a:p>
                  </a:txBody>
                  <a:tcPr marL="10901" marR="10901" marT="10901" marB="0" anchor="ctr">
                    <a:lnL>
                      <a:noFill/>
                    </a:lnL>
                    <a:lnR>
                      <a:noFill/>
                    </a:lnR>
                    <a:lnT>
                      <a:noFill/>
                    </a:lnT>
                    <a:lnB w="12700" cap="flat" cmpd="sng" algn="ctr">
                      <a:solidFill>
                        <a:srgbClr val="FFFFFF"/>
                      </a:solidFill>
                      <a:prstDash val="solid"/>
                      <a:round/>
                      <a:headEnd type="none" w="med" len="med"/>
                      <a:tailEnd type="none" w="med" len="med"/>
                    </a:lnB>
                    <a:solidFill>
                      <a:srgbClr val="D6DCE4"/>
                    </a:solidFill>
                  </a:tcPr>
                </a:tc>
                <a:extLst>
                  <a:ext uri="{0D108BD9-81ED-4DB2-BD59-A6C34878D82A}">
                    <a16:rowId xmlns:a16="http://schemas.microsoft.com/office/drawing/2014/main" val="420440464"/>
                  </a:ext>
                </a:extLst>
              </a:tr>
              <a:tr h="362631">
                <a:tc>
                  <a:txBody>
                    <a:bodyPr/>
                    <a:lstStyle/>
                    <a:p>
                      <a:pPr algn="l" fontAlgn="ctr"/>
                      <a:r>
                        <a:rPr lang="en-US" sz="1300" b="0" i="0" u="none" strike="noStrike" dirty="0">
                          <a:solidFill>
                            <a:srgbClr val="221E1F"/>
                          </a:solidFill>
                          <a:effectLst/>
                          <a:latin typeface="Calibri" panose="020F0502020204030204" pitchFamily="34" charset="0"/>
                        </a:rPr>
                        <a:t>  Authorized for Release to Certain Foreign Nationals Only (REL TO USA, LIST)</a:t>
                      </a:r>
                    </a:p>
                  </a:txBody>
                  <a:tcPr marL="10901" marR="10901" marT="1090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CB9CA"/>
                    </a:solidFill>
                  </a:tcPr>
                </a:tc>
                <a:extLst>
                  <a:ext uri="{0D108BD9-81ED-4DB2-BD59-A6C34878D82A}">
                    <a16:rowId xmlns:a16="http://schemas.microsoft.com/office/drawing/2014/main" val="3799908340"/>
                  </a:ext>
                </a:extLst>
              </a:tr>
              <a:tr h="362631">
                <a:tc>
                  <a:txBody>
                    <a:bodyPr/>
                    <a:lstStyle/>
                    <a:p>
                      <a:pPr algn="l" fontAlgn="ctr"/>
                      <a:r>
                        <a:rPr lang="en-US" sz="1300" b="0" i="0" u="none" strike="noStrike" dirty="0">
                          <a:solidFill>
                            <a:srgbClr val="221E1F"/>
                          </a:solidFill>
                          <a:effectLst/>
                          <a:latin typeface="Calibri" panose="020F0502020204030204" pitchFamily="34" charset="0"/>
                        </a:rPr>
                        <a:t>  Display Only (DISPLAY ONLY)</a:t>
                      </a:r>
                    </a:p>
                  </a:txBody>
                  <a:tcPr marL="10901" marR="10901" marT="10901" marB="0" anchor="ctr">
                    <a:lnL>
                      <a:noFill/>
                    </a:lnL>
                    <a:lnR>
                      <a:noFill/>
                    </a:lnR>
                    <a:lnT w="12700" cap="flat" cmpd="sng" algn="ctr">
                      <a:solidFill>
                        <a:srgbClr val="FFFFFF"/>
                      </a:solidFill>
                      <a:prstDash val="solid"/>
                      <a:round/>
                      <a:headEnd type="none" w="med" len="med"/>
                      <a:tailEnd type="none" w="med" len="med"/>
                    </a:lnT>
                    <a:lnB>
                      <a:noFill/>
                    </a:lnB>
                    <a:solidFill>
                      <a:srgbClr val="D6DCE4"/>
                    </a:solidFill>
                  </a:tcPr>
                </a:tc>
                <a:extLst>
                  <a:ext uri="{0D108BD9-81ED-4DB2-BD59-A6C34878D82A}">
                    <a16:rowId xmlns:a16="http://schemas.microsoft.com/office/drawing/2014/main" val="1831987344"/>
                  </a:ext>
                </a:extLst>
              </a:tr>
              <a:tr h="362631">
                <a:tc>
                  <a:txBody>
                    <a:bodyPr/>
                    <a:lstStyle/>
                    <a:p>
                      <a:pPr algn="l" fontAlgn="ctr"/>
                      <a:r>
                        <a:rPr lang="en-US" sz="1300" b="0" i="0" u="none" strike="noStrike" dirty="0">
                          <a:solidFill>
                            <a:srgbClr val="221E1F"/>
                          </a:solidFill>
                          <a:effectLst/>
                          <a:latin typeface="Calibri" panose="020F0502020204030204" pitchFamily="34" charset="0"/>
                        </a:rPr>
                        <a:t>  Dissemination List - (include separate list for Government Only) *</a:t>
                      </a:r>
                    </a:p>
                  </a:txBody>
                  <a:tcPr marL="10901" marR="10901" marT="10901" marB="0" anchor="ctr">
                    <a:lnL>
                      <a:noFill/>
                    </a:lnL>
                    <a:lnR>
                      <a:noFill/>
                    </a:lnR>
                    <a:lnT>
                      <a:noFill/>
                    </a:lnT>
                    <a:lnB>
                      <a:noFill/>
                    </a:lnB>
                    <a:solidFill>
                      <a:srgbClr val="ACB9CA"/>
                    </a:solidFill>
                  </a:tcPr>
                </a:tc>
                <a:extLst>
                  <a:ext uri="{0D108BD9-81ED-4DB2-BD59-A6C34878D82A}">
                    <a16:rowId xmlns:a16="http://schemas.microsoft.com/office/drawing/2014/main" val="4152321202"/>
                  </a:ext>
                </a:extLst>
              </a:tr>
              <a:tr h="362631">
                <a:tc>
                  <a:txBody>
                    <a:bodyPr/>
                    <a:lstStyle/>
                    <a:p>
                      <a:pPr algn="l" fontAlgn="ctr"/>
                      <a:r>
                        <a:rPr lang="en-US" sz="1300" b="0" i="0" u="none" strike="noStrike" dirty="0">
                          <a:solidFill>
                            <a:srgbClr val="221E1F"/>
                          </a:solidFill>
                          <a:effectLst/>
                          <a:latin typeface="Calibri" panose="020F0502020204030204" pitchFamily="34" charset="0"/>
                        </a:rPr>
                        <a:t>  Dissemination List - (include separate list for Government and Contractors only) *</a:t>
                      </a:r>
                    </a:p>
                  </a:txBody>
                  <a:tcPr marL="10901" marR="10901" marT="10901" marB="0" anchor="ctr">
                    <a:lnL>
                      <a:noFill/>
                    </a:lnL>
                    <a:lnR>
                      <a:noFill/>
                    </a:lnR>
                    <a:lnT>
                      <a:noFill/>
                    </a:lnT>
                    <a:lnB>
                      <a:noFill/>
                    </a:lnB>
                    <a:solidFill>
                      <a:srgbClr val="D6DCE4"/>
                    </a:solidFill>
                  </a:tcPr>
                </a:tc>
                <a:extLst>
                  <a:ext uri="{0D108BD9-81ED-4DB2-BD59-A6C34878D82A}">
                    <a16:rowId xmlns:a16="http://schemas.microsoft.com/office/drawing/2014/main" val="2062679044"/>
                  </a:ext>
                </a:extLst>
              </a:tr>
              <a:tr h="362631">
                <a:tc>
                  <a:txBody>
                    <a:bodyPr/>
                    <a:lstStyle/>
                    <a:p>
                      <a:pPr algn="l" fontAlgn="ctr"/>
                      <a:r>
                        <a:rPr lang="en-US" sz="1300" b="0" i="0" u="none" strike="noStrike" dirty="0">
                          <a:solidFill>
                            <a:srgbClr val="221E1F"/>
                          </a:solidFill>
                          <a:effectLst/>
                          <a:latin typeface="Calibri" panose="020F0502020204030204" pitchFamily="34" charset="0"/>
                        </a:rPr>
                        <a:t>  NONE</a:t>
                      </a:r>
                    </a:p>
                  </a:txBody>
                  <a:tcPr marL="10901" marR="10901" marT="10901" marB="0" anchor="ctr">
                    <a:lnL>
                      <a:noFill/>
                    </a:lnL>
                    <a:lnR>
                      <a:noFill/>
                    </a:lnR>
                    <a:lnT>
                      <a:noFill/>
                    </a:lnT>
                    <a:lnB>
                      <a:noFill/>
                    </a:lnB>
                    <a:solidFill>
                      <a:srgbClr val="ACB9CA"/>
                    </a:solidFill>
                  </a:tcPr>
                </a:tc>
                <a:extLst>
                  <a:ext uri="{0D108BD9-81ED-4DB2-BD59-A6C34878D82A}">
                    <a16:rowId xmlns:a16="http://schemas.microsoft.com/office/drawing/2014/main" val="291533987"/>
                  </a:ext>
                </a:extLst>
              </a:tr>
            </a:tbl>
          </a:graphicData>
        </a:graphic>
      </p:graphicFrame>
      <p:sp>
        <p:nvSpPr>
          <p:cNvPr id="8" name="TextBox 7"/>
          <p:cNvSpPr txBox="1"/>
          <p:nvPr/>
        </p:nvSpPr>
        <p:spPr>
          <a:xfrm>
            <a:off x="3016999" y="5743023"/>
            <a:ext cx="5759244" cy="472437"/>
          </a:xfrm>
          <a:prstGeom prst="rect">
            <a:avLst/>
          </a:prstGeom>
          <a:noFill/>
        </p:spPr>
        <p:txBody>
          <a:bodyPr wrap="square" rtlCol="0">
            <a:spAutoFit/>
          </a:bodyPr>
          <a:lstStyle/>
          <a:p>
            <a:pPr defTabSz="806867"/>
            <a:r>
              <a:rPr lang="en-US" sz="1235" dirty="0">
                <a:solidFill>
                  <a:srgbClr val="000000"/>
                </a:solidFill>
                <a:latin typeface="Calibri" panose="020F0502020204030204" pitchFamily="34" charset="0"/>
                <a:cs typeface="Calibri" panose="020F0502020204030204" pitchFamily="34" charset="0"/>
              </a:rPr>
              <a:t>* The dissemination list limits access to the specified individuals, groups, or agencies and must accompany  the document.</a:t>
            </a:r>
          </a:p>
        </p:txBody>
      </p:sp>
    </p:spTree>
    <p:extLst>
      <p:ext uri="{BB962C8B-B14F-4D97-AF65-F5344CB8AC3E}">
        <p14:creationId xmlns:p14="http://schemas.microsoft.com/office/powerpoint/2010/main" val="21900974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550303" y="57478"/>
            <a:ext cx="6913956" cy="637475"/>
          </a:xfrm>
          <a:prstGeom prst="rect">
            <a:avLst/>
          </a:prstGeom>
        </p:spPr>
        <p:txBody>
          <a:bodyPr/>
          <a:lstStyle>
            <a:lvl1pPr algn="ctr" defTabSz="871786" rtl="0" eaLnBrk="1" fontAlgn="base" hangingPunct="1">
              <a:spcBef>
                <a:spcPct val="0"/>
              </a:spcBef>
              <a:spcAft>
                <a:spcPct val="0"/>
              </a:spcAft>
              <a:defRPr sz="3618" b="1">
                <a:solidFill>
                  <a:schemeClr val="folHlink"/>
                </a:solidFill>
                <a:latin typeface="+mj-lt"/>
                <a:ea typeface="+mj-ea"/>
                <a:cs typeface="+mj-cs"/>
              </a:defRPr>
            </a:lvl1pPr>
            <a:lvl2pPr algn="ctr" defTabSz="871786" rtl="0" eaLnBrk="1" fontAlgn="base" hangingPunct="1">
              <a:spcBef>
                <a:spcPct val="0"/>
              </a:spcBef>
              <a:spcAft>
                <a:spcPct val="0"/>
              </a:spcAft>
              <a:defRPr sz="3618" b="1">
                <a:solidFill>
                  <a:schemeClr val="folHlink"/>
                </a:solidFill>
                <a:latin typeface="Arial" charset="0"/>
              </a:defRPr>
            </a:lvl2pPr>
            <a:lvl3pPr algn="ctr" defTabSz="871786" rtl="0" eaLnBrk="1" fontAlgn="base" hangingPunct="1">
              <a:spcBef>
                <a:spcPct val="0"/>
              </a:spcBef>
              <a:spcAft>
                <a:spcPct val="0"/>
              </a:spcAft>
              <a:defRPr sz="3618" b="1">
                <a:solidFill>
                  <a:schemeClr val="folHlink"/>
                </a:solidFill>
                <a:latin typeface="Arial" charset="0"/>
              </a:defRPr>
            </a:lvl3pPr>
            <a:lvl4pPr algn="ctr" defTabSz="871786" rtl="0" eaLnBrk="1" fontAlgn="base" hangingPunct="1">
              <a:spcBef>
                <a:spcPct val="0"/>
              </a:spcBef>
              <a:spcAft>
                <a:spcPct val="0"/>
              </a:spcAft>
              <a:defRPr sz="3618" b="1">
                <a:solidFill>
                  <a:schemeClr val="folHlink"/>
                </a:solidFill>
                <a:latin typeface="Arial" charset="0"/>
              </a:defRPr>
            </a:lvl4pPr>
            <a:lvl5pPr algn="ctr" defTabSz="871786" rtl="0" eaLnBrk="1" fontAlgn="base" hangingPunct="1">
              <a:spcBef>
                <a:spcPct val="0"/>
              </a:spcBef>
              <a:spcAft>
                <a:spcPct val="0"/>
              </a:spcAft>
              <a:defRPr sz="3618" b="1">
                <a:solidFill>
                  <a:schemeClr val="folHlink"/>
                </a:solidFill>
                <a:latin typeface="Arial" charset="0"/>
              </a:defRPr>
            </a:lvl5pPr>
            <a:lvl6pPr marL="398359" algn="ctr" defTabSz="874183" rtl="0" eaLnBrk="1" fontAlgn="base" hangingPunct="1">
              <a:spcBef>
                <a:spcPct val="0"/>
              </a:spcBef>
              <a:spcAft>
                <a:spcPct val="0"/>
              </a:spcAft>
              <a:defRPr sz="3618" b="1">
                <a:solidFill>
                  <a:schemeClr val="folHlink"/>
                </a:solidFill>
                <a:latin typeface="Arial" charset="0"/>
              </a:defRPr>
            </a:lvl6pPr>
            <a:lvl7pPr marL="796719" algn="ctr" defTabSz="874183" rtl="0" eaLnBrk="1" fontAlgn="base" hangingPunct="1">
              <a:spcBef>
                <a:spcPct val="0"/>
              </a:spcBef>
              <a:spcAft>
                <a:spcPct val="0"/>
              </a:spcAft>
              <a:defRPr sz="3618" b="1">
                <a:solidFill>
                  <a:schemeClr val="folHlink"/>
                </a:solidFill>
                <a:latin typeface="Arial" charset="0"/>
              </a:defRPr>
            </a:lvl7pPr>
            <a:lvl8pPr marL="1195080" algn="ctr" defTabSz="874183" rtl="0" eaLnBrk="1" fontAlgn="base" hangingPunct="1">
              <a:spcBef>
                <a:spcPct val="0"/>
              </a:spcBef>
              <a:spcAft>
                <a:spcPct val="0"/>
              </a:spcAft>
              <a:defRPr sz="3618" b="1">
                <a:solidFill>
                  <a:schemeClr val="folHlink"/>
                </a:solidFill>
                <a:latin typeface="Arial" charset="0"/>
              </a:defRPr>
            </a:lvl8pPr>
            <a:lvl9pPr marL="1593434" algn="ctr" defTabSz="874183" rtl="0" eaLnBrk="1" fontAlgn="base" hangingPunct="1">
              <a:spcBef>
                <a:spcPct val="0"/>
              </a:spcBef>
              <a:spcAft>
                <a:spcPct val="0"/>
              </a:spcAft>
              <a:defRPr sz="3618" b="1">
                <a:solidFill>
                  <a:schemeClr val="folHlink"/>
                </a:solidFill>
                <a:latin typeface="Arial" charset="0"/>
              </a:defRPr>
            </a:lvl9pPr>
          </a:lstStyle>
          <a:p>
            <a:pPr defTabSz="769264">
              <a:spcBef>
                <a:spcPts val="0"/>
              </a:spcBef>
              <a:spcAft>
                <a:spcPts val="0"/>
              </a:spcAft>
            </a:pPr>
            <a:r>
              <a:rPr lang="en-US" sz="3177" dirty="0">
                <a:solidFill>
                  <a:srgbClr val="000066"/>
                </a:solidFill>
                <a:latin typeface="Arial"/>
              </a:rPr>
              <a:t>Marking CUI</a:t>
            </a:r>
          </a:p>
          <a:p>
            <a:pPr defTabSz="769264">
              <a:spcBef>
                <a:spcPts val="0"/>
              </a:spcBef>
              <a:spcAft>
                <a:spcPts val="0"/>
              </a:spcAft>
            </a:pPr>
            <a:r>
              <a:rPr lang="en-US" sz="2471" dirty="0">
                <a:solidFill>
                  <a:srgbClr val="000066"/>
                </a:solidFill>
                <a:latin typeface="Arial"/>
              </a:rPr>
              <a:t>(Unclassified Documents)</a:t>
            </a:r>
          </a:p>
        </p:txBody>
      </p:sp>
      <p:sp>
        <p:nvSpPr>
          <p:cNvPr id="4" name="Content Placeholder 2"/>
          <p:cNvSpPr txBox="1">
            <a:spLocks/>
          </p:cNvSpPr>
          <p:nvPr/>
        </p:nvSpPr>
        <p:spPr>
          <a:xfrm>
            <a:off x="1658470" y="1125779"/>
            <a:ext cx="8732323" cy="5140704"/>
          </a:xfrm>
          <a:prstGeom prst="rect">
            <a:avLst/>
          </a:prstGeom>
        </p:spPr>
        <p:txBody>
          <a:bodyPr/>
          <a:lstStyle>
            <a:lvl1pPr marL="397147" indent="-397147" algn="l" defTabSz="871786" rtl="0" eaLnBrk="1" fontAlgn="base" hangingPunct="1">
              <a:spcBef>
                <a:spcPct val="50000"/>
              </a:spcBef>
              <a:spcAft>
                <a:spcPct val="0"/>
              </a:spcAft>
              <a:buChar char="•"/>
              <a:defRPr sz="2471" b="1">
                <a:solidFill>
                  <a:schemeClr val="tx1"/>
                </a:solidFill>
                <a:latin typeface="+mn-lt"/>
                <a:ea typeface="+mn-ea"/>
                <a:cs typeface="+mn-cs"/>
                <a:sym typeface="Wingdings" pitchFamily="2" charset="2"/>
              </a:defRPr>
            </a:lvl1pPr>
            <a:lvl2pPr marL="794281" indent="-397147" algn="l" defTabSz="871786" rtl="0" eaLnBrk="1" fontAlgn="base" hangingPunct="1">
              <a:spcBef>
                <a:spcPct val="50000"/>
              </a:spcBef>
              <a:spcAft>
                <a:spcPct val="0"/>
              </a:spcAft>
              <a:buChar char="•"/>
              <a:defRPr sz="2206">
                <a:solidFill>
                  <a:schemeClr val="tx1"/>
                </a:solidFill>
                <a:latin typeface="+mn-lt"/>
                <a:sym typeface="Wingdings" pitchFamily="2" charset="2"/>
              </a:defRPr>
            </a:lvl2pPr>
            <a:lvl3pPr marL="1194206" indent="-397147" algn="l" defTabSz="871786" rtl="0" eaLnBrk="1" fontAlgn="base" hangingPunct="1">
              <a:spcBef>
                <a:spcPct val="50000"/>
              </a:spcBef>
              <a:spcAft>
                <a:spcPct val="0"/>
              </a:spcAft>
              <a:buChar char="•"/>
              <a:defRPr sz="2206">
                <a:solidFill>
                  <a:schemeClr val="tx1"/>
                </a:solidFill>
                <a:latin typeface="+mn-lt"/>
                <a:sym typeface="Wingdings" pitchFamily="2" charset="2"/>
              </a:defRPr>
            </a:lvl3pPr>
            <a:lvl4pPr marL="1589965" indent="-394373" algn="l" defTabSz="871786" rtl="0" eaLnBrk="1" fontAlgn="base" hangingPunct="1">
              <a:spcBef>
                <a:spcPct val="50000"/>
              </a:spcBef>
              <a:spcAft>
                <a:spcPct val="0"/>
              </a:spcAft>
              <a:buChar char="•"/>
              <a:defRPr sz="2206">
                <a:solidFill>
                  <a:schemeClr val="tx1"/>
                </a:solidFill>
                <a:latin typeface="+mn-lt"/>
              </a:defRPr>
            </a:lvl4pPr>
            <a:lvl5pPr marL="1988500" indent="-395760" algn="l" defTabSz="871786" rtl="0" eaLnBrk="1" fontAlgn="base" hangingPunct="1">
              <a:spcBef>
                <a:spcPct val="50000"/>
              </a:spcBef>
              <a:spcAft>
                <a:spcPct val="0"/>
              </a:spcAft>
              <a:buChar char="•"/>
              <a:defRPr sz="1765">
                <a:solidFill>
                  <a:schemeClr val="tx1"/>
                </a:solidFill>
                <a:latin typeface="+mn-lt"/>
                <a:sym typeface="Wingdings" pitchFamily="2" charset="2"/>
              </a:defRPr>
            </a:lvl5pPr>
            <a:lvl6pPr marL="2388772" indent="-396976" algn="l" defTabSz="874183" rtl="0" eaLnBrk="1" fontAlgn="base" hangingPunct="1">
              <a:spcBef>
                <a:spcPct val="50000"/>
              </a:spcBef>
              <a:spcAft>
                <a:spcPct val="0"/>
              </a:spcAft>
              <a:buChar char="•"/>
              <a:defRPr sz="1765">
                <a:solidFill>
                  <a:schemeClr val="tx1"/>
                </a:solidFill>
                <a:latin typeface="+mn-lt"/>
                <a:sym typeface="Wingdings" pitchFamily="2" charset="2"/>
              </a:defRPr>
            </a:lvl6pPr>
            <a:lvl7pPr marL="2787125" indent="-396976" algn="l" defTabSz="874183" rtl="0" eaLnBrk="1" fontAlgn="base" hangingPunct="1">
              <a:spcBef>
                <a:spcPct val="50000"/>
              </a:spcBef>
              <a:spcAft>
                <a:spcPct val="0"/>
              </a:spcAft>
              <a:buChar char="•"/>
              <a:defRPr sz="1765">
                <a:solidFill>
                  <a:schemeClr val="tx1"/>
                </a:solidFill>
                <a:latin typeface="+mn-lt"/>
                <a:sym typeface="Wingdings" pitchFamily="2" charset="2"/>
              </a:defRPr>
            </a:lvl7pPr>
            <a:lvl8pPr marL="3185486" indent="-396976" algn="l" defTabSz="874183" rtl="0" eaLnBrk="1" fontAlgn="base" hangingPunct="1">
              <a:spcBef>
                <a:spcPct val="50000"/>
              </a:spcBef>
              <a:spcAft>
                <a:spcPct val="0"/>
              </a:spcAft>
              <a:buChar char="•"/>
              <a:defRPr sz="1765">
                <a:solidFill>
                  <a:schemeClr val="tx1"/>
                </a:solidFill>
                <a:latin typeface="+mn-lt"/>
                <a:sym typeface="Wingdings" pitchFamily="2" charset="2"/>
              </a:defRPr>
            </a:lvl8pPr>
            <a:lvl9pPr marL="3583847" indent="-396976" algn="l" defTabSz="874183" rtl="0" eaLnBrk="1" fontAlgn="base" hangingPunct="1">
              <a:spcBef>
                <a:spcPct val="50000"/>
              </a:spcBef>
              <a:spcAft>
                <a:spcPct val="0"/>
              </a:spcAft>
              <a:buChar char="•"/>
              <a:defRPr sz="1765">
                <a:solidFill>
                  <a:schemeClr val="tx1"/>
                </a:solidFill>
                <a:latin typeface="+mn-lt"/>
                <a:sym typeface="Wingdings" pitchFamily="2" charset="2"/>
              </a:defRPr>
            </a:lvl9pPr>
          </a:lstStyle>
          <a:p>
            <a:pPr marL="350443" indent="-350443" defTabSz="769264"/>
            <a:r>
              <a:rPr lang="en-US" dirty="0">
                <a:solidFill>
                  <a:srgbClr val="000000"/>
                </a:solidFill>
                <a:latin typeface="Arial"/>
              </a:rPr>
              <a:t>Minimum, CUI markings for unclassified documents will include:</a:t>
            </a:r>
          </a:p>
          <a:p>
            <a:pPr marL="700874" lvl="1" indent="-350443" defTabSz="769264"/>
            <a:r>
              <a:rPr lang="en-US" sz="2471" dirty="0">
                <a:solidFill>
                  <a:srgbClr val="000000"/>
                </a:solidFill>
                <a:latin typeface="Arial"/>
              </a:rPr>
              <a:t>Banners lines with the acronym "CUI" at the top and bottom of each page</a:t>
            </a:r>
          </a:p>
          <a:p>
            <a:pPr marL="700874" lvl="1" indent="-350443" defTabSz="769264"/>
            <a:r>
              <a:rPr lang="en-US" sz="2471" dirty="0">
                <a:solidFill>
                  <a:srgbClr val="000000"/>
                </a:solidFill>
                <a:latin typeface="Arial"/>
              </a:rPr>
              <a:t>Do not add "UNCLASSIFIED" before "CUI.“</a:t>
            </a:r>
          </a:p>
          <a:p>
            <a:pPr marL="700874" lvl="1" indent="-350443" defTabSz="769264"/>
            <a:r>
              <a:rPr lang="en-US" sz="2471" dirty="0">
                <a:solidFill>
                  <a:srgbClr val="000000"/>
                </a:solidFill>
                <a:latin typeface="Arial"/>
              </a:rPr>
              <a:t>Portion markings are optional. However, if annotated, they must be applied to all portions, to include subjects, titles, paragraphs, subparagraphs, bullet points, figures, charts, tables, etc.</a:t>
            </a:r>
          </a:p>
        </p:txBody>
      </p:sp>
      <p:sp>
        <p:nvSpPr>
          <p:cNvPr id="8" name="Oval 7"/>
          <p:cNvSpPr/>
          <p:nvPr/>
        </p:nvSpPr>
        <p:spPr bwMode="auto">
          <a:xfrm>
            <a:off x="-1474406" y="5110967"/>
            <a:ext cx="1259686" cy="390356"/>
          </a:xfrm>
          <a:prstGeom prst="ellipse">
            <a:avLst/>
          </a:prstGeom>
          <a:noFill/>
          <a:ln w="9525" cap="flat" cmpd="sng" algn="ctr">
            <a:noFill/>
            <a:prstDash val="solid"/>
            <a:round/>
            <a:headEnd type="none" w="med" len="med"/>
            <a:tailEnd type="none" w="med" len="med"/>
          </a:ln>
          <a:effectLst/>
        </p:spPr>
        <p:txBody>
          <a:bodyPr vert="horz" wrap="square" lIns="97369" tIns="48684" rIns="97369" bIns="48684" numCol="1" rtlCol="0" anchor="t" anchorCtr="0" compatLnSpc="1">
            <a:prstTxWarp prst="textNoShape">
              <a:avLst/>
            </a:prstTxWarp>
            <a:spAutoFit/>
          </a:bodyPr>
          <a:lstStyle/>
          <a:p>
            <a:pPr defTabSz="973843" eaLnBrk="0" fontAlgn="base" hangingPunct="0">
              <a:spcBef>
                <a:spcPct val="50000"/>
              </a:spcBef>
              <a:spcAft>
                <a:spcPct val="0"/>
              </a:spcAft>
            </a:pPr>
            <a:endParaRPr lang="en-US" sz="1165">
              <a:solidFill>
                <a:srgbClr val="000000"/>
              </a:solidFill>
              <a:latin typeface="Arial" charset="0"/>
              <a:sym typeface="Wingdings" pitchFamily="2" charset="2"/>
            </a:endParaRPr>
          </a:p>
        </p:txBody>
      </p:sp>
    </p:spTree>
    <p:extLst>
      <p:ext uri="{BB962C8B-B14F-4D97-AF65-F5344CB8AC3E}">
        <p14:creationId xmlns:p14="http://schemas.microsoft.com/office/powerpoint/2010/main" val="2148936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550303" y="57478"/>
            <a:ext cx="6913956" cy="637475"/>
          </a:xfrm>
          <a:prstGeom prst="rect">
            <a:avLst/>
          </a:prstGeom>
        </p:spPr>
        <p:txBody>
          <a:bodyPr/>
          <a:lstStyle>
            <a:lvl1pPr algn="ctr" defTabSz="871786" rtl="0" eaLnBrk="1" fontAlgn="base" hangingPunct="1">
              <a:spcBef>
                <a:spcPct val="0"/>
              </a:spcBef>
              <a:spcAft>
                <a:spcPct val="0"/>
              </a:spcAft>
              <a:defRPr sz="3618" b="1">
                <a:solidFill>
                  <a:schemeClr val="folHlink"/>
                </a:solidFill>
                <a:latin typeface="+mj-lt"/>
                <a:ea typeface="+mj-ea"/>
                <a:cs typeface="+mj-cs"/>
              </a:defRPr>
            </a:lvl1pPr>
            <a:lvl2pPr algn="ctr" defTabSz="871786" rtl="0" eaLnBrk="1" fontAlgn="base" hangingPunct="1">
              <a:spcBef>
                <a:spcPct val="0"/>
              </a:spcBef>
              <a:spcAft>
                <a:spcPct val="0"/>
              </a:spcAft>
              <a:defRPr sz="3618" b="1">
                <a:solidFill>
                  <a:schemeClr val="folHlink"/>
                </a:solidFill>
                <a:latin typeface="Arial" charset="0"/>
              </a:defRPr>
            </a:lvl2pPr>
            <a:lvl3pPr algn="ctr" defTabSz="871786" rtl="0" eaLnBrk="1" fontAlgn="base" hangingPunct="1">
              <a:spcBef>
                <a:spcPct val="0"/>
              </a:spcBef>
              <a:spcAft>
                <a:spcPct val="0"/>
              </a:spcAft>
              <a:defRPr sz="3618" b="1">
                <a:solidFill>
                  <a:schemeClr val="folHlink"/>
                </a:solidFill>
                <a:latin typeface="Arial" charset="0"/>
              </a:defRPr>
            </a:lvl3pPr>
            <a:lvl4pPr algn="ctr" defTabSz="871786" rtl="0" eaLnBrk="1" fontAlgn="base" hangingPunct="1">
              <a:spcBef>
                <a:spcPct val="0"/>
              </a:spcBef>
              <a:spcAft>
                <a:spcPct val="0"/>
              </a:spcAft>
              <a:defRPr sz="3618" b="1">
                <a:solidFill>
                  <a:schemeClr val="folHlink"/>
                </a:solidFill>
                <a:latin typeface="Arial" charset="0"/>
              </a:defRPr>
            </a:lvl4pPr>
            <a:lvl5pPr algn="ctr" defTabSz="871786" rtl="0" eaLnBrk="1" fontAlgn="base" hangingPunct="1">
              <a:spcBef>
                <a:spcPct val="0"/>
              </a:spcBef>
              <a:spcAft>
                <a:spcPct val="0"/>
              </a:spcAft>
              <a:defRPr sz="3618" b="1">
                <a:solidFill>
                  <a:schemeClr val="folHlink"/>
                </a:solidFill>
                <a:latin typeface="Arial" charset="0"/>
              </a:defRPr>
            </a:lvl5pPr>
            <a:lvl6pPr marL="398359" algn="ctr" defTabSz="874183" rtl="0" eaLnBrk="1" fontAlgn="base" hangingPunct="1">
              <a:spcBef>
                <a:spcPct val="0"/>
              </a:spcBef>
              <a:spcAft>
                <a:spcPct val="0"/>
              </a:spcAft>
              <a:defRPr sz="3618" b="1">
                <a:solidFill>
                  <a:schemeClr val="folHlink"/>
                </a:solidFill>
                <a:latin typeface="Arial" charset="0"/>
              </a:defRPr>
            </a:lvl6pPr>
            <a:lvl7pPr marL="796719" algn="ctr" defTabSz="874183" rtl="0" eaLnBrk="1" fontAlgn="base" hangingPunct="1">
              <a:spcBef>
                <a:spcPct val="0"/>
              </a:spcBef>
              <a:spcAft>
                <a:spcPct val="0"/>
              </a:spcAft>
              <a:defRPr sz="3618" b="1">
                <a:solidFill>
                  <a:schemeClr val="folHlink"/>
                </a:solidFill>
                <a:latin typeface="Arial" charset="0"/>
              </a:defRPr>
            </a:lvl7pPr>
            <a:lvl8pPr marL="1195080" algn="ctr" defTabSz="874183" rtl="0" eaLnBrk="1" fontAlgn="base" hangingPunct="1">
              <a:spcBef>
                <a:spcPct val="0"/>
              </a:spcBef>
              <a:spcAft>
                <a:spcPct val="0"/>
              </a:spcAft>
              <a:defRPr sz="3618" b="1">
                <a:solidFill>
                  <a:schemeClr val="folHlink"/>
                </a:solidFill>
                <a:latin typeface="Arial" charset="0"/>
              </a:defRPr>
            </a:lvl8pPr>
            <a:lvl9pPr marL="1593434" algn="ctr" defTabSz="874183" rtl="0" eaLnBrk="1" fontAlgn="base" hangingPunct="1">
              <a:spcBef>
                <a:spcPct val="0"/>
              </a:spcBef>
              <a:spcAft>
                <a:spcPct val="0"/>
              </a:spcAft>
              <a:defRPr sz="3618" b="1">
                <a:solidFill>
                  <a:schemeClr val="folHlink"/>
                </a:solidFill>
                <a:latin typeface="Arial" charset="0"/>
              </a:defRPr>
            </a:lvl9pPr>
          </a:lstStyle>
          <a:p>
            <a:pPr defTabSz="769264">
              <a:spcBef>
                <a:spcPts val="0"/>
              </a:spcBef>
              <a:spcAft>
                <a:spcPts val="0"/>
              </a:spcAft>
            </a:pPr>
            <a:r>
              <a:rPr lang="en-US" sz="3177" dirty="0">
                <a:solidFill>
                  <a:srgbClr val="000066"/>
                </a:solidFill>
                <a:latin typeface="Arial"/>
              </a:rPr>
              <a:t>Marking CUI</a:t>
            </a:r>
          </a:p>
          <a:p>
            <a:pPr defTabSz="769264">
              <a:spcBef>
                <a:spcPts val="0"/>
              </a:spcBef>
              <a:spcAft>
                <a:spcPts val="0"/>
              </a:spcAft>
            </a:pPr>
            <a:r>
              <a:rPr lang="en-US" sz="2471" dirty="0">
                <a:solidFill>
                  <a:srgbClr val="000066"/>
                </a:solidFill>
                <a:latin typeface="Arial"/>
              </a:rPr>
              <a:t>(Unclassified Documents)</a:t>
            </a:r>
          </a:p>
        </p:txBody>
      </p:sp>
      <p:sp>
        <p:nvSpPr>
          <p:cNvPr id="4" name="Content Placeholder 2"/>
          <p:cNvSpPr txBox="1">
            <a:spLocks/>
          </p:cNvSpPr>
          <p:nvPr/>
        </p:nvSpPr>
        <p:spPr>
          <a:xfrm>
            <a:off x="1658470" y="1125779"/>
            <a:ext cx="8732323" cy="5140704"/>
          </a:xfrm>
          <a:prstGeom prst="rect">
            <a:avLst/>
          </a:prstGeom>
        </p:spPr>
        <p:txBody>
          <a:bodyPr/>
          <a:lstStyle>
            <a:lvl1pPr marL="397147" indent="-397147" algn="l" defTabSz="871786" rtl="0" eaLnBrk="1" fontAlgn="base" hangingPunct="1">
              <a:spcBef>
                <a:spcPct val="50000"/>
              </a:spcBef>
              <a:spcAft>
                <a:spcPct val="0"/>
              </a:spcAft>
              <a:buChar char="•"/>
              <a:defRPr sz="2471" b="1">
                <a:solidFill>
                  <a:schemeClr val="tx1"/>
                </a:solidFill>
                <a:latin typeface="+mn-lt"/>
                <a:ea typeface="+mn-ea"/>
                <a:cs typeface="+mn-cs"/>
                <a:sym typeface="Wingdings" pitchFamily="2" charset="2"/>
              </a:defRPr>
            </a:lvl1pPr>
            <a:lvl2pPr marL="794281" indent="-397147" algn="l" defTabSz="871786" rtl="0" eaLnBrk="1" fontAlgn="base" hangingPunct="1">
              <a:spcBef>
                <a:spcPct val="50000"/>
              </a:spcBef>
              <a:spcAft>
                <a:spcPct val="0"/>
              </a:spcAft>
              <a:buChar char="•"/>
              <a:defRPr sz="2206">
                <a:solidFill>
                  <a:schemeClr val="tx1"/>
                </a:solidFill>
                <a:latin typeface="+mn-lt"/>
                <a:sym typeface="Wingdings" pitchFamily="2" charset="2"/>
              </a:defRPr>
            </a:lvl2pPr>
            <a:lvl3pPr marL="1194206" indent="-397147" algn="l" defTabSz="871786" rtl="0" eaLnBrk="1" fontAlgn="base" hangingPunct="1">
              <a:spcBef>
                <a:spcPct val="50000"/>
              </a:spcBef>
              <a:spcAft>
                <a:spcPct val="0"/>
              </a:spcAft>
              <a:buChar char="•"/>
              <a:defRPr sz="2206">
                <a:solidFill>
                  <a:schemeClr val="tx1"/>
                </a:solidFill>
                <a:latin typeface="+mn-lt"/>
                <a:sym typeface="Wingdings" pitchFamily="2" charset="2"/>
              </a:defRPr>
            </a:lvl3pPr>
            <a:lvl4pPr marL="1589965" indent="-394373" algn="l" defTabSz="871786" rtl="0" eaLnBrk="1" fontAlgn="base" hangingPunct="1">
              <a:spcBef>
                <a:spcPct val="50000"/>
              </a:spcBef>
              <a:spcAft>
                <a:spcPct val="0"/>
              </a:spcAft>
              <a:buChar char="•"/>
              <a:defRPr sz="2206">
                <a:solidFill>
                  <a:schemeClr val="tx1"/>
                </a:solidFill>
                <a:latin typeface="+mn-lt"/>
              </a:defRPr>
            </a:lvl4pPr>
            <a:lvl5pPr marL="1988500" indent="-395760" algn="l" defTabSz="871786" rtl="0" eaLnBrk="1" fontAlgn="base" hangingPunct="1">
              <a:spcBef>
                <a:spcPct val="50000"/>
              </a:spcBef>
              <a:spcAft>
                <a:spcPct val="0"/>
              </a:spcAft>
              <a:buChar char="•"/>
              <a:defRPr sz="1765">
                <a:solidFill>
                  <a:schemeClr val="tx1"/>
                </a:solidFill>
                <a:latin typeface="+mn-lt"/>
                <a:sym typeface="Wingdings" pitchFamily="2" charset="2"/>
              </a:defRPr>
            </a:lvl5pPr>
            <a:lvl6pPr marL="2388772" indent="-396976" algn="l" defTabSz="874183" rtl="0" eaLnBrk="1" fontAlgn="base" hangingPunct="1">
              <a:spcBef>
                <a:spcPct val="50000"/>
              </a:spcBef>
              <a:spcAft>
                <a:spcPct val="0"/>
              </a:spcAft>
              <a:buChar char="•"/>
              <a:defRPr sz="1765">
                <a:solidFill>
                  <a:schemeClr val="tx1"/>
                </a:solidFill>
                <a:latin typeface="+mn-lt"/>
                <a:sym typeface="Wingdings" pitchFamily="2" charset="2"/>
              </a:defRPr>
            </a:lvl6pPr>
            <a:lvl7pPr marL="2787125" indent="-396976" algn="l" defTabSz="874183" rtl="0" eaLnBrk="1" fontAlgn="base" hangingPunct="1">
              <a:spcBef>
                <a:spcPct val="50000"/>
              </a:spcBef>
              <a:spcAft>
                <a:spcPct val="0"/>
              </a:spcAft>
              <a:buChar char="•"/>
              <a:defRPr sz="1765">
                <a:solidFill>
                  <a:schemeClr val="tx1"/>
                </a:solidFill>
                <a:latin typeface="+mn-lt"/>
                <a:sym typeface="Wingdings" pitchFamily="2" charset="2"/>
              </a:defRPr>
            </a:lvl7pPr>
            <a:lvl8pPr marL="3185486" indent="-396976" algn="l" defTabSz="874183" rtl="0" eaLnBrk="1" fontAlgn="base" hangingPunct="1">
              <a:spcBef>
                <a:spcPct val="50000"/>
              </a:spcBef>
              <a:spcAft>
                <a:spcPct val="0"/>
              </a:spcAft>
              <a:buChar char="•"/>
              <a:defRPr sz="1765">
                <a:solidFill>
                  <a:schemeClr val="tx1"/>
                </a:solidFill>
                <a:latin typeface="+mn-lt"/>
                <a:sym typeface="Wingdings" pitchFamily="2" charset="2"/>
              </a:defRPr>
            </a:lvl8pPr>
            <a:lvl9pPr marL="3583847" indent="-396976" algn="l" defTabSz="874183" rtl="0" eaLnBrk="1" fontAlgn="base" hangingPunct="1">
              <a:spcBef>
                <a:spcPct val="50000"/>
              </a:spcBef>
              <a:spcAft>
                <a:spcPct val="0"/>
              </a:spcAft>
              <a:buChar char="•"/>
              <a:defRPr sz="1765">
                <a:solidFill>
                  <a:schemeClr val="tx1"/>
                </a:solidFill>
                <a:latin typeface="+mn-lt"/>
                <a:sym typeface="Wingdings" pitchFamily="2" charset="2"/>
              </a:defRPr>
            </a:lvl9pPr>
          </a:lstStyle>
          <a:p>
            <a:pPr marL="700874" lvl="1" indent="-350443" defTabSz="769264"/>
            <a:r>
              <a:rPr lang="en-US" sz="1588" b="1" dirty="0">
                <a:solidFill>
                  <a:srgbClr val="000000"/>
                </a:solidFill>
                <a:latin typeface="Arial"/>
              </a:rPr>
              <a:t>CUI designation indicator</a:t>
            </a:r>
            <a:r>
              <a:rPr lang="en-US" sz="1588" dirty="0">
                <a:solidFill>
                  <a:srgbClr val="000000"/>
                </a:solidFill>
                <a:latin typeface="Arial"/>
              </a:rPr>
              <a:t> must be annotated on first page or cover of CUI documents and placed at bottom right side of all documents containing CUI.</a:t>
            </a:r>
          </a:p>
          <a:p>
            <a:pPr marL="700874" lvl="1" indent="-350443" defTabSz="769264"/>
            <a:endParaRPr lang="en-US" sz="1588" dirty="0">
              <a:solidFill>
                <a:srgbClr val="000000"/>
              </a:solidFill>
              <a:latin typeface="Arial"/>
            </a:endParaRPr>
          </a:p>
          <a:p>
            <a:pPr marL="1053767" lvl="2" indent="-350443" defTabSz="769264"/>
            <a:r>
              <a:rPr lang="en-US" sz="1588" b="1" dirty="0">
                <a:solidFill>
                  <a:srgbClr val="000000"/>
                </a:solidFill>
                <a:latin typeface="Arial"/>
              </a:rPr>
              <a:t>Line 1</a:t>
            </a:r>
            <a:r>
              <a:rPr lang="en-US" sz="1588" dirty="0">
                <a:solidFill>
                  <a:srgbClr val="000000"/>
                </a:solidFill>
                <a:latin typeface="Arial"/>
              </a:rPr>
              <a:t>  Controlled by: name of the DoD component (not required if identified in the letterhead)</a:t>
            </a:r>
          </a:p>
          <a:p>
            <a:pPr marL="1053767" lvl="2" indent="-350443" defTabSz="769264"/>
            <a:r>
              <a:rPr lang="en-US" sz="1588" b="1" dirty="0">
                <a:solidFill>
                  <a:srgbClr val="000000"/>
                </a:solidFill>
                <a:latin typeface="Arial"/>
              </a:rPr>
              <a:t>Line 2</a:t>
            </a:r>
            <a:r>
              <a:rPr lang="en-US" sz="1588" dirty="0">
                <a:solidFill>
                  <a:srgbClr val="000000"/>
                </a:solidFill>
                <a:latin typeface="Arial"/>
              </a:rPr>
              <a:t>  Controlled by: name of the office making the CUI determination</a:t>
            </a:r>
          </a:p>
          <a:p>
            <a:pPr marL="1053767" lvl="2" indent="-350443" defTabSz="769264"/>
            <a:r>
              <a:rPr lang="en-US" sz="1588" b="1" dirty="0">
                <a:solidFill>
                  <a:srgbClr val="000000"/>
                </a:solidFill>
                <a:latin typeface="Arial"/>
              </a:rPr>
              <a:t>Line 3</a:t>
            </a:r>
            <a:r>
              <a:rPr lang="en-US" sz="1588" dirty="0">
                <a:solidFill>
                  <a:srgbClr val="000000"/>
                </a:solidFill>
                <a:latin typeface="Arial"/>
              </a:rPr>
              <a:t>  CUI Category: identify all types of CUI contained in the document</a:t>
            </a:r>
          </a:p>
          <a:p>
            <a:pPr marL="1053767" lvl="2" indent="-350443" defTabSz="769264"/>
            <a:r>
              <a:rPr lang="en-US" sz="1588" b="1" dirty="0">
                <a:solidFill>
                  <a:srgbClr val="000000"/>
                </a:solidFill>
                <a:latin typeface="Arial"/>
              </a:rPr>
              <a:t>Line 4</a:t>
            </a:r>
            <a:r>
              <a:rPr lang="en-US" sz="1588" dirty="0">
                <a:solidFill>
                  <a:srgbClr val="000000"/>
                </a:solidFill>
                <a:latin typeface="Arial"/>
              </a:rPr>
              <a:t>  Distribution/Dissemination Control: applicable distribution statement or dissemination controls</a:t>
            </a:r>
          </a:p>
          <a:p>
            <a:pPr marL="1053767" lvl="2" indent="-350443" defTabSz="769264"/>
            <a:r>
              <a:rPr lang="en-US" sz="1588" b="1" dirty="0">
                <a:solidFill>
                  <a:srgbClr val="000000"/>
                </a:solidFill>
                <a:latin typeface="Arial"/>
              </a:rPr>
              <a:t>Line 5</a:t>
            </a:r>
            <a:r>
              <a:rPr lang="en-US" sz="1588" dirty="0">
                <a:solidFill>
                  <a:srgbClr val="000000"/>
                </a:solidFill>
                <a:latin typeface="Arial"/>
              </a:rPr>
              <a:t>  POC: phone #, mailbox, or email of originating DoD component or authorized CUI holder</a:t>
            </a:r>
          </a:p>
          <a:p>
            <a:pPr marL="350443" indent="-350443" defTabSz="769264"/>
            <a:endParaRPr lang="en-US" sz="1588" dirty="0">
              <a:solidFill>
                <a:srgbClr val="000000"/>
              </a:solidFill>
              <a:latin typeface="Arial"/>
            </a:endParaRPr>
          </a:p>
          <a:p>
            <a:pPr marL="0" indent="0" defTabSz="769264">
              <a:lnSpc>
                <a:spcPct val="120000"/>
              </a:lnSpc>
              <a:spcBef>
                <a:spcPts val="0"/>
              </a:spcBef>
              <a:spcAft>
                <a:spcPts val="0"/>
              </a:spcAft>
              <a:buNone/>
              <a:tabLst>
                <a:tab pos="4486795" algn="l"/>
              </a:tabLst>
            </a:pPr>
            <a:r>
              <a:rPr lang="en-US" sz="1588" dirty="0">
                <a:solidFill>
                  <a:srgbClr val="000000"/>
                </a:solidFill>
                <a:latin typeface="Calibri" panose="020F0502020204030204" pitchFamily="34" charset="0"/>
                <a:cs typeface="Calibri" panose="020F0502020204030204" pitchFamily="34" charset="0"/>
              </a:rPr>
              <a:t>	</a:t>
            </a:r>
            <a:r>
              <a:rPr lang="en-US" sz="1412" dirty="0">
                <a:solidFill>
                  <a:srgbClr val="000000"/>
                </a:solidFill>
                <a:latin typeface="Arial"/>
              </a:rPr>
              <a:t>Controlled by: </a:t>
            </a:r>
            <a:r>
              <a:rPr lang="en-US" sz="1412" b="0" dirty="0">
                <a:solidFill>
                  <a:srgbClr val="000000"/>
                </a:solidFill>
                <a:latin typeface="Arial"/>
              </a:rPr>
              <a:t>OUSD(I&amp;S)</a:t>
            </a:r>
          </a:p>
          <a:p>
            <a:pPr marL="0" indent="0" defTabSz="769264">
              <a:lnSpc>
                <a:spcPct val="120000"/>
              </a:lnSpc>
              <a:spcBef>
                <a:spcPts val="0"/>
              </a:spcBef>
              <a:spcAft>
                <a:spcPts val="0"/>
              </a:spcAft>
              <a:buNone/>
              <a:tabLst>
                <a:tab pos="4486795" algn="l"/>
              </a:tabLst>
            </a:pPr>
            <a:r>
              <a:rPr lang="en-US" sz="1412" dirty="0">
                <a:solidFill>
                  <a:srgbClr val="000000"/>
                </a:solidFill>
                <a:latin typeface="Arial"/>
              </a:rPr>
              <a:t>	Controlled by: </a:t>
            </a:r>
            <a:r>
              <a:rPr lang="en-US" sz="1412" b="0" dirty="0">
                <a:solidFill>
                  <a:srgbClr val="000000"/>
                </a:solidFill>
                <a:latin typeface="Arial"/>
              </a:rPr>
              <a:t>CL&amp;S INFOSEC CUI	</a:t>
            </a:r>
          </a:p>
          <a:p>
            <a:pPr marL="0" indent="0" defTabSz="769264">
              <a:lnSpc>
                <a:spcPct val="120000"/>
              </a:lnSpc>
              <a:spcBef>
                <a:spcPts val="0"/>
              </a:spcBef>
              <a:spcAft>
                <a:spcPts val="0"/>
              </a:spcAft>
              <a:buNone/>
              <a:tabLst>
                <a:tab pos="4486795" algn="l"/>
              </a:tabLst>
            </a:pPr>
            <a:r>
              <a:rPr lang="en-US" sz="1412" dirty="0">
                <a:solidFill>
                  <a:srgbClr val="000000"/>
                </a:solidFill>
                <a:latin typeface="Arial"/>
              </a:rPr>
              <a:t>	Category(</a:t>
            </a:r>
            <a:r>
              <a:rPr lang="en-US" sz="1412" dirty="0" err="1">
                <a:solidFill>
                  <a:srgbClr val="000000"/>
                </a:solidFill>
                <a:latin typeface="Arial"/>
              </a:rPr>
              <a:t>ies</a:t>
            </a:r>
            <a:r>
              <a:rPr lang="en-US" sz="1412" dirty="0">
                <a:solidFill>
                  <a:srgbClr val="000000"/>
                </a:solidFill>
                <a:latin typeface="Arial"/>
              </a:rPr>
              <a:t>): </a:t>
            </a:r>
            <a:r>
              <a:rPr lang="en-US" sz="1412" b="0" dirty="0">
                <a:solidFill>
                  <a:srgbClr val="000000"/>
                </a:solidFill>
                <a:latin typeface="Arial"/>
              </a:rPr>
              <a:t>PRVCY</a:t>
            </a:r>
          </a:p>
          <a:p>
            <a:pPr marL="0" indent="0" defTabSz="769264">
              <a:lnSpc>
                <a:spcPct val="120000"/>
              </a:lnSpc>
              <a:spcBef>
                <a:spcPts val="0"/>
              </a:spcBef>
              <a:spcAft>
                <a:spcPts val="0"/>
              </a:spcAft>
              <a:buNone/>
              <a:tabLst>
                <a:tab pos="4486795" algn="l"/>
              </a:tabLst>
            </a:pPr>
            <a:r>
              <a:rPr lang="en-US" sz="1412" dirty="0">
                <a:solidFill>
                  <a:srgbClr val="000000"/>
                </a:solidFill>
                <a:latin typeface="Arial"/>
              </a:rPr>
              <a:t>	Distribution/Dissemination Controls: </a:t>
            </a:r>
            <a:r>
              <a:rPr lang="en-US" sz="1412" b="0" dirty="0">
                <a:solidFill>
                  <a:srgbClr val="000000"/>
                </a:solidFill>
                <a:latin typeface="Arial"/>
              </a:rPr>
              <a:t>FEDCON</a:t>
            </a:r>
          </a:p>
          <a:p>
            <a:pPr marL="0" indent="0" defTabSz="769264">
              <a:lnSpc>
                <a:spcPct val="120000"/>
              </a:lnSpc>
              <a:spcBef>
                <a:spcPts val="0"/>
              </a:spcBef>
              <a:spcAft>
                <a:spcPts val="0"/>
              </a:spcAft>
              <a:buNone/>
              <a:tabLst>
                <a:tab pos="4486795" algn="l"/>
              </a:tabLst>
            </a:pPr>
            <a:r>
              <a:rPr lang="en-US" sz="1412" dirty="0">
                <a:solidFill>
                  <a:srgbClr val="000000"/>
                </a:solidFill>
                <a:latin typeface="Arial"/>
              </a:rPr>
              <a:t>	POC: </a:t>
            </a:r>
            <a:r>
              <a:rPr lang="en-US" sz="1412" b="0" dirty="0">
                <a:solidFill>
                  <a:srgbClr val="000000"/>
                </a:solidFill>
                <a:latin typeface="Arial"/>
              </a:rPr>
              <a:t>John Brown, 703-555-0123</a:t>
            </a:r>
          </a:p>
          <a:p>
            <a:pPr marL="350443" indent="-350443" defTabSz="769264"/>
            <a:endParaRPr lang="en-US" sz="1588" dirty="0">
              <a:solidFill>
                <a:srgbClr val="000000"/>
              </a:solidFill>
              <a:latin typeface="Arial"/>
            </a:endParaRPr>
          </a:p>
          <a:p>
            <a:pPr marL="350443" indent="-350443" defTabSz="769264"/>
            <a:endParaRPr lang="en-US" sz="1588" dirty="0">
              <a:solidFill>
                <a:srgbClr val="000000"/>
              </a:solidFill>
              <a:latin typeface="Arial"/>
            </a:endParaRPr>
          </a:p>
        </p:txBody>
      </p:sp>
      <p:sp>
        <p:nvSpPr>
          <p:cNvPr id="8" name="Oval 7"/>
          <p:cNvSpPr/>
          <p:nvPr/>
        </p:nvSpPr>
        <p:spPr bwMode="auto">
          <a:xfrm>
            <a:off x="-1474406" y="5110967"/>
            <a:ext cx="1259686" cy="390356"/>
          </a:xfrm>
          <a:prstGeom prst="ellipse">
            <a:avLst/>
          </a:prstGeom>
          <a:noFill/>
          <a:ln w="9525" cap="flat" cmpd="sng" algn="ctr">
            <a:noFill/>
            <a:prstDash val="solid"/>
            <a:round/>
            <a:headEnd type="none" w="med" len="med"/>
            <a:tailEnd type="none" w="med" len="med"/>
          </a:ln>
          <a:effectLst/>
        </p:spPr>
        <p:txBody>
          <a:bodyPr vert="horz" wrap="square" lIns="97369" tIns="48684" rIns="97369" bIns="48684" numCol="1" rtlCol="0" anchor="t" anchorCtr="0" compatLnSpc="1">
            <a:prstTxWarp prst="textNoShape">
              <a:avLst/>
            </a:prstTxWarp>
            <a:spAutoFit/>
          </a:bodyPr>
          <a:lstStyle/>
          <a:p>
            <a:pPr defTabSz="973843" eaLnBrk="0" fontAlgn="base" hangingPunct="0">
              <a:spcBef>
                <a:spcPct val="50000"/>
              </a:spcBef>
              <a:spcAft>
                <a:spcPct val="0"/>
              </a:spcAft>
            </a:pPr>
            <a:endParaRPr lang="en-US" sz="1165">
              <a:solidFill>
                <a:srgbClr val="000000"/>
              </a:solidFill>
              <a:latin typeface="Arial" charset="0"/>
              <a:sym typeface="Wingdings" pitchFamily="2" charset="2"/>
            </a:endParaRPr>
          </a:p>
        </p:txBody>
      </p:sp>
    </p:spTree>
    <p:extLst>
      <p:ext uri="{BB962C8B-B14F-4D97-AF65-F5344CB8AC3E}">
        <p14:creationId xmlns:p14="http://schemas.microsoft.com/office/powerpoint/2010/main" val="32096820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550303" y="57478"/>
            <a:ext cx="6913956" cy="637475"/>
          </a:xfrm>
          <a:prstGeom prst="rect">
            <a:avLst/>
          </a:prstGeom>
        </p:spPr>
        <p:txBody>
          <a:bodyPr/>
          <a:lstStyle>
            <a:lvl1pPr algn="ctr" defTabSz="871786" rtl="0" eaLnBrk="1" fontAlgn="base" hangingPunct="1">
              <a:spcBef>
                <a:spcPct val="0"/>
              </a:spcBef>
              <a:spcAft>
                <a:spcPct val="0"/>
              </a:spcAft>
              <a:defRPr sz="3618" b="1">
                <a:solidFill>
                  <a:schemeClr val="folHlink"/>
                </a:solidFill>
                <a:latin typeface="+mj-lt"/>
                <a:ea typeface="+mj-ea"/>
                <a:cs typeface="+mj-cs"/>
              </a:defRPr>
            </a:lvl1pPr>
            <a:lvl2pPr algn="ctr" defTabSz="871786" rtl="0" eaLnBrk="1" fontAlgn="base" hangingPunct="1">
              <a:spcBef>
                <a:spcPct val="0"/>
              </a:spcBef>
              <a:spcAft>
                <a:spcPct val="0"/>
              </a:spcAft>
              <a:defRPr sz="3618" b="1">
                <a:solidFill>
                  <a:schemeClr val="folHlink"/>
                </a:solidFill>
                <a:latin typeface="Arial" charset="0"/>
              </a:defRPr>
            </a:lvl2pPr>
            <a:lvl3pPr algn="ctr" defTabSz="871786" rtl="0" eaLnBrk="1" fontAlgn="base" hangingPunct="1">
              <a:spcBef>
                <a:spcPct val="0"/>
              </a:spcBef>
              <a:spcAft>
                <a:spcPct val="0"/>
              </a:spcAft>
              <a:defRPr sz="3618" b="1">
                <a:solidFill>
                  <a:schemeClr val="folHlink"/>
                </a:solidFill>
                <a:latin typeface="Arial" charset="0"/>
              </a:defRPr>
            </a:lvl3pPr>
            <a:lvl4pPr algn="ctr" defTabSz="871786" rtl="0" eaLnBrk="1" fontAlgn="base" hangingPunct="1">
              <a:spcBef>
                <a:spcPct val="0"/>
              </a:spcBef>
              <a:spcAft>
                <a:spcPct val="0"/>
              </a:spcAft>
              <a:defRPr sz="3618" b="1">
                <a:solidFill>
                  <a:schemeClr val="folHlink"/>
                </a:solidFill>
                <a:latin typeface="Arial" charset="0"/>
              </a:defRPr>
            </a:lvl4pPr>
            <a:lvl5pPr algn="ctr" defTabSz="871786" rtl="0" eaLnBrk="1" fontAlgn="base" hangingPunct="1">
              <a:spcBef>
                <a:spcPct val="0"/>
              </a:spcBef>
              <a:spcAft>
                <a:spcPct val="0"/>
              </a:spcAft>
              <a:defRPr sz="3618" b="1">
                <a:solidFill>
                  <a:schemeClr val="folHlink"/>
                </a:solidFill>
                <a:latin typeface="Arial" charset="0"/>
              </a:defRPr>
            </a:lvl5pPr>
            <a:lvl6pPr marL="398359" algn="ctr" defTabSz="874183" rtl="0" eaLnBrk="1" fontAlgn="base" hangingPunct="1">
              <a:spcBef>
                <a:spcPct val="0"/>
              </a:spcBef>
              <a:spcAft>
                <a:spcPct val="0"/>
              </a:spcAft>
              <a:defRPr sz="3618" b="1">
                <a:solidFill>
                  <a:schemeClr val="folHlink"/>
                </a:solidFill>
                <a:latin typeface="Arial" charset="0"/>
              </a:defRPr>
            </a:lvl6pPr>
            <a:lvl7pPr marL="796719" algn="ctr" defTabSz="874183" rtl="0" eaLnBrk="1" fontAlgn="base" hangingPunct="1">
              <a:spcBef>
                <a:spcPct val="0"/>
              </a:spcBef>
              <a:spcAft>
                <a:spcPct val="0"/>
              </a:spcAft>
              <a:defRPr sz="3618" b="1">
                <a:solidFill>
                  <a:schemeClr val="folHlink"/>
                </a:solidFill>
                <a:latin typeface="Arial" charset="0"/>
              </a:defRPr>
            </a:lvl7pPr>
            <a:lvl8pPr marL="1195080" algn="ctr" defTabSz="874183" rtl="0" eaLnBrk="1" fontAlgn="base" hangingPunct="1">
              <a:spcBef>
                <a:spcPct val="0"/>
              </a:spcBef>
              <a:spcAft>
                <a:spcPct val="0"/>
              </a:spcAft>
              <a:defRPr sz="3618" b="1">
                <a:solidFill>
                  <a:schemeClr val="folHlink"/>
                </a:solidFill>
                <a:latin typeface="Arial" charset="0"/>
              </a:defRPr>
            </a:lvl8pPr>
            <a:lvl9pPr marL="1593434" algn="ctr" defTabSz="874183" rtl="0" eaLnBrk="1" fontAlgn="base" hangingPunct="1">
              <a:spcBef>
                <a:spcPct val="0"/>
              </a:spcBef>
              <a:spcAft>
                <a:spcPct val="0"/>
              </a:spcAft>
              <a:defRPr sz="3618" b="1">
                <a:solidFill>
                  <a:schemeClr val="folHlink"/>
                </a:solidFill>
                <a:latin typeface="Arial" charset="0"/>
              </a:defRPr>
            </a:lvl9pPr>
          </a:lstStyle>
          <a:p>
            <a:pPr defTabSz="769264">
              <a:spcBef>
                <a:spcPts val="0"/>
              </a:spcBef>
              <a:spcAft>
                <a:spcPts val="0"/>
              </a:spcAft>
            </a:pPr>
            <a:r>
              <a:rPr lang="en-US" sz="3177" dirty="0">
                <a:solidFill>
                  <a:srgbClr val="000066"/>
                </a:solidFill>
                <a:latin typeface="Arial"/>
              </a:rPr>
              <a:t>Marking CUI</a:t>
            </a:r>
          </a:p>
          <a:p>
            <a:pPr defTabSz="769264">
              <a:spcBef>
                <a:spcPts val="0"/>
              </a:spcBef>
              <a:spcAft>
                <a:spcPts val="0"/>
              </a:spcAft>
            </a:pPr>
            <a:r>
              <a:rPr lang="en-US" sz="2471" dirty="0">
                <a:solidFill>
                  <a:srgbClr val="000066"/>
                </a:solidFill>
                <a:latin typeface="Arial"/>
              </a:rPr>
              <a:t>(Unclassified Documents)</a:t>
            </a:r>
          </a:p>
        </p:txBody>
      </p:sp>
      <p:sp>
        <p:nvSpPr>
          <p:cNvPr id="8" name="Oval 7"/>
          <p:cNvSpPr/>
          <p:nvPr/>
        </p:nvSpPr>
        <p:spPr bwMode="auto">
          <a:xfrm>
            <a:off x="-1474406" y="5110967"/>
            <a:ext cx="1259686" cy="390356"/>
          </a:xfrm>
          <a:prstGeom prst="ellipse">
            <a:avLst/>
          </a:prstGeom>
          <a:noFill/>
          <a:ln w="9525" cap="flat" cmpd="sng" algn="ctr">
            <a:noFill/>
            <a:prstDash val="solid"/>
            <a:round/>
            <a:headEnd type="none" w="med" len="med"/>
            <a:tailEnd type="none" w="med" len="med"/>
          </a:ln>
          <a:effectLst/>
        </p:spPr>
        <p:txBody>
          <a:bodyPr vert="horz" wrap="square" lIns="97369" tIns="48684" rIns="97369" bIns="48684" numCol="1" rtlCol="0" anchor="t" anchorCtr="0" compatLnSpc="1">
            <a:prstTxWarp prst="textNoShape">
              <a:avLst/>
            </a:prstTxWarp>
            <a:spAutoFit/>
          </a:bodyPr>
          <a:lstStyle/>
          <a:p>
            <a:pPr defTabSz="973843" eaLnBrk="0" fontAlgn="base" hangingPunct="0">
              <a:spcBef>
                <a:spcPct val="50000"/>
              </a:spcBef>
              <a:spcAft>
                <a:spcPct val="0"/>
              </a:spcAft>
            </a:pPr>
            <a:endParaRPr lang="en-US" sz="1165">
              <a:solidFill>
                <a:srgbClr val="000000"/>
              </a:solidFill>
              <a:latin typeface="Arial" charset="0"/>
              <a:sym typeface="Wingdings" pitchFamily="2" charset="2"/>
            </a:endParaRPr>
          </a:p>
        </p:txBody>
      </p:sp>
      <p:sp>
        <p:nvSpPr>
          <p:cNvPr id="7" name="TextBox 6"/>
          <p:cNvSpPr txBox="1"/>
          <p:nvPr/>
        </p:nvSpPr>
        <p:spPr>
          <a:xfrm>
            <a:off x="2169773" y="1181685"/>
            <a:ext cx="3227295" cy="235001"/>
          </a:xfrm>
          <a:prstGeom prst="rect">
            <a:avLst/>
          </a:prstGeom>
          <a:noFill/>
        </p:spPr>
        <p:txBody>
          <a:bodyPr wrap="square" rtlCol="0">
            <a:spAutoFit/>
          </a:bodyPr>
          <a:lstStyle/>
          <a:p>
            <a:pPr algn="ctr" defTabSz="806867"/>
            <a:r>
              <a:rPr lang="en-US" sz="927" b="1" dirty="0">
                <a:solidFill>
                  <a:srgbClr val="000000"/>
                </a:solidFill>
                <a:latin typeface="Arial" panose="020B0604020202020204" pitchFamily="34" charset="0"/>
                <a:cs typeface="Arial" panose="020B0604020202020204" pitchFamily="34" charset="0"/>
              </a:rPr>
              <a:t>Minimum marking requirements.  No portion markings</a:t>
            </a:r>
          </a:p>
        </p:txBody>
      </p:sp>
      <p:sp>
        <p:nvSpPr>
          <p:cNvPr id="2" name="Rectangle 1"/>
          <p:cNvSpPr/>
          <p:nvPr/>
        </p:nvSpPr>
        <p:spPr>
          <a:xfrm>
            <a:off x="1926255" y="1385360"/>
            <a:ext cx="3634991" cy="4662751"/>
          </a:xfrm>
          <a:prstGeom prst="rect">
            <a:avLst/>
          </a:prstGeom>
          <a:ln>
            <a:solidFill>
              <a:schemeClr val="tx1"/>
            </a:solidFill>
          </a:ln>
        </p:spPr>
        <p:txBody>
          <a:bodyPr wrap="square">
            <a:spAutoFit/>
          </a:bodyPr>
          <a:lstStyle/>
          <a:p>
            <a:pPr algn="ctr" defTabSz="806867">
              <a:lnSpc>
                <a:spcPct val="120000"/>
              </a:lnSpc>
              <a:spcBef>
                <a:spcPts val="1059"/>
              </a:spcBef>
            </a:pPr>
            <a:r>
              <a:rPr lang="en-US" sz="794" dirty="0">
                <a:solidFill>
                  <a:srgbClr val="000000"/>
                </a:solidFill>
                <a:latin typeface="Calibri" panose="020F0502020204030204" pitchFamily="34" charset="0"/>
                <a:cs typeface="Calibri" panose="020F0502020204030204" pitchFamily="34" charset="0"/>
              </a:rPr>
              <a:t>CUI</a:t>
            </a:r>
          </a:p>
          <a:p>
            <a:pPr algn="ctr" defTabSz="806867"/>
            <a:r>
              <a:rPr lang="en-US" sz="794" dirty="0">
                <a:solidFill>
                  <a:srgbClr val="000000"/>
                </a:solidFill>
                <a:latin typeface="Calibri" panose="020F0502020204030204" pitchFamily="34" charset="0"/>
                <a:cs typeface="Calibri" panose="020F0502020204030204" pitchFamily="34" charset="0"/>
              </a:rPr>
              <a:t>Marking Requirements for CUI</a:t>
            </a:r>
          </a:p>
          <a:p>
            <a:pPr defTabSz="806867">
              <a:lnSpc>
                <a:spcPct val="120000"/>
              </a:lnSpc>
              <a:tabLst>
                <a:tab pos="201717" algn="l"/>
              </a:tabLst>
            </a:pPr>
            <a:r>
              <a:rPr lang="en-US" sz="794" dirty="0">
                <a:solidFill>
                  <a:srgbClr val="000000"/>
                </a:solidFill>
                <a:latin typeface="Calibri" panose="020F0502020204030204" pitchFamily="34" charset="0"/>
                <a:cs typeface="Calibri" panose="020F0502020204030204" pitchFamily="34" charset="0"/>
              </a:rPr>
              <a:t>1.	Banner line.</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At a minimum, CUI markings for unclassified documents will include the acronym "CUI" at the top and bottom of each  page.</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There is no requirement to add "UNCLASSIFIED" with the CUI marking.</a:t>
            </a:r>
          </a:p>
          <a:p>
            <a:pPr defTabSz="806867"/>
            <a:endParaRPr lang="en-US" sz="794" dirty="0">
              <a:solidFill>
                <a:srgbClr val="000000"/>
              </a:solidFill>
              <a:latin typeface="Calibri" panose="020F0502020204030204" pitchFamily="34" charset="0"/>
              <a:cs typeface="Calibri" panose="020F0502020204030204" pitchFamily="34" charset="0"/>
            </a:endParaRPr>
          </a:p>
          <a:p>
            <a:pPr defTabSz="806867">
              <a:lnSpc>
                <a:spcPct val="120000"/>
              </a:lnSpc>
              <a:tabLst>
                <a:tab pos="201717" algn="l"/>
              </a:tabLst>
            </a:pPr>
            <a:r>
              <a:rPr lang="en-US" sz="794" dirty="0">
                <a:solidFill>
                  <a:srgbClr val="000000"/>
                </a:solidFill>
                <a:latin typeface="Calibri" panose="020F0502020204030204" pitchFamily="34" charset="0"/>
                <a:cs typeface="Calibri" panose="020F0502020204030204" pitchFamily="34" charset="0"/>
              </a:rPr>
              <a:t>2.	Portion markings.</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Portion markings are optional. However, if portion markings are annotated, they must be applied to all portions, to include subjects, titles, headings, paragraphs, subparagraphs, bullet  points, etc.</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CUI portions will be annotated "(CUI)".</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Unclassified portion will be annotated "(U)".</a:t>
            </a:r>
          </a:p>
          <a:p>
            <a:pPr marL="403433" indent="-100858" defTabSz="806867"/>
            <a:endParaRPr lang="en-US" sz="794" dirty="0">
              <a:solidFill>
                <a:srgbClr val="000000"/>
              </a:solidFill>
              <a:latin typeface="Calibri" panose="020F0502020204030204" pitchFamily="34" charset="0"/>
              <a:cs typeface="Calibri" panose="020F0502020204030204" pitchFamily="34" charset="0"/>
            </a:endParaRPr>
          </a:p>
          <a:p>
            <a:pPr defTabSz="806867">
              <a:lnSpc>
                <a:spcPct val="120000"/>
              </a:lnSpc>
              <a:tabLst>
                <a:tab pos="201717" algn="l"/>
              </a:tabLst>
            </a:pPr>
            <a:r>
              <a:rPr lang="en-US" sz="794" dirty="0">
                <a:solidFill>
                  <a:srgbClr val="000000"/>
                </a:solidFill>
                <a:latin typeface="Calibri" panose="020F0502020204030204" pitchFamily="34" charset="0"/>
                <a:cs typeface="Calibri" panose="020F0502020204030204" pitchFamily="34" charset="0"/>
              </a:rPr>
              <a:t>3.	CUI designation indicator.</a:t>
            </a:r>
          </a:p>
          <a:p>
            <a:pPr marL="403433" indent="-100858" defTabSz="806867">
              <a:lnSpc>
                <a:spcPct val="120000"/>
              </a:lnSpc>
              <a:tabLst>
                <a:tab pos="2874462" algn="l"/>
              </a:tabLst>
            </a:pPr>
            <a:r>
              <a:rPr lang="en-US" sz="794" dirty="0">
                <a:solidFill>
                  <a:srgbClr val="000000"/>
                </a:solidFill>
                <a:latin typeface="Calibri" panose="020F0502020204030204" pitchFamily="34" charset="0"/>
                <a:cs typeface="Calibri" panose="020F0502020204030204" pitchFamily="34" charset="0"/>
              </a:rPr>
              <a:t>o	The first page or cover of any document containing CUI will include a CUI designation indicator.</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Line 1: the name of the DoD Component (not required if identified in letterhead)</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Line 2:  identification of the office</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Line 3: identification of the categories contained in the document.</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Line 4: Applicable distribution statement or dissemination controls.</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Line 5: Name and phone number or email of POC.</a:t>
            </a:r>
          </a:p>
          <a:p>
            <a:pPr marL="403433" indent="-100858" defTabSz="806867">
              <a:lnSpc>
                <a:spcPct val="120000"/>
              </a:lnSpc>
            </a:pPr>
            <a:endParaRPr lang="en-US" sz="794" dirty="0">
              <a:solidFill>
                <a:srgbClr val="000000"/>
              </a:solidFill>
              <a:latin typeface="Calibri" panose="020F0502020204030204" pitchFamily="34" charset="0"/>
              <a:cs typeface="Calibri" panose="020F0502020204030204" pitchFamily="34" charset="0"/>
            </a:endParaRPr>
          </a:p>
          <a:p>
            <a:pPr marL="403433" indent="-100858" defTabSz="806867">
              <a:lnSpc>
                <a:spcPct val="120000"/>
              </a:lnSpc>
            </a:pPr>
            <a:endParaRPr lang="en-US" sz="794" dirty="0">
              <a:solidFill>
                <a:srgbClr val="000000"/>
              </a:solidFill>
              <a:latin typeface="Calibri" panose="020F0502020204030204" pitchFamily="34" charset="0"/>
              <a:cs typeface="Calibri" panose="020F0502020204030204" pitchFamily="34" charset="0"/>
            </a:endParaRPr>
          </a:p>
          <a:p>
            <a:pPr defTabSz="806867">
              <a:lnSpc>
                <a:spcPct val="120000"/>
              </a:lnSpc>
              <a:tabLst>
                <a:tab pos="1311158" algn="l"/>
              </a:tabLst>
            </a:pPr>
            <a:r>
              <a:rPr lang="en-US" sz="794" dirty="0">
                <a:solidFill>
                  <a:srgbClr val="000000"/>
                </a:solidFill>
                <a:latin typeface="Calibri" panose="020F0502020204030204" pitchFamily="34" charset="0"/>
                <a:cs typeface="Calibri" panose="020F0502020204030204" pitchFamily="34" charset="0"/>
              </a:rPr>
              <a:t>	Controlled by: OUSD(I&amp;S)</a:t>
            </a:r>
          </a:p>
          <a:p>
            <a:pPr defTabSz="806867">
              <a:lnSpc>
                <a:spcPct val="120000"/>
              </a:lnSpc>
              <a:tabLst>
                <a:tab pos="1311158" algn="l"/>
              </a:tabLst>
            </a:pPr>
            <a:r>
              <a:rPr lang="en-US" sz="794" dirty="0">
                <a:solidFill>
                  <a:srgbClr val="000000"/>
                </a:solidFill>
                <a:latin typeface="Calibri" panose="020F0502020204030204" pitchFamily="34" charset="0"/>
                <a:cs typeface="Calibri" panose="020F0502020204030204" pitchFamily="34" charset="0"/>
              </a:rPr>
              <a:t>	Controlled by: CL&amp;S INFOSEC CUI	</a:t>
            </a:r>
          </a:p>
          <a:p>
            <a:pPr defTabSz="806867">
              <a:lnSpc>
                <a:spcPct val="120000"/>
              </a:lnSpc>
              <a:tabLst>
                <a:tab pos="1311158" algn="l"/>
              </a:tabLst>
            </a:pPr>
            <a:r>
              <a:rPr lang="en-US" sz="794" dirty="0">
                <a:solidFill>
                  <a:srgbClr val="000000"/>
                </a:solidFill>
                <a:latin typeface="Calibri" panose="020F0502020204030204" pitchFamily="34" charset="0"/>
                <a:cs typeface="Calibri" panose="020F0502020204030204" pitchFamily="34" charset="0"/>
              </a:rPr>
              <a:t>	Category(</a:t>
            </a:r>
            <a:r>
              <a:rPr lang="en-US" sz="794" dirty="0" err="1">
                <a:solidFill>
                  <a:srgbClr val="000000"/>
                </a:solidFill>
                <a:latin typeface="Calibri" panose="020F0502020204030204" pitchFamily="34" charset="0"/>
                <a:cs typeface="Calibri" panose="020F0502020204030204" pitchFamily="34" charset="0"/>
              </a:rPr>
              <a:t>ies</a:t>
            </a:r>
            <a:r>
              <a:rPr lang="en-US" sz="794" dirty="0">
                <a:solidFill>
                  <a:srgbClr val="000000"/>
                </a:solidFill>
                <a:latin typeface="Calibri" panose="020F0502020204030204" pitchFamily="34" charset="0"/>
                <a:cs typeface="Calibri" panose="020F0502020204030204" pitchFamily="34" charset="0"/>
              </a:rPr>
              <a:t>): PRVCY</a:t>
            </a:r>
          </a:p>
          <a:p>
            <a:pPr defTabSz="806867">
              <a:lnSpc>
                <a:spcPct val="120000"/>
              </a:lnSpc>
              <a:tabLst>
                <a:tab pos="1311158" algn="l"/>
              </a:tabLst>
            </a:pPr>
            <a:r>
              <a:rPr lang="en-US" sz="794" dirty="0">
                <a:solidFill>
                  <a:srgbClr val="000000"/>
                </a:solidFill>
                <a:latin typeface="Calibri" panose="020F0502020204030204" pitchFamily="34" charset="0"/>
                <a:cs typeface="Calibri" panose="020F0502020204030204" pitchFamily="34" charset="0"/>
              </a:rPr>
              <a:t>	Distribution/Dissemination Controls: FEDCON</a:t>
            </a:r>
          </a:p>
          <a:p>
            <a:pPr defTabSz="806867">
              <a:lnSpc>
                <a:spcPct val="120000"/>
              </a:lnSpc>
              <a:tabLst>
                <a:tab pos="1311158" algn="l"/>
              </a:tabLst>
            </a:pPr>
            <a:r>
              <a:rPr lang="en-US" sz="794" dirty="0">
                <a:solidFill>
                  <a:srgbClr val="000000"/>
                </a:solidFill>
                <a:latin typeface="Calibri" panose="020F0502020204030204" pitchFamily="34" charset="0"/>
                <a:cs typeface="Calibri" panose="020F0502020204030204" pitchFamily="34" charset="0"/>
              </a:rPr>
              <a:t>	POC: John Brown, 703-555-0123</a:t>
            </a:r>
          </a:p>
          <a:p>
            <a:pPr algn="ctr" defTabSz="806867"/>
            <a:endParaRPr lang="en-US" sz="794" dirty="0">
              <a:solidFill>
                <a:srgbClr val="000000"/>
              </a:solidFill>
              <a:latin typeface="Calibri" panose="020F0502020204030204" pitchFamily="34" charset="0"/>
              <a:cs typeface="Calibri" panose="020F0502020204030204" pitchFamily="34" charset="0"/>
            </a:endParaRPr>
          </a:p>
          <a:p>
            <a:pPr algn="ctr" defTabSz="806867"/>
            <a:r>
              <a:rPr lang="en-US" sz="794" dirty="0">
                <a:solidFill>
                  <a:srgbClr val="000000"/>
                </a:solidFill>
                <a:latin typeface="Calibri" panose="020F0502020204030204" pitchFamily="34" charset="0"/>
                <a:cs typeface="Calibri" panose="020F0502020204030204" pitchFamily="34" charset="0"/>
              </a:rPr>
              <a:t>CUI</a:t>
            </a:r>
          </a:p>
        </p:txBody>
      </p:sp>
      <p:sp>
        <p:nvSpPr>
          <p:cNvPr id="9" name="Rectangle 8"/>
          <p:cNvSpPr/>
          <p:nvPr/>
        </p:nvSpPr>
        <p:spPr>
          <a:xfrm>
            <a:off x="6616683" y="1405728"/>
            <a:ext cx="3550961" cy="4785028"/>
          </a:xfrm>
          <a:prstGeom prst="rect">
            <a:avLst/>
          </a:prstGeom>
          <a:ln>
            <a:solidFill>
              <a:schemeClr val="tx1"/>
            </a:solidFill>
          </a:ln>
        </p:spPr>
        <p:txBody>
          <a:bodyPr wrap="square">
            <a:spAutoFit/>
          </a:bodyPr>
          <a:lstStyle/>
          <a:p>
            <a:pPr algn="ctr" defTabSz="806867">
              <a:lnSpc>
                <a:spcPct val="120000"/>
              </a:lnSpc>
              <a:spcBef>
                <a:spcPts val="1059"/>
              </a:spcBef>
            </a:pPr>
            <a:r>
              <a:rPr lang="en-US" sz="794" dirty="0">
                <a:solidFill>
                  <a:srgbClr val="000000"/>
                </a:solidFill>
                <a:latin typeface="Calibri" panose="020F0502020204030204" pitchFamily="34" charset="0"/>
                <a:cs typeface="Calibri" panose="020F0502020204030204" pitchFamily="34" charset="0"/>
              </a:rPr>
              <a:t>CUI</a:t>
            </a:r>
          </a:p>
          <a:p>
            <a:pPr algn="ctr" defTabSz="806867"/>
            <a:r>
              <a:rPr lang="en-US" sz="794" dirty="0">
                <a:solidFill>
                  <a:srgbClr val="000000"/>
                </a:solidFill>
                <a:latin typeface="Calibri" panose="020F0502020204030204" pitchFamily="34" charset="0"/>
                <a:cs typeface="Calibri" panose="020F0502020204030204" pitchFamily="34" charset="0"/>
              </a:rPr>
              <a:t>(U) Marking Requirements for CUI</a:t>
            </a:r>
          </a:p>
          <a:p>
            <a:pPr defTabSz="806867">
              <a:lnSpc>
                <a:spcPct val="120000"/>
              </a:lnSpc>
              <a:tabLst>
                <a:tab pos="201717" algn="l"/>
              </a:tabLst>
            </a:pPr>
            <a:r>
              <a:rPr lang="en-US" sz="794" dirty="0">
                <a:solidFill>
                  <a:srgbClr val="000000"/>
                </a:solidFill>
                <a:latin typeface="Calibri" panose="020F0502020204030204" pitchFamily="34" charset="0"/>
                <a:cs typeface="Calibri" panose="020F0502020204030204" pitchFamily="34" charset="0"/>
              </a:rPr>
              <a:t>1.	(U) Banner line.</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(CUI) At a minimum, CUI markings for unclassified documents will include the acronym "CUI" at the top and bottom of each  page.</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(U) There is no requirement to add "UNCLASSIFIED" with the CUI marking.</a:t>
            </a:r>
          </a:p>
          <a:p>
            <a:pPr defTabSz="806867"/>
            <a:endParaRPr lang="en-US" sz="794" dirty="0">
              <a:solidFill>
                <a:srgbClr val="000000"/>
              </a:solidFill>
              <a:latin typeface="Calibri" panose="020F0502020204030204" pitchFamily="34" charset="0"/>
              <a:cs typeface="Calibri" panose="020F0502020204030204" pitchFamily="34" charset="0"/>
            </a:endParaRPr>
          </a:p>
          <a:p>
            <a:pPr defTabSz="806867">
              <a:lnSpc>
                <a:spcPct val="120000"/>
              </a:lnSpc>
              <a:tabLst>
                <a:tab pos="201717" algn="l"/>
              </a:tabLst>
            </a:pPr>
            <a:r>
              <a:rPr lang="en-US" sz="794" dirty="0">
                <a:solidFill>
                  <a:srgbClr val="000000"/>
                </a:solidFill>
                <a:latin typeface="Calibri" panose="020F0502020204030204" pitchFamily="34" charset="0"/>
                <a:cs typeface="Calibri" panose="020F0502020204030204" pitchFamily="34" charset="0"/>
              </a:rPr>
              <a:t>2.	(U) Portion markings.</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(U) Portion markings are optional. However, if portion markings are annotated, they must be applied to all portions, to include subjects, titles, headings, paragraphs, subparagraphs, bullet  points, etc.</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(U) CUI portions will be annotated "(CUI)".</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(U) Unclassified portion will be annotated "(U)".</a:t>
            </a:r>
          </a:p>
          <a:p>
            <a:pPr marL="403433" indent="-100858" defTabSz="806867"/>
            <a:endParaRPr lang="en-US" sz="794" dirty="0">
              <a:solidFill>
                <a:srgbClr val="000000"/>
              </a:solidFill>
              <a:latin typeface="Calibri" panose="020F0502020204030204" pitchFamily="34" charset="0"/>
              <a:cs typeface="Calibri" panose="020F0502020204030204" pitchFamily="34" charset="0"/>
            </a:endParaRPr>
          </a:p>
          <a:p>
            <a:pPr defTabSz="806867">
              <a:lnSpc>
                <a:spcPct val="120000"/>
              </a:lnSpc>
              <a:tabLst>
                <a:tab pos="201717" algn="l"/>
              </a:tabLst>
            </a:pPr>
            <a:r>
              <a:rPr lang="en-US" sz="794" dirty="0">
                <a:solidFill>
                  <a:srgbClr val="000000"/>
                </a:solidFill>
                <a:latin typeface="Calibri" panose="020F0502020204030204" pitchFamily="34" charset="0"/>
                <a:cs typeface="Calibri" panose="020F0502020204030204" pitchFamily="34" charset="0"/>
              </a:rPr>
              <a:t>3.	(U) CUI designation indicator.</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(CUI) The first page or cover of any document containing CUI will include a CUI designation indicator.</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(U) Line 1: the name of the DoD Component (not required if identified in letterhead)</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(U) Line 2:  identification of the office</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(U) Line 3: identification of the categories contained in the document.</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(U) Line 4: Applicable distribution statement or dissemination controls.</a:t>
            </a:r>
          </a:p>
          <a:p>
            <a:pPr marL="403433" indent="-100858" defTabSz="806867">
              <a:lnSpc>
                <a:spcPct val="120000"/>
              </a:lnSpc>
            </a:pPr>
            <a:r>
              <a:rPr lang="en-US" sz="794" dirty="0">
                <a:solidFill>
                  <a:srgbClr val="000000"/>
                </a:solidFill>
                <a:latin typeface="Calibri" panose="020F0502020204030204" pitchFamily="34" charset="0"/>
                <a:cs typeface="Calibri" panose="020F0502020204030204" pitchFamily="34" charset="0"/>
              </a:rPr>
              <a:t>o	(CUI) Line 5: Name and phone number or email of POC.</a:t>
            </a:r>
          </a:p>
          <a:p>
            <a:pPr marL="403433" indent="-100858" defTabSz="806867">
              <a:lnSpc>
                <a:spcPct val="120000"/>
              </a:lnSpc>
            </a:pPr>
            <a:endParaRPr lang="en-US" sz="794" dirty="0">
              <a:solidFill>
                <a:srgbClr val="000000"/>
              </a:solidFill>
              <a:latin typeface="Calibri" panose="020F0502020204030204" pitchFamily="34" charset="0"/>
              <a:cs typeface="Calibri" panose="020F0502020204030204" pitchFamily="34" charset="0"/>
            </a:endParaRPr>
          </a:p>
          <a:p>
            <a:pPr marL="403433" indent="-100858" defTabSz="806867"/>
            <a:endParaRPr lang="en-US" sz="794" dirty="0">
              <a:solidFill>
                <a:srgbClr val="000000"/>
              </a:solidFill>
              <a:latin typeface="Calibri" panose="020F0502020204030204" pitchFamily="34" charset="0"/>
              <a:cs typeface="Calibri" panose="020F0502020204030204" pitchFamily="34" charset="0"/>
            </a:endParaRPr>
          </a:p>
          <a:p>
            <a:pPr defTabSz="806867">
              <a:tabLst>
                <a:tab pos="1311158" algn="l"/>
              </a:tabLst>
            </a:pPr>
            <a:r>
              <a:rPr lang="en-US" sz="794" dirty="0">
                <a:solidFill>
                  <a:srgbClr val="000000"/>
                </a:solidFill>
                <a:latin typeface="Calibri" panose="020F0502020204030204" pitchFamily="34" charset="0"/>
                <a:cs typeface="Calibri" panose="020F0502020204030204" pitchFamily="34" charset="0"/>
              </a:rPr>
              <a:t>	Controlled by: OUSD(I&amp;S)</a:t>
            </a:r>
          </a:p>
          <a:p>
            <a:pPr defTabSz="806867">
              <a:tabLst>
                <a:tab pos="1311158" algn="l"/>
              </a:tabLst>
            </a:pPr>
            <a:r>
              <a:rPr lang="en-US" sz="794" dirty="0">
                <a:solidFill>
                  <a:srgbClr val="000000"/>
                </a:solidFill>
                <a:latin typeface="Calibri" panose="020F0502020204030204" pitchFamily="34" charset="0"/>
                <a:cs typeface="Calibri" panose="020F0502020204030204" pitchFamily="34" charset="0"/>
              </a:rPr>
              <a:t>	Controlled by: CL&amp;S INFOSEC CUI	</a:t>
            </a:r>
          </a:p>
          <a:p>
            <a:pPr defTabSz="806867">
              <a:tabLst>
                <a:tab pos="1311158" algn="l"/>
              </a:tabLst>
            </a:pPr>
            <a:r>
              <a:rPr lang="en-US" sz="794" dirty="0">
                <a:solidFill>
                  <a:srgbClr val="000000"/>
                </a:solidFill>
                <a:latin typeface="Calibri" panose="020F0502020204030204" pitchFamily="34" charset="0"/>
                <a:cs typeface="Calibri" panose="020F0502020204030204" pitchFamily="34" charset="0"/>
              </a:rPr>
              <a:t>	Category(</a:t>
            </a:r>
            <a:r>
              <a:rPr lang="en-US" sz="794" dirty="0" err="1">
                <a:solidFill>
                  <a:srgbClr val="000000"/>
                </a:solidFill>
                <a:latin typeface="Calibri" panose="020F0502020204030204" pitchFamily="34" charset="0"/>
                <a:cs typeface="Calibri" panose="020F0502020204030204" pitchFamily="34" charset="0"/>
              </a:rPr>
              <a:t>ies</a:t>
            </a:r>
            <a:r>
              <a:rPr lang="en-US" sz="794" dirty="0">
                <a:solidFill>
                  <a:srgbClr val="000000"/>
                </a:solidFill>
                <a:latin typeface="Calibri" panose="020F0502020204030204" pitchFamily="34" charset="0"/>
                <a:cs typeface="Calibri" panose="020F0502020204030204" pitchFamily="34" charset="0"/>
              </a:rPr>
              <a:t>): PRVCY</a:t>
            </a:r>
          </a:p>
          <a:p>
            <a:pPr defTabSz="806867">
              <a:tabLst>
                <a:tab pos="1311158" algn="l"/>
              </a:tabLst>
            </a:pPr>
            <a:r>
              <a:rPr lang="en-US" sz="794" dirty="0">
                <a:solidFill>
                  <a:srgbClr val="000000"/>
                </a:solidFill>
                <a:latin typeface="Calibri" panose="020F0502020204030204" pitchFamily="34" charset="0"/>
                <a:cs typeface="Calibri" panose="020F0502020204030204" pitchFamily="34" charset="0"/>
              </a:rPr>
              <a:t>	Distribution/Dissemination Controls: FEDCON</a:t>
            </a:r>
          </a:p>
          <a:p>
            <a:pPr defTabSz="806867">
              <a:tabLst>
                <a:tab pos="1311158" algn="l"/>
              </a:tabLst>
            </a:pPr>
            <a:r>
              <a:rPr lang="en-US" sz="794" dirty="0">
                <a:solidFill>
                  <a:srgbClr val="000000"/>
                </a:solidFill>
                <a:latin typeface="Calibri" panose="020F0502020204030204" pitchFamily="34" charset="0"/>
                <a:cs typeface="Calibri" panose="020F0502020204030204" pitchFamily="34" charset="0"/>
              </a:rPr>
              <a:t>	POC: John Brown, 703-555-0123</a:t>
            </a:r>
          </a:p>
          <a:p>
            <a:pPr algn="ctr" defTabSz="806867"/>
            <a:endParaRPr lang="en-US" sz="794" dirty="0">
              <a:solidFill>
                <a:srgbClr val="000000"/>
              </a:solidFill>
              <a:latin typeface="Calibri" panose="020F0502020204030204" pitchFamily="34" charset="0"/>
              <a:cs typeface="Calibri" panose="020F0502020204030204" pitchFamily="34" charset="0"/>
            </a:endParaRPr>
          </a:p>
          <a:p>
            <a:pPr algn="ctr" defTabSz="806867"/>
            <a:r>
              <a:rPr lang="en-US" sz="794" dirty="0">
                <a:solidFill>
                  <a:srgbClr val="000000"/>
                </a:solidFill>
                <a:latin typeface="Calibri" panose="020F0502020204030204" pitchFamily="34" charset="0"/>
                <a:cs typeface="Calibri" panose="020F0502020204030204" pitchFamily="34" charset="0"/>
              </a:rPr>
              <a:t>CUI</a:t>
            </a:r>
          </a:p>
          <a:p>
            <a:pPr defTabSz="806867"/>
            <a:endParaRPr lang="en-US" sz="794" dirty="0">
              <a:solidFill>
                <a:srgbClr val="000000"/>
              </a:solidFill>
              <a:latin typeface="Arial"/>
            </a:endParaRPr>
          </a:p>
        </p:txBody>
      </p:sp>
      <p:sp>
        <p:nvSpPr>
          <p:cNvPr id="10" name="TextBox 9"/>
          <p:cNvSpPr txBox="1"/>
          <p:nvPr/>
        </p:nvSpPr>
        <p:spPr>
          <a:xfrm>
            <a:off x="6778517" y="1181685"/>
            <a:ext cx="3227294" cy="235001"/>
          </a:xfrm>
          <a:prstGeom prst="rect">
            <a:avLst/>
          </a:prstGeom>
          <a:noFill/>
        </p:spPr>
        <p:txBody>
          <a:bodyPr wrap="square" rtlCol="0">
            <a:spAutoFit/>
          </a:bodyPr>
          <a:lstStyle/>
          <a:p>
            <a:pPr algn="ctr" defTabSz="806867"/>
            <a:r>
              <a:rPr lang="en-US" sz="927" b="1" dirty="0">
                <a:solidFill>
                  <a:srgbClr val="000000"/>
                </a:solidFill>
                <a:latin typeface="Arial" panose="020B0604020202020204" pitchFamily="34" charset="0"/>
                <a:cs typeface="Arial" panose="020B0604020202020204" pitchFamily="34" charset="0"/>
              </a:rPr>
              <a:t>Portion markings included</a:t>
            </a:r>
          </a:p>
        </p:txBody>
      </p:sp>
      <p:sp>
        <p:nvSpPr>
          <p:cNvPr id="11" name="TextBox 10"/>
          <p:cNvSpPr txBox="1"/>
          <p:nvPr/>
        </p:nvSpPr>
        <p:spPr>
          <a:xfrm>
            <a:off x="5617145" y="1317579"/>
            <a:ext cx="941294" cy="418320"/>
          </a:xfrm>
          <a:prstGeom prst="rect">
            <a:avLst/>
          </a:prstGeom>
          <a:noFill/>
        </p:spPr>
        <p:txBody>
          <a:bodyPr wrap="square" rtlCol="0">
            <a:spAutoFit/>
          </a:bodyPr>
          <a:lstStyle/>
          <a:p>
            <a:pPr algn="ctr" defTabSz="806867"/>
            <a:r>
              <a:rPr lang="en-US" sz="1059" dirty="0">
                <a:solidFill>
                  <a:srgbClr val="000000"/>
                </a:solidFill>
                <a:latin typeface="Arial" panose="020B0604020202020204" pitchFamily="34" charset="0"/>
                <a:cs typeface="Arial" panose="020B0604020202020204" pitchFamily="34" charset="0"/>
              </a:rPr>
              <a:t>Banner Line</a:t>
            </a:r>
          </a:p>
          <a:p>
            <a:pPr algn="ctr" defTabSz="806867"/>
            <a:r>
              <a:rPr lang="en-US" sz="1059" dirty="0">
                <a:solidFill>
                  <a:srgbClr val="000000"/>
                </a:solidFill>
                <a:latin typeface="Arial" panose="020B0604020202020204" pitchFamily="34" charset="0"/>
                <a:cs typeface="Arial" panose="020B0604020202020204" pitchFamily="34" charset="0"/>
              </a:rPr>
              <a:t>(CUI Basic)</a:t>
            </a:r>
          </a:p>
        </p:txBody>
      </p:sp>
      <p:sp>
        <p:nvSpPr>
          <p:cNvPr id="22" name="TextBox 21"/>
          <p:cNvSpPr txBox="1"/>
          <p:nvPr/>
        </p:nvSpPr>
        <p:spPr>
          <a:xfrm>
            <a:off x="5732480" y="3071358"/>
            <a:ext cx="712969" cy="581313"/>
          </a:xfrm>
          <a:prstGeom prst="rect">
            <a:avLst/>
          </a:prstGeom>
          <a:noFill/>
        </p:spPr>
        <p:txBody>
          <a:bodyPr wrap="square" rtlCol="0">
            <a:spAutoFit/>
          </a:bodyPr>
          <a:lstStyle/>
          <a:p>
            <a:pPr algn="ctr" defTabSz="806867"/>
            <a:r>
              <a:rPr lang="en-US" sz="1059" dirty="0">
                <a:solidFill>
                  <a:srgbClr val="000000"/>
                </a:solidFill>
                <a:latin typeface="Arial" panose="020B0604020202020204" pitchFamily="34" charset="0"/>
                <a:cs typeface="Arial" panose="020B0604020202020204" pitchFamily="34" charset="0"/>
              </a:rPr>
              <a:t>Portion Markings                                                                                         </a:t>
            </a:r>
          </a:p>
        </p:txBody>
      </p:sp>
      <p:cxnSp>
        <p:nvCxnSpPr>
          <p:cNvPr id="23" name="Straight Connector 22"/>
          <p:cNvCxnSpPr/>
          <p:nvPr/>
        </p:nvCxnSpPr>
        <p:spPr>
          <a:xfrm>
            <a:off x="6520806" y="1892461"/>
            <a:ext cx="2907" cy="2910954"/>
          </a:xfrm>
          <a:prstGeom prst="line">
            <a:avLst/>
          </a:prstGeom>
          <a:ln w="19050">
            <a:solidFill>
              <a:srgbClr val="0F0F99"/>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523713" y="1892461"/>
            <a:ext cx="482309" cy="0"/>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541326" y="2219859"/>
            <a:ext cx="464696"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6506100" y="2672428"/>
            <a:ext cx="464696"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6541326" y="2813345"/>
            <a:ext cx="464696"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520806" y="3211482"/>
            <a:ext cx="464696"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6538419" y="3357483"/>
            <a:ext cx="464696"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6520806" y="3631061"/>
            <a:ext cx="372636" cy="8226"/>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6537331" y="3802601"/>
            <a:ext cx="464696"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6537331" y="4082501"/>
            <a:ext cx="464696"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6537331" y="4355064"/>
            <a:ext cx="464696"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6506100" y="4495346"/>
            <a:ext cx="464696"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6526620" y="4654887"/>
            <a:ext cx="464696"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6526620" y="4803415"/>
            <a:ext cx="464696"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6359716" y="3332619"/>
            <a:ext cx="161089" cy="1024"/>
          </a:xfrm>
          <a:prstGeom prst="line">
            <a:avLst/>
          </a:prstGeom>
          <a:ln w="19050">
            <a:solidFill>
              <a:srgbClr val="0F0F99"/>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5536633" y="4941332"/>
            <a:ext cx="941294" cy="581313"/>
          </a:xfrm>
          <a:prstGeom prst="rect">
            <a:avLst/>
          </a:prstGeom>
          <a:noFill/>
        </p:spPr>
        <p:txBody>
          <a:bodyPr wrap="square" rtlCol="0">
            <a:spAutoFit/>
          </a:bodyPr>
          <a:lstStyle/>
          <a:p>
            <a:pPr algn="ctr" defTabSz="806867"/>
            <a:r>
              <a:rPr lang="en-US" sz="1059" dirty="0">
                <a:solidFill>
                  <a:srgbClr val="000000"/>
                </a:solidFill>
                <a:latin typeface="Arial" panose="020B0604020202020204" pitchFamily="34" charset="0"/>
                <a:cs typeface="Arial" panose="020B0604020202020204" pitchFamily="34" charset="0"/>
              </a:rPr>
              <a:t>CUI</a:t>
            </a:r>
          </a:p>
          <a:p>
            <a:pPr algn="ctr" defTabSz="806867"/>
            <a:r>
              <a:rPr lang="en-US" sz="1059" dirty="0">
                <a:solidFill>
                  <a:srgbClr val="000000"/>
                </a:solidFill>
                <a:latin typeface="Arial" panose="020B0604020202020204" pitchFamily="34" charset="0"/>
                <a:cs typeface="Arial" panose="020B0604020202020204" pitchFamily="34" charset="0"/>
              </a:rPr>
              <a:t>Designation</a:t>
            </a:r>
          </a:p>
          <a:p>
            <a:pPr algn="ctr" defTabSz="806867"/>
            <a:r>
              <a:rPr lang="en-US" sz="1059" dirty="0">
                <a:solidFill>
                  <a:srgbClr val="000000"/>
                </a:solidFill>
                <a:latin typeface="Arial" panose="020B0604020202020204" pitchFamily="34" charset="0"/>
                <a:cs typeface="Arial" panose="020B0604020202020204" pitchFamily="34" charset="0"/>
              </a:rPr>
              <a:t>Indicator                                                                                        </a:t>
            </a:r>
          </a:p>
        </p:txBody>
      </p:sp>
      <p:cxnSp>
        <p:nvCxnSpPr>
          <p:cNvPr id="54" name="Straight Arrow Connector 53"/>
          <p:cNvCxnSpPr/>
          <p:nvPr/>
        </p:nvCxnSpPr>
        <p:spPr>
          <a:xfrm>
            <a:off x="6520806" y="1523112"/>
            <a:ext cx="1667306" cy="684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6438128" y="5254715"/>
            <a:ext cx="1459153" cy="0"/>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6530187" y="5944613"/>
            <a:ext cx="1657925" cy="1269"/>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H="1">
            <a:off x="4754227" y="5226477"/>
            <a:ext cx="862918" cy="0"/>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11" idx="1"/>
          </p:cNvCxnSpPr>
          <p:nvPr/>
        </p:nvCxnSpPr>
        <p:spPr>
          <a:xfrm flipH="1" flipV="1">
            <a:off x="3891309" y="1521255"/>
            <a:ext cx="1725836" cy="5484"/>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H="1">
            <a:off x="3966361" y="5916885"/>
            <a:ext cx="1703559" cy="1"/>
          </a:xfrm>
          <a:prstGeom prst="straightConnector1">
            <a:avLst/>
          </a:prstGeom>
          <a:ln w="19050">
            <a:solidFill>
              <a:srgbClr val="0F0F99"/>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5596037" y="5761585"/>
            <a:ext cx="941294" cy="418320"/>
          </a:xfrm>
          <a:prstGeom prst="rect">
            <a:avLst/>
          </a:prstGeom>
          <a:noFill/>
        </p:spPr>
        <p:txBody>
          <a:bodyPr wrap="square" rtlCol="0">
            <a:spAutoFit/>
          </a:bodyPr>
          <a:lstStyle/>
          <a:p>
            <a:pPr algn="ctr" defTabSz="806867"/>
            <a:r>
              <a:rPr lang="en-US" sz="1059" dirty="0">
                <a:solidFill>
                  <a:srgbClr val="000000"/>
                </a:solidFill>
                <a:latin typeface="Arial" panose="020B0604020202020204" pitchFamily="34" charset="0"/>
                <a:cs typeface="Arial" panose="020B0604020202020204" pitchFamily="34" charset="0"/>
              </a:rPr>
              <a:t>Banner Line</a:t>
            </a:r>
          </a:p>
          <a:p>
            <a:pPr algn="ctr" defTabSz="806867"/>
            <a:r>
              <a:rPr lang="en-US" sz="1059" dirty="0">
                <a:solidFill>
                  <a:srgbClr val="000000"/>
                </a:solidFill>
                <a:latin typeface="Arial" panose="020B0604020202020204" pitchFamily="34" charset="0"/>
                <a:cs typeface="Arial" panose="020B0604020202020204" pitchFamily="34" charset="0"/>
              </a:rPr>
              <a:t>(CUI Basic)</a:t>
            </a:r>
          </a:p>
        </p:txBody>
      </p:sp>
    </p:spTree>
    <p:extLst>
      <p:ext uri="{BB962C8B-B14F-4D97-AF65-F5344CB8AC3E}">
        <p14:creationId xmlns:p14="http://schemas.microsoft.com/office/powerpoint/2010/main" val="15612998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422" y="87674"/>
            <a:ext cx="3711527" cy="852876"/>
          </a:xfrm>
        </p:spPr>
        <p:txBody>
          <a:bodyPr/>
          <a:lstStyle/>
          <a:p>
            <a:pPr algn="ctr">
              <a:spcBef>
                <a:spcPts val="0"/>
              </a:spcBef>
              <a:spcAft>
                <a:spcPts val="0"/>
              </a:spcAft>
              <a:buClr>
                <a:prstClr val="black"/>
              </a:buClr>
            </a:pPr>
            <a:r>
              <a:rPr lang="en-US" sz="2471" dirty="0">
                <a:solidFill>
                  <a:srgbClr val="000099"/>
                </a:solidFill>
              </a:rPr>
              <a:t>Marking CUI</a:t>
            </a:r>
            <a:br>
              <a:rPr lang="en-US" sz="2471" dirty="0">
                <a:solidFill>
                  <a:srgbClr val="000099"/>
                </a:solidFill>
              </a:rPr>
            </a:br>
            <a:r>
              <a:rPr lang="en-US" sz="2471" dirty="0">
                <a:solidFill>
                  <a:srgbClr val="000099"/>
                </a:solidFill>
              </a:rPr>
              <a:t>(Classified Documents)</a:t>
            </a:r>
          </a:p>
        </p:txBody>
      </p:sp>
      <p:sp>
        <p:nvSpPr>
          <p:cNvPr id="3" name="Content Placeholder 2"/>
          <p:cNvSpPr>
            <a:spLocks noGrp="1"/>
          </p:cNvSpPr>
          <p:nvPr>
            <p:ph idx="1"/>
          </p:nvPr>
        </p:nvSpPr>
        <p:spPr>
          <a:xfrm>
            <a:off x="2071264" y="1197461"/>
            <a:ext cx="8030710" cy="4944140"/>
          </a:xfrm>
        </p:spPr>
        <p:txBody>
          <a:bodyPr/>
          <a:lstStyle/>
          <a:p>
            <a:r>
              <a:rPr lang="en-US" sz="2471" dirty="0"/>
              <a:t>A Warning Statement will be placed at the bottom of the first page of multi-page documents to alert readers to the presence of CUI in a classified DoD document:</a:t>
            </a: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sp>
        <p:nvSpPr>
          <p:cNvPr id="4" name="Rectangle 3"/>
          <p:cNvSpPr/>
          <p:nvPr/>
        </p:nvSpPr>
        <p:spPr>
          <a:xfrm>
            <a:off x="2071263" y="3669530"/>
            <a:ext cx="8030710" cy="2047227"/>
          </a:xfrm>
          <a:prstGeom prst="rect">
            <a:avLst/>
          </a:prstGeom>
          <a:ln>
            <a:solidFill>
              <a:schemeClr val="tx1"/>
            </a:solidFill>
          </a:ln>
        </p:spPr>
        <p:txBody>
          <a:bodyPr wrap="square">
            <a:spAutoFit/>
          </a:bodyPr>
          <a:lstStyle/>
          <a:p>
            <a:pPr defTabSz="806867"/>
            <a:r>
              <a:rPr lang="en-US" sz="1588" dirty="0">
                <a:solidFill>
                  <a:srgbClr val="000000"/>
                </a:solidFill>
                <a:latin typeface="Arial"/>
              </a:rPr>
              <a:t>This content is classified at the [insert highest classification level of the source data] level and may contain elements of controlled unclassified information (CUI), unclassified, or information classified at a lower level than the overall classification displayed. This content shall not be used as a source of derivative classification; refer instead to [cite specific reference, where possible, or state "the applicable classification guide(s)"]. It must be reviewed for both Classified National Security Information (CNSI) and CUI in accordance with </a:t>
            </a:r>
            <a:r>
              <a:rPr lang="en-US" sz="1588" dirty="0" err="1">
                <a:solidFill>
                  <a:srgbClr val="000000"/>
                </a:solidFill>
                <a:latin typeface="Arial"/>
              </a:rPr>
              <a:t>DoDI</a:t>
            </a:r>
            <a:r>
              <a:rPr lang="en-US" sz="1588" dirty="0">
                <a:solidFill>
                  <a:srgbClr val="000000"/>
                </a:solidFill>
                <a:latin typeface="Arial"/>
              </a:rPr>
              <a:t> 5230.09 prior to public release. [Add a point of contact when needed.]</a:t>
            </a:r>
          </a:p>
        </p:txBody>
      </p:sp>
    </p:spTree>
    <p:extLst>
      <p:ext uri="{BB962C8B-B14F-4D97-AF65-F5344CB8AC3E}">
        <p14:creationId xmlns:p14="http://schemas.microsoft.com/office/powerpoint/2010/main" val="2321692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422" y="87674"/>
            <a:ext cx="3711527" cy="852876"/>
          </a:xfrm>
        </p:spPr>
        <p:txBody>
          <a:bodyPr/>
          <a:lstStyle/>
          <a:p>
            <a:pPr algn="ctr">
              <a:spcBef>
                <a:spcPts val="0"/>
              </a:spcBef>
              <a:spcAft>
                <a:spcPts val="0"/>
              </a:spcAft>
              <a:buClr>
                <a:prstClr val="black"/>
              </a:buClr>
            </a:pPr>
            <a:r>
              <a:rPr lang="en-US" sz="2471" dirty="0">
                <a:solidFill>
                  <a:srgbClr val="000099"/>
                </a:solidFill>
              </a:rPr>
              <a:t>Marking CUI</a:t>
            </a:r>
            <a:br>
              <a:rPr lang="en-US" sz="2471" dirty="0">
                <a:solidFill>
                  <a:srgbClr val="000099"/>
                </a:solidFill>
              </a:rPr>
            </a:br>
            <a:r>
              <a:rPr lang="en-US" sz="2471" dirty="0">
                <a:solidFill>
                  <a:srgbClr val="000099"/>
                </a:solidFill>
              </a:rPr>
              <a:t>(Classified Documents)</a:t>
            </a:r>
          </a:p>
        </p:txBody>
      </p:sp>
      <p:sp>
        <p:nvSpPr>
          <p:cNvPr id="3" name="Content Placeholder 2"/>
          <p:cNvSpPr>
            <a:spLocks noGrp="1"/>
          </p:cNvSpPr>
          <p:nvPr>
            <p:ph idx="1"/>
          </p:nvPr>
        </p:nvSpPr>
        <p:spPr>
          <a:xfrm>
            <a:off x="1883631" y="1085066"/>
            <a:ext cx="8030710" cy="5279084"/>
          </a:xfrm>
        </p:spPr>
        <p:txBody>
          <a:bodyPr/>
          <a:lstStyle/>
          <a:p>
            <a:r>
              <a:rPr lang="en-US" sz="2471" dirty="0"/>
              <a:t>CUI designation indicator must be readily apparent and may appear only on the first page or cover. It is placed at the bottom right side of all documents containing CUI, including classified documents.</a:t>
            </a:r>
          </a:p>
          <a:p>
            <a:endParaRPr lang="en-US" sz="2471" dirty="0"/>
          </a:p>
          <a:p>
            <a:r>
              <a:rPr lang="en-US" sz="2471" dirty="0"/>
              <a:t>CUI designation indicator is </a:t>
            </a:r>
            <a:r>
              <a:rPr lang="en-US" sz="2471" b="1" dirty="0"/>
              <a:t>comparable to the classification authority block</a:t>
            </a:r>
            <a:r>
              <a:rPr lang="en-US" sz="2471" dirty="0"/>
              <a:t> used for classified documents and materials.</a:t>
            </a:r>
          </a:p>
          <a:p>
            <a:endParaRPr lang="en-US" sz="2471" dirty="0"/>
          </a:p>
          <a:p>
            <a:pPr marL="0" indent="0">
              <a:lnSpc>
                <a:spcPct val="120000"/>
              </a:lnSpc>
              <a:spcBef>
                <a:spcPts val="0"/>
              </a:spcBef>
              <a:spcAft>
                <a:spcPts val="0"/>
              </a:spcAft>
              <a:buNone/>
              <a:tabLst>
                <a:tab pos="2216081" algn="l"/>
                <a:tab pos="3630900" algn="l"/>
              </a:tabLst>
            </a:pPr>
            <a:r>
              <a:rPr lang="en-US" sz="2824" dirty="0"/>
              <a:t>	</a:t>
            </a:r>
            <a:r>
              <a:rPr lang="en-US" sz="1412" b="1" dirty="0"/>
              <a:t>EXAMPLE:</a:t>
            </a:r>
            <a:r>
              <a:rPr lang="en-US" sz="1412" dirty="0"/>
              <a:t>	</a:t>
            </a:r>
            <a:r>
              <a:rPr lang="en-US" sz="1412" b="1" dirty="0"/>
              <a:t>Controlled by</a:t>
            </a:r>
            <a:r>
              <a:rPr lang="en-US" sz="1412" dirty="0"/>
              <a:t>: OUSD{I&amp;S)</a:t>
            </a:r>
          </a:p>
          <a:p>
            <a:pPr marL="0" indent="0">
              <a:lnSpc>
                <a:spcPct val="120000"/>
              </a:lnSpc>
              <a:spcBef>
                <a:spcPts val="0"/>
              </a:spcBef>
              <a:spcAft>
                <a:spcPts val="0"/>
              </a:spcAft>
              <a:buNone/>
              <a:tabLst>
                <a:tab pos="3630900" algn="l"/>
              </a:tabLst>
            </a:pPr>
            <a:r>
              <a:rPr lang="en-US" sz="1412" dirty="0"/>
              <a:t>	</a:t>
            </a:r>
            <a:r>
              <a:rPr lang="en-US" sz="1412" b="1" dirty="0"/>
              <a:t>Controlled by</a:t>
            </a:r>
            <a:r>
              <a:rPr lang="en-US" sz="1412" dirty="0"/>
              <a:t>: CL&amp;S INFOSEC</a:t>
            </a:r>
          </a:p>
          <a:p>
            <a:pPr marL="0" indent="0">
              <a:lnSpc>
                <a:spcPct val="120000"/>
              </a:lnSpc>
              <a:spcBef>
                <a:spcPts val="0"/>
              </a:spcBef>
              <a:spcAft>
                <a:spcPts val="0"/>
              </a:spcAft>
              <a:buNone/>
              <a:tabLst>
                <a:tab pos="3630900" algn="l"/>
              </a:tabLst>
            </a:pPr>
            <a:r>
              <a:rPr lang="en-US" sz="1412" dirty="0"/>
              <a:t>	</a:t>
            </a:r>
            <a:r>
              <a:rPr lang="en-US" sz="1412" b="1" dirty="0"/>
              <a:t>CUI Category(</a:t>
            </a:r>
            <a:r>
              <a:rPr lang="en-US" sz="1412" b="1" dirty="0" err="1"/>
              <a:t>ies</a:t>
            </a:r>
            <a:r>
              <a:rPr lang="en-US" sz="1412" b="1" dirty="0"/>
              <a:t>)</a:t>
            </a:r>
            <a:r>
              <a:rPr lang="en-US" sz="1412" dirty="0"/>
              <a:t>: </a:t>
            </a:r>
            <a:r>
              <a:rPr lang="en-US" sz="1412" b="1" dirty="0"/>
              <a:t> </a:t>
            </a:r>
            <a:r>
              <a:rPr lang="en-US" sz="1412" dirty="0"/>
              <a:t>NNPI</a:t>
            </a:r>
          </a:p>
          <a:p>
            <a:pPr marL="0" indent="0">
              <a:lnSpc>
                <a:spcPct val="120000"/>
              </a:lnSpc>
              <a:spcBef>
                <a:spcPts val="0"/>
              </a:spcBef>
              <a:spcAft>
                <a:spcPts val="0"/>
              </a:spcAft>
              <a:buNone/>
              <a:tabLst>
                <a:tab pos="3630900" algn="l"/>
              </a:tabLst>
            </a:pPr>
            <a:r>
              <a:rPr lang="en-US" sz="1412" dirty="0"/>
              <a:t>	</a:t>
            </a:r>
            <a:r>
              <a:rPr lang="en-US" sz="1412" b="1" dirty="0"/>
              <a:t>Distribution/Dissemination Controls:</a:t>
            </a:r>
            <a:r>
              <a:rPr lang="en-US" sz="1412" dirty="0"/>
              <a:t> NOFORN </a:t>
            </a:r>
          </a:p>
          <a:p>
            <a:pPr marL="0" indent="0">
              <a:lnSpc>
                <a:spcPct val="120000"/>
              </a:lnSpc>
              <a:spcBef>
                <a:spcPts val="0"/>
              </a:spcBef>
              <a:spcAft>
                <a:spcPts val="0"/>
              </a:spcAft>
              <a:buNone/>
              <a:tabLst>
                <a:tab pos="3630900" algn="l"/>
              </a:tabLst>
            </a:pPr>
            <a:r>
              <a:rPr lang="en-US" sz="1412" dirty="0"/>
              <a:t>	</a:t>
            </a:r>
            <a:r>
              <a:rPr lang="en-US" sz="1412" b="1" dirty="0"/>
              <a:t>POC:</a:t>
            </a:r>
            <a:r>
              <a:rPr lang="en-US" sz="1412" dirty="0"/>
              <a:t> John Brown, 703-555-0l23</a:t>
            </a: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spTree>
    <p:extLst>
      <p:ext uri="{BB962C8B-B14F-4D97-AF65-F5344CB8AC3E}">
        <p14:creationId xmlns:p14="http://schemas.microsoft.com/office/powerpoint/2010/main" val="34551241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6422" y="87674"/>
            <a:ext cx="3711527" cy="852876"/>
          </a:xfrm>
        </p:spPr>
        <p:txBody>
          <a:bodyPr/>
          <a:lstStyle/>
          <a:p>
            <a:pPr algn="ctr">
              <a:spcBef>
                <a:spcPts val="0"/>
              </a:spcBef>
              <a:spcAft>
                <a:spcPts val="0"/>
              </a:spcAft>
              <a:buClr>
                <a:prstClr val="black"/>
              </a:buClr>
            </a:pPr>
            <a:r>
              <a:rPr lang="en-US" sz="2471" dirty="0">
                <a:solidFill>
                  <a:srgbClr val="000099"/>
                </a:solidFill>
              </a:rPr>
              <a:t>Marking CUI</a:t>
            </a:r>
            <a:br>
              <a:rPr lang="en-US" sz="2471" dirty="0">
                <a:solidFill>
                  <a:srgbClr val="000099"/>
                </a:solidFill>
              </a:rPr>
            </a:br>
            <a:r>
              <a:rPr lang="en-US" sz="2471" dirty="0">
                <a:solidFill>
                  <a:srgbClr val="000099"/>
                </a:solidFill>
              </a:rPr>
              <a:t>(Classified Documents)</a:t>
            </a:r>
          </a:p>
        </p:txBody>
      </p:sp>
      <p:sp>
        <p:nvSpPr>
          <p:cNvPr id="3" name="Content Placeholder 2"/>
          <p:cNvSpPr>
            <a:spLocks noGrp="1"/>
          </p:cNvSpPr>
          <p:nvPr>
            <p:ph idx="1"/>
          </p:nvPr>
        </p:nvSpPr>
        <p:spPr>
          <a:xfrm>
            <a:off x="3746828" y="1225790"/>
            <a:ext cx="4643927" cy="5279084"/>
          </a:xfrm>
        </p:spPr>
        <p:txBody>
          <a:bodyPr/>
          <a:lstStyle/>
          <a:p>
            <a:pPr marL="0" indent="0" algn="ctr">
              <a:spcBef>
                <a:spcPts val="0"/>
              </a:spcBef>
              <a:spcAft>
                <a:spcPts val="0"/>
              </a:spcAft>
              <a:buNone/>
            </a:pPr>
            <a:r>
              <a:rPr lang="en-US" sz="706" b="1" dirty="0">
                <a:latin typeface="Arial Unicode MS" panose="020B0604020202020204" pitchFamily="34" charset="-128"/>
                <a:ea typeface="Arial Unicode MS" panose="020B0604020202020204" pitchFamily="34" charset="-128"/>
                <a:cs typeface="Arial Unicode MS" panose="020B0604020202020204" pitchFamily="34" charset="-128"/>
              </a:rPr>
              <a:t>SECRET</a:t>
            </a:r>
          </a:p>
          <a:p>
            <a:pPr marL="0" indent="0" algn="ctr">
              <a:spcBef>
                <a:spcPts val="0"/>
              </a:spcBef>
              <a:spcAft>
                <a:spcPts val="0"/>
              </a:spcAft>
              <a:buNone/>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lgn="ctr">
              <a:spcBef>
                <a:spcPts val="0"/>
              </a:spcBef>
              <a:spcAft>
                <a:spcPts val="0"/>
              </a:spcAft>
              <a:buNone/>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(U) Marking Requirements for CUI</a:t>
            </a:r>
          </a:p>
          <a:p>
            <a:pPr marL="0" indent="0" algn="ctr">
              <a:spcBef>
                <a:spcPts val="0"/>
              </a:spcBef>
              <a:spcAft>
                <a:spcPts val="0"/>
              </a:spcAft>
              <a:buNone/>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spcBef>
                <a:spcPts val="0"/>
              </a:spcBef>
              <a:spcAft>
                <a:spcPts val="0"/>
              </a:spcAft>
              <a:buNone/>
              <a:tabLst>
                <a:tab pos="100858"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1.	(S) Documents containing classified information will be marked in accordance with </a:t>
            </a:r>
            <a:r>
              <a:rPr lang="en-US" sz="706" dirty="0" err="1">
                <a:latin typeface="Arial Unicode MS" panose="020B0604020202020204" pitchFamily="34" charset="-128"/>
                <a:ea typeface="Arial Unicode MS" panose="020B0604020202020204" pitchFamily="34" charset="-128"/>
                <a:cs typeface="Arial Unicode MS" panose="020B0604020202020204" pitchFamily="34" charset="-128"/>
              </a:rPr>
              <a:t>DoDM</a:t>
            </a: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5200.01, Volume 2, "DoD Information Security Program: Marking of Information." All documents will be portion marked, contain the overall classification, and include the classification authority block.</a:t>
            </a:r>
          </a:p>
          <a:p>
            <a:pPr marL="0" indent="0">
              <a:spcBef>
                <a:spcPts val="0"/>
              </a:spcBef>
              <a:spcAft>
                <a:spcPts val="0"/>
              </a:spcAft>
              <a:buNone/>
              <a:tabLst>
                <a:tab pos="100858" algn="l"/>
              </a:tabLst>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spcBef>
                <a:spcPts val="0"/>
              </a:spcBef>
              <a:spcAft>
                <a:spcPts val="0"/>
              </a:spcAft>
              <a:buNone/>
              <a:tabLst>
                <a:tab pos="100858"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2.	(CUI) CUI markings in classified documents will appear in portions known to contain only CUI and will be marked as "(CUI)." If possible, segregate CUI from classified portions. If this is not possible, the portion marking will reflect the highest classification level in the portion.</a:t>
            </a:r>
          </a:p>
          <a:p>
            <a:pPr marL="0" indent="0">
              <a:spcBef>
                <a:spcPts val="0"/>
              </a:spcBef>
              <a:spcAft>
                <a:spcPts val="0"/>
              </a:spcAft>
              <a:buNone/>
              <a:tabLst>
                <a:tab pos="100858" algn="l"/>
              </a:tabLst>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spcBef>
                <a:spcPts val="0"/>
              </a:spcBef>
              <a:spcAft>
                <a:spcPts val="0"/>
              </a:spcAft>
              <a:buNone/>
              <a:tabLst>
                <a:tab pos="100858"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3.	(U) "CUI" will not appear in the banner line.</a:t>
            </a:r>
          </a:p>
          <a:p>
            <a:pPr marL="0" indent="0">
              <a:spcBef>
                <a:spcPts val="0"/>
              </a:spcBef>
              <a:spcAft>
                <a:spcPts val="0"/>
              </a:spcAft>
              <a:buNone/>
              <a:tabLst>
                <a:tab pos="100858" algn="l"/>
              </a:tabLst>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spcBef>
                <a:spcPts val="0"/>
              </a:spcBef>
              <a:spcAft>
                <a:spcPts val="0"/>
              </a:spcAft>
              <a:buNone/>
              <a:tabLst>
                <a:tab pos="100858"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4.	(U) All documents containing CUI, both classified and unclassified, will include a CUI designation indicator.</a:t>
            </a:r>
          </a:p>
          <a:p>
            <a:pPr marL="0" indent="0">
              <a:spcBef>
                <a:spcPts val="0"/>
              </a:spcBef>
              <a:spcAft>
                <a:spcPts val="0"/>
              </a:spcAft>
              <a:buNone/>
              <a:tabLst>
                <a:tab pos="100858" algn="l"/>
              </a:tabLst>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spcBef>
                <a:spcPts val="0"/>
              </a:spcBef>
              <a:spcAft>
                <a:spcPts val="0"/>
              </a:spcAft>
              <a:buNone/>
              <a:tabLst>
                <a:tab pos="806867"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Controlled by:</a:t>
            </a:r>
          </a:p>
          <a:p>
            <a:pPr marL="0" indent="0">
              <a:spcBef>
                <a:spcPts val="0"/>
              </a:spcBef>
              <a:spcAft>
                <a:spcPts val="0"/>
              </a:spcAft>
              <a:buNone/>
              <a:tabLst>
                <a:tab pos="806867"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CUI Category:</a:t>
            </a:r>
          </a:p>
          <a:p>
            <a:pPr marL="0" indent="0">
              <a:spcBef>
                <a:spcPts val="0"/>
              </a:spcBef>
              <a:spcAft>
                <a:spcPts val="0"/>
              </a:spcAft>
              <a:buNone/>
              <a:tabLst>
                <a:tab pos="806867"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Distribution/Dissemination Controls:</a:t>
            </a:r>
          </a:p>
          <a:p>
            <a:pPr marL="0" indent="0">
              <a:spcBef>
                <a:spcPts val="0"/>
              </a:spcBef>
              <a:spcAft>
                <a:spcPts val="0"/>
              </a:spcAft>
              <a:buNone/>
              <a:tabLst>
                <a:tab pos="806867"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POC:</a:t>
            </a:r>
          </a:p>
          <a:p>
            <a:pPr marL="0" indent="0">
              <a:spcBef>
                <a:spcPts val="0"/>
              </a:spcBef>
              <a:spcAft>
                <a:spcPts val="0"/>
              </a:spcAft>
              <a:buNone/>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spcBef>
                <a:spcPts val="0"/>
              </a:spcBef>
              <a:spcAft>
                <a:spcPts val="0"/>
              </a:spcAft>
              <a:buNone/>
              <a:tabLst>
                <a:tab pos="100858"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5.	(U) All classified documents containing CUI will also include the classification authority block as shown below.</a:t>
            </a:r>
          </a:p>
          <a:p>
            <a:pPr marL="0" indent="0">
              <a:spcBef>
                <a:spcPts val="0"/>
              </a:spcBef>
              <a:spcAft>
                <a:spcPts val="0"/>
              </a:spcAft>
              <a:buNone/>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spcBef>
                <a:spcPts val="0"/>
              </a:spcBef>
              <a:spcAft>
                <a:spcPts val="0"/>
              </a:spcAft>
              <a:buNone/>
              <a:tabLst>
                <a:tab pos="806867"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Classified By:</a:t>
            </a:r>
          </a:p>
          <a:p>
            <a:pPr marL="0" indent="0">
              <a:spcBef>
                <a:spcPts val="0"/>
              </a:spcBef>
              <a:spcAft>
                <a:spcPts val="0"/>
              </a:spcAft>
              <a:buNone/>
              <a:tabLst>
                <a:tab pos="806867"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Derived From/Reason: (depends on whether derivative or original classification decision)</a:t>
            </a:r>
          </a:p>
          <a:p>
            <a:pPr marL="0" indent="0">
              <a:spcBef>
                <a:spcPts val="0"/>
              </a:spcBef>
              <a:spcAft>
                <a:spcPts val="0"/>
              </a:spcAft>
              <a:buNone/>
              <a:tabLst>
                <a:tab pos="806867"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Declassify On:</a:t>
            </a:r>
          </a:p>
          <a:p>
            <a:pPr marL="0" indent="0">
              <a:spcBef>
                <a:spcPts val="0"/>
              </a:spcBef>
              <a:spcAft>
                <a:spcPts val="0"/>
              </a:spcAft>
              <a:buNone/>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spcBef>
                <a:spcPts val="0"/>
              </a:spcBef>
              <a:spcAft>
                <a:spcPts val="0"/>
              </a:spcAft>
              <a:buNone/>
              <a:tabLst>
                <a:tab pos="100858"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6.	(S) A warning will be placed on the first page of multi-page documents alerting readers to the presence of CUI in a classified DoD document.</a:t>
            </a:r>
          </a:p>
          <a:p>
            <a:pPr marL="201717" indent="-201717">
              <a:spcBef>
                <a:spcPts val="0"/>
              </a:spcBef>
              <a:spcAft>
                <a:spcPts val="0"/>
              </a:spcAft>
              <a:buAutoNum type="arabicPeriod" startAt="6"/>
              <a:tabLst>
                <a:tab pos="151287" algn="l"/>
              </a:tabLst>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lgn="just">
              <a:spcBef>
                <a:spcPts val="0"/>
              </a:spcBef>
              <a:spcAft>
                <a:spcPts val="0"/>
              </a:spcAft>
              <a:buAutoNum type="alphaUcParenBoth" startAt="21"/>
              <a:tabLst>
                <a:tab pos="252146" algn="l"/>
              </a:tabLst>
            </a:pPr>
            <a:r>
              <a:rPr lang="en-US" sz="706" dirty="0">
                <a:solidFill>
                  <a:schemeClr val="accent5">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rPr>
              <a:t>  This content is classified at the [insert highest classification level of the source data] level and may contain elements of controlled unclassified information (CUI), unclassified, or information classified at a lower level than the overall classification displayed. This content shall not be used as a source of derivative classification; refer instead to [cite specific reference, where possible, or state "the applicable classification guide(s)"]. It must be reviewed for both Classified National Security Information (CNSI) and CUI in accordance with </a:t>
            </a:r>
            <a:r>
              <a:rPr lang="en-US" sz="706" dirty="0" err="1">
                <a:solidFill>
                  <a:schemeClr val="accent5">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rPr>
              <a:t>DoDI</a:t>
            </a:r>
            <a:r>
              <a:rPr lang="en-US" sz="706" dirty="0">
                <a:solidFill>
                  <a:schemeClr val="accent5">
                    <a:lumMod val="50000"/>
                  </a:schemeClr>
                </a:solidFill>
                <a:latin typeface="Arial Unicode MS" panose="020B0604020202020204" pitchFamily="34" charset="-128"/>
                <a:ea typeface="Arial Unicode MS" panose="020B0604020202020204" pitchFamily="34" charset="-128"/>
                <a:cs typeface="Arial Unicode MS" panose="020B0604020202020204" pitchFamily="34" charset="-128"/>
              </a:rPr>
              <a:t> 5230.09 prior to public release. [Add a point of contact when needed.]</a:t>
            </a:r>
          </a:p>
          <a:p>
            <a:pPr marL="0" indent="0" algn="ctr">
              <a:spcBef>
                <a:spcPts val="0"/>
              </a:spcBef>
              <a:spcAft>
                <a:spcPts val="0"/>
              </a:spcAft>
              <a:buNone/>
              <a:tabLst>
                <a:tab pos="151287" algn="l"/>
              </a:tabLst>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100858" indent="0">
              <a:spcBef>
                <a:spcPts val="0"/>
              </a:spcBef>
              <a:spcAft>
                <a:spcPts val="0"/>
              </a:spcAft>
              <a:buNone/>
              <a:tabLst>
                <a:tab pos="2420600"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Classified By: Scott Smith, Program Analyst	Controlled by: OUSD(I&amp;S)</a:t>
            </a:r>
          </a:p>
          <a:p>
            <a:pPr marL="100858" indent="0">
              <a:spcBef>
                <a:spcPts val="0"/>
              </a:spcBef>
              <a:spcAft>
                <a:spcPts val="0"/>
              </a:spcAft>
              <a:buNone/>
              <a:tabLst>
                <a:tab pos="2420600"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Derived From:  DGW Memo, </a:t>
            </a:r>
            <a:r>
              <a:rPr lang="en-US" sz="706" dirty="0" err="1">
                <a:latin typeface="Arial Unicode MS" panose="020B0604020202020204" pitchFamily="34" charset="-128"/>
                <a:ea typeface="Arial Unicode MS" panose="020B0604020202020204" pitchFamily="34" charset="-128"/>
                <a:cs typeface="Arial Unicode MS" panose="020B0604020202020204" pitchFamily="34" charset="-128"/>
              </a:rPr>
              <a:t>dtd</a:t>
            </a: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June 5,	Controlled by: CL&amp;S INFOSEC</a:t>
            </a:r>
          </a:p>
          <a:p>
            <a:pPr marL="100858" indent="0">
              <a:spcBef>
                <a:spcPts val="0"/>
              </a:spcBef>
              <a:spcAft>
                <a:spcPts val="0"/>
              </a:spcAft>
              <a:buNone/>
              <a:tabLst>
                <a:tab pos="2420600"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2015, same subject	CUI  Category(</a:t>
            </a:r>
            <a:r>
              <a:rPr lang="en-US" sz="706" dirty="0" err="1">
                <a:latin typeface="Arial Unicode MS" panose="020B0604020202020204" pitchFamily="34" charset="-128"/>
                <a:ea typeface="Arial Unicode MS" panose="020B0604020202020204" pitchFamily="34" charset="-128"/>
                <a:cs typeface="Arial Unicode MS" panose="020B0604020202020204" pitchFamily="34" charset="-128"/>
              </a:rPr>
              <a:t>ies</a:t>
            </a: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PRVCY</a:t>
            </a:r>
          </a:p>
          <a:p>
            <a:pPr marL="100858" indent="0">
              <a:spcBef>
                <a:spcPts val="0"/>
              </a:spcBef>
              <a:spcAft>
                <a:spcPts val="0"/>
              </a:spcAft>
              <a:buNone/>
              <a:tabLst>
                <a:tab pos="2420600"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Declassify On: 20250605	Distribution/Dissemination Controls: FEDCON</a:t>
            </a:r>
          </a:p>
          <a:p>
            <a:pPr marL="100858" indent="0">
              <a:spcBef>
                <a:spcPts val="0"/>
              </a:spcBef>
              <a:spcAft>
                <a:spcPts val="0"/>
              </a:spcAft>
              <a:buNone/>
              <a:tabLst>
                <a:tab pos="2420600" algn="l"/>
              </a:tabLst>
            </a:pPr>
            <a:r>
              <a:rPr lang="en-US" sz="706" dirty="0">
                <a:latin typeface="Arial Unicode MS" panose="020B0604020202020204" pitchFamily="34" charset="-128"/>
                <a:ea typeface="Arial Unicode MS" panose="020B0604020202020204" pitchFamily="34" charset="-128"/>
                <a:cs typeface="Arial Unicode MS" panose="020B0604020202020204" pitchFamily="34" charset="-128"/>
              </a:rPr>
              <a:t>	POC: John Brown, 703-555-0123</a:t>
            </a:r>
          </a:p>
          <a:p>
            <a:pPr marL="100858" indent="0">
              <a:spcBef>
                <a:spcPts val="0"/>
              </a:spcBef>
              <a:spcAft>
                <a:spcPts val="0"/>
              </a:spcAft>
              <a:buNone/>
              <a:tabLst>
                <a:tab pos="2118025" algn="l"/>
              </a:tabLst>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spcBef>
                <a:spcPts val="0"/>
              </a:spcBef>
              <a:spcAft>
                <a:spcPts val="0"/>
              </a:spcAft>
              <a:buNone/>
              <a:tabLst>
                <a:tab pos="2118025" algn="l"/>
              </a:tabLst>
            </a:pP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a:p>
            <a:pPr marL="0" indent="0" algn="ctr">
              <a:spcBef>
                <a:spcPts val="0"/>
              </a:spcBef>
              <a:spcAft>
                <a:spcPts val="0"/>
              </a:spcAft>
              <a:buNone/>
              <a:tabLst>
                <a:tab pos="2118025" algn="l"/>
              </a:tabLst>
            </a:pPr>
            <a:r>
              <a:rPr lang="en-US" sz="706" b="1" dirty="0">
                <a:latin typeface="Arial Unicode MS" panose="020B0604020202020204" pitchFamily="34" charset="-128"/>
                <a:ea typeface="Arial Unicode MS" panose="020B0604020202020204" pitchFamily="34" charset="-128"/>
                <a:cs typeface="Arial Unicode MS" panose="020B0604020202020204" pitchFamily="34" charset="-128"/>
              </a:rPr>
              <a:t>SECRET</a:t>
            </a:r>
            <a:endParaRPr lang="en-US" sz="706"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sp>
        <p:nvSpPr>
          <p:cNvPr id="4" name="Rectangle 3"/>
          <p:cNvSpPr/>
          <p:nvPr/>
        </p:nvSpPr>
        <p:spPr>
          <a:xfrm>
            <a:off x="1846104" y="1085066"/>
            <a:ext cx="2031131" cy="1314142"/>
          </a:xfrm>
          <a:prstGeom prst="rect">
            <a:avLst/>
          </a:prstGeom>
        </p:spPr>
        <p:txBody>
          <a:bodyPr wrap="square">
            <a:spAutoFit/>
          </a:bodyPr>
          <a:lstStyle/>
          <a:p>
            <a:pPr algn="ctr" defTabSz="806867"/>
            <a:r>
              <a:rPr lang="en-US" sz="1588" b="1" u="sng" dirty="0">
                <a:solidFill>
                  <a:srgbClr val="2121FF"/>
                </a:solidFill>
                <a:latin typeface="Arial" panose="020B0604020202020204" pitchFamily="34" charset="0"/>
                <a:cs typeface="Arial" panose="020B0604020202020204" pitchFamily="34" charset="0"/>
              </a:rPr>
              <a:t>UNCLASSIFIED</a:t>
            </a:r>
          </a:p>
          <a:p>
            <a:pPr algn="ctr" defTabSz="806867"/>
            <a:r>
              <a:rPr lang="en-US" sz="1588" b="1" dirty="0">
                <a:solidFill>
                  <a:srgbClr val="2121FF"/>
                </a:solidFill>
                <a:latin typeface="Arial" panose="020B0604020202020204" pitchFamily="34" charset="0"/>
                <a:cs typeface="Arial" panose="020B0604020202020204" pitchFamily="34" charset="0"/>
              </a:rPr>
              <a:t>Classification markings for illustration purposes only </a:t>
            </a:r>
          </a:p>
        </p:txBody>
      </p:sp>
    </p:spTree>
    <p:extLst>
      <p:ext uri="{BB962C8B-B14F-4D97-AF65-F5344CB8AC3E}">
        <p14:creationId xmlns:p14="http://schemas.microsoft.com/office/powerpoint/2010/main" val="18813743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5840" y="87674"/>
            <a:ext cx="5192703" cy="852876"/>
          </a:xfrm>
        </p:spPr>
        <p:txBody>
          <a:bodyPr/>
          <a:lstStyle/>
          <a:p>
            <a:pPr algn="ctr">
              <a:spcBef>
                <a:spcPts val="0"/>
              </a:spcBef>
              <a:spcAft>
                <a:spcPts val="0"/>
              </a:spcAft>
              <a:buClr>
                <a:prstClr val="black"/>
              </a:buClr>
            </a:pPr>
            <a:r>
              <a:rPr lang="en-US" sz="2471" dirty="0">
                <a:solidFill>
                  <a:srgbClr val="000099"/>
                </a:solidFill>
              </a:rPr>
              <a:t>Marking CUI</a:t>
            </a:r>
            <a:br>
              <a:rPr lang="en-US" sz="2471" dirty="0">
                <a:solidFill>
                  <a:srgbClr val="000099"/>
                </a:solidFill>
              </a:rPr>
            </a:br>
            <a:r>
              <a:rPr lang="en-US" sz="2471" dirty="0">
                <a:solidFill>
                  <a:srgbClr val="000099"/>
                </a:solidFill>
              </a:rPr>
              <a:t>(Email Without Portion Markings)</a:t>
            </a: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sp>
        <p:nvSpPr>
          <p:cNvPr id="7" name="TextBox 6"/>
          <p:cNvSpPr txBox="1"/>
          <p:nvPr/>
        </p:nvSpPr>
        <p:spPr>
          <a:xfrm>
            <a:off x="9473401" y="2953013"/>
            <a:ext cx="1199290" cy="581057"/>
          </a:xfrm>
          <a:prstGeom prst="rect">
            <a:avLst/>
          </a:prstGeom>
          <a:noFill/>
        </p:spPr>
        <p:txBody>
          <a:bodyPr wrap="square" rtlCol="0">
            <a:spAutoFit/>
          </a:bodyPr>
          <a:lstStyle/>
          <a:p>
            <a:pPr defTabSz="806867"/>
            <a:r>
              <a:rPr lang="en-US" sz="1588" b="1" dirty="0">
                <a:solidFill>
                  <a:srgbClr val="000000"/>
                </a:solidFill>
                <a:latin typeface="Arial" panose="020B0604020202020204" pitchFamily="34" charset="0"/>
                <a:cs typeface="Arial" panose="020B0604020202020204" pitchFamily="34" charset="0"/>
              </a:rPr>
              <a:t>Banner </a:t>
            </a:r>
          </a:p>
          <a:p>
            <a:pPr defTabSz="806867"/>
            <a:r>
              <a:rPr lang="en-US" sz="1588" b="1" dirty="0">
                <a:solidFill>
                  <a:srgbClr val="000000"/>
                </a:solidFill>
                <a:latin typeface="Arial" panose="020B0604020202020204" pitchFamily="34" charset="0"/>
                <a:cs typeface="Arial" panose="020B0604020202020204" pitchFamily="34" charset="0"/>
              </a:rPr>
              <a:t>Line</a:t>
            </a:r>
          </a:p>
        </p:txBody>
      </p:sp>
      <p:pic>
        <p:nvPicPr>
          <p:cNvPr id="9" name="Picture 8"/>
          <p:cNvPicPr>
            <a:picLocks noChangeAspect="1"/>
          </p:cNvPicPr>
          <p:nvPr/>
        </p:nvPicPr>
        <p:blipFill rotWithShape="1">
          <a:blip r:embed="rId3"/>
          <a:srcRect r="2644"/>
          <a:stretch/>
        </p:blipFill>
        <p:spPr>
          <a:xfrm>
            <a:off x="1756979" y="1348321"/>
            <a:ext cx="7716423" cy="4706471"/>
          </a:xfrm>
          <a:prstGeom prst="rect">
            <a:avLst/>
          </a:prstGeom>
        </p:spPr>
      </p:pic>
      <p:sp>
        <p:nvSpPr>
          <p:cNvPr id="10" name="TextBox 9"/>
          <p:cNvSpPr txBox="1"/>
          <p:nvPr/>
        </p:nvSpPr>
        <p:spPr>
          <a:xfrm>
            <a:off x="9473400" y="5357847"/>
            <a:ext cx="1199290" cy="581057"/>
          </a:xfrm>
          <a:prstGeom prst="rect">
            <a:avLst/>
          </a:prstGeom>
          <a:noFill/>
        </p:spPr>
        <p:txBody>
          <a:bodyPr wrap="square" rtlCol="0">
            <a:spAutoFit/>
          </a:bodyPr>
          <a:lstStyle/>
          <a:p>
            <a:pPr defTabSz="806867"/>
            <a:r>
              <a:rPr lang="en-US" sz="1588" b="1" dirty="0">
                <a:solidFill>
                  <a:srgbClr val="000000"/>
                </a:solidFill>
                <a:latin typeface="Arial" panose="020B0604020202020204" pitchFamily="34" charset="0"/>
                <a:cs typeface="Arial" panose="020B0604020202020204" pitchFamily="34" charset="0"/>
              </a:rPr>
              <a:t>Banner </a:t>
            </a:r>
          </a:p>
          <a:p>
            <a:pPr defTabSz="806867"/>
            <a:r>
              <a:rPr lang="en-US" sz="1588" b="1" dirty="0">
                <a:solidFill>
                  <a:srgbClr val="000000"/>
                </a:solidFill>
                <a:latin typeface="Arial" panose="020B0604020202020204" pitchFamily="34" charset="0"/>
                <a:cs typeface="Arial" panose="020B0604020202020204" pitchFamily="34" charset="0"/>
              </a:rPr>
              <a:t>Line</a:t>
            </a:r>
          </a:p>
        </p:txBody>
      </p:sp>
    </p:spTree>
    <p:extLst>
      <p:ext uri="{BB962C8B-B14F-4D97-AF65-F5344CB8AC3E}">
        <p14:creationId xmlns:p14="http://schemas.microsoft.com/office/powerpoint/2010/main" val="42297062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2703" y="87674"/>
            <a:ext cx="4698977" cy="852876"/>
          </a:xfrm>
        </p:spPr>
        <p:txBody>
          <a:bodyPr/>
          <a:lstStyle/>
          <a:p>
            <a:pPr algn="ctr">
              <a:spcBef>
                <a:spcPts val="0"/>
              </a:spcBef>
              <a:spcAft>
                <a:spcPts val="0"/>
              </a:spcAft>
              <a:buClr>
                <a:prstClr val="black"/>
              </a:buClr>
            </a:pPr>
            <a:r>
              <a:rPr lang="en-US" sz="2471" dirty="0">
                <a:solidFill>
                  <a:srgbClr val="000099"/>
                </a:solidFill>
              </a:rPr>
              <a:t>Marking CUI</a:t>
            </a:r>
            <a:br>
              <a:rPr lang="en-US" sz="2471" dirty="0">
                <a:solidFill>
                  <a:srgbClr val="000099"/>
                </a:solidFill>
              </a:rPr>
            </a:br>
            <a:r>
              <a:rPr lang="en-US" sz="2471" dirty="0">
                <a:solidFill>
                  <a:srgbClr val="000099"/>
                </a:solidFill>
              </a:rPr>
              <a:t>(Email With Portion Markings)</a:t>
            </a: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pic>
        <p:nvPicPr>
          <p:cNvPr id="6" name="Picture 5"/>
          <p:cNvPicPr>
            <a:picLocks noChangeAspect="1"/>
          </p:cNvPicPr>
          <p:nvPr/>
        </p:nvPicPr>
        <p:blipFill>
          <a:blip r:embed="rId3"/>
          <a:stretch>
            <a:fillRect/>
          </a:stretch>
        </p:blipFill>
        <p:spPr>
          <a:xfrm>
            <a:off x="2709935" y="1522663"/>
            <a:ext cx="7514001" cy="4301495"/>
          </a:xfrm>
          <a:prstGeom prst="rect">
            <a:avLst/>
          </a:prstGeom>
        </p:spPr>
      </p:pic>
      <p:sp>
        <p:nvSpPr>
          <p:cNvPr id="7" name="TextBox 6"/>
          <p:cNvSpPr txBox="1"/>
          <p:nvPr/>
        </p:nvSpPr>
        <p:spPr>
          <a:xfrm>
            <a:off x="1725706" y="3103119"/>
            <a:ext cx="1199290" cy="581057"/>
          </a:xfrm>
          <a:prstGeom prst="rect">
            <a:avLst/>
          </a:prstGeom>
          <a:noFill/>
        </p:spPr>
        <p:txBody>
          <a:bodyPr wrap="square" rtlCol="0">
            <a:spAutoFit/>
          </a:bodyPr>
          <a:lstStyle/>
          <a:p>
            <a:pPr defTabSz="806867"/>
            <a:r>
              <a:rPr lang="en-US" sz="1588" b="1" dirty="0">
                <a:solidFill>
                  <a:srgbClr val="000000"/>
                </a:solidFill>
                <a:latin typeface="Arial" panose="020B0604020202020204" pitchFamily="34" charset="0"/>
                <a:cs typeface="Arial" panose="020B0604020202020204" pitchFamily="34" charset="0"/>
              </a:rPr>
              <a:t>Portion Markings</a:t>
            </a:r>
          </a:p>
        </p:txBody>
      </p:sp>
    </p:spTree>
    <p:extLst>
      <p:ext uri="{BB962C8B-B14F-4D97-AF65-F5344CB8AC3E}">
        <p14:creationId xmlns:p14="http://schemas.microsoft.com/office/powerpoint/2010/main" val="32019471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59158" y="87674"/>
            <a:ext cx="5175069" cy="852876"/>
          </a:xfrm>
        </p:spPr>
        <p:txBody>
          <a:bodyPr/>
          <a:lstStyle/>
          <a:p>
            <a:pPr algn="ctr">
              <a:spcBef>
                <a:spcPts val="0"/>
              </a:spcBef>
              <a:spcAft>
                <a:spcPts val="0"/>
              </a:spcAft>
              <a:buClr>
                <a:prstClr val="black"/>
              </a:buClr>
            </a:pPr>
            <a:r>
              <a:rPr lang="en-US" sz="2471" dirty="0">
                <a:solidFill>
                  <a:srgbClr val="000099"/>
                </a:solidFill>
              </a:rPr>
              <a:t>Marking CUI</a:t>
            </a:r>
            <a:br>
              <a:rPr lang="en-US" sz="2471" dirty="0">
                <a:solidFill>
                  <a:srgbClr val="000099"/>
                </a:solidFill>
              </a:rPr>
            </a:br>
            <a:r>
              <a:rPr lang="en-US" sz="2471" dirty="0">
                <a:solidFill>
                  <a:srgbClr val="000099"/>
                </a:solidFill>
              </a:rPr>
              <a:t>(Limited Dissemination Controls)</a:t>
            </a: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graphicFrame>
        <p:nvGraphicFramePr>
          <p:cNvPr id="7" name="Table 6"/>
          <p:cNvGraphicFramePr>
            <a:graphicFrameLocks noGrp="1"/>
          </p:cNvGraphicFramePr>
          <p:nvPr/>
        </p:nvGraphicFramePr>
        <p:xfrm>
          <a:off x="1921158" y="1116421"/>
          <a:ext cx="8199578" cy="4838360"/>
        </p:xfrm>
        <a:graphic>
          <a:graphicData uri="http://schemas.openxmlformats.org/drawingml/2006/table">
            <a:tbl>
              <a:tblPr firstRow="1" bandRow="1">
                <a:tableStyleId>{5C22544A-7EE6-4342-B048-85BDC9FD1C3A}</a:tableStyleId>
              </a:tblPr>
              <a:tblGrid>
                <a:gridCol w="8199578">
                  <a:extLst>
                    <a:ext uri="{9D8B030D-6E8A-4147-A177-3AD203B41FA5}">
                      <a16:colId xmlns:a16="http://schemas.microsoft.com/office/drawing/2014/main" val="3187476626"/>
                    </a:ext>
                  </a:extLst>
                </a:gridCol>
              </a:tblGrid>
              <a:tr h="359368">
                <a:tc>
                  <a:txBody>
                    <a:bodyPr/>
                    <a:lstStyle/>
                    <a:p>
                      <a:pPr algn="ctr"/>
                      <a:r>
                        <a:rPr lang="en-US" sz="1800" dirty="0"/>
                        <a:t>Distribution Statements for Controlled Technical Information (CTI)</a:t>
                      </a:r>
                    </a:p>
                  </a:txBody>
                  <a:tcPr marL="89175" marR="89175" marT="44588" marB="44588"/>
                </a:tc>
                <a:extLst>
                  <a:ext uri="{0D108BD9-81ED-4DB2-BD59-A6C34878D82A}">
                    <a16:rowId xmlns:a16="http://schemas.microsoft.com/office/drawing/2014/main" val="1586421737"/>
                  </a:ext>
                </a:extLst>
              </a:tr>
              <a:tr h="333280">
                <a:tc>
                  <a:txBody>
                    <a:bodyPr/>
                    <a:lstStyle/>
                    <a:p>
                      <a:pPr marL="120650" indent="0"/>
                      <a:r>
                        <a:rPr lang="en-US" sz="1400" dirty="0"/>
                        <a:t>Distribution Statement A: </a:t>
                      </a:r>
                      <a:r>
                        <a:rPr lang="en-US" sz="1600" kern="1200" dirty="0">
                          <a:solidFill>
                            <a:schemeClr val="dk1"/>
                          </a:solidFill>
                          <a:effectLst/>
                          <a:latin typeface="+mn-lt"/>
                          <a:ea typeface="+mn-ea"/>
                          <a:cs typeface="+mn-cs"/>
                        </a:rPr>
                        <a:t>Approved for public release. Distribution is unlimited.</a:t>
                      </a:r>
                      <a:endParaRPr lang="en-US" sz="1400" dirty="0"/>
                    </a:p>
                  </a:txBody>
                  <a:tcPr marL="0" marR="0" marT="0" marB="0"/>
                </a:tc>
                <a:extLst>
                  <a:ext uri="{0D108BD9-81ED-4DB2-BD59-A6C34878D82A}">
                    <a16:rowId xmlns:a16="http://schemas.microsoft.com/office/drawing/2014/main" val="1487697247"/>
                  </a:ext>
                </a:extLst>
              </a:tr>
              <a:tr h="737202">
                <a:tc>
                  <a:txBody>
                    <a:bodyPr/>
                    <a:lstStyle/>
                    <a:p>
                      <a:r>
                        <a:rPr lang="en-US" sz="1400" dirty="0"/>
                        <a:t>Distribution Statement B: Distribution authorized to U.S. Government agencies only [fill in reason and date of</a:t>
                      </a:r>
                    </a:p>
                    <a:p>
                      <a:r>
                        <a:rPr lang="en-US" sz="1400" dirty="0"/>
                        <a:t>determination]. Other requests for this document shall be referred to [insert controlling DoD office].</a:t>
                      </a:r>
                    </a:p>
                  </a:txBody>
                  <a:tcPr marL="89175" marR="89175" marT="44588" marB="44588"/>
                </a:tc>
                <a:extLst>
                  <a:ext uri="{0D108BD9-81ED-4DB2-BD59-A6C34878D82A}">
                    <a16:rowId xmlns:a16="http://schemas.microsoft.com/office/drawing/2014/main" val="1408359081"/>
                  </a:ext>
                </a:extLst>
              </a:tr>
              <a:tr h="953108">
                <a:tc>
                  <a:txBody>
                    <a:bodyPr/>
                    <a:lstStyle/>
                    <a:p>
                      <a:r>
                        <a:rPr lang="en-US" sz="1400" kern="1200" dirty="0">
                          <a:solidFill>
                            <a:schemeClr val="dk1"/>
                          </a:solidFill>
                          <a:effectLst/>
                          <a:latin typeface="+mn-lt"/>
                          <a:ea typeface="+mn-ea"/>
                          <a:cs typeface="+mn-cs"/>
                        </a:rPr>
                        <a:t>Distribution Statement C: Distribution authorized to U.S. Government agencies and their contractors [fill in</a:t>
                      </a:r>
                    </a:p>
                    <a:p>
                      <a:r>
                        <a:rPr lang="en-US" sz="1400" kern="1200" dirty="0">
                          <a:solidFill>
                            <a:schemeClr val="dk1"/>
                          </a:solidFill>
                          <a:effectLst/>
                          <a:latin typeface="+mn-lt"/>
                          <a:ea typeface="+mn-ea"/>
                          <a:cs typeface="+mn-cs"/>
                        </a:rPr>
                        <a:t>reason and date of determination]. Other requests for this document shall be referred to [insert controlling DoD office].</a:t>
                      </a:r>
                      <a:endParaRPr lang="en-US" sz="1400" dirty="0"/>
                    </a:p>
                  </a:txBody>
                  <a:tcPr marL="89175" marR="89175" marT="44588" marB="44588"/>
                </a:tc>
                <a:extLst>
                  <a:ext uri="{0D108BD9-81ED-4DB2-BD59-A6C34878D82A}">
                    <a16:rowId xmlns:a16="http://schemas.microsoft.com/office/drawing/2014/main" val="307554142"/>
                  </a:ext>
                </a:extLst>
              </a:tr>
              <a:tr h="953108">
                <a:tc>
                  <a:txBody>
                    <a:bodyPr/>
                    <a:lstStyle/>
                    <a:p>
                      <a:r>
                        <a:rPr lang="en-US" sz="1400" kern="1200" dirty="0">
                          <a:solidFill>
                            <a:schemeClr val="dk1"/>
                          </a:solidFill>
                          <a:effectLst/>
                          <a:latin typeface="+mn-lt"/>
                          <a:ea typeface="+mn-ea"/>
                          <a:cs typeface="+mn-cs"/>
                        </a:rPr>
                        <a:t>Distribution Statement D: Distribution authorized to Department of defense and U.S. DoD contractors only</a:t>
                      </a:r>
                    </a:p>
                    <a:p>
                      <a:r>
                        <a:rPr lang="en-US" sz="1400" kern="1200" dirty="0">
                          <a:solidFill>
                            <a:schemeClr val="dk1"/>
                          </a:solidFill>
                          <a:effectLst/>
                          <a:latin typeface="+mn-lt"/>
                          <a:ea typeface="+mn-ea"/>
                          <a:cs typeface="+mn-cs"/>
                        </a:rPr>
                        <a:t>[insert reason and date of determination]. Other requests for this document shall be referred to [insert controlling DoD office].</a:t>
                      </a:r>
                      <a:endParaRPr lang="en-US" sz="1400" dirty="0"/>
                    </a:p>
                  </a:txBody>
                  <a:tcPr marL="89175" marR="89175" marT="44588" marB="44588"/>
                </a:tc>
                <a:extLst>
                  <a:ext uri="{0D108BD9-81ED-4DB2-BD59-A6C34878D82A}">
                    <a16:rowId xmlns:a16="http://schemas.microsoft.com/office/drawing/2014/main" val="1766904951"/>
                  </a:ext>
                </a:extLst>
              </a:tr>
              <a:tr h="521299">
                <a:tc>
                  <a:txBody>
                    <a:bodyPr/>
                    <a:lstStyle/>
                    <a:p>
                      <a:r>
                        <a:rPr lang="en-US" sz="1400" kern="1200" dirty="0">
                          <a:solidFill>
                            <a:schemeClr val="dk1"/>
                          </a:solidFill>
                          <a:effectLst/>
                          <a:latin typeface="+mn-lt"/>
                          <a:ea typeface="+mn-ea"/>
                          <a:cs typeface="+mn-cs"/>
                        </a:rPr>
                        <a:t>Distribution Statement E: Distribution authorized to DoD Components only [fill in reason and date of</a:t>
                      </a:r>
                    </a:p>
                    <a:p>
                      <a:r>
                        <a:rPr lang="en-US" sz="1400" kern="1200" dirty="0">
                          <a:solidFill>
                            <a:schemeClr val="dk1"/>
                          </a:solidFill>
                          <a:effectLst/>
                          <a:latin typeface="+mn-lt"/>
                          <a:ea typeface="+mn-ea"/>
                          <a:cs typeface="+mn-cs"/>
                        </a:rPr>
                        <a:t>determination]. Other requests shall be referred to [insert controlling DoD office].</a:t>
                      </a:r>
                      <a:endParaRPr lang="en-US" sz="1400" dirty="0"/>
                    </a:p>
                  </a:txBody>
                  <a:tcPr marL="89175" marR="89175" marT="44588" marB="44588"/>
                </a:tc>
                <a:extLst>
                  <a:ext uri="{0D108BD9-81ED-4DB2-BD59-A6C34878D82A}">
                    <a16:rowId xmlns:a16="http://schemas.microsoft.com/office/drawing/2014/main" val="188266866"/>
                  </a:ext>
                </a:extLst>
              </a:tr>
              <a:tr h="647716">
                <a:tc>
                  <a:txBody>
                    <a:bodyPr/>
                    <a:lstStyle/>
                    <a:p>
                      <a:pPr marL="120650" indent="0"/>
                      <a:r>
                        <a:rPr lang="en-US" sz="1400" kern="1200" dirty="0">
                          <a:solidFill>
                            <a:schemeClr val="dk1"/>
                          </a:solidFill>
                          <a:effectLst/>
                          <a:latin typeface="+mn-lt"/>
                          <a:ea typeface="+mn-ea"/>
                          <a:cs typeface="+mn-cs"/>
                        </a:rPr>
                        <a:t>Distribution Statement F: Further dissemination only as directed by [insert controlling DoD office and date of</a:t>
                      </a:r>
                    </a:p>
                    <a:p>
                      <a:pPr marL="120650" indent="0"/>
                      <a:r>
                        <a:rPr lang="en-US" sz="1400" kern="1200" dirty="0">
                          <a:solidFill>
                            <a:schemeClr val="dk1"/>
                          </a:solidFill>
                          <a:effectLst/>
                          <a:latin typeface="+mn-lt"/>
                          <a:ea typeface="+mn-ea"/>
                          <a:cs typeface="+mn-cs"/>
                        </a:rPr>
                        <a:t>determination] or higher DoD authority.</a:t>
                      </a:r>
                      <a:endParaRPr lang="en-US" sz="1400" dirty="0">
                        <a:effectLst/>
                        <a:latin typeface="+mn-lt"/>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283091734"/>
                  </a:ext>
                </a:extLst>
              </a:tr>
              <a:tr h="333280">
                <a:tc>
                  <a:txBody>
                    <a:bodyPr/>
                    <a:lstStyle/>
                    <a:p>
                      <a:r>
                        <a:rPr lang="en-US" sz="1400" kern="1200" dirty="0">
                          <a:solidFill>
                            <a:schemeClr val="dk1"/>
                          </a:solidFill>
                          <a:effectLst/>
                          <a:latin typeface="+mn-lt"/>
                          <a:ea typeface="+mn-ea"/>
                          <a:cs typeface="+mn-cs"/>
                        </a:rPr>
                        <a:t>Distribution X *</a:t>
                      </a:r>
                      <a:endParaRPr lang="en-US" sz="1400" dirty="0"/>
                    </a:p>
                  </a:txBody>
                  <a:tcPr marL="89175" marR="89175" marT="44588" marB="44588"/>
                </a:tc>
                <a:extLst>
                  <a:ext uri="{0D108BD9-81ED-4DB2-BD59-A6C34878D82A}">
                    <a16:rowId xmlns:a16="http://schemas.microsoft.com/office/drawing/2014/main" val="894858118"/>
                  </a:ext>
                </a:extLst>
              </a:tr>
            </a:tbl>
          </a:graphicData>
        </a:graphic>
      </p:graphicFrame>
      <p:sp>
        <p:nvSpPr>
          <p:cNvPr id="8" name="TextBox 7"/>
          <p:cNvSpPr txBox="1"/>
          <p:nvPr/>
        </p:nvSpPr>
        <p:spPr>
          <a:xfrm>
            <a:off x="1789814" y="5905292"/>
            <a:ext cx="8537319" cy="472437"/>
          </a:xfrm>
          <a:prstGeom prst="rect">
            <a:avLst/>
          </a:prstGeom>
          <a:noFill/>
        </p:spPr>
        <p:txBody>
          <a:bodyPr wrap="square" rtlCol="0">
            <a:spAutoFit/>
          </a:bodyPr>
          <a:lstStyle/>
          <a:p>
            <a:pPr defTabSz="806867"/>
            <a:r>
              <a:rPr lang="en-US" sz="1235" dirty="0">
                <a:solidFill>
                  <a:srgbClr val="000000"/>
                </a:solidFill>
                <a:latin typeface="Arial"/>
              </a:rPr>
              <a:t>* U.S. Government agencies and private individuals or enterprises eligible to obtain export controlled technical data in accordance with </a:t>
            </a:r>
            <a:r>
              <a:rPr lang="en-US" sz="1235" dirty="0" err="1">
                <a:solidFill>
                  <a:srgbClr val="000000"/>
                </a:solidFill>
                <a:latin typeface="Arial"/>
              </a:rPr>
              <a:t>DoDD</a:t>
            </a:r>
            <a:r>
              <a:rPr lang="en-US" sz="1235" dirty="0">
                <a:solidFill>
                  <a:srgbClr val="000000"/>
                </a:solidFill>
                <a:latin typeface="Arial"/>
              </a:rPr>
              <a:t> 5230.25.  Distribution Statement X was cancelled and superseded by Distribution Statement C.</a:t>
            </a:r>
          </a:p>
        </p:txBody>
      </p:sp>
    </p:spTree>
    <p:extLst>
      <p:ext uri="{BB962C8B-B14F-4D97-AF65-F5344CB8AC3E}">
        <p14:creationId xmlns:p14="http://schemas.microsoft.com/office/powerpoint/2010/main" val="3834550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5880" y="220933"/>
            <a:ext cx="2701635" cy="961624"/>
          </a:xfrm>
        </p:spPr>
        <p:txBody>
          <a:bodyPr/>
          <a:lstStyle/>
          <a:p>
            <a:pPr algn="ctr">
              <a:spcBef>
                <a:spcPts val="0"/>
              </a:spcBef>
              <a:spcAft>
                <a:spcPts val="0"/>
              </a:spcAft>
              <a:buClr>
                <a:prstClr val="black"/>
              </a:buClr>
            </a:pPr>
            <a:r>
              <a:rPr lang="en-US" sz="2824" dirty="0">
                <a:solidFill>
                  <a:srgbClr val="000099"/>
                </a:solidFill>
              </a:rPr>
              <a:t>Protecting CUI</a:t>
            </a:r>
            <a:br>
              <a:rPr lang="en-US" sz="2824" dirty="0">
                <a:solidFill>
                  <a:srgbClr val="000099"/>
                </a:solidFill>
              </a:rPr>
            </a:br>
            <a:endParaRPr lang="en-US" sz="2824" dirty="0">
              <a:solidFill>
                <a:srgbClr val="000099"/>
              </a:solidFill>
            </a:endParaRP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sp>
        <p:nvSpPr>
          <p:cNvPr id="6" name="Text Placeholder 3"/>
          <p:cNvSpPr txBox="1">
            <a:spLocks/>
          </p:cNvSpPr>
          <p:nvPr/>
        </p:nvSpPr>
        <p:spPr>
          <a:xfrm>
            <a:off x="2136415" y="1281532"/>
            <a:ext cx="7919171" cy="4454191"/>
          </a:xfrm>
          <a:prstGeom prst="rect">
            <a:avLst/>
          </a:prstGeom>
        </p:spPr>
        <p:txBody>
          <a:bodyPr>
            <a:normAutofit/>
          </a:bodyPr>
          <a:lstStyle>
            <a:lvl1pPr marL="416252" indent="-416252" algn="l" defTabSz="913688" rtl="0" eaLnBrk="0" fontAlgn="base" hangingPunct="0">
              <a:spcBef>
                <a:spcPts val="599"/>
              </a:spcBef>
              <a:spcAft>
                <a:spcPct val="0"/>
              </a:spcAft>
              <a:buChar char="•"/>
              <a:defRPr sz="2500" b="0">
                <a:solidFill>
                  <a:schemeClr val="tx1"/>
                </a:solidFill>
                <a:latin typeface="+mn-lt"/>
                <a:ea typeface="+mn-ea"/>
                <a:cs typeface="+mn-cs"/>
                <a:sym typeface="Wingdings" pitchFamily="2" charset="2"/>
              </a:defRPr>
            </a:lvl1pPr>
            <a:lvl2pPr marL="832430"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2pPr>
            <a:lvl3pPr marL="1250079"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3pPr>
            <a:lvl4pPr marL="1664842" indent="-413387" algn="l" defTabSz="913688" rtl="0" eaLnBrk="0" fontAlgn="base" hangingPunct="0">
              <a:spcBef>
                <a:spcPts val="599"/>
              </a:spcBef>
              <a:spcAft>
                <a:spcPct val="0"/>
              </a:spcAft>
              <a:buChar char="•"/>
              <a:defRPr sz="2000">
                <a:solidFill>
                  <a:schemeClr val="tx1"/>
                </a:solidFill>
                <a:latin typeface="+mn-lt"/>
              </a:defRPr>
            </a:lvl4pPr>
            <a:lvl5pPr marL="2082450" indent="-414829" algn="l" defTabSz="913688" rtl="0" eaLnBrk="0" fontAlgn="base" hangingPunct="0">
              <a:spcBef>
                <a:spcPts val="599"/>
              </a:spcBef>
              <a:spcAft>
                <a:spcPct val="0"/>
              </a:spcAft>
              <a:buChar char="•"/>
              <a:defRPr sz="2000">
                <a:solidFill>
                  <a:schemeClr val="tx1"/>
                </a:solidFill>
                <a:latin typeface="+mn-lt"/>
                <a:sym typeface="Wingdings" pitchFamily="2" charset="2"/>
              </a:defRPr>
            </a:lvl5pPr>
            <a:lvl6pPr marL="25000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6pPr>
            <a:lvl7pPr marL="29169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7pPr>
            <a:lvl8pPr marL="3333825"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8pPr>
            <a:lvl9pPr marL="3750708"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9pPr>
          </a:lstStyle>
          <a:p>
            <a:pPr marL="367301" indent="-367301" defTabSz="806238">
              <a:spcBef>
                <a:spcPts val="529"/>
              </a:spcBef>
            </a:pPr>
            <a:r>
              <a:rPr lang="en-US" sz="2824" b="1" dirty="0">
                <a:solidFill>
                  <a:srgbClr val="000000"/>
                </a:solidFill>
                <a:latin typeface="Arial"/>
              </a:rPr>
              <a:t>Work Hours:  </a:t>
            </a:r>
            <a:r>
              <a:rPr lang="en-US" sz="2824" dirty="0">
                <a:solidFill>
                  <a:srgbClr val="000000"/>
                </a:solidFill>
                <a:latin typeface="Arial"/>
              </a:rPr>
              <a:t>Take steps to minimize risk of unauthorized access.</a:t>
            </a:r>
          </a:p>
          <a:p>
            <a:pPr marL="734536" lvl="1" indent="-367301" defTabSz="806238">
              <a:spcBef>
                <a:spcPts val="529"/>
              </a:spcBef>
            </a:pPr>
            <a:r>
              <a:rPr lang="en-US" altLang="en-US" sz="2824" dirty="0">
                <a:solidFill>
                  <a:srgbClr val="000000"/>
                </a:solidFill>
                <a:latin typeface="Arial"/>
              </a:rPr>
              <a:t>Control entry into areas with CUI</a:t>
            </a:r>
          </a:p>
          <a:p>
            <a:pPr marL="734536" lvl="1" indent="-367301" defTabSz="806238">
              <a:spcBef>
                <a:spcPts val="529"/>
              </a:spcBef>
            </a:pPr>
            <a:r>
              <a:rPr lang="en-US" altLang="en-US" sz="2824" dirty="0">
                <a:solidFill>
                  <a:srgbClr val="000000"/>
                </a:solidFill>
                <a:latin typeface="Arial"/>
              </a:rPr>
              <a:t>Clear desks when taking breaks</a:t>
            </a:r>
          </a:p>
          <a:p>
            <a:pPr marL="367301" indent="-367301" defTabSz="806238">
              <a:spcBef>
                <a:spcPts val="529"/>
              </a:spcBef>
            </a:pPr>
            <a:r>
              <a:rPr lang="en-US" sz="2824" b="1" dirty="0">
                <a:solidFill>
                  <a:srgbClr val="000000"/>
                </a:solidFill>
                <a:latin typeface="Arial"/>
              </a:rPr>
              <a:t>After Work hours:  </a:t>
            </a:r>
            <a:r>
              <a:rPr lang="en-US" sz="2824" dirty="0">
                <a:solidFill>
                  <a:srgbClr val="000000"/>
                </a:solidFill>
                <a:latin typeface="Arial"/>
              </a:rPr>
              <a:t>Locked desks, cabinets unless building security provided.</a:t>
            </a:r>
          </a:p>
          <a:p>
            <a:pPr marL="297858" lvl="1" indent="-297858" defTabSz="806238">
              <a:spcBef>
                <a:spcPts val="529"/>
              </a:spcBef>
            </a:pPr>
            <a:r>
              <a:rPr lang="en-US" altLang="en-US" sz="2824" dirty="0">
                <a:solidFill>
                  <a:srgbClr val="000000"/>
                </a:solidFill>
                <a:latin typeface="Arial"/>
              </a:rPr>
              <a:t>Encrypt CUI emails</a:t>
            </a:r>
          </a:p>
          <a:p>
            <a:pPr marL="297858" lvl="1" indent="-297858" defTabSz="806238">
              <a:spcBef>
                <a:spcPts val="529"/>
              </a:spcBef>
            </a:pPr>
            <a:r>
              <a:rPr lang="en-US" altLang="en-US" sz="2824" dirty="0">
                <a:solidFill>
                  <a:srgbClr val="000000"/>
                </a:solidFill>
                <a:latin typeface="Arial"/>
              </a:rPr>
              <a:t>Do not post CUI to public websites</a:t>
            </a:r>
          </a:p>
          <a:p>
            <a:pPr marL="297858" lvl="1" indent="-297858" defTabSz="806238">
              <a:spcBef>
                <a:spcPts val="529"/>
              </a:spcBef>
            </a:pPr>
            <a:r>
              <a:rPr lang="en-US" sz="2824" dirty="0">
                <a:solidFill>
                  <a:srgbClr val="000000"/>
                </a:solidFill>
                <a:latin typeface="Arial"/>
              </a:rPr>
              <a:t>Shred or place CUI in a lockable recycle bin</a:t>
            </a:r>
          </a:p>
          <a:p>
            <a:pPr marL="367301" indent="-367301" defTabSz="806238">
              <a:spcBef>
                <a:spcPts val="529"/>
              </a:spcBef>
            </a:pPr>
            <a:endParaRPr lang="en-US" sz="2206" dirty="0">
              <a:solidFill>
                <a:srgbClr val="000000"/>
              </a:solidFill>
              <a:latin typeface="Arial"/>
            </a:endParaRPr>
          </a:p>
        </p:txBody>
      </p:sp>
    </p:spTree>
    <p:extLst>
      <p:ext uri="{BB962C8B-B14F-4D97-AF65-F5344CB8AC3E}">
        <p14:creationId xmlns:p14="http://schemas.microsoft.com/office/powerpoint/2010/main" val="10002214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1879" y="277789"/>
            <a:ext cx="3129637" cy="472644"/>
          </a:xfrm>
        </p:spPr>
        <p:txBody>
          <a:bodyPr/>
          <a:lstStyle/>
          <a:p>
            <a:pPr algn="ctr">
              <a:spcBef>
                <a:spcPts val="0"/>
              </a:spcBef>
              <a:spcAft>
                <a:spcPts val="0"/>
              </a:spcAft>
              <a:buClr>
                <a:prstClr val="black"/>
              </a:buClr>
            </a:pPr>
            <a:r>
              <a:rPr lang="en-US" sz="2471" dirty="0">
                <a:solidFill>
                  <a:srgbClr val="000099"/>
                </a:solidFill>
              </a:rPr>
              <a:t>Shipping or Mailing</a:t>
            </a: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sp>
        <p:nvSpPr>
          <p:cNvPr id="6" name="Text Placeholder 3"/>
          <p:cNvSpPr txBox="1">
            <a:spLocks/>
          </p:cNvSpPr>
          <p:nvPr/>
        </p:nvSpPr>
        <p:spPr>
          <a:xfrm>
            <a:off x="2187112" y="1174446"/>
            <a:ext cx="7919171" cy="5159885"/>
          </a:xfrm>
          <a:prstGeom prst="rect">
            <a:avLst/>
          </a:prstGeom>
        </p:spPr>
        <p:txBody>
          <a:bodyPr>
            <a:noAutofit/>
          </a:bodyPr>
          <a:lstStyle>
            <a:lvl1pPr marL="416252" indent="-416252" algn="l" defTabSz="913688" rtl="0" eaLnBrk="0" fontAlgn="base" hangingPunct="0">
              <a:spcBef>
                <a:spcPts val="599"/>
              </a:spcBef>
              <a:spcAft>
                <a:spcPct val="0"/>
              </a:spcAft>
              <a:buChar char="•"/>
              <a:defRPr sz="2500" b="0">
                <a:solidFill>
                  <a:schemeClr val="tx1"/>
                </a:solidFill>
                <a:latin typeface="+mn-lt"/>
                <a:ea typeface="+mn-ea"/>
                <a:cs typeface="+mn-cs"/>
                <a:sym typeface="Wingdings" pitchFamily="2" charset="2"/>
              </a:defRPr>
            </a:lvl1pPr>
            <a:lvl2pPr marL="832430"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2pPr>
            <a:lvl3pPr marL="1250079"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3pPr>
            <a:lvl4pPr marL="1664842" indent="-413387" algn="l" defTabSz="913688" rtl="0" eaLnBrk="0" fontAlgn="base" hangingPunct="0">
              <a:spcBef>
                <a:spcPts val="599"/>
              </a:spcBef>
              <a:spcAft>
                <a:spcPct val="0"/>
              </a:spcAft>
              <a:buChar char="•"/>
              <a:defRPr sz="2000">
                <a:solidFill>
                  <a:schemeClr val="tx1"/>
                </a:solidFill>
                <a:latin typeface="+mn-lt"/>
              </a:defRPr>
            </a:lvl4pPr>
            <a:lvl5pPr marL="2082450" indent="-414829" algn="l" defTabSz="913688" rtl="0" eaLnBrk="0" fontAlgn="base" hangingPunct="0">
              <a:spcBef>
                <a:spcPts val="599"/>
              </a:spcBef>
              <a:spcAft>
                <a:spcPct val="0"/>
              </a:spcAft>
              <a:buChar char="•"/>
              <a:defRPr sz="2000">
                <a:solidFill>
                  <a:schemeClr val="tx1"/>
                </a:solidFill>
                <a:latin typeface="+mn-lt"/>
                <a:sym typeface="Wingdings" pitchFamily="2" charset="2"/>
              </a:defRPr>
            </a:lvl5pPr>
            <a:lvl6pPr marL="25000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6pPr>
            <a:lvl7pPr marL="29169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7pPr>
            <a:lvl8pPr marL="3333825"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8pPr>
            <a:lvl9pPr marL="3750708"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9pPr>
          </a:lstStyle>
          <a:p>
            <a:pPr marL="367301" indent="-367301" defTabSz="806238">
              <a:spcBef>
                <a:spcPts val="529"/>
              </a:spcBef>
            </a:pPr>
            <a:r>
              <a:rPr lang="en-US" sz="2824" dirty="0">
                <a:solidFill>
                  <a:srgbClr val="000000"/>
                </a:solidFill>
                <a:latin typeface="Arial"/>
              </a:rPr>
              <a:t>Sending CUI, authorized holders: </a:t>
            </a:r>
          </a:p>
          <a:p>
            <a:pPr marL="734536" lvl="1" indent="-367301" defTabSz="806238">
              <a:spcBef>
                <a:spcPts val="529"/>
              </a:spcBef>
            </a:pPr>
            <a:r>
              <a:rPr lang="en-US" sz="2824" dirty="0">
                <a:solidFill>
                  <a:srgbClr val="000000"/>
                </a:solidFill>
                <a:latin typeface="Arial"/>
              </a:rPr>
              <a:t>May use United States Postal Service or any commercial delivery service when transport or delivery of CUI to another entity is required; </a:t>
            </a:r>
          </a:p>
          <a:p>
            <a:pPr marL="734536" lvl="1" indent="-367301" defTabSz="806238">
              <a:spcBef>
                <a:spcPts val="529"/>
              </a:spcBef>
            </a:pPr>
            <a:r>
              <a:rPr lang="en-US" sz="2824" dirty="0">
                <a:solidFill>
                  <a:srgbClr val="000000"/>
                </a:solidFill>
                <a:latin typeface="Arial"/>
              </a:rPr>
              <a:t>Should use in-transit automated tracking and accountability tools when sending CUI; </a:t>
            </a:r>
          </a:p>
          <a:p>
            <a:pPr marL="734536" lvl="1" indent="-367301" defTabSz="806238">
              <a:spcBef>
                <a:spcPts val="529"/>
              </a:spcBef>
            </a:pPr>
            <a:r>
              <a:rPr lang="en-US" sz="2824" dirty="0">
                <a:solidFill>
                  <a:srgbClr val="000000"/>
                </a:solidFill>
                <a:latin typeface="Arial"/>
              </a:rPr>
              <a:t>May use interoffice or interagency mail systems to transport CUI; and </a:t>
            </a:r>
          </a:p>
          <a:p>
            <a:pPr marL="734536" lvl="1" indent="-367301" defTabSz="806238">
              <a:spcBef>
                <a:spcPts val="529"/>
              </a:spcBef>
            </a:pPr>
            <a:r>
              <a:rPr lang="en-US" sz="2824" dirty="0">
                <a:solidFill>
                  <a:srgbClr val="000000"/>
                </a:solidFill>
                <a:latin typeface="Arial"/>
              </a:rPr>
              <a:t>Must mark packages containing CUI according to marking requirements</a:t>
            </a:r>
          </a:p>
        </p:txBody>
      </p:sp>
    </p:spTree>
    <p:extLst>
      <p:ext uri="{BB962C8B-B14F-4D97-AF65-F5344CB8AC3E}">
        <p14:creationId xmlns:p14="http://schemas.microsoft.com/office/powerpoint/2010/main" val="3619877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2706" y="277789"/>
            <a:ext cx="2247986" cy="472644"/>
          </a:xfrm>
        </p:spPr>
        <p:txBody>
          <a:bodyPr/>
          <a:lstStyle/>
          <a:p>
            <a:pPr algn="ctr">
              <a:spcBef>
                <a:spcPts val="0"/>
              </a:spcBef>
              <a:spcAft>
                <a:spcPts val="0"/>
              </a:spcAft>
              <a:buClr>
                <a:prstClr val="black"/>
              </a:buClr>
            </a:pPr>
            <a:r>
              <a:rPr lang="en-US" sz="2471" dirty="0">
                <a:solidFill>
                  <a:srgbClr val="000099"/>
                </a:solidFill>
              </a:rPr>
              <a:t>Reproduction</a:t>
            </a: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sp>
        <p:nvSpPr>
          <p:cNvPr id="6" name="Text Placeholder 3"/>
          <p:cNvSpPr txBox="1">
            <a:spLocks/>
          </p:cNvSpPr>
          <p:nvPr/>
        </p:nvSpPr>
        <p:spPr>
          <a:xfrm>
            <a:off x="1724142" y="1247795"/>
            <a:ext cx="8809387" cy="5159885"/>
          </a:xfrm>
          <a:prstGeom prst="rect">
            <a:avLst/>
          </a:prstGeom>
        </p:spPr>
        <p:txBody>
          <a:bodyPr>
            <a:noAutofit/>
          </a:bodyPr>
          <a:lstStyle>
            <a:lvl1pPr marL="416252" indent="-416252" algn="l" defTabSz="913688" rtl="0" eaLnBrk="0" fontAlgn="base" hangingPunct="0">
              <a:spcBef>
                <a:spcPts val="599"/>
              </a:spcBef>
              <a:spcAft>
                <a:spcPct val="0"/>
              </a:spcAft>
              <a:buChar char="•"/>
              <a:defRPr sz="2500" b="0">
                <a:solidFill>
                  <a:schemeClr val="tx1"/>
                </a:solidFill>
                <a:latin typeface="+mn-lt"/>
                <a:ea typeface="+mn-ea"/>
                <a:cs typeface="+mn-cs"/>
                <a:sym typeface="Wingdings" pitchFamily="2" charset="2"/>
              </a:defRPr>
            </a:lvl1pPr>
            <a:lvl2pPr marL="832430"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2pPr>
            <a:lvl3pPr marL="1250079"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3pPr>
            <a:lvl4pPr marL="1664842" indent="-413387" algn="l" defTabSz="913688" rtl="0" eaLnBrk="0" fontAlgn="base" hangingPunct="0">
              <a:spcBef>
                <a:spcPts val="599"/>
              </a:spcBef>
              <a:spcAft>
                <a:spcPct val="0"/>
              </a:spcAft>
              <a:buChar char="•"/>
              <a:defRPr sz="2000">
                <a:solidFill>
                  <a:schemeClr val="tx1"/>
                </a:solidFill>
                <a:latin typeface="+mn-lt"/>
              </a:defRPr>
            </a:lvl4pPr>
            <a:lvl5pPr marL="2082450" indent="-414829" algn="l" defTabSz="913688" rtl="0" eaLnBrk="0" fontAlgn="base" hangingPunct="0">
              <a:spcBef>
                <a:spcPts val="599"/>
              </a:spcBef>
              <a:spcAft>
                <a:spcPct val="0"/>
              </a:spcAft>
              <a:buChar char="•"/>
              <a:defRPr sz="2000">
                <a:solidFill>
                  <a:schemeClr val="tx1"/>
                </a:solidFill>
                <a:latin typeface="+mn-lt"/>
                <a:sym typeface="Wingdings" pitchFamily="2" charset="2"/>
              </a:defRPr>
            </a:lvl5pPr>
            <a:lvl6pPr marL="25000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6pPr>
            <a:lvl7pPr marL="29169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7pPr>
            <a:lvl8pPr marL="3333825"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8pPr>
            <a:lvl9pPr marL="3750708"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9pPr>
          </a:lstStyle>
          <a:p>
            <a:pPr marL="367301" indent="-367301" defTabSz="806238">
              <a:spcBef>
                <a:spcPts val="529"/>
              </a:spcBef>
            </a:pPr>
            <a:r>
              <a:rPr lang="en-US" sz="2471" dirty="0">
                <a:solidFill>
                  <a:srgbClr val="000000"/>
                </a:solidFill>
                <a:latin typeface="Arial"/>
              </a:rPr>
              <a:t>May reproduce (e.g., copy, scan, print, electronically duplicate) CUI in furtherance of a lawful Government purpose; and </a:t>
            </a:r>
          </a:p>
          <a:p>
            <a:pPr marL="367301" indent="-367301" defTabSz="806238">
              <a:spcBef>
                <a:spcPts val="529"/>
              </a:spcBef>
            </a:pPr>
            <a:r>
              <a:rPr lang="en-US" sz="2471" dirty="0">
                <a:solidFill>
                  <a:srgbClr val="000000"/>
                </a:solidFill>
                <a:latin typeface="Arial"/>
              </a:rPr>
              <a:t>Must ensure, equipment (e.g., printers, copiers, scanners, fax machines) used to reproduce CUI does not retain data or the agency must sanitize it in accordance with NIST SP 800-53. </a:t>
            </a:r>
          </a:p>
          <a:p>
            <a:pPr marL="367301" indent="-367301" defTabSz="806238">
              <a:spcBef>
                <a:spcPts val="529"/>
              </a:spcBef>
            </a:pPr>
            <a:endParaRPr lang="en-US" sz="2824" dirty="0">
              <a:solidFill>
                <a:srgbClr val="000000"/>
              </a:solidFill>
              <a:latin typeface="Arial"/>
            </a:endParaRPr>
          </a:p>
          <a:p>
            <a:pPr marL="367301" indent="-367301" defTabSz="806238">
              <a:spcBef>
                <a:spcPts val="529"/>
              </a:spcBef>
            </a:pPr>
            <a:endParaRPr lang="en-US" sz="2824" dirty="0">
              <a:solidFill>
                <a:srgbClr val="000000"/>
              </a:solidFill>
              <a:latin typeface="Arial"/>
            </a:endParaRPr>
          </a:p>
        </p:txBody>
      </p:sp>
      <p:pic>
        <p:nvPicPr>
          <p:cNvPr id="7" name="Picture 6"/>
          <p:cNvPicPr>
            <a:picLocks noChangeAspect="1"/>
          </p:cNvPicPr>
          <p:nvPr/>
        </p:nvPicPr>
        <p:blipFill rotWithShape="1">
          <a:blip r:embed="rId3"/>
          <a:srcRect t="8888" b="9333"/>
          <a:stretch/>
        </p:blipFill>
        <p:spPr>
          <a:xfrm>
            <a:off x="4017015" y="3657992"/>
            <a:ext cx="3655105" cy="2562055"/>
          </a:xfrm>
          <a:prstGeom prst="rect">
            <a:avLst/>
          </a:prstGeom>
        </p:spPr>
      </p:pic>
    </p:spTree>
    <p:extLst>
      <p:ext uri="{BB962C8B-B14F-4D97-AF65-F5344CB8AC3E}">
        <p14:creationId xmlns:p14="http://schemas.microsoft.com/office/powerpoint/2010/main" val="645610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72587" y="277789"/>
            <a:ext cx="1948224" cy="472644"/>
          </a:xfrm>
        </p:spPr>
        <p:txBody>
          <a:bodyPr/>
          <a:lstStyle/>
          <a:p>
            <a:pPr algn="ctr">
              <a:spcBef>
                <a:spcPts val="0"/>
              </a:spcBef>
              <a:spcAft>
                <a:spcPts val="0"/>
              </a:spcAft>
              <a:buClr>
                <a:prstClr val="black"/>
              </a:buClr>
            </a:pPr>
            <a:r>
              <a:rPr lang="en-US" sz="2471" dirty="0">
                <a:solidFill>
                  <a:srgbClr val="000099"/>
                </a:solidFill>
              </a:rPr>
              <a:t>Destruction</a:t>
            </a: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sp>
        <p:nvSpPr>
          <p:cNvPr id="6" name="Text Placeholder 3"/>
          <p:cNvSpPr txBox="1">
            <a:spLocks/>
          </p:cNvSpPr>
          <p:nvPr/>
        </p:nvSpPr>
        <p:spPr>
          <a:xfrm>
            <a:off x="2187113" y="1190746"/>
            <a:ext cx="7919171" cy="5159885"/>
          </a:xfrm>
          <a:prstGeom prst="rect">
            <a:avLst/>
          </a:prstGeom>
        </p:spPr>
        <p:txBody>
          <a:bodyPr>
            <a:noAutofit/>
          </a:bodyPr>
          <a:lstStyle>
            <a:lvl1pPr marL="416252" indent="-416252" algn="l" defTabSz="913688" rtl="0" eaLnBrk="0" fontAlgn="base" hangingPunct="0">
              <a:spcBef>
                <a:spcPts val="599"/>
              </a:spcBef>
              <a:spcAft>
                <a:spcPct val="0"/>
              </a:spcAft>
              <a:buChar char="•"/>
              <a:defRPr sz="2500" b="0">
                <a:solidFill>
                  <a:schemeClr val="tx1"/>
                </a:solidFill>
                <a:latin typeface="+mn-lt"/>
                <a:ea typeface="+mn-ea"/>
                <a:cs typeface="+mn-cs"/>
                <a:sym typeface="Wingdings" pitchFamily="2" charset="2"/>
              </a:defRPr>
            </a:lvl1pPr>
            <a:lvl2pPr marL="832430"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2pPr>
            <a:lvl3pPr marL="1250079"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3pPr>
            <a:lvl4pPr marL="1664842" indent="-413387" algn="l" defTabSz="913688" rtl="0" eaLnBrk="0" fontAlgn="base" hangingPunct="0">
              <a:spcBef>
                <a:spcPts val="599"/>
              </a:spcBef>
              <a:spcAft>
                <a:spcPct val="0"/>
              </a:spcAft>
              <a:buChar char="•"/>
              <a:defRPr sz="2000">
                <a:solidFill>
                  <a:schemeClr val="tx1"/>
                </a:solidFill>
                <a:latin typeface="+mn-lt"/>
              </a:defRPr>
            </a:lvl4pPr>
            <a:lvl5pPr marL="2082450" indent="-414829" algn="l" defTabSz="913688" rtl="0" eaLnBrk="0" fontAlgn="base" hangingPunct="0">
              <a:spcBef>
                <a:spcPts val="599"/>
              </a:spcBef>
              <a:spcAft>
                <a:spcPct val="0"/>
              </a:spcAft>
              <a:buChar char="•"/>
              <a:defRPr sz="2000">
                <a:solidFill>
                  <a:schemeClr val="tx1"/>
                </a:solidFill>
                <a:latin typeface="+mn-lt"/>
                <a:sym typeface="Wingdings" pitchFamily="2" charset="2"/>
              </a:defRPr>
            </a:lvl5pPr>
            <a:lvl6pPr marL="25000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6pPr>
            <a:lvl7pPr marL="29169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7pPr>
            <a:lvl8pPr marL="3333825"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8pPr>
            <a:lvl9pPr marL="3750708"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9pPr>
          </a:lstStyle>
          <a:p>
            <a:pPr marL="367301" indent="-367301" defTabSz="806238">
              <a:spcBef>
                <a:spcPts val="529"/>
              </a:spcBef>
            </a:pPr>
            <a:r>
              <a:rPr lang="en-US" sz="2294" dirty="0">
                <a:solidFill>
                  <a:srgbClr val="000000"/>
                </a:solidFill>
                <a:latin typeface="Arial"/>
              </a:rPr>
              <a:t>May be destroyed after documents and materials are formally reviewed and approved disposition authorities have been applied</a:t>
            </a:r>
          </a:p>
          <a:p>
            <a:pPr marL="367301" indent="-367301" defTabSz="806238">
              <a:spcBef>
                <a:spcPts val="529"/>
              </a:spcBef>
            </a:pPr>
            <a:r>
              <a:rPr lang="en-US" sz="2294" dirty="0">
                <a:solidFill>
                  <a:srgbClr val="000000"/>
                </a:solidFill>
                <a:latin typeface="Arial"/>
              </a:rPr>
              <a:t>Must be destroyed in a manner that makes it unreadable, indecipherable, and irrecoverable. </a:t>
            </a:r>
          </a:p>
          <a:p>
            <a:pPr marL="367301" indent="-367301" defTabSz="806238">
              <a:spcBef>
                <a:spcPts val="529"/>
              </a:spcBef>
            </a:pPr>
            <a:r>
              <a:rPr lang="en-US" sz="2294" dirty="0">
                <a:solidFill>
                  <a:srgbClr val="000000"/>
                </a:solidFill>
                <a:latin typeface="Arial"/>
              </a:rPr>
              <a:t>Must use destruction methods specifically required by law, regulation, or Government-wide policy for that CUI. If authority does not specify a destruction method, one of the following methods must be used: </a:t>
            </a:r>
          </a:p>
          <a:p>
            <a:pPr marL="734536" lvl="1" indent="-367301" defTabSz="806238">
              <a:spcBef>
                <a:spcPts val="529"/>
              </a:spcBef>
            </a:pPr>
            <a:r>
              <a:rPr lang="en-US" sz="2118" dirty="0">
                <a:solidFill>
                  <a:srgbClr val="000000"/>
                </a:solidFill>
                <a:latin typeface="Arial"/>
              </a:rPr>
              <a:t>Guidance for destruction in NIST SP 800-53, and NIST SP 800-88; or </a:t>
            </a:r>
          </a:p>
          <a:p>
            <a:pPr marL="734536" lvl="1" indent="-367301" defTabSz="806238">
              <a:spcBef>
                <a:spcPts val="529"/>
              </a:spcBef>
            </a:pPr>
            <a:r>
              <a:rPr lang="en-US" sz="2118" dirty="0">
                <a:solidFill>
                  <a:srgbClr val="FFB8AA">
                    <a:lumMod val="50000"/>
                  </a:srgbClr>
                </a:solidFill>
                <a:latin typeface="Arial"/>
              </a:rPr>
              <a:t>Any method of destruction approved for Classified Information, Destruction, or any implementing or successor guidance. </a:t>
            </a:r>
          </a:p>
        </p:txBody>
      </p:sp>
    </p:spTree>
    <p:extLst>
      <p:ext uri="{BB962C8B-B14F-4D97-AF65-F5344CB8AC3E}">
        <p14:creationId xmlns:p14="http://schemas.microsoft.com/office/powerpoint/2010/main" val="22831186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6030" y="277789"/>
            <a:ext cx="4681344" cy="472644"/>
          </a:xfrm>
        </p:spPr>
        <p:txBody>
          <a:bodyPr/>
          <a:lstStyle/>
          <a:p>
            <a:pPr algn="ctr">
              <a:spcBef>
                <a:spcPts val="0"/>
              </a:spcBef>
              <a:spcAft>
                <a:spcPts val="0"/>
              </a:spcAft>
              <a:buClr>
                <a:prstClr val="black"/>
              </a:buClr>
            </a:pPr>
            <a:r>
              <a:rPr lang="en-US" sz="2471" dirty="0">
                <a:solidFill>
                  <a:srgbClr val="000099"/>
                </a:solidFill>
              </a:rPr>
              <a:t>Unauthorized Disclosure (UD)</a:t>
            </a: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sp>
        <p:nvSpPr>
          <p:cNvPr id="6" name="Text Placeholder 3"/>
          <p:cNvSpPr txBox="1">
            <a:spLocks/>
          </p:cNvSpPr>
          <p:nvPr/>
        </p:nvSpPr>
        <p:spPr>
          <a:xfrm>
            <a:off x="2187107" y="1247795"/>
            <a:ext cx="7919171" cy="5159885"/>
          </a:xfrm>
          <a:prstGeom prst="rect">
            <a:avLst/>
          </a:prstGeom>
        </p:spPr>
        <p:txBody>
          <a:bodyPr>
            <a:noAutofit/>
          </a:bodyPr>
          <a:lstStyle>
            <a:lvl1pPr marL="416252" indent="-416252" algn="l" defTabSz="913688" rtl="0" eaLnBrk="0" fontAlgn="base" hangingPunct="0">
              <a:spcBef>
                <a:spcPts val="599"/>
              </a:spcBef>
              <a:spcAft>
                <a:spcPct val="0"/>
              </a:spcAft>
              <a:buChar char="•"/>
              <a:defRPr sz="2500" b="0">
                <a:solidFill>
                  <a:schemeClr val="tx1"/>
                </a:solidFill>
                <a:latin typeface="+mn-lt"/>
                <a:ea typeface="+mn-ea"/>
                <a:cs typeface="+mn-cs"/>
                <a:sym typeface="Wingdings" pitchFamily="2" charset="2"/>
              </a:defRPr>
            </a:lvl1pPr>
            <a:lvl2pPr marL="832430"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2pPr>
            <a:lvl3pPr marL="1250079"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3pPr>
            <a:lvl4pPr marL="1664842" indent="-413387" algn="l" defTabSz="913688" rtl="0" eaLnBrk="0" fontAlgn="base" hangingPunct="0">
              <a:spcBef>
                <a:spcPts val="599"/>
              </a:spcBef>
              <a:spcAft>
                <a:spcPct val="0"/>
              </a:spcAft>
              <a:buChar char="•"/>
              <a:defRPr sz="2000">
                <a:solidFill>
                  <a:schemeClr val="tx1"/>
                </a:solidFill>
                <a:latin typeface="+mn-lt"/>
              </a:defRPr>
            </a:lvl4pPr>
            <a:lvl5pPr marL="2082450" indent="-414829" algn="l" defTabSz="913688" rtl="0" eaLnBrk="0" fontAlgn="base" hangingPunct="0">
              <a:spcBef>
                <a:spcPts val="599"/>
              </a:spcBef>
              <a:spcAft>
                <a:spcPct val="0"/>
              </a:spcAft>
              <a:buChar char="•"/>
              <a:defRPr sz="2000">
                <a:solidFill>
                  <a:schemeClr val="tx1"/>
                </a:solidFill>
                <a:latin typeface="+mn-lt"/>
                <a:sym typeface="Wingdings" pitchFamily="2" charset="2"/>
              </a:defRPr>
            </a:lvl5pPr>
            <a:lvl6pPr marL="25000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6pPr>
            <a:lvl7pPr marL="29169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7pPr>
            <a:lvl8pPr marL="3333825"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8pPr>
            <a:lvl9pPr marL="3750708"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9pPr>
          </a:lstStyle>
          <a:p>
            <a:pPr marL="367301" indent="-367301" defTabSz="806238">
              <a:spcBef>
                <a:spcPts val="529"/>
              </a:spcBef>
            </a:pPr>
            <a:r>
              <a:rPr lang="en-US" sz="2471" dirty="0">
                <a:solidFill>
                  <a:srgbClr val="000000"/>
                </a:solidFill>
                <a:latin typeface="Arial"/>
              </a:rPr>
              <a:t>UD of certain CUI, such as export controlled-technical data, may result in potential civil and criminal sanctions </a:t>
            </a:r>
          </a:p>
        </p:txBody>
      </p:sp>
      <p:pic>
        <p:nvPicPr>
          <p:cNvPr id="7" name="Picture 6"/>
          <p:cNvPicPr>
            <a:picLocks noChangeAspect="1"/>
          </p:cNvPicPr>
          <p:nvPr/>
        </p:nvPicPr>
        <p:blipFill rotWithShape="1">
          <a:blip r:embed="rId3"/>
          <a:srcRect t="10059" b="10795"/>
          <a:stretch/>
        </p:blipFill>
        <p:spPr>
          <a:xfrm>
            <a:off x="4036724" y="3214785"/>
            <a:ext cx="3796817" cy="2823882"/>
          </a:xfrm>
          <a:prstGeom prst="rect">
            <a:avLst/>
          </a:prstGeom>
        </p:spPr>
      </p:pic>
    </p:spTree>
    <p:extLst>
      <p:ext uri="{BB962C8B-B14F-4D97-AF65-F5344CB8AC3E}">
        <p14:creationId xmlns:p14="http://schemas.microsoft.com/office/powerpoint/2010/main" val="3497660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2534" y="277789"/>
            <a:ext cx="3288334" cy="472644"/>
          </a:xfrm>
        </p:spPr>
        <p:txBody>
          <a:bodyPr/>
          <a:lstStyle/>
          <a:p>
            <a:pPr algn="ctr">
              <a:spcBef>
                <a:spcPts val="0"/>
              </a:spcBef>
              <a:spcAft>
                <a:spcPts val="0"/>
              </a:spcAft>
              <a:buClr>
                <a:prstClr val="black"/>
              </a:buClr>
            </a:pPr>
            <a:r>
              <a:rPr lang="en-US" sz="2471" dirty="0">
                <a:solidFill>
                  <a:srgbClr val="000099"/>
                </a:solidFill>
              </a:rPr>
              <a:t>Reporting Violations</a:t>
            </a:r>
          </a:p>
        </p:txBody>
      </p:sp>
      <p:sp>
        <p:nvSpPr>
          <p:cNvPr id="5" name="Slide Number Placeholder 5"/>
          <p:cNvSpPr>
            <a:spLocks noGrp="1"/>
          </p:cNvSpPr>
          <p:nvPr>
            <p:ph type="sldNum" sz="quarter" idx="4294967295"/>
          </p:nvPr>
        </p:nvSpPr>
        <p:spPr/>
        <p:txBody>
          <a:bodyPr/>
          <a:lstStyle/>
          <a:p>
            <a:pPr defTabSz="806867"/>
            <a:endParaRPr lang="en-US" sz="1588" dirty="0">
              <a:solidFill>
                <a:srgbClr val="000000"/>
              </a:solidFill>
              <a:latin typeface="Arial"/>
            </a:endParaRPr>
          </a:p>
        </p:txBody>
      </p:sp>
      <p:sp>
        <p:nvSpPr>
          <p:cNvPr id="6" name="Text Placeholder 3"/>
          <p:cNvSpPr txBox="1">
            <a:spLocks/>
          </p:cNvSpPr>
          <p:nvPr/>
        </p:nvSpPr>
        <p:spPr>
          <a:xfrm>
            <a:off x="2187107" y="1247795"/>
            <a:ext cx="7919171" cy="5159885"/>
          </a:xfrm>
          <a:prstGeom prst="rect">
            <a:avLst/>
          </a:prstGeom>
        </p:spPr>
        <p:txBody>
          <a:bodyPr>
            <a:noAutofit/>
          </a:bodyPr>
          <a:lstStyle>
            <a:lvl1pPr marL="416252" indent="-416252" algn="l" defTabSz="913688" rtl="0" eaLnBrk="0" fontAlgn="base" hangingPunct="0">
              <a:spcBef>
                <a:spcPts val="599"/>
              </a:spcBef>
              <a:spcAft>
                <a:spcPct val="0"/>
              </a:spcAft>
              <a:buChar char="•"/>
              <a:defRPr sz="2500" b="0">
                <a:solidFill>
                  <a:schemeClr val="tx1"/>
                </a:solidFill>
                <a:latin typeface="+mn-lt"/>
                <a:ea typeface="+mn-ea"/>
                <a:cs typeface="+mn-cs"/>
                <a:sym typeface="Wingdings" pitchFamily="2" charset="2"/>
              </a:defRPr>
            </a:lvl1pPr>
            <a:lvl2pPr marL="832430"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2pPr>
            <a:lvl3pPr marL="1250079" indent="-416252" algn="l" defTabSz="913688" rtl="0" eaLnBrk="0" fontAlgn="base" hangingPunct="0">
              <a:spcBef>
                <a:spcPts val="599"/>
              </a:spcBef>
              <a:spcAft>
                <a:spcPct val="0"/>
              </a:spcAft>
              <a:buChar char="•"/>
              <a:defRPr sz="2000">
                <a:solidFill>
                  <a:schemeClr val="tx1"/>
                </a:solidFill>
                <a:latin typeface="+mn-lt"/>
                <a:sym typeface="Wingdings" pitchFamily="2" charset="2"/>
              </a:defRPr>
            </a:lvl3pPr>
            <a:lvl4pPr marL="1664842" indent="-413387" algn="l" defTabSz="913688" rtl="0" eaLnBrk="0" fontAlgn="base" hangingPunct="0">
              <a:spcBef>
                <a:spcPts val="599"/>
              </a:spcBef>
              <a:spcAft>
                <a:spcPct val="0"/>
              </a:spcAft>
              <a:buChar char="•"/>
              <a:defRPr sz="2000">
                <a:solidFill>
                  <a:schemeClr val="tx1"/>
                </a:solidFill>
                <a:latin typeface="+mn-lt"/>
              </a:defRPr>
            </a:lvl4pPr>
            <a:lvl5pPr marL="2082450" indent="-414829" algn="l" defTabSz="913688" rtl="0" eaLnBrk="0" fontAlgn="base" hangingPunct="0">
              <a:spcBef>
                <a:spcPts val="599"/>
              </a:spcBef>
              <a:spcAft>
                <a:spcPct val="0"/>
              </a:spcAft>
              <a:buChar char="•"/>
              <a:defRPr sz="2000">
                <a:solidFill>
                  <a:schemeClr val="tx1"/>
                </a:solidFill>
                <a:latin typeface="+mn-lt"/>
                <a:sym typeface="Wingdings" pitchFamily="2" charset="2"/>
              </a:defRPr>
            </a:lvl5pPr>
            <a:lvl6pPr marL="25000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6pPr>
            <a:lvl7pPr marL="2916909"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7pPr>
            <a:lvl8pPr marL="3333825"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8pPr>
            <a:lvl9pPr marL="3750708" indent="-415511" algn="l" defTabSz="914912" rtl="0" eaLnBrk="0" fontAlgn="base" hangingPunct="0">
              <a:spcBef>
                <a:spcPct val="50000"/>
              </a:spcBef>
              <a:spcAft>
                <a:spcPct val="0"/>
              </a:spcAft>
              <a:buChar char="•"/>
              <a:defRPr sz="2000">
                <a:solidFill>
                  <a:schemeClr val="tx1"/>
                </a:solidFill>
                <a:latin typeface="+mn-lt"/>
                <a:sym typeface="Wingdings" pitchFamily="2" charset="2"/>
              </a:defRPr>
            </a:lvl9pPr>
          </a:lstStyle>
          <a:p>
            <a:pPr marL="367301" indent="-367301" defTabSz="806238">
              <a:spcBef>
                <a:spcPts val="529"/>
              </a:spcBef>
            </a:pPr>
            <a:endParaRPr lang="en-US" altLang="en-US" sz="2824" dirty="0">
              <a:solidFill>
                <a:srgbClr val="000000"/>
              </a:solidFill>
              <a:latin typeface="Arial"/>
            </a:endParaRPr>
          </a:p>
          <a:p>
            <a:pPr marL="367301" indent="-367301" defTabSz="806238">
              <a:spcBef>
                <a:spcPts val="529"/>
              </a:spcBef>
            </a:pPr>
            <a:endParaRPr lang="en-US" altLang="en-US" sz="2824" dirty="0">
              <a:solidFill>
                <a:srgbClr val="000000"/>
              </a:solidFill>
              <a:latin typeface="Arial"/>
            </a:endParaRPr>
          </a:p>
          <a:p>
            <a:pPr marL="367301" indent="-367301" defTabSz="806238">
              <a:spcBef>
                <a:spcPts val="529"/>
              </a:spcBef>
            </a:pPr>
            <a:r>
              <a:rPr lang="en-US" altLang="en-US" sz="2824" dirty="0">
                <a:solidFill>
                  <a:srgbClr val="000000"/>
                </a:solidFill>
                <a:latin typeface="Arial"/>
              </a:rPr>
              <a:t>Report violations to supervisor, commander and/or security manager</a:t>
            </a:r>
          </a:p>
          <a:p>
            <a:pPr marL="734536" lvl="1" indent="-367301" defTabSz="806238">
              <a:spcBef>
                <a:spcPts val="529"/>
              </a:spcBef>
            </a:pPr>
            <a:r>
              <a:rPr lang="en-US" altLang="en-US" sz="2471" dirty="0">
                <a:solidFill>
                  <a:srgbClr val="000000"/>
                </a:solidFill>
                <a:latin typeface="Arial"/>
              </a:rPr>
              <a:t>Unit will then take steps to mitigate damage and report violation to the appropriate agencies</a:t>
            </a:r>
          </a:p>
        </p:txBody>
      </p:sp>
    </p:spTree>
    <p:extLst>
      <p:ext uri="{BB962C8B-B14F-4D97-AF65-F5344CB8AC3E}">
        <p14:creationId xmlns:p14="http://schemas.microsoft.com/office/powerpoint/2010/main" val="30650258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CAFB standard">
  <a:themeElements>
    <a:clrScheme name="">
      <a:dk1>
        <a:srgbClr val="000000"/>
      </a:dk1>
      <a:lt1>
        <a:srgbClr val="FFFFFF"/>
      </a:lt1>
      <a:dk2>
        <a:srgbClr val="000000"/>
      </a:dk2>
      <a:lt2>
        <a:srgbClr val="808080"/>
      </a:lt2>
      <a:accent1>
        <a:srgbClr val="FF6600"/>
      </a:accent1>
      <a:accent2>
        <a:srgbClr val="3333CC"/>
      </a:accent2>
      <a:accent3>
        <a:srgbClr val="FFFFFF"/>
      </a:accent3>
      <a:accent4>
        <a:srgbClr val="000000"/>
      </a:accent4>
      <a:accent5>
        <a:srgbClr val="FFB8AA"/>
      </a:accent5>
      <a:accent6>
        <a:srgbClr val="2D2DB9"/>
      </a:accent6>
      <a:hlink>
        <a:srgbClr val="000000"/>
      </a:hlink>
      <a:folHlink>
        <a:srgbClr val="000066"/>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100319" tIns="50159" rIns="100319" bIns="50159" numCol="1" anchor="t" anchorCtr="0" compatLnSpc="1">
        <a:prstTxWarp prst="textNoShape">
          <a:avLst/>
        </a:prstTxWarp>
        <a:spAutoFit/>
      </a:bodyPr>
      <a:lstStyle>
        <a:defPPr marL="0" marR="0" indent="0" algn="l" defTabSz="1003300" rtl="0" eaLnBrk="0" fontAlgn="base" latinLnBrk="0" hangingPunct="0">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sym typeface="Wingdings" pitchFamily="2" charset="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100319" tIns="50159" rIns="100319" bIns="50159" numCol="1" anchor="t" anchorCtr="0" compatLnSpc="1">
        <a:prstTxWarp prst="textNoShape">
          <a:avLst/>
        </a:prstTxWarp>
        <a:spAutoFit/>
      </a:bodyPr>
      <a:lstStyle>
        <a:defPPr marL="0" marR="0" indent="0" algn="l" defTabSz="1003300" rtl="0" eaLnBrk="0" fontAlgn="base" latinLnBrk="0" hangingPunct="0">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sym typeface="Wingdings" pitchFamily="2" charset="2"/>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3694</Words>
  <Application>Microsoft Office PowerPoint</Application>
  <PresentationFormat>Widescreen</PresentationFormat>
  <Paragraphs>320</Paragraphs>
  <Slides>23</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Aptos</vt:lpstr>
      <vt:lpstr>Arial</vt:lpstr>
      <vt:lpstr>Arial Rounded MT Bold</vt:lpstr>
      <vt:lpstr>Arial Unicode MS</vt:lpstr>
      <vt:lpstr>Calibri</vt:lpstr>
      <vt:lpstr>Cambria Math</vt:lpstr>
      <vt:lpstr>Times New Roman</vt:lpstr>
      <vt:lpstr>Wingdings</vt:lpstr>
      <vt:lpstr>CAFB standard</vt:lpstr>
      <vt:lpstr>PowerPoint Presentation</vt:lpstr>
      <vt:lpstr>Definition</vt:lpstr>
      <vt:lpstr>PowerPoint Presentation</vt:lpstr>
      <vt:lpstr>DoD CUI Index</vt:lpstr>
      <vt:lpstr>Types of CUI </vt:lpstr>
      <vt:lpstr>Levels of CUI</vt:lpstr>
      <vt:lpstr>Access to CUI</vt:lpstr>
      <vt:lpstr>Marking CUI (Limited Dissemination Controls)</vt:lpstr>
      <vt:lpstr>PowerPoint Presentation</vt:lpstr>
      <vt:lpstr>PowerPoint Presentation</vt:lpstr>
      <vt:lpstr>PowerPoint Presentation</vt:lpstr>
      <vt:lpstr>Marking CUI (Classified Documents)</vt:lpstr>
      <vt:lpstr>Marking CUI (Classified Documents)</vt:lpstr>
      <vt:lpstr>Marking CUI (Classified Documents)</vt:lpstr>
      <vt:lpstr>Marking CUI (Email Without Portion Markings)</vt:lpstr>
      <vt:lpstr>Marking CUI (Email With Portion Markings)</vt:lpstr>
      <vt:lpstr>Marking CUI (Limited Dissemination Controls)</vt:lpstr>
      <vt:lpstr>Protecting CUI </vt:lpstr>
      <vt:lpstr>Shipping or Mailing</vt:lpstr>
      <vt:lpstr>Reproduction</vt:lpstr>
      <vt:lpstr>Destruction</vt:lpstr>
      <vt:lpstr>Unauthorized Disclosure (UD)</vt:lpstr>
      <vt:lpstr>Reporting Violations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WAYMIRE, NOAH C 2d Lt USAF AETC 14 CONS/14 CONS/PKP</dc:creator>
  <cp:lastModifiedBy>WAYMIRE, NOAH C 2d Lt USAF AETC 14 CONS/14 CONS/PKP</cp:lastModifiedBy>
  <cp:revision>1</cp:revision>
  <dcterms:created xsi:type="dcterms:W3CDTF">2024-05-21T14:37:27Z</dcterms:created>
  <dcterms:modified xsi:type="dcterms:W3CDTF">2024-05-21T14:51:41Z</dcterms:modified>
</cp:coreProperties>
</file>